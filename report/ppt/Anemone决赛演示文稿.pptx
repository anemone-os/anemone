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2"/>
    <p:sldId id="257" r:id="rId3"/>
    <p:sldId id="259" r:id="rId4"/>
    <p:sldId id="260" r:id="rId5"/>
    <p:sldId id="261" r:id="rId6"/>
    <p:sldId id="294" r:id="rId7"/>
    <p:sldId id="263" r:id="rId8"/>
    <p:sldId id="265" r:id="rId9"/>
    <p:sldId id="266" r:id="rId10"/>
    <p:sldId id="267" r:id="rId11"/>
    <p:sldId id="268" r:id="rId12"/>
    <p:sldId id="269" r:id="rId13"/>
    <p:sldId id="291" r:id="rId14"/>
    <p:sldId id="270" r:id="rId15"/>
    <p:sldId id="271" r:id="rId16"/>
    <p:sldId id="272" r:id="rId17"/>
    <p:sldId id="273" r:id="rId18"/>
    <p:sldId id="275" r:id="rId19"/>
    <p:sldId id="277" r:id="rId20"/>
    <p:sldId id="279" r:id="rId21"/>
    <p:sldId id="281" r:id="rId22"/>
    <p:sldId id="282" r:id="rId23"/>
    <p:sldId id="292" r:id="rId24"/>
    <p:sldId id="283" r:id="rId25"/>
    <p:sldId id="287" r:id="rId26"/>
    <p:sldId id="288" r:id="rId27"/>
    <p:sldId id="293" r:id="rId28"/>
    <p:sldId id="290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5">
          <p15:clr>
            <a:srgbClr val="A4A3A4"/>
          </p15:clr>
        </p15:guide>
        <p15:guide id="2" pos="389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949494"/>
    <a:srgbClr val="F2F2F2"/>
    <a:srgbClr val="9CC5FD"/>
    <a:srgbClr val="3A6695"/>
    <a:srgbClr val="134263"/>
    <a:srgbClr val="1E2B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3906" autoAdjust="0"/>
  </p:normalViewPr>
  <p:slideViewPr>
    <p:cSldViewPr snapToGrid="0">
      <p:cViewPr varScale="1">
        <p:scale>
          <a:sx n="104" d="100"/>
          <a:sy n="104" d="100"/>
        </p:scale>
        <p:origin x="104" y="164"/>
      </p:cViewPr>
      <p:guideLst>
        <p:guide orient="horz" pos="2245"/>
        <p:guide pos="389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ruche 朵露切" userId="9a6adaf45846e188" providerId="LiveId" clId="{2E959310-8A68-41BB-999F-5861D18FACC3}"/>
    <pc:docChg chg="undo redo custSel addSld delSld modSld sldOrd">
      <pc:chgData name="Doruche 朵露切" userId="9a6adaf45846e188" providerId="LiveId" clId="{2E959310-8A68-41BB-999F-5861D18FACC3}" dt="2026-08-12T15:29:27.487" v="3229" actId="1076"/>
      <pc:docMkLst>
        <pc:docMk/>
      </pc:docMkLst>
      <pc:sldChg chg="addSp delSp modSp mod">
        <pc:chgData name="Doruche 朵露切" userId="9a6adaf45846e188" providerId="LiveId" clId="{2E959310-8A68-41BB-999F-5861D18FACC3}" dt="2026-08-12T13:46:45.843" v="3222" actId="20577"/>
        <pc:sldMkLst>
          <pc:docMk/>
          <pc:sldMk cId="0" sldId="257"/>
        </pc:sldMkLst>
        <pc:spChg chg="mod">
          <ac:chgData name="Doruche 朵露切" userId="9a6adaf45846e188" providerId="LiveId" clId="{2E959310-8A68-41BB-999F-5861D18FACC3}" dt="2026-08-12T13:46:45.843" v="3222" actId="20577"/>
          <ac:spMkLst>
            <pc:docMk/>
            <pc:sldMk cId="0" sldId="257"/>
            <ac:spMk id="2" creationId="{00000000-0000-0000-0000-000000000000}"/>
          </ac:spMkLst>
        </pc:spChg>
      </pc:sldChg>
      <pc:sldChg chg="modSp mod">
        <pc:chgData name="Doruche 朵露切" userId="9a6adaf45846e188" providerId="LiveId" clId="{2E959310-8A68-41BB-999F-5861D18FACC3}" dt="2026-08-12T15:29:27.487" v="3229" actId="1076"/>
        <pc:sldMkLst>
          <pc:docMk/>
          <pc:sldMk cId="1748049677" sldId="286"/>
        </pc:sldMkLst>
        <pc:picChg chg="mod">
          <ac:chgData name="Doruche 朵露切" userId="9a6adaf45846e188" providerId="LiveId" clId="{2E959310-8A68-41BB-999F-5861D18FACC3}" dt="2026-08-12T15:29:27.487" v="3229" actId="1076"/>
          <ac:picMkLst>
            <pc:docMk/>
            <pc:sldMk cId="1748049677" sldId="286"/>
            <ac:picMk id="5" creationId="{6B3804B8-7F28-DA6A-1E1E-9A9CF98A50B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1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CE4261-0CDD-45A3-84C2-311859DE5B03}" type="datetime1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711DA-82CB-44C8-99EC-9CE596A896F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我们是 Anemone 团队。Anemone 是一个面向 Linux ABI 兼容、使用 Rust 从零构建的多架构多核宏内核。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先看最终结果。Anemone 已通过所有决赛测例，BuildStorm 与 Cagent 测例也全部通过。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这不是在现有内核上补功能，而是八个月从零完成的系统。当前内核代码十四万四千一百八十行，共一千一百一十六次提交。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从整体上看，Linux ABI 是面向用户态的边界，边界之下是 Anemone 自己的核心对象、子系统和双架构平台层。接下来所有机制都沿着这个分层展开。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这张表不是功能清单的堆砌，而是六个共同闭合的能力域。进程、内存、文件、设备、网络、时间、构建与双架构互相支撑，最终共同承受决赛测例和真实负载。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7725E-70A0-4FBE-8B8B-DD1B0D72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3E8A0-D5C9-5C54-8169-DF2FF6096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546CFE-30FF-8198-8E0F-56A529A092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这张表不是功能清单的堆砌，而是六个共同闭合的能力域。进程、内存、文件、设备、网络、时间、构建与双架构互相支撑，最终共同承受决赛测例和真实负载。</a:t>
            </a:r>
          </a:p>
        </p:txBody>
      </p:sp>
    </p:spTree>
    <p:extLst>
      <p:ext uri="{BB962C8B-B14F-4D97-AF65-F5344CB8AC3E}">
        <p14:creationId xmlns:p14="http://schemas.microsoft.com/office/powerpoint/2010/main" val="37494332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八个月的开发可以分为四段。前两个月确定路线和边界，三到五月构建核心对象，六月用初赛测例闭合语义，七到八月把系统推向网络、交互和真实负载。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结果之后，我们进入设计主线。Anemone 的核心判断可以归纳为三个词：边界、契约和所有权。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从零设计不意味着拒绝兼容。我们兼容 Linux 对外协议，但不复制 Linux 内部对象，这让核心机制可以围绕 Rust 的所有权和单一真相源组织。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ABI 是外部协议，不是内部实现模板。syscall 编号、UAPI 结构、错误码和标志由边界层解释，进程、文件、地址空间和设备的状态仍由 Anemone 对象拥有。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这条路径可以读成四层：Linux 用户态进入 syscall 适配，适配层把外部协议转换为核心对象操作，最后由 HAL 和平台实现承接架构差异。兼容逻辑不会继续向内扩散。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接下来选择几个最能体现设计主线的核心机制。共同原则是状态只由一个 owner 推进，边界只暴露真正需要的能力。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5390-FBDB-7AAD-0DBE-217C83216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9643E-60C2-01D4-FD72-F50813C63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06A2C-3641-118C-0F9E-D79ED33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5674637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进程模型不只是一棵父子树。Task、线程组、进程组和会话分别承担不同身份与生命周期，决赛阶段在这套拓扑上补齐了交互式作业控制主路径。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调度与等待必须共同理解。调度状态机决定谁运行，Event 和 Latch 提供可中断等待能力，多核唤醒把状态变化可靠地送到目标 CPU。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VMO 是内存子系统的统一对象边界。匿名页、文件映射、共享内存与写时复制都通过 VMO 和 backing object 组织，而不是各自维护一套页状态。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fork 后并不立即复制全部页面。父子地址空间先共享 backing，只有写入发生时才复制；匿名 VMO 还可以共享全局只读零页。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VFS 不是一组系统调用的集合，而是一套对象模型。filesystem、superblock、inode、dentry、file 和 path view 分别拥有稳定职责。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缓存首先要回答对象身份由谁稳定。ICache 避免重复构造 inode，回收则围绕 inode、VMO 和页的生命周期进行，而不是散落在具体读写路径里。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设备模型通过 Bus、Device 和 Driver 分离发现、身份与控制。总线负责枚举和匹配，设备保存稳定身份，驱动拥有私有控制面。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网络能力已经被真实用户态程序使用。系统可以运行 ping、通过 apt 安装软件、使用 HTTPS 克隆代码，并能用 ip 和 ss 查看网络状态。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网络状态分布在四个清晰边界中。内核拥有 Linux ABI 和 fd 可见语义，Net API 交换规范化操作，协议栈 owner 推进端点状态，smoltcp 只作为协议引擎后端。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3670B-1C71-C641-327E-A667D7D8E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732CEF-D695-E5F0-6CDD-F686B6239C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A18D0E-2090-5DC0-664B-AB94DA76B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网络状态分布在四个清晰边界中。内核拥有 Linux ABI 和 fd 可见语义，Net API 交换规范化操作，协议栈 owner 推进端点状态，smoltcp 只作为协议引擎后端。</a:t>
            </a:r>
          </a:p>
        </p:txBody>
      </p:sp>
    </p:spTree>
    <p:extLst>
      <p:ext uri="{BB962C8B-B14F-4D97-AF65-F5344CB8AC3E}">
        <p14:creationId xmlns:p14="http://schemas.microsoft.com/office/powerpoint/2010/main" val="40761532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跨层协议只传递三类信息。Command 是有界非阻塞操作，Event 只表示应该重新检查，Snapshot 则记录读取时刻的协议事实；Event 本身从不等于 readiness。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AI 在项目里是加速器，不是驾驶员。它帮助检索、生成候选、审查和整理文档，但设计判断、代码修改、验证结果和最终解释始终由队员负责。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项目按需求、设计、实现、验证和回写循环推进。真实负载和失败证据会回到下一轮边界与实现，而不是停留在一次性的补丁或日志中。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38643-6297-45D0-AD59-46F3968C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6FD737-CCA7-9A17-3980-ED176DE7A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6574C-AB53-7AAE-C150-5E0ED31C5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项目按需求、设计、实现、验证和回写循环推进。真实负载和失败证据会回到下一轮边界与实现，而不是停留在一次性的补丁或日志中。</a:t>
            </a:r>
          </a:p>
        </p:txBody>
      </p:sp>
    </p:spTree>
    <p:extLst>
      <p:ext uri="{BB962C8B-B14F-4D97-AF65-F5344CB8AC3E}">
        <p14:creationId xmlns:p14="http://schemas.microsoft.com/office/powerpoint/2010/main" val="22336901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以上是 Anemone 的决赛汇报，感谢各位老师聆听。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536CA-A6C4-4358-AF93-5CCBD70D248C}" type="datetimeFigureOut">
              <a:rPr lang="zh-CN" altLang="en-US" smtClean="0"/>
              <a:t>2026/8/17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537B7A-7510-410A-AA53-45D600DA027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H_Other_8"/>
          <p:cNvPicPr/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5400000" flipH="1">
            <a:off x="6024000" y="-3032194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MH_Other_8"/>
          <p:cNvPicPr/>
          <p:nvPr>
            <p:custDataLst>
              <p:tags r:id="rId2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16200000" flipH="1" flipV="1">
            <a:off x="6024001" y="-127232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0" y="2204967"/>
            <a:ext cx="12192000" cy="286136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44718" y="2789380"/>
            <a:ext cx="1086282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 err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Anemone</a:t>
            </a:r>
            <a:endParaRPr lang="en-US" altLang="zh-CN" sz="6000" b="1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使用Rust开发、多架构、多核、可动态扩展的宏内核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79403" y="5388570"/>
            <a:ext cx="53754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3A6695"/>
                </a:solidFill>
              </a:rPr>
              <a:t>队员：张正翰、陈函申      指导老师：夏文、仇洁婷</a:t>
            </a:r>
            <a:endParaRPr lang="en-US" altLang="zh-CN" b="1" dirty="0">
              <a:solidFill>
                <a:srgbClr val="3A6695"/>
              </a:solidFill>
            </a:endParaRPr>
          </a:p>
          <a:p>
            <a:endParaRPr lang="en-US" altLang="zh-CN" b="1" dirty="0">
              <a:solidFill>
                <a:srgbClr val="3A6695"/>
              </a:solidFill>
            </a:endParaRPr>
          </a:p>
        </p:txBody>
      </p:sp>
      <p:pic>
        <p:nvPicPr>
          <p:cNvPr id="3" name="图片 2" descr="hitsz-logo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89555" y="603250"/>
            <a:ext cx="6612255" cy="12185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dirty="0"/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7373" y="104335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 err="1"/>
              <a:t>全部决赛测例通过</a:t>
            </a:r>
            <a:r>
              <a:rPr lang="zh-CN" altLang="en-US" sz="2400" b="1" dirty="0"/>
              <a:t>。截至八月十二日二十二点整，排名和得分如下。</a:t>
            </a:r>
            <a:endParaRPr lang="en-US" altLang="zh-CN" sz="2400" dirty="0">
              <a:solidFill>
                <a:srgbClr val="FF0000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C9EBB5A-F35E-462F-A3EF-B68610754F7F}"/>
              </a:ext>
            </a:extLst>
          </p:cNvPr>
          <p:cNvSpPr txBox="1"/>
          <p:nvPr/>
        </p:nvSpPr>
        <p:spPr>
          <a:xfrm>
            <a:off x="457661" y="4949449"/>
            <a:ext cx="110731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dirty="0"/>
              <a:t>Anemone 已通过所有决赛测例
BuildStorm 与 Cagent 测例全部通过</a:t>
            </a:r>
          </a:p>
        </p:txBody>
      </p:sp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3C56D5C-421A-DEFB-E15D-8DC82B649F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61" y="1801840"/>
            <a:ext cx="11573639" cy="2368602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3FF3B-D198-690B-93D6-8AF66808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F20E8A92-B4A8-4551-9A38-1C0D4D496CE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429C696B-791C-1C99-E06C-3EFF26405EF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14B6020-A98E-A14C-7309-F479508ECD9F}"/>
              </a:ext>
            </a:extLst>
          </p:cNvPr>
          <p:cNvSpPr txBox="1"/>
          <p:nvPr/>
        </p:nvSpPr>
        <p:spPr>
          <a:xfrm>
            <a:off x="448766" y="1189414"/>
            <a:ext cx="35702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 err="1"/>
              <a:t>八个月</a:t>
            </a:r>
            <a:r>
              <a:rPr lang="en-US" altLang="zh-CN" sz="2400" b="1" dirty="0"/>
              <a:t>，</a:t>
            </a:r>
          </a:p>
          <a:p>
            <a:pPr algn="l"/>
            <a:r>
              <a:rPr lang="en-US" altLang="zh-CN" sz="2400" b="1" dirty="0" err="1"/>
              <a:t>从零</a:t>
            </a:r>
            <a:r>
              <a:rPr lang="zh-CN" altLang="en-US" sz="2400" b="1" dirty="0"/>
              <a:t>设计、</a:t>
            </a:r>
            <a:r>
              <a:rPr lang="en-US" altLang="zh-CN" sz="2400" b="1" dirty="0" err="1"/>
              <a:t>构建完整内核</a:t>
            </a:r>
            <a:endParaRPr lang="en-US" altLang="zh-CN" sz="2400" dirty="0">
              <a:solidFill>
                <a:srgbClr val="FF0000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010E8D-C9D5-1D47-6BCF-5BB6E46BC88A}"/>
              </a:ext>
            </a:extLst>
          </p:cNvPr>
          <p:cNvSpPr txBox="1"/>
          <p:nvPr/>
        </p:nvSpPr>
        <p:spPr>
          <a:xfrm>
            <a:off x="493335" y="2388507"/>
            <a:ext cx="287129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zh-CN" altLang="en-US" dirty="0"/>
              <a:t>内核代码量：144,180 行</a:t>
            </a:r>
            <a:endParaRPr lang="en-US" altLang="zh-CN" dirty="0"/>
          </a:p>
          <a:p>
            <a:r>
              <a:rPr lang="zh-CN" altLang="en-US" dirty="0"/>
              <a:t>工程时间：8 个月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Commit 数目：1116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</p:txBody>
      </p:sp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8D63372-8D1F-954A-EDFF-3FA87B8C2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083" y="4691135"/>
            <a:ext cx="6503512" cy="210242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7F85F21-BD57-0595-7377-6C5FABAB3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082" y="861189"/>
            <a:ext cx="5624933" cy="3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81935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02DAC-D75F-B21C-B0E3-8EC15588E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EF648B84-970C-2A12-F26D-19A1DFC497C0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C1C5E088-7AEE-DFFE-49AE-5E6761F951E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965C60A-01E6-989F-E510-977759408221}"/>
              </a:ext>
            </a:extLst>
          </p:cNvPr>
          <p:cNvSpPr txBox="1"/>
          <p:nvPr/>
        </p:nvSpPr>
        <p:spPr>
          <a:xfrm>
            <a:off x="117373" y="1043359"/>
            <a:ext cx="3413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/>
              <a:t>Anemone 的整体架构</a:t>
            </a:r>
            <a:endParaRPr lang="en-US" altLang="zh-CN" sz="2400" dirty="0">
              <a:solidFill>
                <a:srgbClr val="FF0000"/>
              </a:solidFill>
            </a:endParaRPr>
          </a:p>
        </p:txBody>
      </p:sp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4D70748-5703-DE21-17F5-BD37763F1F9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893" y="1500456"/>
            <a:ext cx="8628380" cy="499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27845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7722" y="774965"/>
            <a:ext cx="5333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Anemone 核心能力全景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3" name="表格 2"/>
          <p:cNvGraphicFramePr/>
          <p:nvPr>
            <p:extLst>
              <p:ext uri="{D42A27DB-BD31-4B8C-83A1-F6EECF244321}">
                <p14:modId xmlns:p14="http://schemas.microsoft.com/office/powerpoint/2010/main" val="41748742"/>
              </p:ext>
            </p:extLst>
          </p:nvPr>
        </p:nvGraphicFramePr>
        <p:xfrm>
          <a:off x="574306" y="1243531"/>
          <a:ext cx="9844636" cy="55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21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25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核心能力</a:t>
                      </a:r>
                      <a:endParaRPr lang="en-US" altLang="zh-CN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实现功能</a:t>
                      </a:r>
                      <a:endParaRPr lang="en-US" altLang="zh-CN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进程与调度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LWP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设计；SMP； 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Fair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Realtime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，多调度类动态切换；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Unix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作业控制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动态扩展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沙箱化内核模块；热插拔；</a:t>
                      </a: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WebAssembly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；同一模块制品可同时运行在不同架构；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SDK</a:t>
                      </a:r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977588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内存管理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Zircon VMO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架构；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写时复制；异常表驱动的用户访存；匿名零页共享；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IO Remap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VFS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多重挂载 / Bind Mount；ICache / Page Cache 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DCache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IO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ProcFs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DevFs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SysFs</a:t>
                      </a:r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159221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设备驱动模型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Bus + Driver + Device模型；支持中断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IO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DMA IO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PCI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en-US" altLang="zh-CN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VirtIO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MMC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GMAC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；多层级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IRQ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；设备树</a:t>
                      </a:r>
                      <a:r>
                        <a:rPr lang="en-US" altLang="zh-CN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/EFI</a:t>
                      </a:r>
                      <a:r>
                        <a:rPr lang="zh-CN" alt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网络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统一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Socket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前端；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TCP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UDP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ICMP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8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NetLink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IPv4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；本地回环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硬件抽象层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RISC-V64 / LoongArch64；架构特有能力旁路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构建系统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Xtask</a:t>
                      </a: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KernelConfig</a:t>
                      </a: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RootFsConfig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; </a:t>
                      </a:r>
                      <a:r>
                        <a:rPr lang="en-US" altLang="zh-CN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SystemTarget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; App/Module </a:t>
                      </a:r>
                      <a:r>
                        <a:rPr lang="zh-CN" altLang="en-US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完整可配置自动化构建链路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984013"/>
                  </a:ext>
                </a:extLst>
              </a:tr>
            </a:tbl>
          </a:graphicData>
        </a:graphic>
      </p:graphicFrame>
      <p:sp>
        <p:nvSpPr>
          <p:cNvPr id="40" name="NavActive 完成情况"/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902F2-EFF1-BF1D-A505-3223A370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D0B01BA4-DE0D-B87C-35EF-127F97EFBCCF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C193CFB4-FD62-0ACD-E461-E5798207BD6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14BB7CD-A9E6-750F-9D49-CAE1468D5913}"/>
              </a:ext>
            </a:extLst>
          </p:cNvPr>
          <p:cNvSpPr txBox="1"/>
          <p:nvPr/>
        </p:nvSpPr>
        <p:spPr>
          <a:xfrm>
            <a:off x="328969" y="1007903"/>
            <a:ext cx="52116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目前已经支持的应用程序，举例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0" name="NavActive 完成情况">
            <a:extLst>
              <a:ext uri="{FF2B5EF4-FFF2-40B4-BE49-F238E27FC236}">
                <a16:creationId xmlns:a16="http://schemas.microsoft.com/office/drawing/2014/main" id="{10528329-104B-022C-9D06-9F497D8DE507}"/>
              </a:ext>
            </a:extLst>
          </p:cNvPr>
          <p:cNvSpPr/>
          <p:nvPr/>
        </p:nvSpPr>
        <p:spPr>
          <a:xfrm>
            <a:off x="32318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41" name="NavDivider 1">
            <a:extLst>
              <a:ext uri="{FF2B5EF4-FFF2-40B4-BE49-F238E27FC236}">
                <a16:creationId xmlns:a16="http://schemas.microsoft.com/office/drawing/2014/main" id="{8D8092BB-AC89-256E-E9B0-D03E757B9AE3}"/>
              </a:ext>
            </a:extLst>
          </p:cNvPr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avDivider 2">
            <a:extLst>
              <a:ext uri="{FF2B5EF4-FFF2-40B4-BE49-F238E27FC236}">
                <a16:creationId xmlns:a16="http://schemas.microsoft.com/office/drawing/2014/main" id="{8A1998B5-CA6B-8B09-F4D3-8E8E6CEA0A4F}"/>
              </a:ext>
            </a:extLst>
          </p:cNvPr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avDivider 3">
            <a:extLst>
              <a:ext uri="{FF2B5EF4-FFF2-40B4-BE49-F238E27FC236}">
                <a16:creationId xmlns:a16="http://schemas.microsoft.com/office/drawing/2014/main" id="{DC726B5C-0487-EA75-E4CE-09D3C8289643}"/>
              </a:ext>
            </a:extLst>
          </p:cNvPr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avDivider 4">
            <a:extLst>
              <a:ext uri="{FF2B5EF4-FFF2-40B4-BE49-F238E27FC236}">
                <a16:creationId xmlns:a16="http://schemas.microsoft.com/office/drawing/2014/main" id="{5D4B7E63-3516-7040-2C3F-AF24796D5AD0}"/>
              </a:ext>
            </a:extLst>
          </p:cNvPr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avDivider 5">
            <a:extLst>
              <a:ext uri="{FF2B5EF4-FFF2-40B4-BE49-F238E27FC236}">
                <a16:creationId xmlns:a16="http://schemas.microsoft.com/office/drawing/2014/main" id="{24550843-DCB5-F983-ECC6-19ED3E471384}"/>
              </a:ext>
            </a:extLst>
          </p:cNvPr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avText 1 完成情况">
            <a:extLst>
              <a:ext uri="{FF2B5EF4-FFF2-40B4-BE49-F238E27FC236}">
                <a16:creationId xmlns:a16="http://schemas.microsoft.com/office/drawing/2014/main" id="{B658BFA4-26E0-F301-87D0-91C4876DE702}"/>
              </a:ext>
            </a:extLst>
          </p:cNvPr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7" name="NavText 2 开发历程">
            <a:extLst>
              <a:ext uri="{FF2B5EF4-FFF2-40B4-BE49-F238E27FC236}">
                <a16:creationId xmlns:a16="http://schemas.microsoft.com/office/drawing/2014/main" id="{911AA630-EEF8-5AE9-C5B3-86D88F2B1B6B}"/>
              </a:ext>
            </a:extLst>
          </p:cNvPr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8" name="NavText 3 设计主线">
            <a:extLst>
              <a:ext uri="{FF2B5EF4-FFF2-40B4-BE49-F238E27FC236}">
                <a16:creationId xmlns:a16="http://schemas.microsoft.com/office/drawing/2014/main" id="{F7BB6FE3-F3F8-C2B4-7523-589E1108F7AE}"/>
              </a:ext>
            </a:extLst>
          </p:cNvPr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9" name="NavText 4 核心机制">
            <a:extLst>
              <a:ext uri="{FF2B5EF4-FFF2-40B4-BE49-F238E27FC236}">
                <a16:creationId xmlns:a16="http://schemas.microsoft.com/office/drawing/2014/main" id="{70E28C58-352B-3523-74D7-3F0BDD3782E3}"/>
              </a:ext>
            </a:extLst>
          </p:cNvPr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50" name="NavText 5 AI使用">
            <a:extLst>
              <a:ext uri="{FF2B5EF4-FFF2-40B4-BE49-F238E27FC236}">
                <a16:creationId xmlns:a16="http://schemas.microsoft.com/office/drawing/2014/main" id="{C597E844-8498-FEF4-6DF9-D11C7DB24B03}"/>
              </a:ext>
            </a:extLst>
          </p:cNvPr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51" name="NavText 6 比赛总结">
            <a:extLst>
              <a:ext uri="{FF2B5EF4-FFF2-40B4-BE49-F238E27FC236}">
                <a16:creationId xmlns:a16="http://schemas.microsoft.com/office/drawing/2014/main" id="{E47A8E05-0428-A592-2C4A-BAB5C01670A0}"/>
              </a:ext>
            </a:extLst>
          </p:cNvPr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74F5AFF-3938-68B6-20BB-FD9A68B77664}"/>
              </a:ext>
            </a:extLst>
          </p:cNvPr>
          <p:cNvSpPr txBox="1"/>
          <p:nvPr/>
        </p:nvSpPr>
        <p:spPr>
          <a:xfrm>
            <a:off x="522513" y="1923803"/>
            <a:ext cx="1064622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zh-CN" dirty="0"/>
              <a:t>OpenJDK25	</a:t>
            </a:r>
            <a:r>
              <a:rPr lang="zh-CN" altLang="en-US" dirty="0"/>
              <a:t>足以运行</a:t>
            </a:r>
            <a:r>
              <a:rPr lang="en-US" altLang="zh-CN" dirty="0"/>
              <a:t>Minecraft Java 26.2 Server</a:t>
            </a:r>
          </a:p>
          <a:p>
            <a:pPr marL="285750" indent="-285750">
              <a:buFontTx/>
              <a:buChar char="-"/>
            </a:pPr>
            <a:r>
              <a:rPr lang="en-US" altLang="zh-CN" dirty="0"/>
              <a:t>Cargo / </a:t>
            </a:r>
            <a:r>
              <a:rPr lang="en-US" altLang="zh-CN" dirty="0" err="1"/>
              <a:t>RustC</a:t>
            </a:r>
            <a:r>
              <a:rPr lang="en-US" altLang="zh-CN" dirty="0"/>
              <a:t>	</a:t>
            </a:r>
            <a:r>
              <a:rPr lang="zh-CN" altLang="en-US" dirty="0"/>
              <a:t>足以编译大型代码库，例如</a:t>
            </a:r>
            <a:r>
              <a:rPr lang="en-US" altLang="zh-CN" dirty="0" err="1"/>
              <a:t>arceos-helloworld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en-US" altLang="zh-CN" dirty="0"/>
              <a:t>Apt		</a:t>
            </a:r>
            <a:r>
              <a:rPr lang="zh-CN" altLang="en-US" dirty="0"/>
              <a:t>已经支持直接使用</a:t>
            </a:r>
            <a:r>
              <a:rPr lang="en-US" altLang="zh-CN" dirty="0"/>
              <a:t>apt</a:t>
            </a:r>
            <a:r>
              <a:rPr lang="zh-CN" altLang="en-US" dirty="0"/>
              <a:t> </a:t>
            </a:r>
            <a:r>
              <a:rPr lang="en-US" altLang="zh-CN" dirty="0"/>
              <a:t>install</a:t>
            </a:r>
            <a:r>
              <a:rPr lang="zh-CN" altLang="en-US" dirty="0"/>
              <a:t>大量包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en-US" altLang="zh-CN" dirty="0"/>
              <a:t>OpenSSH/</a:t>
            </a:r>
            <a:r>
              <a:rPr lang="en-US" altLang="zh-CN" dirty="0" err="1"/>
              <a:t>Dropbear</a:t>
            </a:r>
            <a:r>
              <a:rPr lang="en-US" altLang="zh-CN" dirty="0"/>
              <a:t>	</a:t>
            </a:r>
            <a:r>
              <a:rPr lang="zh-CN" altLang="en-US" dirty="0"/>
              <a:t>已经可以建立</a:t>
            </a:r>
            <a:r>
              <a:rPr lang="en-US" altLang="zh-CN" dirty="0" err="1"/>
              <a:t>sshd</a:t>
            </a:r>
            <a:r>
              <a:rPr lang="zh-CN" altLang="en-US" dirty="0"/>
              <a:t>和通过</a:t>
            </a:r>
            <a:r>
              <a:rPr lang="en-US" altLang="zh-CN" dirty="0"/>
              <a:t>ssh</a:t>
            </a:r>
            <a:r>
              <a:rPr lang="zh-CN" altLang="en-US" dirty="0"/>
              <a:t>连接其他主机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en-US" altLang="zh-CN" dirty="0"/>
              <a:t>Golang	</a:t>
            </a:r>
            <a:r>
              <a:rPr lang="zh-CN" altLang="en-US" dirty="0"/>
              <a:t>支持</a:t>
            </a:r>
            <a:r>
              <a:rPr lang="en-US" altLang="zh-CN" dirty="0"/>
              <a:t>CGO</a:t>
            </a:r>
            <a:r>
              <a:rPr lang="zh-CN" altLang="en-US" dirty="0"/>
              <a:t>与原生</a:t>
            </a:r>
            <a:r>
              <a:rPr lang="en-US" altLang="zh-CN" dirty="0"/>
              <a:t>GO</a:t>
            </a:r>
            <a:r>
              <a:rPr lang="zh-CN" altLang="en-US" dirty="0"/>
              <a:t>大规模编译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en-US" altLang="zh-CN" dirty="0"/>
              <a:t>Nginx		</a:t>
            </a:r>
            <a:r>
              <a:rPr lang="zh-CN" altLang="en-US" dirty="0"/>
              <a:t>可以直接启动服务器，并通过网络访问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en-US" altLang="zh-CN" dirty="0" err="1"/>
              <a:t>Qemu</a:t>
            </a:r>
            <a:r>
              <a:rPr lang="en-US" altLang="zh-CN" dirty="0"/>
              <a:t>-System	</a:t>
            </a:r>
            <a:r>
              <a:rPr lang="zh-CN" altLang="en-US" dirty="0"/>
              <a:t>支持系统级别模拟。可以嵌套启动</a:t>
            </a:r>
            <a:r>
              <a:rPr lang="en-US" altLang="zh-CN" dirty="0"/>
              <a:t>Anemone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en-US" altLang="zh-CN" dirty="0"/>
              <a:t>……</a:t>
            </a:r>
          </a:p>
        </p:txBody>
      </p:sp>
    </p:spTree>
    <p:extLst>
      <p:ext uri="{BB962C8B-B14F-4D97-AF65-F5344CB8AC3E}">
        <p14:creationId xmlns:p14="http://schemas.microsoft.com/office/powerpoint/2010/main" val="238480389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117373" y="1084103"/>
            <a:ext cx="38972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Anemone 开发历程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0" name="Freeform 790"/>
          <p:cNvSpPr/>
          <p:nvPr/>
        </p:nvSpPr>
        <p:spPr bwMode="auto">
          <a:xfrm>
            <a:off x="1347977" y="1800463"/>
            <a:ext cx="2373003" cy="596529"/>
          </a:xfrm>
          <a:custGeom>
            <a:avLst/>
            <a:gdLst>
              <a:gd name="connsiteX0" fmla="*/ 9568 w 10000"/>
              <a:gd name="connsiteY0" fmla="*/ 10000 h 10000"/>
              <a:gd name="connsiteX1" fmla="*/ 4793 w 10000"/>
              <a:gd name="connsiteY1" fmla="*/ 10000 h 10000"/>
              <a:gd name="connsiteX2" fmla="*/ 0 w 10000"/>
              <a:gd name="connsiteY2" fmla="*/ 10000 h 10000"/>
              <a:gd name="connsiteX3" fmla="*/ 1362 w 10000"/>
              <a:gd name="connsiteY3" fmla="*/ 4954 h 10000"/>
              <a:gd name="connsiteX4" fmla="*/ 0 w 10000"/>
              <a:gd name="connsiteY4" fmla="*/ 0 h 10000"/>
              <a:gd name="connsiteX5" fmla="*/ 4793 w 10000"/>
              <a:gd name="connsiteY5" fmla="*/ 0 h 10000"/>
              <a:gd name="connsiteX6" fmla="*/ 9568 w 10000"/>
              <a:gd name="connsiteY6" fmla="*/ 0 h 10000"/>
              <a:gd name="connsiteX7" fmla="*/ 10000 w 10000"/>
              <a:gd name="connsiteY7" fmla="*/ 4954 h 10000"/>
              <a:gd name="connsiteX8" fmla="*/ 9568 w 10000"/>
              <a:gd name="connsiteY8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0" h="10000">
                <a:moveTo>
                  <a:pt x="9568" y="10000"/>
                </a:moveTo>
                <a:lnTo>
                  <a:pt x="4793" y="10000"/>
                </a:lnTo>
                <a:lnTo>
                  <a:pt x="0" y="10000"/>
                </a:lnTo>
                <a:lnTo>
                  <a:pt x="1362" y="4954"/>
                </a:lnTo>
                <a:lnTo>
                  <a:pt x="0" y="0"/>
                </a:lnTo>
                <a:lnTo>
                  <a:pt x="4793" y="0"/>
                </a:lnTo>
                <a:lnTo>
                  <a:pt x="9568" y="0"/>
                </a:lnTo>
                <a:lnTo>
                  <a:pt x="10000" y="4954"/>
                </a:lnTo>
                <a:lnTo>
                  <a:pt x="9568" y="1000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Freeform 791"/>
          <p:cNvSpPr/>
          <p:nvPr/>
        </p:nvSpPr>
        <p:spPr bwMode="auto">
          <a:xfrm>
            <a:off x="3573477" y="1800463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9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9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9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9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Freeform 792"/>
          <p:cNvSpPr/>
          <p:nvPr/>
        </p:nvSpPr>
        <p:spPr bwMode="auto">
          <a:xfrm>
            <a:off x="5808677" y="1800463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Freeform 793"/>
          <p:cNvSpPr/>
          <p:nvPr/>
        </p:nvSpPr>
        <p:spPr bwMode="auto">
          <a:xfrm>
            <a:off x="8045991" y="1800463"/>
            <a:ext cx="2377947" cy="596529"/>
          </a:xfrm>
          <a:custGeom>
            <a:avLst/>
            <a:gdLst/>
            <a:ahLst/>
            <a:cxnLst>
              <a:cxn ang="0">
                <a:pos x="993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3" y="0"/>
              </a:cxn>
              <a:cxn ang="0">
                <a:pos x="1038" y="54"/>
              </a:cxn>
              <a:cxn ang="0">
                <a:pos x="993" y="109"/>
              </a:cxn>
            </a:cxnLst>
            <a:rect l="0" t="0" r="r" b="b"/>
            <a:pathLst>
              <a:path w="1038" h="109">
                <a:moveTo>
                  <a:pt x="993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3" y="0"/>
                </a:lnTo>
                <a:lnTo>
                  <a:pt x="1038" y="54"/>
                </a:lnTo>
                <a:lnTo>
                  <a:pt x="993" y="109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Content Placeholder 2"/>
          <p:cNvSpPr txBox="1"/>
          <p:nvPr/>
        </p:nvSpPr>
        <p:spPr>
          <a:xfrm>
            <a:off x="1422024" y="3952790"/>
            <a:ext cx="2055002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边界</a:t>
            </a:r>
          </a:p>
        </p:txBody>
      </p:sp>
      <p:cxnSp>
        <p:nvCxnSpPr>
          <p:cNvPr id="75" name="Straight Connector 9"/>
          <p:cNvCxnSpPr/>
          <p:nvPr/>
        </p:nvCxnSpPr>
        <p:spPr>
          <a:xfrm>
            <a:off x="2449525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10"/>
          <p:cNvCxnSpPr/>
          <p:nvPr/>
        </p:nvCxnSpPr>
        <p:spPr>
          <a:xfrm>
            <a:off x="4604003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11"/>
          <p:cNvCxnSpPr/>
          <p:nvPr/>
        </p:nvCxnSpPr>
        <p:spPr>
          <a:xfrm>
            <a:off x="6870502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12"/>
          <p:cNvCxnSpPr/>
          <p:nvPr/>
        </p:nvCxnSpPr>
        <p:spPr>
          <a:xfrm>
            <a:off x="9094060" y="2528379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14"/>
          <p:cNvSpPr/>
          <p:nvPr/>
        </p:nvSpPr>
        <p:spPr>
          <a:xfrm>
            <a:off x="2038045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Arc 15"/>
          <p:cNvSpPr/>
          <p:nvPr/>
        </p:nvSpPr>
        <p:spPr>
          <a:xfrm>
            <a:off x="2038045" y="3059138"/>
            <a:ext cx="822960" cy="822960"/>
          </a:xfrm>
          <a:prstGeom prst="arc">
            <a:avLst>
              <a:gd name="adj1" fmla="val 13167232"/>
              <a:gd name="adj2" fmla="val 16466928"/>
            </a:avLst>
          </a:prstGeom>
          <a:ln w="79375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Oval 16"/>
          <p:cNvSpPr/>
          <p:nvPr/>
        </p:nvSpPr>
        <p:spPr>
          <a:xfrm>
            <a:off x="4192523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Arc 17"/>
          <p:cNvSpPr/>
          <p:nvPr/>
        </p:nvSpPr>
        <p:spPr>
          <a:xfrm>
            <a:off x="4192523" y="3059138"/>
            <a:ext cx="822960" cy="822960"/>
          </a:xfrm>
          <a:prstGeom prst="arc">
            <a:avLst>
              <a:gd name="adj1" fmla="val 9206565"/>
              <a:gd name="adj2" fmla="val 16045990"/>
            </a:avLst>
          </a:prstGeom>
          <a:ln w="79375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6459022" y="3059138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Arc 19"/>
          <p:cNvSpPr/>
          <p:nvPr/>
        </p:nvSpPr>
        <p:spPr>
          <a:xfrm>
            <a:off x="6459022" y="3059138"/>
            <a:ext cx="822960" cy="822960"/>
          </a:xfrm>
          <a:prstGeom prst="arc">
            <a:avLst>
              <a:gd name="adj1" fmla="val 5584046"/>
              <a:gd name="adj2" fmla="val 16355650"/>
            </a:avLst>
          </a:prstGeom>
          <a:ln w="79375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8673399" y="3032963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Arc 21"/>
          <p:cNvSpPr/>
          <p:nvPr/>
        </p:nvSpPr>
        <p:spPr>
          <a:xfrm>
            <a:off x="8668319" y="3032963"/>
            <a:ext cx="822960" cy="822960"/>
          </a:xfrm>
          <a:prstGeom prst="arc">
            <a:avLst>
              <a:gd name="adj1" fmla="val 867854"/>
              <a:gd name="adj2" fmla="val 16404494"/>
            </a:avLst>
          </a:prstGeom>
          <a:ln w="79375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Box 27"/>
          <p:cNvSpPr txBox="1"/>
          <p:nvPr/>
        </p:nvSpPr>
        <p:spPr>
          <a:xfrm>
            <a:off x="1347977" y="1899426"/>
            <a:ext cx="237300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1–2 月</a:t>
            </a:r>
          </a:p>
        </p:txBody>
      </p:sp>
      <p:sp>
        <p:nvSpPr>
          <p:cNvPr id="92" name="TextBox 28"/>
          <p:cNvSpPr txBox="1"/>
          <p:nvPr/>
        </p:nvSpPr>
        <p:spPr>
          <a:xfrm>
            <a:off x="3569032" y="1899426"/>
            <a:ext cx="229983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3–5 月</a:t>
            </a:r>
          </a:p>
        </p:txBody>
      </p:sp>
      <p:sp>
        <p:nvSpPr>
          <p:cNvPr id="93" name="TextBox 29"/>
          <p:cNvSpPr txBox="1"/>
          <p:nvPr/>
        </p:nvSpPr>
        <p:spPr>
          <a:xfrm>
            <a:off x="5782638" y="1900061"/>
            <a:ext cx="2290137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 月</a:t>
            </a:r>
          </a:p>
        </p:txBody>
      </p:sp>
      <p:sp>
        <p:nvSpPr>
          <p:cNvPr id="94" name="TextBox 30"/>
          <p:cNvSpPr txBox="1"/>
          <p:nvPr/>
        </p:nvSpPr>
        <p:spPr>
          <a:xfrm>
            <a:off x="8033293" y="1900061"/>
            <a:ext cx="227330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7–8 月</a:t>
            </a:r>
          </a:p>
        </p:txBody>
      </p:sp>
      <p:sp>
        <p:nvSpPr>
          <p:cNvPr id="97" name="Content Placeholder 2"/>
          <p:cNvSpPr txBox="1"/>
          <p:nvPr/>
        </p:nvSpPr>
        <p:spPr>
          <a:xfrm>
            <a:off x="3923537" y="3952791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</a:p>
        </p:txBody>
      </p:sp>
      <p:sp>
        <p:nvSpPr>
          <p:cNvPr id="99" name="Content Placeholder 2"/>
          <p:cNvSpPr txBox="1"/>
          <p:nvPr/>
        </p:nvSpPr>
        <p:spPr>
          <a:xfrm>
            <a:off x="6161731" y="3952792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</a:t>
            </a:r>
          </a:p>
        </p:txBody>
      </p:sp>
      <p:sp>
        <p:nvSpPr>
          <p:cNvPr id="101" name="Content Placeholder 2"/>
          <p:cNvSpPr txBox="1"/>
          <p:nvPr/>
        </p:nvSpPr>
        <p:spPr>
          <a:xfrm>
            <a:off x="8395240" y="3952792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决赛</a:t>
            </a:r>
            <a:endParaRPr lang="en-US" sz="2000" b="1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3" name="Content Placeholder 2"/>
          <p:cNvSpPr txBox="1"/>
          <p:nvPr/>
        </p:nvSpPr>
        <p:spPr>
          <a:xfrm>
            <a:off x="9862365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/>
          </a:p>
        </p:txBody>
      </p:sp>
      <p:sp>
        <p:nvSpPr>
          <p:cNvPr id="105" name="Freeform 6"/>
          <p:cNvSpPr>
            <a:spLocks noChangeArrowheads="1"/>
          </p:cNvSpPr>
          <p:nvPr/>
        </p:nvSpPr>
        <p:spPr bwMode="auto">
          <a:xfrm>
            <a:off x="6661308" y="3313825"/>
            <a:ext cx="365760" cy="365760"/>
          </a:xfrm>
          <a:custGeom>
            <a:avLst/>
            <a:gdLst>
              <a:gd name="T0" fmla="*/ 425 w 444"/>
              <a:gd name="T1" fmla="*/ 17 h 435"/>
              <a:gd name="T2" fmla="*/ 425 w 444"/>
              <a:gd name="T3" fmla="*/ 17 h 435"/>
              <a:gd name="T4" fmla="*/ 345 w 444"/>
              <a:gd name="T5" fmla="*/ 35 h 435"/>
              <a:gd name="T6" fmla="*/ 0 w 444"/>
              <a:gd name="T7" fmla="*/ 222 h 435"/>
              <a:gd name="T8" fmla="*/ 195 w 444"/>
              <a:gd name="T9" fmla="*/ 248 h 435"/>
              <a:gd name="T10" fmla="*/ 221 w 444"/>
              <a:gd name="T11" fmla="*/ 434 h 435"/>
              <a:gd name="T12" fmla="*/ 399 w 444"/>
              <a:gd name="T13" fmla="*/ 89 h 435"/>
              <a:gd name="T14" fmla="*/ 425 w 444"/>
              <a:gd name="T15" fmla="*/ 17 h 435"/>
              <a:gd name="T16" fmla="*/ 381 w 444"/>
              <a:gd name="T17" fmla="*/ 62 h 435"/>
              <a:gd name="T18" fmla="*/ 381 w 444"/>
              <a:gd name="T19" fmla="*/ 62 h 435"/>
              <a:gd name="T20" fmla="*/ 239 w 444"/>
              <a:gd name="T21" fmla="*/ 319 h 435"/>
              <a:gd name="T22" fmla="*/ 230 w 444"/>
              <a:gd name="T23" fmla="*/ 204 h 435"/>
              <a:gd name="T24" fmla="*/ 381 w 444"/>
              <a:gd name="T25" fmla="*/ 62 h 4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4" h="435">
                <a:moveTo>
                  <a:pt x="425" y="17"/>
                </a:moveTo>
                <a:lnTo>
                  <a:pt x="425" y="17"/>
                </a:lnTo>
                <a:cubicBezTo>
                  <a:pt x="408" y="0"/>
                  <a:pt x="399" y="17"/>
                  <a:pt x="345" y="35"/>
                </a:cubicBezTo>
                <a:cubicBezTo>
                  <a:pt x="221" y="97"/>
                  <a:pt x="0" y="222"/>
                  <a:pt x="0" y="222"/>
                </a:cubicBezTo>
                <a:cubicBezTo>
                  <a:pt x="195" y="248"/>
                  <a:pt x="195" y="248"/>
                  <a:pt x="195" y="248"/>
                </a:cubicBezTo>
                <a:cubicBezTo>
                  <a:pt x="221" y="434"/>
                  <a:pt x="221" y="434"/>
                  <a:pt x="221" y="434"/>
                </a:cubicBezTo>
                <a:cubicBezTo>
                  <a:pt x="221" y="434"/>
                  <a:pt x="345" y="222"/>
                  <a:pt x="399" y="89"/>
                </a:cubicBezTo>
                <a:cubicBezTo>
                  <a:pt x="425" y="44"/>
                  <a:pt x="443" y="26"/>
                  <a:pt x="425" y="17"/>
                </a:cubicBezTo>
                <a:close/>
                <a:moveTo>
                  <a:pt x="381" y="62"/>
                </a:moveTo>
                <a:lnTo>
                  <a:pt x="381" y="62"/>
                </a:lnTo>
                <a:cubicBezTo>
                  <a:pt x="239" y="319"/>
                  <a:pt x="239" y="319"/>
                  <a:pt x="239" y="319"/>
                </a:cubicBezTo>
                <a:cubicBezTo>
                  <a:pt x="230" y="204"/>
                  <a:pt x="230" y="204"/>
                  <a:pt x="230" y="204"/>
                </a:cubicBezTo>
                <a:lnTo>
                  <a:pt x="381" y="6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Freeform 25"/>
          <p:cNvSpPr>
            <a:spLocks noChangeArrowheads="1"/>
          </p:cNvSpPr>
          <p:nvPr/>
        </p:nvSpPr>
        <p:spPr bwMode="auto">
          <a:xfrm>
            <a:off x="8905769" y="3236545"/>
            <a:ext cx="365760" cy="365760"/>
          </a:xfrm>
          <a:custGeom>
            <a:avLst/>
            <a:gdLst>
              <a:gd name="T0" fmla="*/ 195 w 346"/>
              <a:gd name="T1" fmla="*/ 0 h 479"/>
              <a:gd name="T2" fmla="*/ 195 w 346"/>
              <a:gd name="T3" fmla="*/ 0 h 479"/>
              <a:gd name="T4" fmla="*/ 160 w 346"/>
              <a:gd name="T5" fmla="*/ 0 h 479"/>
              <a:gd name="T6" fmla="*/ 160 w 346"/>
              <a:gd name="T7" fmla="*/ 328 h 479"/>
              <a:gd name="T8" fmla="*/ 80 w 346"/>
              <a:gd name="T9" fmla="*/ 328 h 479"/>
              <a:gd name="T10" fmla="*/ 10 w 346"/>
              <a:gd name="T11" fmla="*/ 425 h 479"/>
              <a:gd name="T12" fmla="*/ 124 w 346"/>
              <a:gd name="T13" fmla="*/ 461 h 479"/>
              <a:gd name="T14" fmla="*/ 195 w 346"/>
              <a:gd name="T15" fmla="*/ 372 h 479"/>
              <a:gd name="T16" fmla="*/ 195 w 346"/>
              <a:gd name="T17" fmla="*/ 106 h 479"/>
              <a:gd name="T18" fmla="*/ 257 w 346"/>
              <a:gd name="T19" fmla="*/ 230 h 479"/>
              <a:gd name="T20" fmla="*/ 275 w 346"/>
              <a:gd name="T21" fmla="*/ 230 h 479"/>
              <a:gd name="T22" fmla="*/ 195 w 346"/>
              <a:gd name="T23" fmla="*/ 0 h 4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346" h="479">
                <a:moveTo>
                  <a:pt x="195" y="0"/>
                </a:moveTo>
                <a:lnTo>
                  <a:pt x="195" y="0"/>
                </a:lnTo>
                <a:cubicBezTo>
                  <a:pt x="160" y="0"/>
                  <a:pt x="160" y="0"/>
                  <a:pt x="160" y="0"/>
                </a:cubicBezTo>
                <a:cubicBezTo>
                  <a:pt x="160" y="328"/>
                  <a:pt x="160" y="328"/>
                  <a:pt x="160" y="328"/>
                </a:cubicBezTo>
                <a:cubicBezTo>
                  <a:pt x="133" y="319"/>
                  <a:pt x="107" y="319"/>
                  <a:pt x="80" y="328"/>
                </a:cubicBezTo>
                <a:cubicBezTo>
                  <a:pt x="26" y="346"/>
                  <a:pt x="0" y="390"/>
                  <a:pt x="10" y="425"/>
                </a:cubicBezTo>
                <a:cubicBezTo>
                  <a:pt x="26" y="461"/>
                  <a:pt x="71" y="478"/>
                  <a:pt x="124" y="461"/>
                </a:cubicBezTo>
                <a:cubicBezTo>
                  <a:pt x="169" y="443"/>
                  <a:pt x="195" y="408"/>
                  <a:pt x="195" y="372"/>
                </a:cubicBezTo>
                <a:cubicBezTo>
                  <a:pt x="195" y="106"/>
                  <a:pt x="195" y="106"/>
                  <a:pt x="195" y="106"/>
                </a:cubicBezTo>
                <a:cubicBezTo>
                  <a:pt x="266" y="124"/>
                  <a:pt x="266" y="212"/>
                  <a:pt x="257" y="230"/>
                </a:cubicBezTo>
                <a:cubicBezTo>
                  <a:pt x="257" y="239"/>
                  <a:pt x="266" y="248"/>
                  <a:pt x="275" y="230"/>
                </a:cubicBezTo>
                <a:cubicBezTo>
                  <a:pt x="345" y="115"/>
                  <a:pt x="195" y="62"/>
                  <a:pt x="195" y="0"/>
                </a:cubicBez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Freeform 106"/>
          <p:cNvSpPr>
            <a:spLocks noChangeArrowheads="1"/>
          </p:cNvSpPr>
          <p:nvPr/>
        </p:nvSpPr>
        <p:spPr bwMode="auto">
          <a:xfrm>
            <a:off x="4455627" y="3292798"/>
            <a:ext cx="365760" cy="365760"/>
          </a:xfrm>
          <a:custGeom>
            <a:avLst/>
            <a:gdLst>
              <a:gd name="T0" fmla="*/ 35 w 355"/>
              <a:gd name="T1" fmla="*/ 497 h 506"/>
              <a:gd name="T2" fmla="*/ 35 w 355"/>
              <a:gd name="T3" fmla="*/ 497 h 506"/>
              <a:gd name="T4" fmla="*/ 70 w 355"/>
              <a:gd name="T5" fmla="*/ 381 h 506"/>
              <a:gd name="T6" fmla="*/ 203 w 355"/>
              <a:gd name="T7" fmla="*/ 310 h 506"/>
              <a:gd name="T8" fmla="*/ 132 w 355"/>
              <a:gd name="T9" fmla="*/ 284 h 506"/>
              <a:gd name="T10" fmla="*/ 292 w 355"/>
              <a:gd name="T11" fmla="*/ 194 h 506"/>
              <a:gd name="T12" fmla="*/ 194 w 355"/>
              <a:gd name="T13" fmla="*/ 168 h 506"/>
              <a:gd name="T14" fmla="*/ 327 w 355"/>
              <a:gd name="T15" fmla="*/ 133 h 506"/>
              <a:gd name="T16" fmla="*/ 345 w 355"/>
              <a:gd name="T17" fmla="*/ 44 h 506"/>
              <a:gd name="T18" fmla="*/ 248 w 355"/>
              <a:gd name="T19" fmla="*/ 0 h 506"/>
              <a:gd name="T20" fmla="*/ 159 w 355"/>
              <a:gd name="T21" fmla="*/ 124 h 506"/>
              <a:gd name="T22" fmla="*/ 168 w 355"/>
              <a:gd name="T23" fmla="*/ 18 h 506"/>
              <a:gd name="T24" fmla="*/ 70 w 355"/>
              <a:gd name="T25" fmla="*/ 106 h 506"/>
              <a:gd name="T26" fmla="*/ 61 w 355"/>
              <a:gd name="T27" fmla="*/ 301 h 506"/>
              <a:gd name="T28" fmla="*/ 8 w 355"/>
              <a:gd name="T29" fmla="*/ 213 h 506"/>
              <a:gd name="T30" fmla="*/ 35 w 355"/>
              <a:gd name="T31" fmla="*/ 363 h 506"/>
              <a:gd name="T32" fmla="*/ 8 w 355"/>
              <a:gd name="T33" fmla="*/ 478 h 506"/>
              <a:gd name="T34" fmla="*/ 35 w 355"/>
              <a:gd name="T35" fmla="*/ 497 h 5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355" h="506">
                <a:moveTo>
                  <a:pt x="35" y="497"/>
                </a:moveTo>
                <a:lnTo>
                  <a:pt x="35" y="497"/>
                </a:lnTo>
                <a:cubicBezTo>
                  <a:pt x="44" y="469"/>
                  <a:pt x="53" y="434"/>
                  <a:pt x="70" y="381"/>
                </a:cubicBezTo>
                <a:cubicBezTo>
                  <a:pt x="132" y="372"/>
                  <a:pt x="168" y="390"/>
                  <a:pt x="203" y="310"/>
                </a:cubicBezTo>
                <a:cubicBezTo>
                  <a:pt x="168" y="328"/>
                  <a:pt x="132" y="292"/>
                  <a:pt x="132" y="284"/>
                </a:cubicBezTo>
                <a:cubicBezTo>
                  <a:pt x="132" y="266"/>
                  <a:pt x="229" y="292"/>
                  <a:pt x="292" y="194"/>
                </a:cubicBezTo>
                <a:cubicBezTo>
                  <a:pt x="212" y="213"/>
                  <a:pt x="185" y="178"/>
                  <a:pt x="194" y="168"/>
                </a:cubicBezTo>
                <a:cubicBezTo>
                  <a:pt x="221" y="159"/>
                  <a:pt x="292" y="168"/>
                  <a:pt x="327" y="133"/>
                </a:cubicBezTo>
                <a:cubicBezTo>
                  <a:pt x="345" y="115"/>
                  <a:pt x="354" y="62"/>
                  <a:pt x="345" y="44"/>
                </a:cubicBezTo>
                <a:cubicBezTo>
                  <a:pt x="336" y="27"/>
                  <a:pt x="283" y="0"/>
                  <a:pt x="248" y="0"/>
                </a:cubicBezTo>
                <a:cubicBezTo>
                  <a:pt x="221" y="9"/>
                  <a:pt x="168" y="124"/>
                  <a:pt x="159" y="124"/>
                </a:cubicBezTo>
                <a:cubicBezTo>
                  <a:pt x="141" y="124"/>
                  <a:pt x="141" y="71"/>
                  <a:pt x="168" y="18"/>
                </a:cubicBezTo>
                <a:cubicBezTo>
                  <a:pt x="132" y="35"/>
                  <a:pt x="88" y="71"/>
                  <a:pt x="70" y="106"/>
                </a:cubicBezTo>
                <a:cubicBezTo>
                  <a:pt x="44" y="159"/>
                  <a:pt x="79" y="301"/>
                  <a:pt x="61" y="301"/>
                </a:cubicBezTo>
                <a:cubicBezTo>
                  <a:pt x="53" y="310"/>
                  <a:pt x="17" y="239"/>
                  <a:pt x="8" y="213"/>
                </a:cubicBezTo>
                <a:cubicBezTo>
                  <a:pt x="0" y="257"/>
                  <a:pt x="0" y="301"/>
                  <a:pt x="35" y="363"/>
                </a:cubicBezTo>
                <a:cubicBezTo>
                  <a:pt x="26" y="407"/>
                  <a:pt x="17" y="452"/>
                  <a:pt x="8" y="478"/>
                </a:cubicBezTo>
                <a:cubicBezTo>
                  <a:pt x="8" y="497"/>
                  <a:pt x="35" y="505"/>
                  <a:pt x="35" y="497"/>
                </a:cubicBez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Freeform 115"/>
          <p:cNvSpPr>
            <a:spLocks noChangeArrowheads="1"/>
          </p:cNvSpPr>
          <p:nvPr/>
        </p:nvSpPr>
        <p:spPr bwMode="auto">
          <a:xfrm>
            <a:off x="2275745" y="3254161"/>
            <a:ext cx="365760" cy="432913"/>
          </a:xfrm>
          <a:custGeom>
            <a:avLst/>
            <a:gdLst>
              <a:gd name="T0" fmla="*/ 381 w 400"/>
              <a:gd name="T1" fmla="*/ 124 h 498"/>
              <a:gd name="T2" fmla="*/ 381 w 400"/>
              <a:gd name="T3" fmla="*/ 124 h 498"/>
              <a:gd name="T4" fmla="*/ 231 w 400"/>
              <a:gd name="T5" fmla="*/ 9 h 498"/>
              <a:gd name="T6" fmla="*/ 115 w 400"/>
              <a:gd name="T7" fmla="*/ 151 h 498"/>
              <a:gd name="T8" fmla="*/ 133 w 400"/>
              <a:gd name="T9" fmla="*/ 213 h 498"/>
              <a:gd name="T10" fmla="*/ 9 w 400"/>
              <a:gd name="T11" fmla="*/ 407 h 498"/>
              <a:gd name="T12" fmla="*/ 0 w 400"/>
              <a:gd name="T13" fmla="*/ 434 h 498"/>
              <a:gd name="T14" fmla="*/ 9 w 400"/>
              <a:gd name="T15" fmla="*/ 478 h 498"/>
              <a:gd name="T16" fmla="*/ 27 w 400"/>
              <a:gd name="T17" fmla="*/ 497 h 498"/>
              <a:gd name="T18" fmla="*/ 62 w 400"/>
              <a:gd name="T19" fmla="*/ 487 h 498"/>
              <a:gd name="T20" fmla="*/ 89 w 400"/>
              <a:gd name="T21" fmla="*/ 470 h 498"/>
              <a:gd name="T22" fmla="*/ 142 w 400"/>
              <a:gd name="T23" fmla="*/ 390 h 498"/>
              <a:gd name="T24" fmla="*/ 142 w 400"/>
              <a:gd name="T25" fmla="*/ 390 h 498"/>
              <a:gd name="T26" fmla="*/ 177 w 400"/>
              <a:gd name="T27" fmla="*/ 381 h 498"/>
              <a:gd name="T28" fmla="*/ 231 w 400"/>
              <a:gd name="T29" fmla="*/ 284 h 498"/>
              <a:gd name="T30" fmla="*/ 293 w 400"/>
              <a:gd name="T31" fmla="*/ 284 h 498"/>
              <a:gd name="T32" fmla="*/ 381 w 400"/>
              <a:gd name="T33" fmla="*/ 124 h 498"/>
              <a:gd name="T34" fmla="*/ 319 w 400"/>
              <a:gd name="T35" fmla="*/ 159 h 498"/>
              <a:gd name="T36" fmla="*/ 319 w 400"/>
              <a:gd name="T37" fmla="*/ 159 h 498"/>
              <a:gd name="T38" fmla="*/ 256 w 400"/>
              <a:gd name="T39" fmla="*/ 142 h 498"/>
              <a:gd name="T40" fmla="*/ 221 w 400"/>
              <a:gd name="T41" fmla="*/ 80 h 498"/>
              <a:gd name="T42" fmla="*/ 310 w 400"/>
              <a:gd name="T43" fmla="*/ 71 h 498"/>
              <a:gd name="T44" fmla="*/ 319 w 400"/>
              <a:gd name="T45" fmla="*/ 159 h 4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00" h="498">
                <a:moveTo>
                  <a:pt x="381" y="124"/>
                </a:moveTo>
                <a:lnTo>
                  <a:pt x="381" y="124"/>
                </a:lnTo>
                <a:cubicBezTo>
                  <a:pt x="372" y="44"/>
                  <a:pt x="301" y="0"/>
                  <a:pt x="231" y="9"/>
                </a:cubicBezTo>
                <a:cubicBezTo>
                  <a:pt x="159" y="27"/>
                  <a:pt x="106" y="80"/>
                  <a:pt x="115" y="151"/>
                </a:cubicBezTo>
                <a:cubicBezTo>
                  <a:pt x="115" y="168"/>
                  <a:pt x="124" y="195"/>
                  <a:pt x="133" y="213"/>
                </a:cubicBezTo>
                <a:cubicBezTo>
                  <a:pt x="9" y="407"/>
                  <a:pt x="9" y="407"/>
                  <a:pt x="9" y="407"/>
                </a:cubicBezTo>
                <a:cubicBezTo>
                  <a:pt x="0" y="407"/>
                  <a:pt x="0" y="425"/>
                  <a:pt x="0" y="434"/>
                </a:cubicBezTo>
                <a:cubicBezTo>
                  <a:pt x="9" y="478"/>
                  <a:pt x="9" y="478"/>
                  <a:pt x="9" y="478"/>
                </a:cubicBezTo>
                <a:cubicBezTo>
                  <a:pt x="9" y="487"/>
                  <a:pt x="18" y="497"/>
                  <a:pt x="27" y="497"/>
                </a:cubicBezTo>
                <a:cubicBezTo>
                  <a:pt x="62" y="487"/>
                  <a:pt x="62" y="487"/>
                  <a:pt x="62" y="487"/>
                </a:cubicBezTo>
                <a:cubicBezTo>
                  <a:pt x="71" y="487"/>
                  <a:pt x="80" y="478"/>
                  <a:pt x="89" y="470"/>
                </a:cubicBezTo>
                <a:cubicBezTo>
                  <a:pt x="142" y="390"/>
                  <a:pt x="142" y="390"/>
                  <a:pt x="142" y="390"/>
                </a:cubicBezTo>
                <a:lnTo>
                  <a:pt x="142" y="390"/>
                </a:lnTo>
                <a:cubicBezTo>
                  <a:pt x="177" y="381"/>
                  <a:pt x="177" y="381"/>
                  <a:pt x="177" y="381"/>
                </a:cubicBezTo>
                <a:cubicBezTo>
                  <a:pt x="231" y="284"/>
                  <a:pt x="231" y="284"/>
                  <a:pt x="231" y="284"/>
                </a:cubicBezTo>
                <a:cubicBezTo>
                  <a:pt x="248" y="293"/>
                  <a:pt x="284" y="284"/>
                  <a:pt x="293" y="284"/>
                </a:cubicBezTo>
                <a:cubicBezTo>
                  <a:pt x="363" y="275"/>
                  <a:pt x="399" y="195"/>
                  <a:pt x="381" y="124"/>
                </a:cubicBezTo>
                <a:close/>
                <a:moveTo>
                  <a:pt x="319" y="159"/>
                </a:moveTo>
                <a:lnTo>
                  <a:pt x="319" y="159"/>
                </a:lnTo>
                <a:cubicBezTo>
                  <a:pt x="301" y="187"/>
                  <a:pt x="284" y="168"/>
                  <a:pt x="256" y="142"/>
                </a:cubicBezTo>
                <a:cubicBezTo>
                  <a:pt x="231" y="124"/>
                  <a:pt x="203" y="115"/>
                  <a:pt x="221" y="80"/>
                </a:cubicBezTo>
                <a:cubicBezTo>
                  <a:pt x="240" y="53"/>
                  <a:pt x="284" y="44"/>
                  <a:pt x="310" y="71"/>
                </a:cubicBezTo>
                <a:cubicBezTo>
                  <a:pt x="337" y="89"/>
                  <a:pt x="346" y="133"/>
                  <a:pt x="319" y="15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1348571" y="4411217"/>
            <a:ext cx="22256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确定 Rust 内核路线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建立 Linux ABI 边界</a:t>
            </a:r>
            <a:endParaRPr lang="en-US" altLang="zh-CN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双架构并行推进</a:t>
            </a:r>
            <a:endParaRPr lang="zh-CN" altLang="en-US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3569166" y="4411217"/>
            <a:ext cx="22390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进程 / 调度 / VMO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VFS / 设备模型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基础用户态运行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Content Placeholder 2"/>
          <p:cNvSpPr txBox="1"/>
          <p:nvPr/>
        </p:nvSpPr>
        <p:spPr>
          <a:xfrm>
            <a:off x="5809445" y="4402327"/>
            <a:ext cx="2350029" cy="1205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初赛测例全部通过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补齐 LTP 语义边界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缓存与挂载路径完善</a:t>
            </a: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Content Placeholder 2"/>
          <p:cNvSpPr txBox="1"/>
          <p:nvPr/>
        </p:nvSpPr>
        <p:spPr>
          <a:xfrm>
            <a:off x="8046551" y="4402327"/>
            <a:ext cx="2530918" cy="1205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网络与作业控制</a:t>
            </a:r>
            <a:endParaRPr lang="en-US" altLang="zh-CN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BuildStorm / Cagent</a:t>
            </a:r>
            <a:endParaRPr lang="en-US" altLang="zh-CN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物理平台适配</a:t>
            </a:r>
            <a:r>
              <a:rPr lang="en-US" altLang="zh-CN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/ </a:t>
            </a: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驱动开发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性能验证与交付</a:t>
            </a:r>
          </a:p>
        </p:txBody>
      </p:sp>
      <p:sp>
        <p:nvSpPr>
          <p:cNvPr id="2" name="Content Placeholder 2"/>
          <p:cNvSpPr txBox="1"/>
          <p:nvPr/>
        </p:nvSpPr>
        <p:spPr>
          <a:xfrm>
            <a:off x="9748173" y="4125310"/>
            <a:ext cx="1982470" cy="2154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altLang="zh-CN" dirty="0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dirty="0">
              <a:solidFill>
                <a:schemeClr val="accent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</p:txBody>
      </p:sp>
      <p:sp>
        <p:nvSpPr>
          <p:cNvPr id="116" name="NavActive 开发历程"/>
          <p:cNvSpPr/>
          <p:nvPr/>
        </p:nvSpPr>
        <p:spPr>
          <a:xfrm>
            <a:off x="4638083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117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123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124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125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126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127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825032" y="2809186"/>
            <a:ext cx="25419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设计主线</a:t>
            </a:r>
            <a:endParaRPr lang="en-US" altLang="zh-CN" sz="4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FB8D0C5-94E8-532F-79E3-8CB1235A6FAB}"/>
              </a:ext>
            </a:extLst>
          </p:cNvPr>
          <p:cNvSpPr txBox="1"/>
          <p:nvPr/>
        </p:nvSpPr>
        <p:spPr>
          <a:xfrm>
            <a:off x="4129755" y="3768183"/>
            <a:ext cx="39324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边界 / 契约 / 所有权</a:t>
            </a:r>
            <a:endParaRPr lang="zh-CN" altLang="en-US" sz="3200" dirty="0"/>
          </a:p>
        </p:txBody>
      </p:sp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7292" y="1016779"/>
            <a:ext cx="4899025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为什么坚持从零设计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88010" y="187198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兼容对外协议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66800" y="2440940"/>
            <a:ext cx="8641080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Linux ABI 兼容停留在 syscall / UAPI 边界；不复制 Linux 内部对象与历史实现结构</a:t>
            </a:r>
            <a:endParaRPr lang="zh-CN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88010" y="4027805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重建内部所有权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66799" y="4596765"/>
            <a:ext cx="8936449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核心对象围绕 Rust 所有权与单一真相源设计；调试、审查和演进路径更清楚</a:t>
            </a: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5" grpId="0"/>
      <p:bldP spid="5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7292" y="1022494"/>
            <a:ext cx="3869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ABI 与内部对象分层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26745" y="180975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外部协议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266817" y="1745247"/>
            <a:ext cx="5454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syscall / UAPI / errno / flag 定义 Linux 用户态可见语义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26745" y="2619375"/>
            <a:ext cx="105479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内部对象不复刻 Linux 源码结构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26745" y="3438465"/>
            <a:ext cx="105479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进程、文件、地址空间与设备各有明确 owner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632682" y="4342529"/>
            <a:ext cx="105479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兼容逻辑隔离在边界，核心机制保持原生对象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713BA4C-4DFA-409F-B130-D711ED3CFEE9}"/>
              </a:ext>
            </a:extLst>
          </p:cNvPr>
          <p:cNvSpPr txBox="1"/>
          <p:nvPr/>
        </p:nvSpPr>
        <p:spPr>
          <a:xfrm>
            <a:off x="626744" y="5246593"/>
            <a:ext cx="105479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20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结果：ABI 可解释，内部实现可审查、可重构</a:t>
            </a:r>
          </a:p>
        </p:txBody>
      </p:sp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5486636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1" grpId="0"/>
      <p:bldP spid="11" grpId="1"/>
      <p:bldP spid="14" grpId="0"/>
      <p:bldP spid="14" grpId="1"/>
      <p:bldP spid="15" grpId="0"/>
      <p:bldP spid="15" grpId="1"/>
      <p:bldP spid="23" grpId="0"/>
      <p:bldP spid="23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BD296-19DE-B2E5-3F49-F3AD2389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3E65660F-EDA8-926A-4F4E-8BABD7E9D048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A029BECF-78B1-F552-4642-475409AED9D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9BE7ACD-E9D6-8465-4935-0FA0B6A51B31}"/>
              </a:ext>
            </a:extLst>
          </p:cNvPr>
          <p:cNvSpPr txBox="1"/>
          <p:nvPr/>
        </p:nvSpPr>
        <p:spPr>
          <a:xfrm>
            <a:off x="117292" y="1022494"/>
            <a:ext cx="3869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兼容逻辑停在边界层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D78F0-C65E-0D0F-F92B-2489437601D1}"/>
              </a:ext>
            </a:extLst>
          </p:cNvPr>
          <p:cNvSpPr txBox="1"/>
          <p:nvPr/>
        </p:nvSpPr>
        <p:spPr>
          <a:xfrm>
            <a:off x="535492" y="1776208"/>
            <a:ext cx="27955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Linux 用户态 → syscall 适配 → Anemone 核心对象 → HAL / 平台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27F1C6A-DEBA-55C2-1C18-3A6CABF7D8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556" y="1725917"/>
            <a:ext cx="7485319" cy="4446279"/>
          </a:xfrm>
          <a:prstGeom prst="rect">
            <a:avLst/>
          </a:prstGeom>
        </p:spPr>
      </p:pic>
      <p:sp>
        <p:nvSpPr>
          <p:cNvPr id="33" name="NavActive 设计主线"/>
          <p:cNvSpPr/>
          <p:nvPr/>
        </p:nvSpPr>
        <p:spPr>
          <a:xfrm>
            <a:off x="6044316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28987964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696447" y="3044279"/>
            <a:ext cx="24947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核心机制</a:t>
            </a:r>
            <a:endParaRPr lang="en-US" altLang="zh-CN" sz="4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75CBC-0DDD-8573-0637-0F9FAF0CC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DC17FBA8-E970-91AC-AFD2-A73B3B9D0B01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831A1586-C948-EF04-B957-9B0B1D3A113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EDA29D01-E172-54DF-2BD3-A862FED28996}"/>
              </a:ext>
            </a:extLst>
          </p:cNvPr>
          <p:cNvSpPr txBox="1"/>
          <p:nvPr/>
        </p:nvSpPr>
        <p:spPr>
          <a:xfrm>
            <a:off x="222877" y="1040904"/>
            <a:ext cx="7761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Nemophila – </a:t>
            </a:r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基于</a:t>
            </a: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WASM</a:t>
            </a:r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的内核动态扩展机制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016A1B-CC7D-F1B5-A561-709763306072}"/>
              </a:ext>
            </a:extLst>
          </p:cNvPr>
          <p:cNvSpPr txBox="1"/>
          <p:nvPr/>
        </p:nvSpPr>
        <p:spPr>
          <a:xfrm>
            <a:off x="385949" y="1564124"/>
            <a:ext cx="109787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模块热插拔；</a:t>
            </a: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WASM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天然提供沙箱性质；一次编译，多架构装载；内核</a:t>
            </a: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Hook</a:t>
            </a:r>
          </a:p>
        </p:txBody>
      </p:sp>
      <p:sp>
        <p:nvSpPr>
          <p:cNvPr id="33" name="NavActive 核心机制">
            <a:extLst>
              <a:ext uri="{FF2B5EF4-FFF2-40B4-BE49-F238E27FC236}">
                <a16:creationId xmlns:a16="http://schemas.microsoft.com/office/drawing/2014/main" id="{BB7C17D6-B474-4290-AD12-D0649CB9DF68}"/>
              </a:ext>
            </a:extLst>
          </p:cNvPr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>
            <a:extLst>
              <a:ext uri="{FF2B5EF4-FFF2-40B4-BE49-F238E27FC236}">
                <a16:creationId xmlns:a16="http://schemas.microsoft.com/office/drawing/2014/main" id="{C5B9C389-D914-25EF-18B8-ADD8F91E1BE9}"/>
              </a:ext>
            </a:extLst>
          </p:cNvPr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>
            <a:extLst>
              <a:ext uri="{FF2B5EF4-FFF2-40B4-BE49-F238E27FC236}">
                <a16:creationId xmlns:a16="http://schemas.microsoft.com/office/drawing/2014/main" id="{2FB02D32-CB11-15AB-CD7D-7A065284CE4F}"/>
              </a:ext>
            </a:extLst>
          </p:cNvPr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>
            <a:extLst>
              <a:ext uri="{FF2B5EF4-FFF2-40B4-BE49-F238E27FC236}">
                <a16:creationId xmlns:a16="http://schemas.microsoft.com/office/drawing/2014/main" id="{42093380-BC76-CBFE-D9A8-4EE899B44D80}"/>
              </a:ext>
            </a:extLst>
          </p:cNvPr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>
            <a:extLst>
              <a:ext uri="{FF2B5EF4-FFF2-40B4-BE49-F238E27FC236}">
                <a16:creationId xmlns:a16="http://schemas.microsoft.com/office/drawing/2014/main" id="{6D372E64-5CB2-55A0-E8A0-2C8FB423B61E}"/>
              </a:ext>
            </a:extLst>
          </p:cNvPr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>
            <a:extLst>
              <a:ext uri="{FF2B5EF4-FFF2-40B4-BE49-F238E27FC236}">
                <a16:creationId xmlns:a16="http://schemas.microsoft.com/office/drawing/2014/main" id="{DEA69ED2-C8E4-06B2-FDD7-60FC17585D04}"/>
              </a:ext>
            </a:extLst>
          </p:cNvPr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>
            <a:extLst>
              <a:ext uri="{FF2B5EF4-FFF2-40B4-BE49-F238E27FC236}">
                <a16:creationId xmlns:a16="http://schemas.microsoft.com/office/drawing/2014/main" id="{FA155DDE-E769-D54F-240F-FD2D92B7F5B0}"/>
              </a:ext>
            </a:extLst>
          </p:cNvPr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>
            <a:extLst>
              <a:ext uri="{FF2B5EF4-FFF2-40B4-BE49-F238E27FC236}">
                <a16:creationId xmlns:a16="http://schemas.microsoft.com/office/drawing/2014/main" id="{B74939A2-13A1-0A7F-F61A-A439814131DC}"/>
              </a:ext>
            </a:extLst>
          </p:cNvPr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>
            <a:extLst>
              <a:ext uri="{FF2B5EF4-FFF2-40B4-BE49-F238E27FC236}">
                <a16:creationId xmlns:a16="http://schemas.microsoft.com/office/drawing/2014/main" id="{02A733B2-112D-E46E-73ED-483EC89D861C}"/>
              </a:ext>
            </a:extLst>
          </p:cNvPr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>
            <a:extLst>
              <a:ext uri="{FF2B5EF4-FFF2-40B4-BE49-F238E27FC236}">
                <a16:creationId xmlns:a16="http://schemas.microsoft.com/office/drawing/2014/main" id="{5FD60F71-2F02-6E44-F7FB-76701D227E48}"/>
              </a:ext>
            </a:extLst>
          </p:cNvPr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>
            <a:extLst>
              <a:ext uri="{FF2B5EF4-FFF2-40B4-BE49-F238E27FC236}">
                <a16:creationId xmlns:a16="http://schemas.microsoft.com/office/drawing/2014/main" id="{85109E4F-FC6B-C4C7-BA2D-AACB196A7F45}"/>
              </a:ext>
            </a:extLst>
          </p:cNvPr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>
            <a:extLst>
              <a:ext uri="{FF2B5EF4-FFF2-40B4-BE49-F238E27FC236}">
                <a16:creationId xmlns:a16="http://schemas.microsoft.com/office/drawing/2014/main" id="{5D726B99-D12B-A642-F40B-0CDFBA21E9AC}"/>
              </a:ext>
            </a:extLst>
          </p:cNvPr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5577DE8-15C5-FCCE-C68C-0093392051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326" y="2005805"/>
            <a:ext cx="10919360" cy="471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14906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进程拓扑与作业控制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Task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的本地信息存放在</a:t>
            </a: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TCB</a:t>
            </a:r>
          </a:p>
          <a:p>
            <a:pPr marL="342900" indent="-342900">
              <a:buFontTx/>
              <a:buChar char="-"/>
            </a:pP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关联信息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——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线程组，进程组，会话关系，则存储在全局拓扑，被一把大锁保护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解决发布窗口期竞态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Unix </a:t>
            </a:r>
            <a:r>
              <a:rPr lang="en-US" altLang="zh-CN" sz="2400" b="0" i="0" dirty="0" err="1">
                <a:solidFill>
                  <a:srgbClr val="404040"/>
                </a:solidFill>
                <a:effectLst/>
                <a:latin typeface="quote-cjk-patch"/>
              </a:rPr>
              <a:t>JobCtl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，支持</a:t>
            </a: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Shell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的复杂操作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566" y="1564124"/>
            <a:ext cx="4882385" cy="3945244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动态多调度策略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32855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rgbClr val="404040"/>
                </a:solidFill>
                <a:latin typeface="quote-cjk-patch"/>
              </a:rPr>
              <a:t>多种同步原语：</a:t>
            </a:r>
            <a:endParaRPr lang="en-US" altLang="zh-CN" sz="2400" b="1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Event —— 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等待与发布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Latch —— 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一次性的等待闸门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OneShot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 —— 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一次性的数据通道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r>
              <a:rPr lang="zh-CN" altLang="en-US" sz="2400" b="1" dirty="0">
                <a:solidFill>
                  <a:srgbClr val="404040"/>
                </a:solidFill>
                <a:latin typeface="quote-cjk-patch"/>
              </a:rPr>
              <a:t>动态调节调度策略：</a:t>
            </a:r>
            <a:endParaRPr lang="en-US" altLang="zh-CN" sz="2400" b="1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公平调度类：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EEVDF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；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Stride</a:t>
            </a: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实时调度类：轮转；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FIFO</a:t>
            </a:r>
          </a:p>
          <a:p>
            <a:pPr marL="342900" indent="-342900">
              <a:buFontTx/>
              <a:buChar char="-"/>
            </a:pP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Idle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调度类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566" y="1564124"/>
            <a:ext cx="4882385" cy="3945244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586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VMO </a:t>
            </a:r>
            <a:r>
              <a:rPr lang="en-US" altLang="zh-CN" sz="28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统一内存对象</a:t>
            </a:r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：源自</a:t>
            </a: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Zircon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匿名页、文件映射、共享内存与 COW 由 VMO / backing object 组织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不同地址空间有不同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VMA</a:t>
            </a:r>
          </a:p>
          <a:p>
            <a:pPr marL="342900" indent="-342900">
              <a:buFontTx/>
              <a:buChar char="-"/>
            </a:pP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VMA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存在对应的</a:t>
            </a: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VMO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后端支持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一个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VMO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可以支持多个地址空间的不同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VMA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566" y="1564124"/>
            <a:ext cx="4882385" cy="3945244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Fork 只在写入时复制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415636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-    COW 延迟复制；匿名 VMO </a:t>
            </a: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可共享全局只读零页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Fork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后，一个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VMO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转变为三个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VMO</a:t>
            </a:r>
          </a:p>
          <a:p>
            <a:pPr marL="342900" indent="-342900">
              <a:buFontTx/>
              <a:buChar char="-"/>
            </a:pP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Shadow VMO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将形成树，整个</a:t>
            </a:r>
            <a:r>
              <a:rPr lang="zh-CN" altLang="en-US" sz="2400">
                <a:solidFill>
                  <a:srgbClr val="404040"/>
                </a:solidFill>
                <a:latin typeface="quote-cjk-patch"/>
              </a:rPr>
              <a:t>内核所管理的地址空间将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是一片森林。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D94482F-5C1E-93D9-0FE2-D3B733A537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617" y="1891797"/>
            <a:ext cx="8316098" cy="3925299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VFS 对象模型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389510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f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ilesystem、superblock、inode、dentry、file 与 path view 分层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一个</a:t>
            </a: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SuperBlock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可以支持多个属性不同的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Mount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经典的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Linux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式设计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FA3FB2A-C745-7390-63D9-14F7090F3A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7616" y="1813028"/>
            <a:ext cx="6796094" cy="3797375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缓存围绕对象生命周期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9"/>
            <a:ext cx="8009905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ICache 稳定 inode 身份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引用计数归零仅仅</a:t>
            </a: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UnIndex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成为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Ghost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，并不立即驱逐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周期性</a:t>
            </a:r>
            <a:r>
              <a:rPr lang="en-US" altLang="zh-CN" sz="2400" b="0" i="0" dirty="0" err="1">
                <a:solidFill>
                  <a:srgbClr val="404040"/>
                </a:solidFill>
                <a:effectLst/>
                <a:latin typeface="quote-cjk-patch"/>
              </a:rPr>
              <a:t>Inode</a:t>
            </a: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 Shrinker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内核线程清理</a:t>
            </a: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Ghost </a:t>
            </a:r>
            <a:r>
              <a:rPr lang="en-US" altLang="zh-CN" sz="2400" b="0" i="0" dirty="0" err="1">
                <a:solidFill>
                  <a:srgbClr val="404040"/>
                </a:solidFill>
                <a:effectLst/>
                <a:latin typeface="quote-cjk-patch"/>
              </a:rPr>
              <a:t>Inode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- 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此外，还有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Page Cache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，</a:t>
            </a: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DEntry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 Cache</a:t>
            </a:r>
          </a:p>
          <a:p>
            <a:pPr algn="l"/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algn="l"/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endParaRPr lang="zh-CN" alt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28C3E5D-DC8A-79E7-BC9F-ADC000434B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056" y="2533897"/>
            <a:ext cx="10127960" cy="2265218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2877" y="1040904"/>
            <a:ext cx="6925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Bus + Device + Driver</a:t>
            </a:r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：设备驱动模型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6BFD58-5BD1-4D0F-9AC7-D682BB058420}"/>
              </a:ext>
            </a:extLst>
          </p:cNvPr>
          <p:cNvSpPr txBox="1"/>
          <p:nvPr/>
        </p:nvSpPr>
        <p:spPr>
          <a:xfrm>
            <a:off x="391887" y="1813028"/>
            <a:ext cx="432706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设备和驱动被挂载到总线上，相互发生匹配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目前支持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Platform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，</a:t>
            </a: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VirtIO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，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PCI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，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MMC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等总线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支持多层级总线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97D1447-47B0-C392-6613-A72C2011E3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4793" y="1516623"/>
            <a:ext cx="5159872" cy="4780828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117373" y="1298752"/>
            <a:ext cx="3743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网络能力已经进入真实用户态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40714E8-FC79-452A-8C71-10E62FCD323D}"/>
              </a:ext>
            </a:extLst>
          </p:cNvPr>
          <p:cNvSpPr txBox="1"/>
          <p:nvPr/>
        </p:nvSpPr>
        <p:spPr>
          <a:xfrm>
            <a:off x="413010" y="1930827"/>
            <a:ext cx="7872095" cy="373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ping：验证 ICMP 与基本 IPv4 路径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apt install：完成软件包下载与安装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git clone：完成 TLS 上的真实数据传输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ip link / address / route show：查看接口与路由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ss -tan：查看 TCP 连接与监听状态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3288375906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1CBA-40A3-D6DB-E438-34BC7EF7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D815769-A0FA-7787-6D8D-663EB336BE13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4D1D1517-90ED-B911-CA05-08CCFCC848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079AB5A-BB4F-686C-72F2-49F09E4DEFE8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四层网络架构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5944B6-67D0-C0D2-98AD-384FAD7D67A5}"/>
              </a:ext>
            </a:extLst>
          </p:cNvPr>
          <p:cNvSpPr txBox="1"/>
          <p:nvPr/>
        </p:nvSpPr>
        <p:spPr>
          <a:xfrm>
            <a:off x="391887" y="1813028"/>
            <a:ext cx="411479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内核 Socket、Net API、协议栈 owner 与 smoltcp 后端各自拥有状态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内核处理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Linux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语义，阻塞与同步，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Socket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状态维护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Net-API 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负责语义和能力的确认，可以理解为网络栈的抽象层，屏蔽后端语义，允许此后扩展和切换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Smoltcp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-stack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是</a:t>
            </a: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smoltcp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的后端适配。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3804B8-7F28-DA6A-1E1E-9A9CF98A50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408" y="1302514"/>
            <a:ext cx="6220705" cy="5026682"/>
          </a:xfrm>
          <a:prstGeom prst="rect">
            <a:avLst/>
          </a:prstGeom>
        </p:spPr>
      </p:pic>
      <p:sp>
        <p:nvSpPr>
          <p:cNvPr id="33" name="NavActive 核心机制"/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748049677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A2A-472B-CFD2-C9C2-F4D5E983E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1B7F23FC-C638-034D-0CED-1B49848E7E7B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5CADE64F-98F2-781E-AA50-8670B725D99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8427C406-1CAB-C1F8-5B04-092CEA3A733A}"/>
              </a:ext>
            </a:extLst>
          </p:cNvPr>
          <p:cNvSpPr txBox="1"/>
          <p:nvPr/>
        </p:nvSpPr>
        <p:spPr>
          <a:xfrm>
            <a:off x="222877" y="1040904"/>
            <a:ext cx="5450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四层网络架构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66FE640-4F6B-8B26-222F-21542C1328C2}"/>
              </a:ext>
            </a:extLst>
          </p:cNvPr>
          <p:cNvSpPr txBox="1"/>
          <p:nvPr/>
        </p:nvSpPr>
        <p:spPr>
          <a:xfrm>
            <a:off x="391887" y="1813028"/>
            <a:ext cx="411479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内核 Socket、Net API、协议栈 owner 与 smoltcp 后端各自拥有状态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内核处理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Linux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语义，阻塞与同步，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Socket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状态维护</a:t>
            </a:r>
            <a:endParaRPr lang="en-US" altLang="zh-CN" sz="2400" dirty="0">
              <a:solidFill>
                <a:srgbClr val="404040"/>
              </a:solidFill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b="0" i="0" dirty="0">
                <a:solidFill>
                  <a:srgbClr val="404040"/>
                </a:solidFill>
                <a:effectLst/>
                <a:latin typeface="quote-cjk-patch"/>
              </a:rPr>
              <a:t>Net-API </a:t>
            </a:r>
            <a:r>
              <a:rPr lang="zh-CN" altLang="en-US" sz="2400" b="0" i="0" dirty="0">
                <a:solidFill>
                  <a:srgbClr val="404040"/>
                </a:solidFill>
                <a:effectLst/>
                <a:latin typeface="quote-cjk-patch"/>
              </a:rPr>
              <a:t>负责语义和能力的确认，可以理解为网络栈的抽象层，屏蔽后端语义，允许此后扩展和切换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  <a:p>
            <a:pPr marL="342900" indent="-342900">
              <a:buFontTx/>
              <a:buChar char="-"/>
            </a:pP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Smoltcp</a:t>
            </a:r>
            <a:r>
              <a:rPr lang="en-US" altLang="zh-CN" sz="2400" dirty="0">
                <a:solidFill>
                  <a:srgbClr val="404040"/>
                </a:solidFill>
                <a:latin typeface="quote-cjk-patch"/>
              </a:rPr>
              <a:t>-stack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是</a:t>
            </a:r>
            <a:r>
              <a:rPr lang="en-US" altLang="zh-CN" sz="2400" dirty="0" err="1">
                <a:solidFill>
                  <a:srgbClr val="404040"/>
                </a:solidFill>
                <a:latin typeface="quote-cjk-patch"/>
              </a:rPr>
              <a:t>smoltcp</a:t>
            </a:r>
            <a:r>
              <a:rPr lang="zh-CN" altLang="en-US" sz="2400" dirty="0">
                <a:solidFill>
                  <a:srgbClr val="404040"/>
                </a:solidFill>
                <a:latin typeface="quote-cjk-patch"/>
              </a:rPr>
              <a:t>的后端适配。</a:t>
            </a:r>
            <a:endParaRPr lang="en-US" altLang="zh-CN" sz="2400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D5693B2-3C0B-06C5-A6C3-B5CEF172316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408" y="1302514"/>
            <a:ext cx="6220705" cy="5026682"/>
          </a:xfrm>
          <a:prstGeom prst="rect">
            <a:avLst/>
          </a:prstGeom>
        </p:spPr>
      </p:pic>
      <p:sp>
        <p:nvSpPr>
          <p:cNvPr id="33" name="NavActive 核心机制">
            <a:extLst>
              <a:ext uri="{FF2B5EF4-FFF2-40B4-BE49-F238E27FC236}">
                <a16:creationId xmlns:a16="http://schemas.microsoft.com/office/drawing/2014/main" id="{25459C0A-FA1D-0639-6AFE-88D48ECBAD3E}"/>
              </a:ext>
            </a:extLst>
          </p:cNvPr>
          <p:cNvSpPr/>
          <p:nvPr/>
        </p:nvSpPr>
        <p:spPr>
          <a:xfrm>
            <a:off x="7450550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>
            <a:extLst>
              <a:ext uri="{FF2B5EF4-FFF2-40B4-BE49-F238E27FC236}">
                <a16:creationId xmlns:a16="http://schemas.microsoft.com/office/drawing/2014/main" id="{9579FA54-F9DB-314E-F7AF-7EF9E955AF41}"/>
              </a:ext>
            </a:extLst>
          </p:cNvPr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>
            <a:extLst>
              <a:ext uri="{FF2B5EF4-FFF2-40B4-BE49-F238E27FC236}">
                <a16:creationId xmlns:a16="http://schemas.microsoft.com/office/drawing/2014/main" id="{FE5F281E-4836-87DA-866E-6BA67D6D49EA}"/>
              </a:ext>
            </a:extLst>
          </p:cNvPr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>
            <a:extLst>
              <a:ext uri="{FF2B5EF4-FFF2-40B4-BE49-F238E27FC236}">
                <a16:creationId xmlns:a16="http://schemas.microsoft.com/office/drawing/2014/main" id="{9F4D51B6-B13B-B6DD-43DE-4A8395A05A86}"/>
              </a:ext>
            </a:extLst>
          </p:cNvPr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>
            <a:extLst>
              <a:ext uri="{FF2B5EF4-FFF2-40B4-BE49-F238E27FC236}">
                <a16:creationId xmlns:a16="http://schemas.microsoft.com/office/drawing/2014/main" id="{7A73776D-1A43-7D05-8F08-EE3A4A9DF6E4}"/>
              </a:ext>
            </a:extLst>
          </p:cNvPr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>
            <a:extLst>
              <a:ext uri="{FF2B5EF4-FFF2-40B4-BE49-F238E27FC236}">
                <a16:creationId xmlns:a16="http://schemas.microsoft.com/office/drawing/2014/main" id="{05F18555-C507-F5A7-11A7-9EABBB28589D}"/>
              </a:ext>
            </a:extLst>
          </p:cNvPr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>
            <a:extLst>
              <a:ext uri="{FF2B5EF4-FFF2-40B4-BE49-F238E27FC236}">
                <a16:creationId xmlns:a16="http://schemas.microsoft.com/office/drawing/2014/main" id="{23CDC457-C05B-098B-66B1-0C4542F46C0D}"/>
              </a:ext>
            </a:extLst>
          </p:cNvPr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>
            <a:extLst>
              <a:ext uri="{FF2B5EF4-FFF2-40B4-BE49-F238E27FC236}">
                <a16:creationId xmlns:a16="http://schemas.microsoft.com/office/drawing/2014/main" id="{B3C719C2-7156-E0A5-9EA5-6AC8557755CA}"/>
              </a:ext>
            </a:extLst>
          </p:cNvPr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>
            <a:extLst>
              <a:ext uri="{FF2B5EF4-FFF2-40B4-BE49-F238E27FC236}">
                <a16:creationId xmlns:a16="http://schemas.microsoft.com/office/drawing/2014/main" id="{86633CA4-EE80-13AE-A50F-2CD6787990EB}"/>
              </a:ext>
            </a:extLst>
          </p:cNvPr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>
            <a:extLst>
              <a:ext uri="{FF2B5EF4-FFF2-40B4-BE49-F238E27FC236}">
                <a16:creationId xmlns:a16="http://schemas.microsoft.com/office/drawing/2014/main" id="{8E226930-1B41-0C65-B128-26AB3A147DA6}"/>
              </a:ext>
            </a:extLst>
          </p:cNvPr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>
            <a:extLst>
              <a:ext uri="{FF2B5EF4-FFF2-40B4-BE49-F238E27FC236}">
                <a16:creationId xmlns:a16="http://schemas.microsoft.com/office/drawing/2014/main" id="{F6DE0AE5-5A7B-D5A1-5A09-0C07EB49763F}"/>
              </a:ext>
            </a:extLst>
          </p:cNvPr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>
            <a:extLst>
              <a:ext uri="{FF2B5EF4-FFF2-40B4-BE49-F238E27FC236}">
                <a16:creationId xmlns:a16="http://schemas.microsoft.com/office/drawing/2014/main" id="{0941B51C-9083-2D28-F48E-303ABB826925}"/>
              </a:ext>
            </a:extLst>
          </p:cNvPr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  <p:extLst>
      <p:ext uri="{BB962C8B-B14F-4D97-AF65-F5344CB8AC3E}">
        <p14:creationId xmlns:p14="http://schemas.microsoft.com/office/powerpoint/2010/main" val="114473070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7292" y="1016779"/>
            <a:ext cx="57175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Command / Event / Snapshot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88010" y="1871980"/>
            <a:ext cx="29337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Command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66800" y="2440940"/>
            <a:ext cx="8641080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请求一次有界、非阻塞的协议操作；调用不会把等待责任下沉到协议栈</a:t>
            </a:r>
            <a:endParaRPr lang="zh-CN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88010" y="3233296"/>
            <a:ext cx="3764296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Event 与 Snapshot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66799" y="3802256"/>
            <a:ext cx="8936449" cy="1069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zh-CN" sz="20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Event 只提示重新检查，不代表 readiness；Snapshot 是读取时刻的协议事实</a:t>
            </a:r>
          </a:p>
          <a:p>
            <a:pPr indent="0">
              <a:lnSpc>
                <a:spcPct val="170000"/>
              </a:lnSpc>
              <a:buFont typeface="Arial" panose="020B0604020202020204" pitchFamily="34" charset="0"/>
              <a:buNone/>
            </a:pPr>
            <a:endParaRPr lang="zh-CN" sz="2000" b="1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核心机制"/>
          <p:cNvSpPr/>
          <p:nvPr/>
        </p:nvSpPr>
        <p:spPr>
          <a:xfrm>
            <a:off x="7450550" y="0"/>
            <a:ext cx="1406234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5A5D1D-1128-092B-DD49-36EE5E4127B4}"/>
              </a:ext>
            </a:extLst>
          </p:cNvPr>
          <p:cNvSpPr txBox="1"/>
          <p:nvPr/>
        </p:nvSpPr>
        <p:spPr>
          <a:xfrm>
            <a:off x="765958" y="5284519"/>
            <a:ext cx="92272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——</a:t>
            </a:r>
            <a:r>
              <a:rPr lang="zh-CN" altLang="en-US" sz="2400" dirty="0"/>
              <a:t>定义非阻塞原语，内核进而自由组合，实现非阻塞</a:t>
            </a:r>
            <a:r>
              <a:rPr lang="en-US" altLang="zh-CN" sz="2400" dirty="0"/>
              <a:t>/</a:t>
            </a:r>
            <a:r>
              <a:rPr lang="zh-CN" altLang="en-US" sz="2400" dirty="0"/>
              <a:t>阻塞语义。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5" grpId="0"/>
      <p:bldP spid="5" grpId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7292" y="1016779"/>
            <a:ext cx="4267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Agentic Coding</a:t>
            </a:r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工作流</a:t>
            </a:r>
            <a:endParaRPr lang="en-US" altLang="zh-CN" sz="28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NavActive AI使用"/>
          <p:cNvSpPr/>
          <p:nvPr/>
        </p:nvSpPr>
        <p:spPr>
          <a:xfrm>
            <a:off x="8856783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34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40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41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42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43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44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1DDFEFA-6040-AE0E-C13C-E1AE7B52A785}"/>
              </a:ext>
            </a:extLst>
          </p:cNvPr>
          <p:cNvSpPr txBox="1"/>
          <p:nvPr/>
        </p:nvSpPr>
        <p:spPr>
          <a:xfrm>
            <a:off x="677662" y="2012867"/>
            <a:ext cx="792084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zh-CN" altLang="en-US" dirty="0"/>
              <a:t>初赛前三个月，我们完全古法编程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初赛的最后一个月，为了追赶进度，我们开始逐步使用</a:t>
            </a:r>
            <a:r>
              <a:rPr lang="en-US" altLang="zh-CN" dirty="0"/>
              <a:t>LLM</a:t>
            </a:r>
            <a:r>
              <a:rPr lang="zh-CN" altLang="en-US" dirty="0"/>
              <a:t>辅助开发。</a:t>
            </a: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到了决赛，我们大量使用</a:t>
            </a:r>
            <a:r>
              <a:rPr lang="en-US" altLang="zh-CN" dirty="0"/>
              <a:t>AI</a:t>
            </a:r>
            <a:r>
              <a:rPr lang="zh-CN" altLang="en-US" dirty="0"/>
              <a:t>辅助开发。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zh-CN" b="1" dirty="0"/>
              <a:t>AI 生成内容本身不等于低质量；真正决定质量的是我们是否能给出清楚的上下文、是否能识别错误方向、是否能把输出放回源码和测试中验证。</a:t>
            </a:r>
            <a:r>
              <a:rPr lang="zh-CN" altLang="en-US" b="1" dirty="0"/>
              <a:t>以及，是否能建立完备的</a:t>
            </a:r>
            <a:r>
              <a:rPr lang="en-US" altLang="zh-CN" b="1" dirty="0"/>
              <a:t>Harness</a:t>
            </a:r>
            <a:r>
              <a:rPr lang="zh-CN" altLang="en-US" b="1" dirty="0"/>
              <a:t>。在这过程中，开发者始终把握架构设计与大方向。</a:t>
            </a:r>
            <a:endParaRPr lang="en-US" altLang="zh-CN" b="1" dirty="0"/>
          </a:p>
          <a:p>
            <a:endParaRPr lang="en-US" altLang="zh-CN" b="1" dirty="0"/>
          </a:p>
          <a:p>
            <a:endParaRPr lang="en-US" altLang="zh-CN" dirty="0"/>
          </a:p>
          <a:p>
            <a:r>
              <a:rPr lang="zh-CN" altLang="en-US" sz="2000" dirty="0"/>
              <a:t>三种工作流：</a:t>
            </a:r>
            <a:endParaRPr lang="en-US" altLang="zh-CN" sz="2000" dirty="0"/>
          </a:p>
          <a:p>
            <a:pPr marL="342900" indent="-342900">
              <a:buFontTx/>
              <a:buChar char="-"/>
            </a:pPr>
            <a:r>
              <a:rPr lang="en-US" altLang="zh-CN" sz="2000" dirty="0"/>
              <a:t>Patch——</a:t>
            </a:r>
            <a:r>
              <a:rPr lang="zh-CN" altLang="en-US" sz="2000" dirty="0"/>
              <a:t>最小化的代码迭代，不引入新的系统不变量变更</a:t>
            </a:r>
            <a:endParaRPr lang="en-US" altLang="zh-CN" sz="2000" dirty="0"/>
          </a:p>
          <a:p>
            <a:pPr marL="342900" indent="-342900">
              <a:buFontTx/>
              <a:buChar char="-"/>
            </a:pPr>
            <a:r>
              <a:rPr lang="zh-CN" altLang="en-US" sz="2000" dirty="0"/>
              <a:t>小迭代</a:t>
            </a:r>
            <a:r>
              <a:rPr lang="en-US" altLang="zh-CN" sz="2000" dirty="0"/>
              <a:t>——</a:t>
            </a:r>
            <a:r>
              <a:rPr lang="zh-CN" altLang="en-US" sz="2000" dirty="0"/>
              <a:t>引入或改变系统不变量，但处于一个子系统内部</a:t>
            </a:r>
            <a:endParaRPr lang="en-US" altLang="zh-CN" sz="2000" dirty="0"/>
          </a:p>
          <a:p>
            <a:pPr marL="342900" indent="-342900">
              <a:buFontTx/>
              <a:buChar char="-"/>
            </a:pPr>
            <a:r>
              <a:rPr lang="en-US" altLang="zh-CN" sz="2000" dirty="0"/>
              <a:t>RFC——</a:t>
            </a:r>
            <a:r>
              <a:rPr lang="zh-CN" altLang="en-US" sz="2000" dirty="0"/>
              <a:t>系统不变量的新增或更改，且横跨多个子系统</a:t>
            </a:r>
            <a:endParaRPr lang="zh-CN" altLang="zh-CN" sz="2000" dirty="0"/>
          </a:p>
          <a:p>
            <a:endParaRPr lang="en-US" altLang="zh-CN" dirty="0"/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117373" y="1084103"/>
            <a:ext cx="18357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2800" b="1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工程闭环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9" name="Freeform 793"/>
          <p:cNvSpPr/>
          <p:nvPr/>
        </p:nvSpPr>
        <p:spPr bwMode="auto">
          <a:xfrm>
            <a:off x="9426652" y="1819640"/>
            <a:ext cx="2095769" cy="596529"/>
          </a:xfrm>
          <a:custGeom>
            <a:avLst/>
            <a:gdLst>
              <a:gd name="connsiteX0" fmla="*/ 9566 w 10000"/>
              <a:gd name="connsiteY0" fmla="*/ 10000 h 10000"/>
              <a:gd name="connsiteX1" fmla="*/ 4788 w 10000"/>
              <a:gd name="connsiteY1" fmla="*/ 10000 h 10000"/>
              <a:gd name="connsiteX2" fmla="*/ 0 w 10000"/>
              <a:gd name="connsiteY2" fmla="*/ 10000 h 10000"/>
              <a:gd name="connsiteX3" fmla="*/ 434 w 10000"/>
              <a:gd name="connsiteY3" fmla="*/ 4954 h 10000"/>
              <a:gd name="connsiteX4" fmla="*/ 0 w 10000"/>
              <a:gd name="connsiteY4" fmla="*/ 0 h 10000"/>
              <a:gd name="connsiteX5" fmla="*/ 4788 w 10000"/>
              <a:gd name="connsiteY5" fmla="*/ 0 h 10000"/>
              <a:gd name="connsiteX6" fmla="*/ 8990 w 10000"/>
              <a:gd name="connsiteY6" fmla="*/ 0 h 10000"/>
              <a:gd name="connsiteX7" fmla="*/ 10000 w 10000"/>
              <a:gd name="connsiteY7" fmla="*/ 4954 h 10000"/>
              <a:gd name="connsiteX8" fmla="*/ 9566 w 10000"/>
              <a:gd name="connsiteY8" fmla="*/ 10000 h 10000"/>
              <a:gd name="connsiteX0-1" fmla="*/ 8960 w 10000"/>
              <a:gd name="connsiteY0-2" fmla="*/ 10000 h 10000"/>
              <a:gd name="connsiteX1-3" fmla="*/ 4788 w 10000"/>
              <a:gd name="connsiteY1-4" fmla="*/ 10000 h 10000"/>
              <a:gd name="connsiteX2-5" fmla="*/ 0 w 10000"/>
              <a:gd name="connsiteY2-6" fmla="*/ 10000 h 10000"/>
              <a:gd name="connsiteX3-7" fmla="*/ 434 w 10000"/>
              <a:gd name="connsiteY3-8" fmla="*/ 4954 h 10000"/>
              <a:gd name="connsiteX4-9" fmla="*/ 0 w 10000"/>
              <a:gd name="connsiteY4-10" fmla="*/ 0 h 10000"/>
              <a:gd name="connsiteX5-11" fmla="*/ 4788 w 10000"/>
              <a:gd name="connsiteY5-12" fmla="*/ 0 h 10000"/>
              <a:gd name="connsiteX6-13" fmla="*/ 8990 w 10000"/>
              <a:gd name="connsiteY6-14" fmla="*/ 0 h 10000"/>
              <a:gd name="connsiteX7-15" fmla="*/ 10000 w 10000"/>
              <a:gd name="connsiteY7-16" fmla="*/ 4954 h 10000"/>
              <a:gd name="connsiteX8-17" fmla="*/ 8960 w 10000"/>
              <a:gd name="connsiteY8-18" fmla="*/ 10000 h 10000"/>
              <a:gd name="connsiteX0-19" fmla="*/ 8960 w 10000"/>
              <a:gd name="connsiteY0-20" fmla="*/ 10000 h 10000"/>
              <a:gd name="connsiteX1-21" fmla="*/ 4788 w 10000"/>
              <a:gd name="connsiteY1-22" fmla="*/ 10000 h 10000"/>
              <a:gd name="connsiteX2-23" fmla="*/ 0 w 10000"/>
              <a:gd name="connsiteY2-24" fmla="*/ 10000 h 10000"/>
              <a:gd name="connsiteX3-25" fmla="*/ 434 w 10000"/>
              <a:gd name="connsiteY3-26" fmla="*/ 4954 h 10000"/>
              <a:gd name="connsiteX4-27" fmla="*/ 0 w 10000"/>
              <a:gd name="connsiteY4-28" fmla="*/ 0 h 10000"/>
              <a:gd name="connsiteX5-29" fmla="*/ 4788 w 10000"/>
              <a:gd name="connsiteY5-30" fmla="*/ 0 h 10000"/>
              <a:gd name="connsiteX6-31" fmla="*/ 8990 w 10000"/>
              <a:gd name="connsiteY6-32" fmla="*/ 0 h 10000"/>
              <a:gd name="connsiteX7-33" fmla="*/ 10000 w 10000"/>
              <a:gd name="connsiteY7-34" fmla="*/ 4954 h 10000"/>
              <a:gd name="connsiteX8-35" fmla="*/ 8960 w 10000"/>
              <a:gd name="connsiteY8-36" fmla="*/ 10000 h 10000"/>
              <a:gd name="connsiteX0-37" fmla="*/ 8960 w 10000"/>
              <a:gd name="connsiteY0-38" fmla="*/ 10000 h 10000"/>
              <a:gd name="connsiteX1-39" fmla="*/ 4788 w 10000"/>
              <a:gd name="connsiteY1-40" fmla="*/ 10000 h 10000"/>
              <a:gd name="connsiteX2-41" fmla="*/ 0 w 10000"/>
              <a:gd name="connsiteY2-42" fmla="*/ 10000 h 10000"/>
              <a:gd name="connsiteX3-43" fmla="*/ 434 w 10000"/>
              <a:gd name="connsiteY3-44" fmla="*/ 4954 h 10000"/>
              <a:gd name="connsiteX4-45" fmla="*/ 0 w 10000"/>
              <a:gd name="connsiteY4-46" fmla="*/ 0 h 10000"/>
              <a:gd name="connsiteX5-47" fmla="*/ 4788 w 10000"/>
              <a:gd name="connsiteY5-48" fmla="*/ 0 h 10000"/>
              <a:gd name="connsiteX6-49" fmla="*/ 8990 w 10000"/>
              <a:gd name="connsiteY6-50" fmla="*/ 0 h 10000"/>
              <a:gd name="connsiteX7-51" fmla="*/ 10000 w 10000"/>
              <a:gd name="connsiteY7-52" fmla="*/ 4954 h 10000"/>
              <a:gd name="connsiteX8-53" fmla="*/ 8960 w 10000"/>
              <a:gd name="connsiteY8-54" fmla="*/ 10000 h 10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10000" h="10000">
                <a:moveTo>
                  <a:pt x="8960" y="10000"/>
                </a:moveTo>
                <a:lnTo>
                  <a:pt x="4788" y="10000"/>
                </a:lnTo>
                <a:lnTo>
                  <a:pt x="0" y="10000"/>
                </a:lnTo>
                <a:cubicBezTo>
                  <a:pt x="145" y="8318"/>
                  <a:pt x="289" y="6636"/>
                  <a:pt x="434" y="4954"/>
                </a:cubicBezTo>
                <a:cubicBezTo>
                  <a:pt x="289" y="3303"/>
                  <a:pt x="145" y="1651"/>
                  <a:pt x="0" y="0"/>
                </a:cubicBezTo>
                <a:lnTo>
                  <a:pt x="4788" y="0"/>
                </a:lnTo>
                <a:lnTo>
                  <a:pt x="8990" y="0"/>
                </a:lnTo>
                <a:lnTo>
                  <a:pt x="10000" y="4954"/>
                </a:lnTo>
                <a:cubicBezTo>
                  <a:pt x="9643" y="6636"/>
                  <a:pt x="9135" y="9010"/>
                  <a:pt x="8960" y="10000"/>
                </a:cubicBezTo>
                <a:close/>
              </a:path>
            </a:pathLst>
          </a:custGeom>
          <a:solidFill>
            <a:schemeClr val="accent6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Freeform 790"/>
          <p:cNvSpPr/>
          <p:nvPr/>
        </p:nvSpPr>
        <p:spPr bwMode="auto">
          <a:xfrm>
            <a:off x="467401" y="1819641"/>
            <a:ext cx="2373003" cy="596529"/>
          </a:xfrm>
          <a:custGeom>
            <a:avLst/>
            <a:gdLst>
              <a:gd name="connsiteX0" fmla="*/ 9568 w 10000"/>
              <a:gd name="connsiteY0" fmla="*/ 10000 h 10000"/>
              <a:gd name="connsiteX1" fmla="*/ 4793 w 10000"/>
              <a:gd name="connsiteY1" fmla="*/ 10000 h 10000"/>
              <a:gd name="connsiteX2" fmla="*/ 0 w 10000"/>
              <a:gd name="connsiteY2" fmla="*/ 10000 h 10000"/>
              <a:gd name="connsiteX3" fmla="*/ 1362 w 10000"/>
              <a:gd name="connsiteY3" fmla="*/ 4954 h 10000"/>
              <a:gd name="connsiteX4" fmla="*/ 0 w 10000"/>
              <a:gd name="connsiteY4" fmla="*/ 0 h 10000"/>
              <a:gd name="connsiteX5" fmla="*/ 4793 w 10000"/>
              <a:gd name="connsiteY5" fmla="*/ 0 h 10000"/>
              <a:gd name="connsiteX6" fmla="*/ 9568 w 10000"/>
              <a:gd name="connsiteY6" fmla="*/ 0 h 10000"/>
              <a:gd name="connsiteX7" fmla="*/ 10000 w 10000"/>
              <a:gd name="connsiteY7" fmla="*/ 4954 h 10000"/>
              <a:gd name="connsiteX8" fmla="*/ 9568 w 10000"/>
              <a:gd name="connsiteY8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0" h="10000">
                <a:moveTo>
                  <a:pt x="9568" y="10000"/>
                </a:moveTo>
                <a:lnTo>
                  <a:pt x="4793" y="10000"/>
                </a:lnTo>
                <a:lnTo>
                  <a:pt x="0" y="10000"/>
                </a:lnTo>
                <a:lnTo>
                  <a:pt x="1362" y="4954"/>
                </a:lnTo>
                <a:lnTo>
                  <a:pt x="0" y="0"/>
                </a:lnTo>
                <a:lnTo>
                  <a:pt x="4793" y="0"/>
                </a:lnTo>
                <a:lnTo>
                  <a:pt x="9568" y="0"/>
                </a:lnTo>
                <a:lnTo>
                  <a:pt x="10000" y="4954"/>
                </a:lnTo>
                <a:lnTo>
                  <a:pt x="9568" y="1000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Freeform 791"/>
          <p:cNvSpPr/>
          <p:nvPr/>
        </p:nvSpPr>
        <p:spPr bwMode="auto">
          <a:xfrm>
            <a:off x="2692901" y="1819641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9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9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9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9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2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Freeform 792"/>
          <p:cNvSpPr/>
          <p:nvPr/>
        </p:nvSpPr>
        <p:spPr bwMode="auto">
          <a:xfrm>
            <a:off x="4928101" y="1819641"/>
            <a:ext cx="2384821" cy="596529"/>
          </a:xfrm>
          <a:custGeom>
            <a:avLst/>
            <a:gdLst/>
            <a:ahLst/>
            <a:cxnLst>
              <a:cxn ang="0">
                <a:pos x="996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6" y="0"/>
              </a:cxn>
              <a:cxn ang="0">
                <a:pos x="1041" y="54"/>
              </a:cxn>
              <a:cxn ang="0">
                <a:pos x="996" y="109"/>
              </a:cxn>
            </a:cxnLst>
            <a:rect l="0" t="0" r="r" b="b"/>
            <a:pathLst>
              <a:path w="1041" h="109">
                <a:moveTo>
                  <a:pt x="996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6" y="0"/>
                </a:lnTo>
                <a:lnTo>
                  <a:pt x="1041" y="54"/>
                </a:lnTo>
                <a:lnTo>
                  <a:pt x="996" y="109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Freeform 793"/>
          <p:cNvSpPr/>
          <p:nvPr/>
        </p:nvSpPr>
        <p:spPr bwMode="auto">
          <a:xfrm>
            <a:off x="7165415" y="1819641"/>
            <a:ext cx="2377947" cy="596529"/>
          </a:xfrm>
          <a:custGeom>
            <a:avLst/>
            <a:gdLst/>
            <a:ahLst/>
            <a:cxnLst>
              <a:cxn ang="0">
                <a:pos x="993" y="109"/>
              </a:cxn>
              <a:cxn ang="0">
                <a:pos x="497" y="109"/>
              </a:cxn>
              <a:cxn ang="0">
                <a:pos x="0" y="109"/>
              </a:cxn>
              <a:cxn ang="0">
                <a:pos x="45" y="54"/>
              </a:cxn>
              <a:cxn ang="0">
                <a:pos x="0" y="0"/>
              </a:cxn>
              <a:cxn ang="0">
                <a:pos x="497" y="0"/>
              </a:cxn>
              <a:cxn ang="0">
                <a:pos x="993" y="0"/>
              </a:cxn>
              <a:cxn ang="0">
                <a:pos x="1038" y="54"/>
              </a:cxn>
              <a:cxn ang="0">
                <a:pos x="993" y="109"/>
              </a:cxn>
            </a:cxnLst>
            <a:rect l="0" t="0" r="r" b="b"/>
            <a:pathLst>
              <a:path w="1038" h="109">
                <a:moveTo>
                  <a:pt x="993" y="109"/>
                </a:moveTo>
                <a:lnTo>
                  <a:pt x="497" y="109"/>
                </a:lnTo>
                <a:lnTo>
                  <a:pt x="0" y="109"/>
                </a:lnTo>
                <a:lnTo>
                  <a:pt x="45" y="54"/>
                </a:lnTo>
                <a:lnTo>
                  <a:pt x="0" y="0"/>
                </a:lnTo>
                <a:lnTo>
                  <a:pt x="497" y="0"/>
                </a:lnTo>
                <a:lnTo>
                  <a:pt x="993" y="0"/>
                </a:lnTo>
                <a:lnTo>
                  <a:pt x="1038" y="54"/>
                </a:lnTo>
                <a:lnTo>
                  <a:pt x="993" y="109"/>
                </a:lnTo>
                <a:close/>
              </a:path>
            </a:pathLst>
          </a:custGeom>
          <a:solidFill>
            <a:schemeClr val="accent4"/>
          </a:solidFill>
          <a:ln w="9525">
            <a:noFill/>
            <a:round/>
          </a:ln>
        </p:spPr>
        <p:txBody>
          <a:bodyPr vert="horz" wrap="square" lIns="121920" tIns="60960" rIns="121920" bIns="6096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Content Placeholder 2"/>
          <p:cNvSpPr txBox="1"/>
          <p:nvPr/>
        </p:nvSpPr>
        <p:spPr>
          <a:xfrm>
            <a:off x="541448" y="3971968"/>
            <a:ext cx="2055002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回写</a:t>
            </a:r>
          </a:p>
        </p:txBody>
      </p:sp>
      <p:cxnSp>
        <p:nvCxnSpPr>
          <p:cNvPr id="75" name="Straight Connector 9"/>
          <p:cNvCxnSpPr/>
          <p:nvPr/>
        </p:nvCxnSpPr>
        <p:spPr>
          <a:xfrm>
            <a:off x="1568949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10"/>
          <p:cNvCxnSpPr/>
          <p:nvPr/>
        </p:nvCxnSpPr>
        <p:spPr>
          <a:xfrm>
            <a:off x="3723427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11"/>
          <p:cNvCxnSpPr/>
          <p:nvPr/>
        </p:nvCxnSpPr>
        <p:spPr>
          <a:xfrm>
            <a:off x="5989926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12"/>
          <p:cNvCxnSpPr/>
          <p:nvPr/>
        </p:nvCxnSpPr>
        <p:spPr>
          <a:xfrm>
            <a:off x="8213484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13"/>
          <p:cNvCxnSpPr/>
          <p:nvPr/>
        </p:nvCxnSpPr>
        <p:spPr>
          <a:xfrm>
            <a:off x="10532917" y="2547557"/>
            <a:ext cx="0" cy="4001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14"/>
          <p:cNvSpPr/>
          <p:nvPr/>
        </p:nvSpPr>
        <p:spPr>
          <a:xfrm>
            <a:off x="1157469" y="3078316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Arc 15"/>
          <p:cNvSpPr/>
          <p:nvPr/>
        </p:nvSpPr>
        <p:spPr>
          <a:xfrm>
            <a:off x="1157469" y="3078316"/>
            <a:ext cx="822960" cy="822960"/>
          </a:xfrm>
          <a:prstGeom prst="arc">
            <a:avLst>
              <a:gd name="adj1" fmla="val 13167232"/>
              <a:gd name="adj2" fmla="val 16466928"/>
            </a:avLst>
          </a:prstGeom>
          <a:ln w="79375">
            <a:solidFill>
              <a:schemeClr val="accent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Oval 16"/>
          <p:cNvSpPr/>
          <p:nvPr/>
        </p:nvSpPr>
        <p:spPr>
          <a:xfrm>
            <a:off x="3311947" y="3078316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Arc 17"/>
          <p:cNvSpPr/>
          <p:nvPr/>
        </p:nvSpPr>
        <p:spPr>
          <a:xfrm>
            <a:off x="3311947" y="3078316"/>
            <a:ext cx="822960" cy="822960"/>
          </a:xfrm>
          <a:prstGeom prst="arc">
            <a:avLst>
              <a:gd name="adj1" fmla="val 9206565"/>
              <a:gd name="adj2" fmla="val 16045990"/>
            </a:avLst>
          </a:prstGeom>
          <a:ln w="79375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5578446" y="3078316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Arc 19"/>
          <p:cNvSpPr/>
          <p:nvPr/>
        </p:nvSpPr>
        <p:spPr>
          <a:xfrm>
            <a:off x="5578446" y="3078316"/>
            <a:ext cx="822960" cy="822960"/>
          </a:xfrm>
          <a:prstGeom prst="arc">
            <a:avLst>
              <a:gd name="adj1" fmla="val 5584046"/>
              <a:gd name="adj2" fmla="val 16355650"/>
            </a:avLst>
          </a:prstGeom>
          <a:ln w="79375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7792823" y="3052141"/>
            <a:ext cx="822960" cy="822960"/>
          </a:xfrm>
          <a:prstGeom prst="ellipse">
            <a:avLst/>
          </a:prstGeom>
          <a:noFill/>
          <a:ln w="793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Arc 21"/>
          <p:cNvSpPr/>
          <p:nvPr/>
        </p:nvSpPr>
        <p:spPr>
          <a:xfrm>
            <a:off x="7787743" y="3052141"/>
            <a:ext cx="822960" cy="822960"/>
          </a:xfrm>
          <a:prstGeom prst="arc">
            <a:avLst>
              <a:gd name="adj1" fmla="val 867854"/>
              <a:gd name="adj2" fmla="val 16404494"/>
            </a:avLst>
          </a:prstGeom>
          <a:ln w="79375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vi-VN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88" name="Group 22"/>
          <p:cNvGrpSpPr/>
          <p:nvPr/>
        </p:nvGrpSpPr>
        <p:grpSpPr>
          <a:xfrm>
            <a:off x="10121437" y="3052141"/>
            <a:ext cx="822960" cy="822960"/>
            <a:chOff x="10157621" y="3837155"/>
            <a:chExt cx="822960" cy="822960"/>
          </a:xfrm>
        </p:grpSpPr>
        <p:sp>
          <p:nvSpPr>
            <p:cNvPr id="110" name="Oval 23"/>
            <p:cNvSpPr/>
            <p:nvPr/>
          </p:nvSpPr>
          <p:spPr>
            <a:xfrm>
              <a:off x="10157621" y="3837155"/>
              <a:ext cx="822960" cy="822960"/>
            </a:xfrm>
            <a:prstGeom prst="ellipse">
              <a:avLst/>
            </a:prstGeom>
            <a:noFill/>
            <a:ln w="793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0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Arc 24"/>
            <p:cNvSpPr/>
            <p:nvPr/>
          </p:nvSpPr>
          <p:spPr>
            <a:xfrm>
              <a:off x="10157621" y="3837155"/>
              <a:ext cx="822960" cy="822960"/>
            </a:xfrm>
            <a:prstGeom prst="arc">
              <a:avLst>
                <a:gd name="adj1" fmla="val 19532749"/>
                <a:gd name="adj2" fmla="val 16375526"/>
              </a:avLst>
            </a:prstGeom>
            <a:ln w="79375">
              <a:solidFill>
                <a:schemeClr val="accent6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vi-VN" sz="20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1" name="TextBox 27"/>
          <p:cNvSpPr txBox="1"/>
          <p:nvPr/>
        </p:nvSpPr>
        <p:spPr>
          <a:xfrm>
            <a:off x="467401" y="1918604"/>
            <a:ext cx="237300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需求</a:t>
            </a:r>
          </a:p>
        </p:txBody>
      </p:sp>
      <p:sp>
        <p:nvSpPr>
          <p:cNvPr id="92" name="TextBox 28"/>
          <p:cNvSpPr txBox="1"/>
          <p:nvPr/>
        </p:nvSpPr>
        <p:spPr>
          <a:xfrm>
            <a:off x="2688456" y="1918604"/>
            <a:ext cx="2299833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设计</a:t>
            </a:r>
          </a:p>
        </p:txBody>
      </p:sp>
      <p:sp>
        <p:nvSpPr>
          <p:cNvPr id="93" name="TextBox 29"/>
          <p:cNvSpPr txBox="1"/>
          <p:nvPr/>
        </p:nvSpPr>
        <p:spPr>
          <a:xfrm>
            <a:off x="4902062" y="1919239"/>
            <a:ext cx="2290137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实现</a:t>
            </a:r>
          </a:p>
        </p:txBody>
      </p:sp>
      <p:sp>
        <p:nvSpPr>
          <p:cNvPr id="94" name="TextBox 30"/>
          <p:cNvSpPr txBox="1"/>
          <p:nvPr/>
        </p:nvSpPr>
        <p:spPr>
          <a:xfrm>
            <a:off x="7152717" y="1919239"/>
            <a:ext cx="227330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验证</a:t>
            </a:r>
            <a:endParaRPr 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5" name="TextBox 31"/>
          <p:cNvSpPr txBox="1"/>
          <p:nvPr/>
        </p:nvSpPr>
        <p:spPr>
          <a:xfrm>
            <a:off x="9396173" y="1919239"/>
            <a:ext cx="2125794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7" name="Content Placeholder 2"/>
          <p:cNvSpPr txBox="1"/>
          <p:nvPr/>
        </p:nvSpPr>
        <p:spPr>
          <a:xfrm>
            <a:off x="3042961" y="3971969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</a:t>
            </a:r>
          </a:p>
        </p:txBody>
      </p:sp>
      <p:sp>
        <p:nvSpPr>
          <p:cNvPr id="99" name="Content Placeholder 2"/>
          <p:cNvSpPr txBox="1"/>
          <p:nvPr/>
        </p:nvSpPr>
        <p:spPr>
          <a:xfrm>
            <a:off x="5281155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</a:p>
        </p:txBody>
      </p:sp>
      <p:sp>
        <p:nvSpPr>
          <p:cNvPr id="101" name="Content Placeholder 2"/>
          <p:cNvSpPr txBox="1"/>
          <p:nvPr/>
        </p:nvSpPr>
        <p:spPr>
          <a:xfrm>
            <a:off x="7514664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zh-CN" altLang="en-US" sz="2000" b="1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验证</a:t>
            </a:r>
            <a:endParaRPr lang="en-US" sz="2000" b="1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3" name="Content Placeholder 2"/>
          <p:cNvSpPr txBox="1"/>
          <p:nvPr/>
        </p:nvSpPr>
        <p:spPr>
          <a:xfrm>
            <a:off x="9862365" y="3971970"/>
            <a:ext cx="1368815" cy="4586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/>
          </a:p>
        </p:txBody>
      </p:sp>
      <p:sp>
        <p:nvSpPr>
          <p:cNvPr id="105" name="Freeform 6"/>
          <p:cNvSpPr>
            <a:spLocks noChangeArrowheads="1"/>
          </p:cNvSpPr>
          <p:nvPr/>
        </p:nvSpPr>
        <p:spPr bwMode="auto">
          <a:xfrm>
            <a:off x="5780732" y="3333003"/>
            <a:ext cx="365760" cy="365760"/>
          </a:xfrm>
          <a:custGeom>
            <a:avLst/>
            <a:gdLst>
              <a:gd name="T0" fmla="*/ 425 w 444"/>
              <a:gd name="T1" fmla="*/ 17 h 435"/>
              <a:gd name="T2" fmla="*/ 425 w 444"/>
              <a:gd name="T3" fmla="*/ 17 h 435"/>
              <a:gd name="T4" fmla="*/ 345 w 444"/>
              <a:gd name="T5" fmla="*/ 35 h 435"/>
              <a:gd name="T6" fmla="*/ 0 w 444"/>
              <a:gd name="T7" fmla="*/ 222 h 435"/>
              <a:gd name="T8" fmla="*/ 195 w 444"/>
              <a:gd name="T9" fmla="*/ 248 h 435"/>
              <a:gd name="T10" fmla="*/ 221 w 444"/>
              <a:gd name="T11" fmla="*/ 434 h 435"/>
              <a:gd name="T12" fmla="*/ 399 w 444"/>
              <a:gd name="T13" fmla="*/ 89 h 435"/>
              <a:gd name="T14" fmla="*/ 425 w 444"/>
              <a:gd name="T15" fmla="*/ 17 h 435"/>
              <a:gd name="T16" fmla="*/ 381 w 444"/>
              <a:gd name="T17" fmla="*/ 62 h 435"/>
              <a:gd name="T18" fmla="*/ 381 w 444"/>
              <a:gd name="T19" fmla="*/ 62 h 435"/>
              <a:gd name="T20" fmla="*/ 239 w 444"/>
              <a:gd name="T21" fmla="*/ 319 h 435"/>
              <a:gd name="T22" fmla="*/ 230 w 444"/>
              <a:gd name="T23" fmla="*/ 204 h 435"/>
              <a:gd name="T24" fmla="*/ 381 w 444"/>
              <a:gd name="T25" fmla="*/ 62 h 4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4" h="435">
                <a:moveTo>
                  <a:pt x="425" y="17"/>
                </a:moveTo>
                <a:lnTo>
                  <a:pt x="425" y="17"/>
                </a:lnTo>
                <a:cubicBezTo>
                  <a:pt x="408" y="0"/>
                  <a:pt x="399" y="17"/>
                  <a:pt x="345" y="35"/>
                </a:cubicBezTo>
                <a:cubicBezTo>
                  <a:pt x="221" y="97"/>
                  <a:pt x="0" y="222"/>
                  <a:pt x="0" y="222"/>
                </a:cubicBezTo>
                <a:cubicBezTo>
                  <a:pt x="195" y="248"/>
                  <a:pt x="195" y="248"/>
                  <a:pt x="195" y="248"/>
                </a:cubicBezTo>
                <a:cubicBezTo>
                  <a:pt x="221" y="434"/>
                  <a:pt x="221" y="434"/>
                  <a:pt x="221" y="434"/>
                </a:cubicBezTo>
                <a:cubicBezTo>
                  <a:pt x="221" y="434"/>
                  <a:pt x="345" y="222"/>
                  <a:pt x="399" y="89"/>
                </a:cubicBezTo>
                <a:cubicBezTo>
                  <a:pt x="425" y="44"/>
                  <a:pt x="443" y="26"/>
                  <a:pt x="425" y="17"/>
                </a:cubicBezTo>
                <a:close/>
                <a:moveTo>
                  <a:pt x="381" y="62"/>
                </a:moveTo>
                <a:lnTo>
                  <a:pt x="381" y="62"/>
                </a:lnTo>
                <a:cubicBezTo>
                  <a:pt x="239" y="319"/>
                  <a:pt x="239" y="319"/>
                  <a:pt x="239" y="319"/>
                </a:cubicBezTo>
                <a:cubicBezTo>
                  <a:pt x="230" y="204"/>
                  <a:pt x="230" y="204"/>
                  <a:pt x="230" y="204"/>
                </a:cubicBezTo>
                <a:lnTo>
                  <a:pt x="381" y="6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Freeform 25"/>
          <p:cNvSpPr>
            <a:spLocks noChangeArrowheads="1"/>
          </p:cNvSpPr>
          <p:nvPr/>
        </p:nvSpPr>
        <p:spPr bwMode="auto">
          <a:xfrm>
            <a:off x="8025193" y="3255723"/>
            <a:ext cx="365760" cy="365760"/>
          </a:xfrm>
          <a:custGeom>
            <a:avLst/>
            <a:gdLst>
              <a:gd name="T0" fmla="*/ 195 w 346"/>
              <a:gd name="T1" fmla="*/ 0 h 479"/>
              <a:gd name="T2" fmla="*/ 195 w 346"/>
              <a:gd name="T3" fmla="*/ 0 h 479"/>
              <a:gd name="T4" fmla="*/ 160 w 346"/>
              <a:gd name="T5" fmla="*/ 0 h 479"/>
              <a:gd name="T6" fmla="*/ 160 w 346"/>
              <a:gd name="T7" fmla="*/ 328 h 479"/>
              <a:gd name="T8" fmla="*/ 80 w 346"/>
              <a:gd name="T9" fmla="*/ 328 h 479"/>
              <a:gd name="T10" fmla="*/ 10 w 346"/>
              <a:gd name="T11" fmla="*/ 425 h 479"/>
              <a:gd name="T12" fmla="*/ 124 w 346"/>
              <a:gd name="T13" fmla="*/ 461 h 479"/>
              <a:gd name="T14" fmla="*/ 195 w 346"/>
              <a:gd name="T15" fmla="*/ 372 h 479"/>
              <a:gd name="T16" fmla="*/ 195 w 346"/>
              <a:gd name="T17" fmla="*/ 106 h 479"/>
              <a:gd name="T18" fmla="*/ 257 w 346"/>
              <a:gd name="T19" fmla="*/ 230 h 479"/>
              <a:gd name="T20" fmla="*/ 275 w 346"/>
              <a:gd name="T21" fmla="*/ 230 h 479"/>
              <a:gd name="T22" fmla="*/ 195 w 346"/>
              <a:gd name="T23" fmla="*/ 0 h 4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346" h="479">
                <a:moveTo>
                  <a:pt x="195" y="0"/>
                </a:moveTo>
                <a:lnTo>
                  <a:pt x="195" y="0"/>
                </a:lnTo>
                <a:cubicBezTo>
                  <a:pt x="160" y="0"/>
                  <a:pt x="160" y="0"/>
                  <a:pt x="160" y="0"/>
                </a:cubicBezTo>
                <a:cubicBezTo>
                  <a:pt x="160" y="328"/>
                  <a:pt x="160" y="328"/>
                  <a:pt x="160" y="328"/>
                </a:cubicBezTo>
                <a:cubicBezTo>
                  <a:pt x="133" y="319"/>
                  <a:pt x="107" y="319"/>
                  <a:pt x="80" y="328"/>
                </a:cubicBezTo>
                <a:cubicBezTo>
                  <a:pt x="26" y="346"/>
                  <a:pt x="0" y="390"/>
                  <a:pt x="10" y="425"/>
                </a:cubicBezTo>
                <a:cubicBezTo>
                  <a:pt x="26" y="461"/>
                  <a:pt x="71" y="478"/>
                  <a:pt x="124" y="461"/>
                </a:cubicBezTo>
                <a:cubicBezTo>
                  <a:pt x="169" y="443"/>
                  <a:pt x="195" y="408"/>
                  <a:pt x="195" y="372"/>
                </a:cubicBezTo>
                <a:cubicBezTo>
                  <a:pt x="195" y="106"/>
                  <a:pt x="195" y="106"/>
                  <a:pt x="195" y="106"/>
                </a:cubicBezTo>
                <a:cubicBezTo>
                  <a:pt x="266" y="124"/>
                  <a:pt x="266" y="212"/>
                  <a:pt x="257" y="230"/>
                </a:cubicBezTo>
                <a:cubicBezTo>
                  <a:pt x="257" y="239"/>
                  <a:pt x="266" y="248"/>
                  <a:pt x="275" y="230"/>
                </a:cubicBezTo>
                <a:cubicBezTo>
                  <a:pt x="345" y="115"/>
                  <a:pt x="195" y="62"/>
                  <a:pt x="195" y="0"/>
                </a:cubicBez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Freeform 28"/>
          <p:cNvSpPr>
            <a:spLocks noChangeArrowheads="1"/>
          </p:cNvSpPr>
          <p:nvPr/>
        </p:nvSpPr>
        <p:spPr bwMode="auto">
          <a:xfrm>
            <a:off x="10363892" y="3281027"/>
            <a:ext cx="365760" cy="365760"/>
          </a:xfrm>
          <a:custGeom>
            <a:avLst/>
            <a:gdLst>
              <a:gd name="T0" fmla="*/ 124 w 498"/>
              <a:gd name="T1" fmla="*/ 81 h 418"/>
              <a:gd name="T2" fmla="*/ 124 w 498"/>
              <a:gd name="T3" fmla="*/ 81 h 418"/>
              <a:gd name="T4" fmla="*/ 36 w 498"/>
              <a:gd name="T5" fmla="*/ 258 h 418"/>
              <a:gd name="T6" fmla="*/ 346 w 498"/>
              <a:gd name="T7" fmla="*/ 116 h 418"/>
              <a:gd name="T8" fmla="*/ 9 w 498"/>
              <a:gd name="T9" fmla="*/ 382 h 418"/>
              <a:gd name="T10" fmla="*/ 44 w 498"/>
              <a:gd name="T11" fmla="*/ 400 h 418"/>
              <a:gd name="T12" fmla="*/ 97 w 498"/>
              <a:gd name="T13" fmla="*/ 311 h 418"/>
              <a:gd name="T14" fmla="*/ 293 w 498"/>
              <a:gd name="T15" fmla="*/ 311 h 418"/>
              <a:gd name="T16" fmla="*/ 469 w 498"/>
              <a:gd name="T17" fmla="*/ 72 h 418"/>
              <a:gd name="T18" fmla="*/ 124 w 498"/>
              <a:gd name="T19" fmla="*/ 81 h 4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498" h="418">
                <a:moveTo>
                  <a:pt x="124" y="81"/>
                </a:moveTo>
                <a:lnTo>
                  <a:pt x="124" y="81"/>
                </a:lnTo>
                <a:cubicBezTo>
                  <a:pt x="27" y="134"/>
                  <a:pt x="36" y="222"/>
                  <a:pt x="36" y="258"/>
                </a:cubicBezTo>
                <a:cubicBezTo>
                  <a:pt x="159" y="107"/>
                  <a:pt x="346" y="116"/>
                  <a:pt x="346" y="116"/>
                </a:cubicBezTo>
                <a:cubicBezTo>
                  <a:pt x="346" y="116"/>
                  <a:pt x="80" y="204"/>
                  <a:pt x="9" y="382"/>
                </a:cubicBezTo>
                <a:cubicBezTo>
                  <a:pt x="0" y="400"/>
                  <a:pt x="36" y="417"/>
                  <a:pt x="44" y="400"/>
                </a:cubicBezTo>
                <a:cubicBezTo>
                  <a:pt x="62" y="355"/>
                  <a:pt x="97" y="311"/>
                  <a:pt x="97" y="311"/>
                </a:cubicBezTo>
                <a:cubicBezTo>
                  <a:pt x="151" y="329"/>
                  <a:pt x="230" y="355"/>
                  <a:pt x="293" y="311"/>
                </a:cubicBezTo>
                <a:cubicBezTo>
                  <a:pt x="363" y="258"/>
                  <a:pt x="363" y="134"/>
                  <a:pt x="469" y="72"/>
                </a:cubicBezTo>
                <a:cubicBezTo>
                  <a:pt x="497" y="63"/>
                  <a:pt x="249" y="0"/>
                  <a:pt x="124" y="81"/>
                </a:cubicBezTo>
              </a:path>
            </a:pathLst>
          </a:custGeom>
          <a:solidFill>
            <a:schemeClr val="accent6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Freeform 106"/>
          <p:cNvSpPr>
            <a:spLocks noChangeArrowheads="1"/>
          </p:cNvSpPr>
          <p:nvPr/>
        </p:nvSpPr>
        <p:spPr bwMode="auto">
          <a:xfrm>
            <a:off x="3575051" y="3311976"/>
            <a:ext cx="365760" cy="365760"/>
          </a:xfrm>
          <a:custGeom>
            <a:avLst/>
            <a:gdLst>
              <a:gd name="T0" fmla="*/ 35 w 355"/>
              <a:gd name="T1" fmla="*/ 497 h 506"/>
              <a:gd name="T2" fmla="*/ 35 w 355"/>
              <a:gd name="T3" fmla="*/ 497 h 506"/>
              <a:gd name="T4" fmla="*/ 70 w 355"/>
              <a:gd name="T5" fmla="*/ 381 h 506"/>
              <a:gd name="T6" fmla="*/ 203 w 355"/>
              <a:gd name="T7" fmla="*/ 310 h 506"/>
              <a:gd name="T8" fmla="*/ 132 w 355"/>
              <a:gd name="T9" fmla="*/ 284 h 506"/>
              <a:gd name="T10" fmla="*/ 292 w 355"/>
              <a:gd name="T11" fmla="*/ 194 h 506"/>
              <a:gd name="T12" fmla="*/ 194 w 355"/>
              <a:gd name="T13" fmla="*/ 168 h 506"/>
              <a:gd name="T14" fmla="*/ 327 w 355"/>
              <a:gd name="T15" fmla="*/ 133 h 506"/>
              <a:gd name="T16" fmla="*/ 345 w 355"/>
              <a:gd name="T17" fmla="*/ 44 h 506"/>
              <a:gd name="T18" fmla="*/ 248 w 355"/>
              <a:gd name="T19" fmla="*/ 0 h 506"/>
              <a:gd name="T20" fmla="*/ 159 w 355"/>
              <a:gd name="T21" fmla="*/ 124 h 506"/>
              <a:gd name="T22" fmla="*/ 168 w 355"/>
              <a:gd name="T23" fmla="*/ 18 h 506"/>
              <a:gd name="T24" fmla="*/ 70 w 355"/>
              <a:gd name="T25" fmla="*/ 106 h 506"/>
              <a:gd name="T26" fmla="*/ 61 w 355"/>
              <a:gd name="T27" fmla="*/ 301 h 506"/>
              <a:gd name="T28" fmla="*/ 8 w 355"/>
              <a:gd name="T29" fmla="*/ 213 h 506"/>
              <a:gd name="T30" fmla="*/ 35 w 355"/>
              <a:gd name="T31" fmla="*/ 363 h 506"/>
              <a:gd name="T32" fmla="*/ 8 w 355"/>
              <a:gd name="T33" fmla="*/ 478 h 506"/>
              <a:gd name="T34" fmla="*/ 35 w 355"/>
              <a:gd name="T35" fmla="*/ 497 h 5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355" h="506">
                <a:moveTo>
                  <a:pt x="35" y="497"/>
                </a:moveTo>
                <a:lnTo>
                  <a:pt x="35" y="497"/>
                </a:lnTo>
                <a:cubicBezTo>
                  <a:pt x="44" y="469"/>
                  <a:pt x="53" y="434"/>
                  <a:pt x="70" y="381"/>
                </a:cubicBezTo>
                <a:cubicBezTo>
                  <a:pt x="132" y="372"/>
                  <a:pt x="168" y="390"/>
                  <a:pt x="203" y="310"/>
                </a:cubicBezTo>
                <a:cubicBezTo>
                  <a:pt x="168" y="328"/>
                  <a:pt x="132" y="292"/>
                  <a:pt x="132" y="284"/>
                </a:cubicBezTo>
                <a:cubicBezTo>
                  <a:pt x="132" y="266"/>
                  <a:pt x="229" y="292"/>
                  <a:pt x="292" y="194"/>
                </a:cubicBezTo>
                <a:cubicBezTo>
                  <a:pt x="212" y="213"/>
                  <a:pt x="185" y="178"/>
                  <a:pt x="194" y="168"/>
                </a:cubicBezTo>
                <a:cubicBezTo>
                  <a:pt x="221" y="159"/>
                  <a:pt x="292" y="168"/>
                  <a:pt x="327" y="133"/>
                </a:cubicBezTo>
                <a:cubicBezTo>
                  <a:pt x="345" y="115"/>
                  <a:pt x="354" y="62"/>
                  <a:pt x="345" y="44"/>
                </a:cubicBezTo>
                <a:cubicBezTo>
                  <a:pt x="336" y="27"/>
                  <a:pt x="283" y="0"/>
                  <a:pt x="248" y="0"/>
                </a:cubicBezTo>
                <a:cubicBezTo>
                  <a:pt x="221" y="9"/>
                  <a:pt x="168" y="124"/>
                  <a:pt x="159" y="124"/>
                </a:cubicBezTo>
                <a:cubicBezTo>
                  <a:pt x="141" y="124"/>
                  <a:pt x="141" y="71"/>
                  <a:pt x="168" y="18"/>
                </a:cubicBezTo>
                <a:cubicBezTo>
                  <a:pt x="132" y="35"/>
                  <a:pt x="88" y="71"/>
                  <a:pt x="70" y="106"/>
                </a:cubicBezTo>
                <a:cubicBezTo>
                  <a:pt x="44" y="159"/>
                  <a:pt x="79" y="301"/>
                  <a:pt x="61" y="301"/>
                </a:cubicBezTo>
                <a:cubicBezTo>
                  <a:pt x="53" y="310"/>
                  <a:pt x="17" y="239"/>
                  <a:pt x="8" y="213"/>
                </a:cubicBezTo>
                <a:cubicBezTo>
                  <a:pt x="0" y="257"/>
                  <a:pt x="0" y="301"/>
                  <a:pt x="35" y="363"/>
                </a:cubicBezTo>
                <a:cubicBezTo>
                  <a:pt x="26" y="407"/>
                  <a:pt x="17" y="452"/>
                  <a:pt x="8" y="478"/>
                </a:cubicBezTo>
                <a:cubicBezTo>
                  <a:pt x="8" y="497"/>
                  <a:pt x="35" y="505"/>
                  <a:pt x="35" y="497"/>
                </a:cubicBez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Freeform 115"/>
          <p:cNvSpPr>
            <a:spLocks noChangeArrowheads="1"/>
          </p:cNvSpPr>
          <p:nvPr/>
        </p:nvSpPr>
        <p:spPr bwMode="auto">
          <a:xfrm>
            <a:off x="1395169" y="3273339"/>
            <a:ext cx="365760" cy="432913"/>
          </a:xfrm>
          <a:custGeom>
            <a:avLst/>
            <a:gdLst>
              <a:gd name="T0" fmla="*/ 381 w 400"/>
              <a:gd name="T1" fmla="*/ 124 h 498"/>
              <a:gd name="T2" fmla="*/ 381 w 400"/>
              <a:gd name="T3" fmla="*/ 124 h 498"/>
              <a:gd name="T4" fmla="*/ 231 w 400"/>
              <a:gd name="T5" fmla="*/ 9 h 498"/>
              <a:gd name="T6" fmla="*/ 115 w 400"/>
              <a:gd name="T7" fmla="*/ 151 h 498"/>
              <a:gd name="T8" fmla="*/ 133 w 400"/>
              <a:gd name="T9" fmla="*/ 213 h 498"/>
              <a:gd name="T10" fmla="*/ 9 w 400"/>
              <a:gd name="T11" fmla="*/ 407 h 498"/>
              <a:gd name="T12" fmla="*/ 0 w 400"/>
              <a:gd name="T13" fmla="*/ 434 h 498"/>
              <a:gd name="T14" fmla="*/ 9 w 400"/>
              <a:gd name="T15" fmla="*/ 478 h 498"/>
              <a:gd name="T16" fmla="*/ 27 w 400"/>
              <a:gd name="T17" fmla="*/ 497 h 498"/>
              <a:gd name="T18" fmla="*/ 62 w 400"/>
              <a:gd name="T19" fmla="*/ 487 h 498"/>
              <a:gd name="T20" fmla="*/ 89 w 400"/>
              <a:gd name="T21" fmla="*/ 470 h 498"/>
              <a:gd name="T22" fmla="*/ 142 w 400"/>
              <a:gd name="T23" fmla="*/ 390 h 498"/>
              <a:gd name="T24" fmla="*/ 142 w 400"/>
              <a:gd name="T25" fmla="*/ 390 h 498"/>
              <a:gd name="T26" fmla="*/ 177 w 400"/>
              <a:gd name="T27" fmla="*/ 381 h 498"/>
              <a:gd name="T28" fmla="*/ 231 w 400"/>
              <a:gd name="T29" fmla="*/ 284 h 498"/>
              <a:gd name="T30" fmla="*/ 293 w 400"/>
              <a:gd name="T31" fmla="*/ 284 h 498"/>
              <a:gd name="T32" fmla="*/ 381 w 400"/>
              <a:gd name="T33" fmla="*/ 124 h 498"/>
              <a:gd name="T34" fmla="*/ 319 w 400"/>
              <a:gd name="T35" fmla="*/ 159 h 498"/>
              <a:gd name="T36" fmla="*/ 319 w 400"/>
              <a:gd name="T37" fmla="*/ 159 h 498"/>
              <a:gd name="T38" fmla="*/ 256 w 400"/>
              <a:gd name="T39" fmla="*/ 142 h 498"/>
              <a:gd name="T40" fmla="*/ 221 w 400"/>
              <a:gd name="T41" fmla="*/ 80 h 498"/>
              <a:gd name="T42" fmla="*/ 310 w 400"/>
              <a:gd name="T43" fmla="*/ 71 h 498"/>
              <a:gd name="T44" fmla="*/ 319 w 400"/>
              <a:gd name="T45" fmla="*/ 159 h 4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00" h="498">
                <a:moveTo>
                  <a:pt x="381" y="124"/>
                </a:moveTo>
                <a:lnTo>
                  <a:pt x="381" y="124"/>
                </a:lnTo>
                <a:cubicBezTo>
                  <a:pt x="372" y="44"/>
                  <a:pt x="301" y="0"/>
                  <a:pt x="231" y="9"/>
                </a:cubicBezTo>
                <a:cubicBezTo>
                  <a:pt x="159" y="27"/>
                  <a:pt x="106" y="80"/>
                  <a:pt x="115" y="151"/>
                </a:cubicBezTo>
                <a:cubicBezTo>
                  <a:pt x="115" y="168"/>
                  <a:pt x="124" y="195"/>
                  <a:pt x="133" y="213"/>
                </a:cubicBezTo>
                <a:cubicBezTo>
                  <a:pt x="9" y="407"/>
                  <a:pt x="9" y="407"/>
                  <a:pt x="9" y="407"/>
                </a:cubicBezTo>
                <a:cubicBezTo>
                  <a:pt x="0" y="407"/>
                  <a:pt x="0" y="425"/>
                  <a:pt x="0" y="434"/>
                </a:cubicBezTo>
                <a:cubicBezTo>
                  <a:pt x="9" y="478"/>
                  <a:pt x="9" y="478"/>
                  <a:pt x="9" y="478"/>
                </a:cubicBezTo>
                <a:cubicBezTo>
                  <a:pt x="9" y="487"/>
                  <a:pt x="18" y="497"/>
                  <a:pt x="27" y="497"/>
                </a:cubicBezTo>
                <a:cubicBezTo>
                  <a:pt x="62" y="487"/>
                  <a:pt x="62" y="487"/>
                  <a:pt x="62" y="487"/>
                </a:cubicBezTo>
                <a:cubicBezTo>
                  <a:pt x="71" y="487"/>
                  <a:pt x="80" y="478"/>
                  <a:pt x="89" y="470"/>
                </a:cubicBezTo>
                <a:cubicBezTo>
                  <a:pt x="142" y="390"/>
                  <a:pt x="142" y="390"/>
                  <a:pt x="142" y="390"/>
                </a:cubicBezTo>
                <a:lnTo>
                  <a:pt x="142" y="390"/>
                </a:lnTo>
                <a:cubicBezTo>
                  <a:pt x="177" y="381"/>
                  <a:pt x="177" y="381"/>
                  <a:pt x="177" y="381"/>
                </a:cubicBezTo>
                <a:cubicBezTo>
                  <a:pt x="231" y="284"/>
                  <a:pt x="231" y="284"/>
                  <a:pt x="231" y="284"/>
                </a:cubicBezTo>
                <a:cubicBezTo>
                  <a:pt x="248" y="293"/>
                  <a:pt x="284" y="284"/>
                  <a:pt x="293" y="284"/>
                </a:cubicBezTo>
                <a:cubicBezTo>
                  <a:pt x="363" y="275"/>
                  <a:pt x="399" y="195"/>
                  <a:pt x="381" y="124"/>
                </a:cubicBezTo>
                <a:close/>
                <a:moveTo>
                  <a:pt x="319" y="159"/>
                </a:moveTo>
                <a:lnTo>
                  <a:pt x="319" y="159"/>
                </a:lnTo>
                <a:cubicBezTo>
                  <a:pt x="301" y="187"/>
                  <a:pt x="284" y="168"/>
                  <a:pt x="256" y="142"/>
                </a:cubicBezTo>
                <a:cubicBezTo>
                  <a:pt x="231" y="124"/>
                  <a:pt x="203" y="115"/>
                  <a:pt x="221" y="80"/>
                </a:cubicBezTo>
                <a:cubicBezTo>
                  <a:pt x="240" y="53"/>
                  <a:pt x="284" y="44"/>
                  <a:pt x="310" y="71"/>
                </a:cubicBezTo>
                <a:cubicBezTo>
                  <a:pt x="337" y="89"/>
                  <a:pt x="346" y="133"/>
                  <a:pt x="319" y="15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7995" y="4430395"/>
            <a:ext cx="22256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Linux 语义</a:t>
            </a:r>
            <a:endParaRPr lang="zh-CN" altLang="en-US" sz="1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性能目标
真实负载</a:t>
            </a:r>
          </a:p>
        </p:txBody>
      </p:sp>
      <p:sp>
        <p:nvSpPr>
          <p:cNvPr id="113" name="文本框 112"/>
          <p:cNvSpPr txBox="1"/>
          <p:nvPr/>
        </p:nvSpPr>
        <p:spPr>
          <a:xfrm>
            <a:off x="2688590" y="4430395"/>
            <a:ext cx="22390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边界与 owner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ABI / contract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验证计划</a:t>
            </a: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sz="18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Content Placeholder 2"/>
          <p:cNvSpPr txBox="1"/>
          <p:nvPr/>
        </p:nvSpPr>
        <p:spPr>
          <a:xfrm>
            <a:off x="4928869" y="4421505"/>
            <a:ext cx="2350029" cy="12003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最小闭环实现</a:t>
            </a: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代码审查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阶段化合入</a:t>
            </a: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accent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Content Placeholder 2"/>
          <p:cNvSpPr txBox="1"/>
          <p:nvPr/>
        </p:nvSpPr>
        <p:spPr>
          <a:xfrm>
            <a:off x="7165975" y="4421506"/>
            <a:ext cx="2530918" cy="10093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 / 日志 / 测例</a:t>
            </a:r>
            <a:endParaRPr lang="en-US" altLang="zh-CN" dirty="0">
              <a:solidFill>
                <a:schemeClr val="accent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失败归因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accent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双架构验证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4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4"/>
              </a:solidFill>
            </a:endParaRPr>
          </a:p>
        </p:txBody>
      </p:sp>
      <p:sp>
        <p:nvSpPr>
          <p:cNvPr id="2" name="Content Placeholder 2"/>
          <p:cNvSpPr txBox="1"/>
          <p:nvPr/>
        </p:nvSpPr>
        <p:spPr>
          <a:xfrm>
            <a:off x="9748173" y="4125310"/>
            <a:ext cx="1982470" cy="2154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dirty="0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/>
            <a:r>
              <a:rPr lang="zh-CN" altLang="en-US" dirty="0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回写证据、限制与下一轮目标</a:t>
            </a:r>
            <a:endParaRPr lang="en-US" altLang="zh-CN" dirty="0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dirty="0">
              <a:solidFill>
                <a:schemeClr val="accent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zh-CN" altLang="en-US" sz="2000" dirty="0">
              <a:solidFill>
                <a:schemeClr val="accent6"/>
              </a:solidFill>
            </a:endParaRPr>
          </a:p>
        </p:txBody>
      </p:sp>
      <p:sp>
        <p:nvSpPr>
          <p:cNvPr id="116" name="NavActive 比赛总结"/>
          <p:cNvSpPr/>
          <p:nvPr/>
        </p:nvSpPr>
        <p:spPr>
          <a:xfrm>
            <a:off x="10263016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117" name="NavDivider 1"/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NavDivider 2"/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NavDivider 3"/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NavDivider 4"/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NavDivider 5"/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NavText 1 完成情况"/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123" name="NavText 2 开发历程"/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124" name="NavText 3 设计主线"/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125" name="NavText 4 核心机制"/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126" name="NavText 5 AI使用"/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127" name="NavText 6 比赛总结"/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80A4-1E4D-BD84-A832-671D50AD8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94B96C20-D3D8-AC14-2C6D-90A38B466660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5C131580-864F-9DCF-3D8F-0F91731E759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  <a14:imgEffect>
                      <a14:colorTemperature colorTemp="598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3" y="132991"/>
            <a:ext cx="2997105" cy="550154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B9593301-668A-9969-DD12-7BE733CBF5A2}"/>
              </a:ext>
            </a:extLst>
          </p:cNvPr>
          <p:cNvSpPr txBox="1"/>
          <p:nvPr/>
        </p:nvSpPr>
        <p:spPr>
          <a:xfrm>
            <a:off x="117373" y="1084103"/>
            <a:ext cx="18357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参考内核</a:t>
            </a:r>
            <a:endParaRPr lang="zh-CN" altLang="en-US" sz="28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6" name="NavActive 比赛总结">
            <a:extLst>
              <a:ext uri="{FF2B5EF4-FFF2-40B4-BE49-F238E27FC236}">
                <a16:creationId xmlns:a16="http://schemas.microsoft.com/office/drawing/2014/main" id="{C0D3F31E-CDCC-3FB9-E085-7969E5CB8C39}"/>
              </a:ext>
            </a:extLst>
          </p:cNvPr>
          <p:cNvSpPr/>
          <p:nvPr/>
        </p:nvSpPr>
        <p:spPr>
          <a:xfrm>
            <a:off x="10263016" y="0"/>
            <a:ext cx="1406233" cy="792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</a:endParaRPr>
          </a:p>
        </p:txBody>
      </p:sp>
      <p:cxnSp>
        <p:nvCxnSpPr>
          <p:cNvPr id="117" name="NavDivider 1">
            <a:extLst>
              <a:ext uri="{FF2B5EF4-FFF2-40B4-BE49-F238E27FC236}">
                <a16:creationId xmlns:a16="http://schemas.microsoft.com/office/drawing/2014/main" id="{28326F95-0426-F58E-F4C5-4A4B933C6727}"/>
              </a:ext>
            </a:extLst>
          </p:cNvPr>
          <p:cNvCxnSpPr/>
          <p:nvPr/>
        </p:nvCxnSpPr>
        <p:spPr>
          <a:xfrm>
            <a:off x="46380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NavDivider 2">
            <a:extLst>
              <a:ext uri="{FF2B5EF4-FFF2-40B4-BE49-F238E27FC236}">
                <a16:creationId xmlns:a16="http://schemas.microsoft.com/office/drawing/2014/main" id="{8E6FEFAC-1FCF-E5C8-04FB-D26EC9129817}"/>
              </a:ext>
            </a:extLst>
          </p:cNvPr>
          <p:cNvCxnSpPr/>
          <p:nvPr/>
        </p:nvCxnSpPr>
        <p:spPr>
          <a:xfrm>
            <a:off x="60443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NavDivider 3">
            <a:extLst>
              <a:ext uri="{FF2B5EF4-FFF2-40B4-BE49-F238E27FC236}">
                <a16:creationId xmlns:a16="http://schemas.microsoft.com/office/drawing/2014/main" id="{4CC2767D-5263-C19A-A547-6401FA0DA68A}"/>
              </a:ext>
            </a:extLst>
          </p:cNvPr>
          <p:cNvCxnSpPr/>
          <p:nvPr/>
        </p:nvCxnSpPr>
        <p:spPr>
          <a:xfrm>
            <a:off x="74505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NavDivider 4">
            <a:extLst>
              <a:ext uri="{FF2B5EF4-FFF2-40B4-BE49-F238E27FC236}">
                <a16:creationId xmlns:a16="http://schemas.microsoft.com/office/drawing/2014/main" id="{5F1332DE-DE80-07EE-4281-78DB9FCF48D0}"/>
              </a:ext>
            </a:extLst>
          </p:cNvPr>
          <p:cNvCxnSpPr/>
          <p:nvPr/>
        </p:nvCxnSpPr>
        <p:spPr>
          <a:xfrm>
            <a:off x="8856783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NavDivider 5">
            <a:extLst>
              <a:ext uri="{FF2B5EF4-FFF2-40B4-BE49-F238E27FC236}">
                <a16:creationId xmlns:a16="http://schemas.microsoft.com/office/drawing/2014/main" id="{7DAEF782-61ED-91BE-07CA-029643864398}"/>
              </a:ext>
            </a:extLst>
          </p:cNvPr>
          <p:cNvCxnSpPr/>
          <p:nvPr/>
        </p:nvCxnSpPr>
        <p:spPr>
          <a:xfrm>
            <a:off x="10263016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NavText 1 完成情况">
            <a:extLst>
              <a:ext uri="{FF2B5EF4-FFF2-40B4-BE49-F238E27FC236}">
                <a16:creationId xmlns:a16="http://schemas.microsoft.com/office/drawing/2014/main" id="{C78DC44D-BFF4-B112-1290-05CCF1367022}"/>
              </a:ext>
            </a:extLst>
          </p:cNvPr>
          <p:cNvSpPr txBox="1"/>
          <p:nvPr/>
        </p:nvSpPr>
        <p:spPr>
          <a:xfrm>
            <a:off x="32318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完成情况</a:t>
            </a:r>
          </a:p>
        </p:txBody>
      </p:sp>
      <p:sp>
        <p:nvSpPr>
          <p:cNvPr id="123" name="NavText 2 开发历程">
            <a:extLst>
              <a:ext uri="{FF2B5EF4-FFF2-40B4-BE49-F238E27FC236}">
                <a16:creationId xmlns:a16="http://schemas.microsoft.com/office/drawing/2014/main" id="{1A5FCA4B-D20A-3764-1FDC-30283521B5E7}"/>
              </a:ext>
            </a:extLst>
          </p:cNvPr>
          <p:cNvSpPr txBox="1"/>
          <p:nvPr/>
        </p:nvSpPr>
        <p:spPr>
          <a:xfrm>
            <a:off x="46380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开发历程</a:t>
            </a:r>
          </a:p>
        </p:txBody>
      </p:sp>
      <p:sp>
        <p:nvSpPr>
          <p:cNvPr id="124" name="NavText 3 设计主线">
            <a:extLst>
              <a:ext uri="{FF2B5EF4-FFF2-40B4-BE49-F238E27FC236}">
                <a16:creationId xmlns:a16="http://schemas.microsoft.com/office/drawing/2014/main" id="{FF3E1AF0-CE7F-109D-F136-3AC5472E923B}"/>
              </a:ext>
            </a:extLst>
          </p:cNvPr>
          <p:cNvSpPr txBox="1"/>
          <p:nvPr/>
        </p:nvSpPr>
        <p:spPr>
          <a:xfrm>
            <a:off x="6044316" y="215903"/>
            <a:ext cx="1406234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设计主线</a:t>
            </a:r>
          </a:p>
        </p:txBody>
      </p:sp>
      <p:sp>
        <p:nvSpPr>
          <p:cNvPr id="125" name="NavText 4 核心机制">
            <a:extLst>
              <a:ext uri="{FF2B5EF4-FFF2-40B4-BE49-F238E27FC236}">
                <a16:creationId xmlns:a16="http://schemas.microsoft.com/office/drawing/2014/main" id="{9E56B577-C5C7-AA2C-F446-141B5CF279EF}"/>
              </a:ext>
            </a:extLst>
          </p:cNvPr>
          <p:cNvSpPr txBox="1"/>
          <p:nvPr/>
        </p:nvSpPr>
        <p:spPr>
          <a:xfrm>
            <a:off x="7450550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</a:t>
            </a:r>
          </a:p>
        </p:txBody>
      </p:sp>
      <p:sp>
        <p:nvSpPr>
          <p:cNvPr id="126" name="NavText 5 AI使用">
            <a:extLst>
              <a:ext uri="{FF2B5EF4-FFF2-40B4-BE49-F238E27FC236}">
                <a16:creationId xmlns:a16="http://schemas.microsoft.com/office/drawing/2014/main" id="{50206984-D527-DB74-6C79-B30F3A6134D2}"/>
              </a:ext>
            </a:extLst>
          </p:cNvPr>
          <p:cNvSpPr txBox="1"/>
          <p:nvPr/>
        </p:nvSpPr>
        <p:spPr>
          <a:xfrm>
            <a:off x="8856783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AI使用</a:t>
            </a:r>
          </a:p>
        </p:txBody>
      </p:sp>
      <p:sp>
        <p:nvSpPr>
          <p:cNvPr id="127" name="NavText 6 比赛总结">
            <a:extLst>
              <a:ext uri="{FF2B5EF4-FFF2-40B4-BE49-F238E27FC236}">
                <a16:creationId xmlns:a16="http://schemas.microsoft.com/office/drawing/2014/main" id="{C574E37D-062A-965D-056A-38860A4EFCC6}"/>
              </a:ext>
            </a:extLst>
          </p:cNvPr>
          <p:cNvSpPr txBox="1"/>
          <p:nvPr/>
        </p:nvSpPr>
        <p:spPr>
          <a:xfrm>
            <a:off x="10263016" y="215903"/>
            <a:ext cx="1406233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比赛总结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989C5CF-0E22-E487-7A2C-9B888FB71764}"/>
              </a:ext>
            </a:extLst>
          </p:cNvPr>
          <p:cNvSpPr txBox="1"/>
          <p:nvPr/>
        </p:nvSpPr>
        <p:spPr>
          <a:xfrm>
            <a:off x="498765" y="1953491"/>
            <a:ext cx="699456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zh-CN" altLang="zh-CN" sz="2000" dirty="0"/>
              <a:t>Linux 6.6。Linux UAPI、进程与信号语义、VFS、设备驱动、网络、调度与各架构实现的主要参考。</a:t>
            </a:r>
            <a:endParaRPr lang="en-US" altLang="zh-CN" sz="2000" dirty="0"/>
          </a:p>
          <a:p>
            <a:pPr marL="285750" indent="-285750">
              <a:buFontTx/>
              <a:buChar char="-"/>
            </a:pPr>
            <a:endParaRPr lang="en-US" altLang="zh-CN" sz="2000" dirty="0"/>
          </a:p>
          <a:p>
            <a:pPr marL="285750" indent="-285750">
              <a:buFontTx/>
              <a:buChar char="-"/>
            </a:pPr>
            <a:r>
              <a:rPr lang="zh-CN" altLang="zh-CN" sz="2000" dirty="0"/>
              <a:t>Zircon。VMO、地址空间 backing object 与写时复制设计。</a:t>
            </a:r>
            <a:endParaRPr lang="en-US" altLang="zh-CN" sz="2000" dirty="0"/>
          </a:p>
          <a:p>
            <a:pPr marL="285750" indent="-285750">
              <a:buFontTx/>
              <a:buChar char="-"/>
            </a:pPr>
            <a:endParaRPr lang="en-US" altLang="zh-CN" sz="2000" dirty="0"/>
          </a:p>
          <a:p>
            <a:pPr marL="285750" indent="-285750">
              <a:buFontTx/>
              <a:buChar char="-"/>
            </a:pPr>
            <a:r>
              <a:rPr lang="en-US" altLang="zh-CN" sz="2000" dirty="0"/>
              <a:t>Chronix</a:t>
            </a:r>
            <a:r>
              <a:rPr lang="zh-CN" altLang="en-US" sz="2000" dirty="0"/>
              <a:t>。用户态最初的环境建立。</a:t>
            </a:r>
            <a:endParaRPr lang="zh-CN" altLang="zh-CN" sz="2000" dirty="0"/>
          </a:p>
        </p:txBody>
      </p:sp>
    </p:spTree>
    <p:extLst>
      <p:ext uri="{BB962C8B-B14F-4D97-AF65-F5344CB8AC3E}">
        <p14:creationId xmlns:p14="http://schemas.microsoft.com/office/powerpoint/2010/main" val="416366935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H_Other_8"/>
          <p:cNvPicPr/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5400000" flipH="1">
            <a:off x="6024000" y="-3032194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MH_Other_8"/>
          <p:cNvPicPr/>
          <p:nvPr>
            <p:custDataLst>
              <p:tags r:id="rId2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16200000" flipH="1" flipV="1">
            <a:off x="6024001" y="-127232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0" y="2204967"/>
            <a:ext cx="12192000" cy="286136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664708" y="3127835"/>
            <a:ext cx="10862821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感谢聆听</a:t>
            </a:r>
            <a:endParaRPr lang="en-US" sz="3600" b="1" dirty="0">
              <a:solidFill>
                <a:schemeClr val="bg1">
                  <a:lumMod val="9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 descr="hitsz-logo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89555" y="603250"/>
            <a:ext cx="6612255" cy="12185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heme/theme1.xml><?xml version="1.0" encoding="utf-8"?>
<a:theme xmlns:a="http://schemas.openxmlformats.org/drawingml/2006/main" name="Office 主题​​">
  <a:themeElements>
    <a:clrScheme name="蓝绿色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4645</Words>
  <Application>Microsoft Office PowerPoint</Application>
  <PresentationFormat>宽屏</PresentationFormat>
  <Paragraphs>385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6" baseType="lpstr">
      <vt:lpstr>quote-cjk-patch</vt:lpstr>
      <vt:lpstr>等线</vt:lpstr>
      <vt:lpstr>等线 Light</vt:lpstr>
      <vt:lpstr>微软雅黑</vt:lpstr>
      <vt:lpstr>Arial</vt:lpstr>
      <vt:lpstr>Calibri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答辩-19</dc:title>
  <dc:creator>LP</dc:creator>
  <cp:lastModifiedBy>Doruche 朵露切</cp:lastModifiedBy>
  <cp:revision>744</cp:revision>
  <dcterms:created xsi:type="dcterms:W3CDTF">2024-08-16T10:33:47Z</dcterms:created>
  <dcterms:modified xsi:type="dcterms:W3CDTF">2026-08-16T17:12:01Z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2052-11.1.0.11723</vt:lpwstr>
  </property>
  <property fmtid="{D5CDD505-2E9C-101B-9397-08002B2CF9AE}" pid="3" name="ICV">
    <vt:lpwstr/>
  </property>
</Properties>
</file>