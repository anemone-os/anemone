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theme/themeOverride1.xml" ContentType="application/vnd.openxmlformats-officedocument.themeOverr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tags/tag3.xml" ContentType="application/vnd.openxmlformats-officedocument.presentationml.tags+xml"/>
  <Override PartName="/ppt/tags/tag4.xml" ContentType="application/vnd.openxmlformats-officedocument.presentationml.tags+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handoutMasterIdLst>
    <p:handoutMasterId r:id="rId32"/>
  </p:handoutMasterIdLst>
  <p:sldIdLst>
    <p:sldId id="256" r:id="rId2"/>
    <p:sldId id="257" r:id="rId3"/>
    <p:sldId id="259" r:id="rId4"/>
    <p:sldId id="260" r:id="rId5"/>
    <p:sldId id="261" r:id="rId6"/>
    <p:sldId id="294" r:id="rId7"/>
    <p:sldId id="295" r:id="rId8"/>
    <p:sldId id="263" r:id="rId9"/>
    <p:sldId id="265" r:id="rId10"/>
    <p:sldId id="266" r:id="rId11"/>
    <p:sldId id="267" r:id="rId12"/>
    <p:sldId id="268" r:id="rId13"/>
    <p:sldId id="269" r:id="rId14"/>
    <p:sldId id="291" r:id="rId15"/>
    <p:sldId id="270" r:id="rId16"/>
    <p:sldId id="271" r:id="rId17"/>
    <p:sldId id="272" r:id="rId18"/>
    <p:sldId id="273" r:id="rId19"/>
    <p:sldId id="275" r:id="rId20"/>
    <p:sldId id="277" r:id="rId21"/>
    <p:sldId id="279" r:id="rId22"/>
    <p:sldId id="296" r:id="rId23"/>
    <p:sldId id="281" r:id="rId24"/>
    <p:sldId id="282" r:id="rId25"/>
    <p:sldId id="283" r:id="rId26"/>
    <p:sldId id="287" r:id="rId27"/>
    <p:sldId id="288" r:id="rId28"/>
    <p:sldId id="293" r:id="rId29"/>
    <p:sldId id="290" r:id="rId30"/>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27" userDrawn="1">
          <p15:clr>
            <a:srgbClr val="A4A3A4"/>
          </p15:clr>
        </p15:guide>
        <p15:guide id="2" pos="391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F7F7F"/>
    <a:srgbClr val="949494"/>
    <a:srgbClr val="F2F2F2"/>
    <a:srgbClr val="9CC5FD"/>
    <a:srgbClr val="3A6695"/>
    <a:srgbClr val="134263"/>
    <a:srgbClr val="1E2B5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144" autoAdjust="0"/>
    <p:restoredTop sz="93906" autoAdjust="0"/>
  </p:normalViewPr>
  <p:slideViewPr>
    <p:cSldViewPr snapToGrid="0" showGuides="1">
      <p:cViewPr varScale="1">
        <p:scale>
          <a:sx n="104" d="100"/>
          <a:sy n="104" d="100"/>
        </p:scale>
        <p:origin x="40" y="164"/>
      </p:cViewPr>
      <p:guideLst>
        <p:guide orient="horz" pos="2227"/>
        <p:guide pos="3916"/>
      </p:guideLst>
    </p:cSldViewPr>
  </p:slideViewPr>
  <p:outlineViewPr>
    <p:cViewPr>
      <p:scale>
        <a:sx n="33" d="100"/>
        <a:sy n="33" d="100"/>
      </p:scale>
      <p:origin x="0" y="0"/>
    </p:cViewPr>
  </p:outlineViewPr>
  <p:notesTextViewPr>
    <p:cViewPr>
      <p:scale>
        <a:sx n="1" d="1"/>
        <a:sy n="1" d="1"/>
      </p:scale>
      <p:origin x="0" y="0"/>
    </p:cViewPr>
  </p:notesTextViewPr>
  <p:sorterViewPr>
    <p:cViewPr>
      <p:scale>
        <a:sx n="50" d="100"/>
        <a:sy n="5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accent1_5#1">
  <dgm:title val=""/>
  <dgm:desc val=""/>
  <dgm:catLst>
    <dgm:cat type="accent1" pri="11500"/>
  </dgm:catLst>
  <dgm:styleLbl name="align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alignNode1">
    <dgm:fillClrLst>
      <a:schemeClr val="accent1">
        <a:alpha val="90000"/>
      </a:schemeClr>
      <a:schemeClr val="accent1">
        <a:alpha val="50000"/>
      </a:schemeClr>
    </dgm:fillClrLst>
    <dgm:linClrLst>
      <a:schemeClr val="accent1">
        <a:alpha val="90000"/>
      </a:schemeClr>
      <a:schemeClr val="accent1">
        <a:alpha val="50000"/>
      </a:schemeClr>
    </dgm:linClrLst>
    <dgm:effectClrLst/>
    <dgm:txLinClrLst/>
    <dgm:txFillClrLst/>
    <dgm:txEffectClrLst/>
  </dgm:styleLbl>
  <dgm:styleLbl name="asst0">
    <dgm:fillClrLst meth="repeat">
      <a:schemeClr val="accent1">
        <a:alpha val="90000"/>
      </a:schemeClr>
    </dgm:fillClrLst>
    <dgm:linClrLst meth="repeat">
      <a:schemeClr val="lt1"/>
    </dgm:linClrLst>
    <dgm:effectClrLst/>
    <dgm:txLinClrLst/>
    <dgm:txFillClrLst/>
    <dgm:txEffectClrLst/>
  </dgm:styleLbl>
  <dgm:styleLbl name="asst1">
    <dgm:fillClrLst meth="repeat">
      <a:schemeClr val="accent1">
        <a:alpha val="90000"/>
      </a:schemeClr>
    </dgm:fillClrLst>
    <dgm:linClrLst meth="repeat">
      <a:schemeClr val="lt1"/>
    </dgm:linClrLst>
    <dgm:effectClrLst/>
    <dgm:txLinClrLst/>
    <dgm:txFillClrLst/>
    <dgm:txEffectClrLst/>
  </dgm:styleLbl>
  <dgm:styleLbl name="asst2">
    <dgm:fillClrLst>
      <a:schemeClr val="accent1">
        <a:alpha val="90000"/>
      </a:schemeClr>
    </dgm:fillClrLst>
    <dgm:linClrLst meth="repeat">
      <a:schemeClr val="lt1"/>
    </dgm:linClrLst>
    <dgm:effectClrLst/>
    <dgm:txLinClrLst/>
    <dgm:txFillClrLst/>
    <dgm:txEffectClrLst/>
  </dgm:styleLbl>
  <dgm:styleLbl name="asst3">
    <dgm:fillClrLst>
      <a:schemeClr val="accent1">
        <a:alpha val="70000"/>
      </a:schemeClr>
    </dgm:fillClrLst>
    <dgm:linClrLst meth="repeat">
      <a:schemeClr val="lt1"/>
    </dgm:linClrLst>
    <dgm:effectClrLst/>
    <dgm:txLinClrLst/>
    <dgm:txFillClrLst/>
    <dgm:txEffectClrLst/>
  </dgm:styleLbl>
  <dgm:styleLbl name="asst4">
    <dgm:fillClrLst>
      <a:schemeClr val="accent1">
        <a:alpha val="50000"/>
      </a:schemeClr>
    </dgm:fillClrLst>
    <dgm:linClrLst meth="repeat">
      <a:schemeClr val="lt1"/>
    </dgm:linClrLst>
    <dgm:effectClrLst/>
    <dgm:txLinClrLst/>
    <dgm:txFillClrLst/>
    <dgm:txEffectClrLst/>
  </dgm:styleLbl>
  <dgm:styleLbl name="b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b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con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fgAccFollowNode1">
    <dgm:fillClrLst>
      <a:schemeClr val="accent1">
        <a:alpha val="90000"/>
        <a:tint val="40000"/>
      </a:schemeClr>
      <a:schemeClr val="accent1">
        <a:alpha val="5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a:schemeClr val="accent1">
        <a:tint val="50000"/>
        <a:alpha val="90000"/>
      </a:schemeClr>
      <a:schemeClr val="accent1">
        <a:tint val="20000"/>
        <a:alpha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f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lnNode1">
    <dgm:fillClrLst>
      <a:schemeClr val="accent1">
        <a:shade val="90000"/>
      </a:schemeClr>
      <a:schemeClr val="accent1">
        <a:alpha val="50000"/>
        <a:tint val="50000"/>
      </a:schemeClr>
    </dgm:fillClrLst>
    <dgm:linClrLst meth="repeat">
      <a:schemeClr val="lt1"/>
    </dgm:linClrLst>
    <dgm:effectClrLst/>
    <dgm:txLinClrLst/>
    <dgm:txFillClrLst/>
    <dgm:txEffectClrLst/>
  </dgm:styleLbl>
  <dgm:styleLbl name="node0">
    <dgm:fillClrLst meth="cycle">
      <a:schemeClr val="accent1">
        <a:alpha val="80000"/>
      </a:schemeClr>
    </dgm:fillClrLst>
    <dgm:linClrLst meth="repeat">
      <a:schemeClr val="lt1"/>
    </dgm:linClrLst>
    <dgm:effectClrLst/>
    <dgm:txLinClrLst/>
    <dgm:txFillClrLst/>
    <dgm:txEffectClrLst/>
  </dgm:styleLbl>
  <dgm:styleLbl name="node1">
    <dgm:fillClrLst>
      <a:schemeClr val="accent1">
        <a:alpha val="90000"/>
      </a:schemeClr>
      <a:schemeClr val="accent1">
        <a:alpha val="50000"/>
      </a:schemeClr>
    </dgm:fillClrLst>
    <dgm:linClrLst meth="repeat">
      <a:schemeClr val="lt1"/>
    </dgm:linClrLst>
    <dgm:effectClrLst/>
    <dgm:txLinClrLst/>
    <dgm:txFillClrLst/>
    <dgm:txEffectClrLst/>
  </dgm:styleLbl>
  <dgm:styleLbl name="node2">
    <dgm:fillClrLst>
      <a:schemeClr val="accent1">
        <a:alpha val="70000"/>
      </a:schemeClr>
    </dgm:fillClrLst>
    <dgm:linClrLst meth="repeat">
      <a:schemeClr val="lt1"/>
    </dgm:linClrLst>
    <dgm:effectClrLst/>
    <dgm:txLinClrLst/>
    <dgm:txFillClrLst/>
    <dgm:txEffectClrLst/>
  </dgm:styleLbl>
  <dgm:styleLbl name="node3">
    <dgm:fillClrLst>
      <a:schemeClr val="accent1">
        <a:alpha val="50000"/>
      </a:schemeClr>
    </dgm:fillClrLst>
    <dgm:linClrLst meth="repeat">
      <a:schemeClr val="lt1"/>
    </dgm:linClrLst>
    <dgm:effectClrLst/>
    <dgm:txLinClrLst/>
    <dgm:txFillClrLst/>
    <dgm:txEffectClrLst/>
  </dgm:styleLbl>
  <dgm:styleLbl name="node4">
    <dgm:fillClrLst>
      <a:schemeClr val="accent1">
        <a:alpha val="30000"/>
      </a:schemeClr>
    </dgm:fillClrLst>
    <dgm:linClrLst meth="repeat">
      <a:schemeClr val="lt1"/>
    </dgm:linClrLst>
    <dgm:effectClrLst/>
    <dgm:txLinClrLst/>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parChTrans2D1">
    <dgm:fillClrLst meth="repeat">
      <a:schemeClr val="accent1">
        <a:shade val="8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meth="repeat">
      <a:schemeClr val="tx1"/>
    </dgm:txFillClrLst>
    <dgm:txEffectClrLst/>
  </dgm:styleLbl>
  <dgm:styleLbl name="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a:schemeClr val="accent1">
        <a:alpha val="90000"/>
      </a:schemeClr>
      <a:schemeClr val="accent1">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a:schemeClr val="accent1">
        <a:shade val="80000"/>
        <a:alpha val="50000"/>
      </a:schemeClr>
      <a:schemeClr val="accent1">
        <a:alpha val="8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A4CA7B40-9EB7-4C77-8556-119F053A3BC1}" type="doc">
      <dgm:prSet loTypeId="urn:microsoft.com/office/officeart/2005/8/layout/process2" loCatId="process" qsTypeId="urn:microsoft.com/office/officeart/2005/8/quickstyle/simple1#1" qsCatId="simple" csTypeId="urn:microsoft.com/office/officeart/2005/8/colors/accent1_5#1" csCatId="accent1" phldr="1"/>
      <dgm:spPr/>
    </dgm:pt>
    <dgm:pt modelId="{7166A9DB-20D7-41DA-B6C7-4E91D46FE0EA}">
      <dgm:prSet phldrT="[文本]" phldr="0" custT="0"/>
      <dgm:spPr/>
      <dgm:t>
        <a:bodyPr vert="horz" wrap="square"/>
        <a:lstStyle/>
        <a:p>
          <a:pPr>
            <a:lnSpc>
              <a:spcPct val="100000"/>
            </a:lnSpc>
            <a:spcBef>
              <a:spcPct val="0"/>
            </a:spcBef>
            <a:spcAft>
              <a:spcPct val="35000"/>
            </a:spcAft>
          </a:pPr>
          <a:r>
            <a:rPr lang="zh-CN" dirty="0">
              <a:latin typeface="微软雅黑" panose="020B0503020204020204" pitchFamily="34" charset="-122"/>
              <a:ea typeface="微软雅黑" panose="020B0503020204020204" pitchFamily="34" charset="-122"/>
              <a:sym typeface="+mn-ea"/>
            </a:rPr>
            <a:t>Linux 用户态</a:t>
          </a:r>
          <a:endParaRPr lang="zh-CN" altLang="en-US" dirty="0"/>
        </a:p>
      </dgm:t>
    </dgm:pt>
    <dgm:pt modelId="{408890A2-EC03-4CB7-8006-30F7A6F0770D}" type="parTrans" cxnId="{13E80D11-766A-46EB-BA13-ED3E2AAD53FA}">
      <dgm:prSet/>
      <dgm:spPr/>
      <dgm:t>
        <a:bodyPr/>
        <a:lstStyle/>
        <a:p>
          <a:endParaRPr lang="zh-CN" altLang="en-US"/>
        </a:p>
      </dgm:t>
    </dgm:pt>
    <dgm:pt modelId="{581D0B67-AC66-4DBF-B99A-8C26BE060068}" type="sibTrans" cxnId="{13E80D11-766A-46EB-BA13-ED3E2AAD53FA}">
      <dgm:prSet/>
      <dgm:spPr/>
      <dgm:t>
        <a:bodyPr/>
        <a:lstStyle/>
        <a:p>
          <a:endParaRPr lang="zh-CN" altLang="en-US"/>
        </a:p>
      </dgm:t>
    </dgm:pt>
    <dgm:pt modelId="{6185F46A-CE7B-4D19-AD38-021F06F11723}">
      <dgm:prSet phldrT="[文本]" phldr="0" custT="0"/>
      <dgm:spPr/>
      <dgm:t>
        <a:bodyPr vert="horz" wrap="square"/>
        <a:lstStyle/>
        <a:p>
          <a:pPr>
            <a:lnSpc>
              <a:spcPct val="100000"/>
            </a:lnSpc>
            <a:spcBef>
              <a:spcPct val="0"/>
            </a:spcBef>
            <a:spcAft>
              <a:spcPct val="35000"/>
            </a:spcAft>
          </a:pPr>
          <a:r>
            <a:rPr lang="zh-CN" dirty="0">
              <a:latin typeface="微软雅黑" panose="020B0503020204020204" pitchFamily="34" charset="-122"/>
              <a:ea typeface="微软雅黑" panose="020B0503020204020204" pitchFamily="34" charset="-122"/>
              <a:sym typeface="+mn-ea"/>
            </a:rPr>
            <a:t>syscall 适配</a:t>
          </a:r>
          <a:endParaRPr lang="zh-CN" altLang="en-US"/>
        </a:p>
      </dgm:t>
    </dgm:pt>
    <dgm:pt modelId="{ED707A62-C95F-489D-A288-204A854541E1}" type="parTrans" cxnId="{243C770F-B836-4879-ABD0-C9E2F54BCF54}">
      <dgm:prSet/>
      <dgm:spPr/>
      <dgm:t>
        <a:bodyPr/>
        <a:lstStyle/>
        <a:p>
          <a:endParaRPr lang="zh-CN" altLang="en-US"/>
        </a:p>
      </dgm:t>
    </dgm:pt>
    <dgm:pt modelId="{209F9C23-F1DF-401B-A4AD-306C9EB4247C}" type="sibTrans" cxnId="{243C770F-B836-4879-ABD0-C9E2F54BCF54}">
      <dgm:prSet/>
      <dgm:spPr/>
      <dgm:t>
        <a:bodyPr/>
        <a:lstStyle/>
        <a:p>
          <a:endParaRPr lang="zh-CN" altLang="en-US"/>
        </a:p>
      </dgm:t>
    </dgm:pt>
    <dgm:pt modelId="{9D4F7890-BC71-471E-AB1B-9F598D752858}">
      <dgm:prSet phldrT="[文本]" phldr="0" custT="0"/>
      <dgm:spPr/>
      <dgm:t>
        <a:bodyPr vert="horz" wrap="square"/>
        <a:lstStyle/>
        <a:p>
          <a:pPr>
            <a:lnSpc>
              <a:spcPct val="100000"/>
            </a:lnSpc>
            <a:spcBef>
              <a:spcPct val="0"/>
            </a:spcBef>
            <a:spcAft>
              <a:spcPct val="35000"/>
            </a:spcAft>
          </a:pPr>
          <a:r>
            <a:rPr lang="zh-CN" dirty="0">
              <a:latin typeface="微软雅黑" panose="020B0503020204020204" pitchFamily="34" charset="-122"/>
              <a:ea typeface="微软雅黑" panose="020B0503020204020204" pitchFamily="34" charset="-122"/>
              <a:sym typeface="+mn-ea"/>
            </a:rPr>
            <a:t>Anemone 核心对象</a:t>
          </a:r>
          <a:endParaRPr lang="zh-CN" altLang="en-US"/>
        </a:p>
      </dgm:t>
    </dgm:pt>
    <dgm:pt modelId="{8A81A9A1-3D17-4B5E-823A-F4C61634A717}" type="parTrans" cxnId="{CF0B19FC-6B35-47BD-86E2-D1F5F6FDA4D9}">
      <dgm:prSet/>
      <dgm:spPr/>
      <dgm:t>
        <a:bodyPr/>
        <a:lstStyle/>
        <a:p>
          <a:endParaRPr lang="zh-CN" altLang="en-US"/>
        </a:p>
      </dgm:t>
    </dgm:pt>
    <dgm:pt modelId="{A02D4AB0-BE01-45C2-BD3E-6766ADB3B021}" type="sibTrans" cxnId="{CF0B19FC-6B35-47BD-86E2-D1F5F6FDA4D9}">
      <dgm:prSet/>
      <dgm:spPr/>
      <dgm:t>
        <a:bodyPr/>
        <a:lstStyle/>
        <a:p>
          <a:endParaRPr lang="zh-CN" altLang="en-US"/>
        </a:p>
      </dgm:t>
    </dgm:pt>
    <dgm:pt modelId="{7E3F7EC5-1729-4088-BB09-36E02E33A0BF}" type="pres">
      <dgm:prSet presAssocID="{A4CA7B40-9EB7-4C77-8556-119F053A3BC1}" presName="linearFlow" presStyleCnt="0">
        <dgm:presLayoutVars>
          <dgm:resizeHandles val="exact"/>
        </dgm:presLayoutVars>
      </dgm:prSet>
      <dgm:spPr/>
    </dgm:pt>
    <dgm:pt modelId="{E17E57AF-0587-449A-A755-B1B96DEF2BD2}" type="pres">
      <dgm:prSet presAssocID="{7166A9DB-20D7-41DA-B6C7-4E91D46FE0EA}" presName="node" presStyleLbl="node1" presStyleIdx="0" presStyleCnt="3">
        <dgm:presLayoutVars>
          <dgm:bulletEnabled val="1"/>
        </dgm:presLayoutVars>
      </dgm:prSet>
      <dgm:spPr/>
    </dgm:pt>
    <dgm:pt modelId="{11477A19-6F59-488F-BD44-5E3FBE8E3386}" type="pres">
      <dgm:prSet presAssocID="{581D0B67-AC66-4DBF-B99A-8C26BE060068}" presName="sibTrans" presStyleLbl="sibTrans2D1" presStyleIdx="0" presStyleCnt="2"/>
      <dgm:spPr/>
    </dgm:pt>
    <dgm:pt modelId="{1FA9844B-FD2C-4DAF-BE12-A8E3C3B7E384}" type="pres">
      <dgm:prSet presAssocID="{581D0B67-AC66-4DBF-B99A-8C26BE060068}" presName="connectorText" presStyleLbl="sibTrans2D1" presStyleIdx="0" presStyleCnt="2"/>
      <dgm:spPr/>
    </dgm:pt>
    <dgm:pt modelId="{353C71C7-5E8B-4565-86BF-B755B524B25E}" type="pres">
      <dgm:prSet presAssocID="{6185F46A-CE7B-4D19-AD38-021F06F11723}" presName="node" presStyleLbl="node1" presStyleIdx="1" presStyleCnt="3">
        <dgm:presLayoutVars>
          <dgm:bulletEnabled val="1"/>
        </dgm:presLayoutVars>
      </dgm:prSet>
      <dgm:spPr/>
    </dgm:pt>
    <dgm:pt modelId="{06ECC167-6368-4F79-84C6-65D90B9BC4A6}" type="pres">
      <dgm:prSet presAssocID="{209F9C23-F1DF-401B-A4AD-306C9EB4247C}" presName="sibTrans" presStyleLbl="sibTrans2D1" presStyleIdx="1" presStyleCnt="2"/>
      <dgm:spPr/>
    </dgm:pt>
    <dgm:pt modelId="{1AF533A8-48F1-4B19-9CD9-5A2DB7199B85}" type="pres">
      <dgm:prSet presAssocID="{209F9C23-F1DF-401B-A4AD-306C9EB4247C}" presName="connectorText" presStyleLbl="sibTrans2D1" presStyleIdx="1" presStyleCnt="2"/>
      <dgm:spPr/>
    </dgm:pt>
    <dgm:pt modelId="{93DEFB83-998E-4F52-9267-01422D869D93}" type="pres">
      <dgm:prSet presAssocID="{9D4F7890-BC71-471E-AB1B-9F598D752858}" presName="node" presStyleLbl="node1" presStyleIdx="2" presStyleCnt="3">
        <dgm:presLayoutVars>
          <dgm:bulletEnabled val="1"/>
        </dgm:presLayoutVars>
      </dgm:prSet>
      <dgm:spPr/>
    </dgm:pt>
  </dgm:ptLst>
  <dgm:cxnLst>
    <dgm:cxn modelId="{397EC40A-FA9A-4774-902D-9F2E8A7AD38C}" type="presOf" srcId="{A4CA7B40-9EB7-4C77-8556-119F053A3BC1}" destId="{7E3F7EC5-1729-4088-BB09-36E02E33A0BF}" srcOrd="0" destOrd="0" presId="urn:microsoft.com/office/officeart/2005/8/layout/process2"/>
    <dgm:cxn modelId="{243C770F-B836-4879-ABD0-C9E2F54BCF54}" srcId="{A4CA7B40-9EB7-4C77-8556-119F053A3BC1}" destId="{6185F46A-CE7B-4D19-AD38-021F06F11723}" srcOrd="1" destOrd="0" parTransId="{ED707A62-C95F-489D-A288-204A854541E1}" sibTransId="{209F9C23-F1DF-401B-A4AD-306C9EB4247C}"/>
    <dgm:cxn modelId="{13E80D11-766A-46EB-BA13-ED3E2AAD53FA}" srcId="{A4CA7B40-9EB7-4C77-8556-119F053A3BC1}" destId="{7166A9DB-20D7-41DA-B6C7-4E91D46FE0EA}" srcOrd="0" destOrd="0" parTransId="{408890A2-EC03-4CB7-8006-30F7A6F0770D}" sibTransId="{581D0B67-AC66-4DBF-B99A-8C26BE060068}"/>
    <dgm:cxn modelId="{5302A166-C269-4F63-8F72-C987FE84B6D5}" type="presOf" srcId="{581D0B67-AC66-4DBF-B99A-8C26BE060068}" destId="{1FA9844B-FD2C-4DAF-BE12-A8E3C3B7E384}" srcOrd="1" destOrd="0" presId="urn:microsoft.com/office/officeart/2005/8/layout/process2"/>
    <dgm:cxn modelId="{4C7E8C70-C13B-4D3D-B127-7C2501084E0B}" type="presOf" srcId="{6185F46A-CE7B-4D19-AD38-021F06F11723}" destId="{353C71C7-5E8B-4565-86BF-B755B524B25E}" srcOrd="0" destOrd="0" presId="urn:microsoft.com/office/officeart/2005/8/layout/process2"/>
    <dgm:cxn modelId="{C56F1989-4657-40D5-938D-2105B4B6BB8B}" type="presOf" srcId="{209F9C23-F1DF-401B-A4AD-306C9EB4247C}" destId="{06ECC167-6368-4F79-84C6-65D90B9BC4A6}" srcOrd="0" destOrd="0" presId="urn:microsoft.com/office/officeart/2005/8/layout/process2"/>
    <dgm:cxn modelId="{AAF719A9-0BA9-4781-AE53-03C8E3AC31E5}" type="presOf" srcId="{209F9C23-F1DF-401B-A4AD-306C9EB4247C}" destId="{1AF533A8-48F1-4B19-9CD9-5A2DB7199B85}" srcOrd="1" destOrd="0" presId="urn:microsoft.com/office/officeart/2005/8/layout/process2"/>
    <dgm:cxn modelId="{BDDC4CAA-6C8F-450E-9CAD-DED36AFEF6EA}" type="presOf" srcId="{7166A9DB-20D7-41DA-B6C7-4E91D46FE0EA}" destId="{E17E57AF-0587-449A-A755-B1B96DEF2BD2}" srcOrd="0" destOrd="0" presId="urn:microsoft.com/office/officeart/2005/8/layout/process2"/>
    <dgm:cxn modelId="{308B74B6-8C27-45C6-A97D-9A018E824C9A}" type="presOf" srcId="{581D0B67-AC66-4DBF-B99A-8C26BE060068}" destId="{11477A19-6F59-488F-BD44-5E3FBE8E3386}" srcOrd="0" destOrd="0" presId="urn:microsoft.com/office/officeart/2005/8/layout/process2"/>
    <dgm:cxn modelId="{4749F7E0-B0AD-4A61-8EF1-DB8F1C8B8E57}" type="presOf" srcId="{9D4F7890-BC71-471E-AB1B-9F598D752858}" destId="{93DEFB83-998E-4F52-9267-01422D869D93}" srcOrd="0" destOrd="0" presId="urn:microsoft.com/office/officeart/2005/8/layout/process2"/>
    <dgm:cxn modelId="{CF0B19FC-6B35-47BD-86E2-D1F5F6FDA4D9}" srcId="{A4CA7B40-9EB7-4C77-8556-119F053A3BC1}" destId="{9D4F7890-BC71-471E-AB1B-9F598D752858}" srcOrd="2" destOrd="0" parTransId="{8A81A9A1-3D17-4B5E-823A-F4C61634A717}" sibTransId="{A02D4AB0-BE01-45C2-BD3E-6766ADB3B021}"/>
    <dgm:cxn modelId="{7D19605F-024C-451E-B59B-881F14EA43C2}" type="presParOf" srcId="{7E3F7EC5-1729-4088-BB09-36E02E33A0BF}" destId="{E17E57AF-0587-449A-A755-B1B96DEF2BD2}" srcOrd="0" destOrd="0" presId="urn:microsoft.com/office/officeart/2005/8/layout/process2"/>
    <dgm:cxn modelId="{3AA5064D-14B3-4AA8-BD31-A9E4F2E23136}" type="presParOf" srcId="{7E3F7EC5-1729-4088-BB09-36E02E33A0BF}" destId="{11477A19-6F59-488F-BD44-5E3FBE8E3386}" srcOrd="1" destOrd="0" presId="urn:microsoft.com/office/officeart/2005/8/layout/process2"/>
    <dgm:cxn modelId="{D4022FD0-0F8C-4DC3-BA25-1541D60C634F}" type="presParOf" srcId="{11477A19-6F59-488F-BD44-5E3FBE8E3386}" destId="{1FA9844B-FD2C-4DAF-BE12-A8E3C3B7E384}" srcOrd="0" destOrd="0" presId="urn:microsoft.com/office/officeart/2005/8/layout/process2"/>
    <dgm:cxn modelId="{2DB649E8-30E2-44EA-99DE-53A039066634}" type="presParOf" srcId="{7E3F7EC5-1729-4088-BB09-36E02E33A0BF}" destId="{353C71C7-5E8B-4565-86BF-B755B524B25E}" srcOrd="2" destOrd="0" presId="urn:microsoft.com/office/officeart/2005/8/layout/process2"/>
    <dgm:cxn modelId="{A3591B20-3653-4157-83E1-5964FF547960}" type="presParOf" srcId="{7E3F7EC5-1729-4088-BB09-36E02E33A0BF}" destId="{06ECC167-6368-4F79-84C6-65D90B9BC4A6}" srcOrd="3" destOrd="0" presId="urn:microsoft.com/office/officeart/2005/8/layout/process2"/>
    <dgm:cxn modelId="{A091C5A3-AC92-4E0F-9BBC-E5157FA0564B}" type="presParOf" srcId="{06ECC167-6368-4F79-84C6-65D90B9BC4A6}" destId="{1AF533A8-48F1-4B19-9CD9-5A2DB7199B85}" srcOrd="0" destOrd="0" presId="urn:microsoft.com/office/officeart/2005/8/layout/process2"/>
    <dgm:cxn modelId="{A1B29D4E-2AD9-4199-925A-BF19E0B315E5}" type="presParOf" srcId="{7E3F7EC5-1729-4088-BB09-36E02E33A0BF}" destId="{93DEFB83-998E-4F52-9267-01422D869D93}" srcOrd="4" destOrd="0" presId="urn:microsoft.com/office/officeart/2005/8/layout/process2"/>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7E57AF-0587-449A-A755-B1B96DEF2BD2}">
      <dsp:nvSpPr>
        <dsp:cNvPr id="0" name=""/>
        <dsp:cNvSpPr/>
      </dsp:nvSpPr>
      <dsp:spPr>
        <a:xfrm>
          <a:off x="405606" y="0"/>
          <a:ext cx="2185987" cy="1214437"/>
        </a:xfrm>
        <a:prstGeom prst="roundRect">
          <a:avLst>
            <a:gd name="adj" fmla="val 10000"/>
          </a:avLst>
        </a:prstGeom>
        <a:solidFill>
          <a:schemeClr val="accent1">
            <a:alpha val="9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100000"/>
            </a:lnSpc>
            <a:spcBef>
              <a:spcPct val="0"/>
            </a:spcBef>
            <a:spcAft>
              <a:spcPct val="35000"/>
            </a:spcAft>
            <a:buNone/>
          </a:pPr>
          <a:r>
            <a:rPr lang="zh-CN" sz="2200" kern="1200" dirty="0">
              <a:latin typeface="微软雅黑" panose="020B0503020204020204" pitchFamily="34" charset="-122"/>
              <a:ea typeface="微软雅黑" panose="020B0503020204020204" pitchFamily="34" charset="-122"/>
              <a:sym typeface="+mn-ea"/>
            </a:rPr>
            <a:t>Linux 用户态</a:t>
          </a:r>
          <a:endParaRPr lang="zh-CN" altLang="en-US" sz="2200" kern="1200" dirty="0"/>
        </a:p>
      </dsp:txBody>
      <dsp:txXfrm>
        <a:off x="441176" y="35570"/>
        <a:ext cx="2114847" cy="1143297"/>
      </dsp:txXfrm>
    </dsp:sp>
    <dsp:sp modelId="{11477A19-6F59-488F-BD44-5E3FBE8E3386}">
      <dsp:nvSpPr>
        <dsp:cNvPr id="0" name=""/>
        <dsp:cNvSpPr/>
      </dsp:nvSpPr>
      <dsp:spPr>
        <a:xfrm rot="5400000">
          <a:off x="1270892" y="1244798"/>
          <a:ext cx="455414" cy="546496"/>
        </a:xfrm>
        <a:prstGeom prst="rightArrow">
          <a:avLst>
            <a:gd name="adj1" fmla="val 60000"/>
            <a:gd name="adj2" fmla="val 50000"/>
          </a:avLst>
        </a:prstGeom>
        <a:solidFill>
          <a:schemeClr val="accent1">
            <a:shade val="9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rot="-5400000">
        <a:off x="1334650" y="1290339"/>
        <a:ext cx="327898" cy="318790"/>
      </dsp:txXfrm>
    </dsp:sp>
    <dsp:sp modelId="{353C71C7-5E8B-4565-86BF-B755B524B25E}">
      <dsp:nvSpPr>
        <dsp:cNvPr id="0" name=""/>
        <dsp:cNvSpPr/>
      </dsp:nvSpPr>
      <dsp:spPr>
        <a:xfrm>
          <a:off x="405606" y="1821656"/>
          <a:ext cx="2185987" cy="1214437"/>
        </a:xfrm>
        <a:prstGeom prst="roundRect">
          <a:avLst>
            <a:gd name="adj" fmla="val 10000"/>
          </a:avLst>
        </a:prstGeom>
        <a:solidFill>
          <a:schemeClr val="accent1">
            <a:alpha val="90000"/>
            <a:hueOff val="0"/>
            <a:satOff val="0"/>
            <a:lumOff val="0"/>
            <a:alphaOff val="-2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100000"/>
            </a:lnSpc>
            <a:spcBef>
              <a:spcPct val="0"/>
            </a:spcBef>
            <a:spcAft>
              <a:spcPct val="35000"/>
            </a:spcAft>
            <a:buNone/>
          </a:pPr>
          <a:r>
            <a:rPr lang="zh-CN" sz="2200" kern="1200" dirty="0">
              <a:latin typeface="微软雅黑" panose="020B0503020204020204" pitchFamily="34" charset="-122"/>
              <a:ea typeface="微软雅黑" panose="020B0503020204020204" pitchFamily="34" charset="-122"/>
              <a:sym typeface="+mn-ea"/>
            </a:rPr>
            <a:t>syscall 适配</a:t>
          </a:r>
          <a:endParaRPr lang="zh-CN" altLang="en-US" sz="2200" kern="1200"/>
        </a:p>
      </dsp:txBody>
      <dsp:txXfrm>
        <a:off x="441176" y="1857226"/>
        <a:ext cx="2114847" cy="1143297"/>
      </dsp:txXfrm>
    </dsp:sp>
    <dsp:sp modelId="{06ECC167-6368-4F79-84C6-65D90B9BC4A6}">
      <dsp:nvSpPr>
        <dsp:cNvPr id="0" name=""/>
        <dsp:cNvSpPr/>
      </dsp:nvSpPr>
      <dsp:spPr>
        <a:xfrm rot="5400000">
          <a:off x="1270892" y="3066454"/>
          <a:ext cx="455414" cy="546496"/>
        </a:xfrm>
        <a:prstGeom prst="rightArrow">
          <a:avLst>
            <a:gd name="adj1" fmla="val 60000"/>
            <a:gd name="adj2" fmla="val 50000"/>
          </a:avLst>
        </a:prstGeom>
        <a:solidFill>
          <a:schemeClr val="accent1">
            <a:shade val="90000"/>
            <a:hueOff val="423159"/>
            <a:satOff val="-21413"/>
            <a:lumOff val="3682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rot="-5400000">
        <a:off x="1334650" y="3111995"/>
        <a:ext cx="327898" cy="318790"/>
      </dsp:txXfrm>
    </dsp:sp>
    <dsp:sp modelId="{93DEFB83-998E-4F52-9267-01422D869D93}">
      <dsp:nvSpPr>
        <dsp:cNvPr id="0" name=""/>
        <dsp:cNvSpPr/>
      </dsp:nvSpPr>
      <dsp:spPr>
        <a:xfrm>
          <a:off x="405606" y="3643312"/>
          <a:ext cx="2185987" cy="1214437"/>
        </a:xfrm>
        <a:prstGeom prst="roundRect">
          <a:avLst>
            <a:gd name="adj" fmla="val 10000"/>
          </a:avLst>
        </a:prstGeom>
        <a:solidFill>
          <a:schemeClr val="accent1">
            <a:alpha val="90000"/>
            <a:hueOff val="0"/>
            <a:satOff val="0"/>
            <a:lumOff val="0"/>
            <a:alpha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100000"/>
            </a:lnSpc>
            <a:spcBef>
              <a:spcPct val="0"/>
            </a:spcBef>
            <a:spcAft>
              <a:spcPct val="35000"/>
            </a:spcAft>
            <a:buNone/>
          </a:pPr>
          <a:r>
            <a:rPr lang="zh-CN" sz="2200" kern="1200" dirty="0">
              <a:latin typeface="微软雅黑" panose="020B0503020204020204" pitchFamily="34" charset="-122"/>
              <a:ea typeface="微软雅黑" panose="020B0503020204020204" pitchFamily="34" charset="-122"/>
              <a:sym typeface="+mn-ea"/>
            </a:rPr>
            <a:t>Anemone 核心对象</a:t>
          </a:r>
          <a:endParaRPr lang="zh-CN" altLang="en-US" sz="2200" kern="1200"/>
        </a:p>
      </dsp:txBody>
      <dsp:txXfrm>
        <a:off x="441176" y="3678882"/>
        <a:ext cx="2114847" cy="1143297"/>
      </dsp:txXfrm>
    </dsp:sp>
  </dsp:spTree>
</dsp:drawing>
</file>

<file path=ppt/diagrams/layout1.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1">
              <a:rPr lang="zh-CN" altLang="en-US" smtClean="0"/>
              <a:t>2026/8/17</a:t>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7CE4261-0CDD-45A3-84C2-311859DE5B03}" type="datetime1">
              <a:rPr lang="zh-CN" altLang="en-US" smtClean="0"/>
              <a:t>2026/8/17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F711DA-82CB-44C8-99EC-9CE596A896FB}" type="slidenum">
              <a:rPr lang="zh-CN" altLang="en-US" smtClean="0"/>
              <a:t>‹#›</a:t>
            </a:fld>
            <a:endParaRPr lang="zh-CN" alt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b="0" i="0" kern="1200" dirty="0">
                <a:solidFill>
                  <a:schemeClr val="tx1"/>
                </a:solidFill>
                <a:effectLst/>
                <a:latin typeface="+mn-lt"/>
                <a:ea typeface="+mn-ea"/>
                <a:cs typeface="+mn-cs"/>
              </a:rPr>
              <a:t>各位评委老师好，我们是哈尔滨工业大学（深圳）的异世界电子开发部。下面由我们介绍使用 Rust 从零开发的多架构、多核、可动态扩展宏内核 Anemone。</a:t>
            </a:r>
            <a:endParaRPr lang="zh-CN"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b="0" i="0" kern="1200" dirty="0">
                <a:solidFill>
                  <a:schemeClr val="tx1"/>
                </a:solidFill>
                <a:effectLst/>
                <a:latin typeface="+mn-lt"/>
                <a:ea typeface="+mn-ea"/>
                <a:cs typeface="+mn-cs"/>
              </a:rPr>
              <a:t>首先汇报比赛结果。截至 8 月 17 日 13 点，Anemone 已经通过全部决赛测例，当前总分为 690.2 分。</a:t>
            </a:r>
            <a:endParaRPr lang="zh-CN"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b="0" i="0" kern="1200" dirty="0">
                <a:solidFill>
                  <a:schemeClr val="tx1"/>
                </a:solidFill>
                <a:effectLst/>
                <a:latin typeface="+mn-lt"/>
                <a:ea typeface="+mn-ea"/>
                <a:cs typeface="+mn-cs"/>
              </a:rPr>
              <a:t>我们目前的内核一共约十九万行 Rust 代码，累计一千二百四十二次提交。</a:t>
            </a:r>
            <a:endParaRPr lang="zh-CN"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b="0" i="0" kern="1200" dirty="0">
                <a:solidFill>
                  <a:schemeClr val="tx1"/>
                </a:solidFill>
                <a:effectLst/>
                <a:latin typeface="+mn-lt"/>
                <a:ea typeface="+mn-ea"/>
                <a:cs typeface="+mn-cs"/>
              </a:rPr>
              <a:t>这是 Anemone 的整体架构。最上层承载 Linux 应用；中间是 Linux ABI 边界、动态扩展层和各个核心子系统；底部通过统一硬件抽象同时支持 RISC-V64 与 LoongArch64。</a:t>
            </a:r>
            <a:endParaRPr lang="zh-CN"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sz="1200" b="0" i="0" kern="1200" dirty="0">
                <a:solidFill>
                  <a:schemeClr val="tx1"/>
                </a:solidFill>
                <a:effectLst/>
                <a:latin typeface="+mn-lt"/>
                <a:ea typeface="+mn-ea"/>
                <a:cs typeface="+mn-cs"/>
              </a:rPr>
              <a:t>【】</a:t>
            </a:r>
            <a:r>
              <a:rPr lang="zh-CN" altLang="zh-CN" sz="1200" b="0" i="0" kern="1200" dirty="0">
                <a:solidFill>
                  <a:schemeClr val="tx1"/>
                </a:solidFill>
                <a:effectLst/>
                <a:latin typeface="+mn-lt"/>
                <a:ea typeface="+mn-ea"/>
                <a:cs typeface="+mn-cs"/>
              </a:rPr>
              <a:t>八个月内，我们完成了现代宏内核的主要能力域：进程与多类调度、虚拟内存、VFS、设备驱动、网络、双架构支持，以及统一构建系统。</a:t>
            </a:r>
            <a:endParaRPr lang="zh-CN"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altLang="zh-CN" dirty="0"/>
              <a:t>【】</a:t>
            </a:r>
            <a:r>
              <a:rPr lang="zh-CN" altLang="en-US" dirty="0"/>
              <a:t>我们的内核已经可以运行 </a:t>
            </a:r>
            <a:r>
              <a:rPr lang="en-US" altLang="zh-CN" dirty="0"/>
              <a:t>OpenJDK 25</a:t>
            </a:r>
            <a:r>
              <a:rPr lang="zh-CN" altLang="en-US" dirty="0"/>
              <a:t>，并启动 </a:t>
            </a:r>
            <a:r>
              <a:rPr lang="en-US" altLang="zh-CN" dirty="0"/>
              <a:t>Minecraft </a:t>
            </a:r>
            <a:r>
              <a:rPr lang="zh-CN" altLang="en-US" dirty="0"/>
              <a:t>服务器；</a:t>
            </a:r>
            <a:r>
              <a:rPr lang="en-US" altLang="zh-CN" dirty="0"/>
              <a:t>Minecraft</a:t>
            </a:r>
            <a:r>
              <a:rPr lang="zh-CN" altLang="en-US" dirty="0"/>
              <a:t>是一个对系统有较高要求的大型游行</a:t>
            </a:r>
            <a:r>
              <a:rPr lang="en-US" altLang="zh-CN" dirty="0"/>
              <a:t>。</a:t>
            </a:r>
            <a:r>
              <a:rPr lang="zh-CN" altLang="en-US" dirty="0"/>
              <a:t>我们还可以使用 </a:t>
            </a:r>
            <a:r>
              <a:rPr lang="en-US" altLang="zh-CN" dirty="0"/>
              <a:t>Cargo </a:t>
            </a:r>
            <a:r>
              <a:rPr lang="zh-CN" altLang="en-US" dirty="0"/>
              <a:t>和 </a:t>
            </a:r>
            <a:r>
              <a:rPr lang="en-US" altLang="zh-CN" dirty="0" err="1"/>
              <a:t>RustC</a:t>
            </a:r>
            <a:r>
              <a:rPr lang="en-US" altLang="zh-CN" dirty="0"/>
              <a:t> </a:t>
            </a:r>
            <a:r>
              <a:rPr lang="zh-CN" altLang="en-US" dirty="0"/>
              <a:t>编译大型项目；也支持 </a:t>
            </a:r>
            <a:r>
              <a:rPr lang="en-US" altLang="zh-CN" dirty="0"/>
              <a:t>apt</a:t>
            </a:r>
            <a:r>
              <a:rPr lang="zh-CN" altLang="en-US" dirty="0"/>
              <a:t>、</a:t>
            </a:r>
            <a:r>
              <a:rPr lang="en-US" altLang="zh-CN" dirty="0"/>
              <a:t>Git</a:t>
            </a:r>
            <a:r>
              <a:rPr lang="zh-CN" altLang="en-US" dirty="0"/>
              <a:t>、</a:t>
            </a:r>
            <a:r>
              <a:rPr lang="en-US" altLang="zh-CN" dirty="0"/>
              <a:t>Nginx</a:t>
            </a:r>
            <a:r>
              <a:rPr lang="zh-CN" altLang="en-US" dirty="0"/>
              <a:t>、</a:t>
            </a:r>
            <a:r>
              <a:rPr lang="en-US" altLang="zh-CN" dirty="0"/>
              <a:t>SSH</a:t>
            </a:r>
            <a:r>
              <a:rPr lang="zh-CN" altLang="en-US" dirty="0"/>
              <a:t>、</a:t>
            </a:r>
            <a:r>
              <a:rPr lang="en-US" altLang="zh-CN" dirty="0"/>
              <a:t>Golang</a:t>
            </a:r>
            <a:r>
              <a:rPr lang="zh-CN" altLang="en-US" dirty="0"/>
              <a:t>，甚至能够在 </a:t>
            </a:r>
            <a:r>
              <a:rPr lang="en-US" altLang="zh-CN" dirty="0"/>
              <a:t>QEMU </a:t>
            </a:r>
            <a:r>
              <a:rPr lang="zh-CN" altLang="en-US" dirty="0"/>
              <a:t>中嵌套启动另一个我们的内核。</a:t>
            </a:r>
            <a:endParaRPr lang="zh-CN"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sz="1200" b="0" i="0" kern="1200" dirty="0">
                <a:solidFill>
                  <a:schemeClr val="tx1"/>
                </a:solidFill>
                <a:effectLst/>
                <a:latin typeface="+mn-lt"/>
                <a:ea typeface="+mn-ea"/>
                <a:cs typeface="+mn-cs"/>
              </a:rPr>
              <a:t>【】</a:t>
            </a:r>
            <a:r>
              <a:rPr lang="zh-CN" altLang="zh-CN" sz="1200" b="0" i="0" kern="1200" dirty="0">
                <a:solidFill>
                  <a:schemeClr val="tx1"/>
                </a:solidFill>
                <a:effectLst/>
                <a:latin typeface="+mn-lt"/>
                <a:ea typeface="+mn-ea"/>
                <a:cs typeface="+mn-cs"/>
              </a:rPr>
              <a:t>这里展示的是 Minecraft 服务器的一次真实启动日志。</a:t>
            </a:r>
            <a:endParaRPr lang="zh-CN"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sz="1200" b="0" i="0" kern="1200" dirty="0">
                <a:solidFill>
                  <a:schemeClr val="tx1"/>
                </a:solidFill>
                <a:effectLst/>
                <a:latin typeface="+mn-lt"/>
                <a:ea typeface="+mn-ea"/>
                <a:cs typeface="+mn-cs"/>
              </a:rPr>
              <a:t>【】</a:t>
            </a:r>
            <a:r>
              <a:rPr lang="zh-CN" altLang="zh-CN" sz="1200" b="0" i="0" kern="1200" dirty="0">
                <a:solidFill>
                  <a:schemeClr val="tx1"/>
                </a:solidFill>
                <a:effectLst/>
                <a:latin typeface="+mn-lt"/>
                <a:ea typeface="+mn-ea"/>
                <a:cs typeface="+mn-cs"/>
              </a:rPr>
              <a:t>回顾开发过程，前两个月我们确定 Rust 内核与 Linux ABI 边界；三到五月完成进程、调度、内存、VFS 和设备模型；六月通过全部初赛测例；决赛阶段则集中补齐复杂 Linux 语义、网络、真实硬件和 BuildStorm、Cagent 负载。</a:t>
            </a:r>
            <a:endParaRPr lang="zh-CN"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b="0" i="0" kern="1200" dirty="0">
                <a:solidFill>
                  <a:schemeClr val="tx1"/>
                </a:solidFill>
                <a:effectLst/>
                <a:latin typeface="+mn-lt"/>
                <a:ea typeface="+mn-ea"/>
                <a:cs typeface="+mn-cs"/>
              </a:rPr>
              <a:t>贯穿这些工作的设计主线可以概括为三个词：边界、契约和所有权。</a:t>
            </a:r>
            <a:endParaRPr lang="zh-CN"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b="0" i="0" kern="1200" dirty="0">
                <a:solidFill>
                  <a:schemeClr val="tx1"/>
                </a:solidFill>
                <a:effectLst/>
                <a:latin typeface="+mn-lt"/>
                <a:ea typeface="+mn-ea"/>
                <a:cs typeface="+mn-cs"/>
              </a:rPr>
              <a:t>我们兼容 Linux，但没有复制 Linux 的内部结构。Linux ABI 只停留在系统调用和用户可见协议的边界；进入内核以后，进程、文件、地址空间和设备都按照 Rust 的所有权重新设计。这样既能运行现有 Linux 软件，也能减少历史结构对新内核的束缚，让问题更容易定位，让系统更容易持续演进。</a:t>
            </a:r>
            <a:endParaRPr lang="zh-CN"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b="0" i="0" kern="1200" dirty="0">
                <a:solidFill>
                  <a:schemeClr val="tx1"/>
                </a:solidFill>
                <a:effectLst/>
                <a:latin typeface="+mn-lt"/>
                <a:ea typeface="+mn-ea"/>
                <a:cs typeface="+mn-cs"/>
              </a:rPr>
              <a:t>具体来说，系统调用层负责 errno、flag 和结构体布局等外部语义；核心对象只负责内核自身的不变量。兼容逻辑被隔离在边界后，我们既能解释用户最终看到的行为，也能在不破坏 ABI 的前提下重构内部实现。</a:t>
            </a:r>
            <a:endParaRPr lang="zh-CN"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b="0" i="0" kern="1200" dirty="0">
                <a:solidFill>
                  <a:schemeClr val="tx1"/>
                </a:solidFill>
                <a:effectLst/>
                <a:latin typeface="+mn-lt"/>
                <a:ea typeface="+mn-ea"/>
                <a:cs typeface="+mn-cs"/>
              </a:rPr>
              <a:t>这张图展示了</a:t>
            </a:r>
            <a:r>
              <a:rPr lang="zh-CN" altLang="en-US" sz="1200" b="0" i="0" kern="1200" dirty="0">
                <a:solidFill>
                  <a:schemeClr val="tx1"/>
                </a:solidFill>
                <a:effectLst/>
                <a:latin typeface="+mn-lt"/>
                <a:ea typeface="+mn-ea"/>
                <a:cs typeface="+mn-cs"/>
              </a:rPr>
              <a:t>我们的设计思路</a:t>
            </a:r>
            <a:r>
              <a:rPr lang="zh-CN" altLang="zh-CN" sz="1200" b="0" i="0" kern="1200" dirty="0">
                <a:solidFill>
                  <a:schemeClr val="tx1"/>
                </a:solidFill>
                <a:effectLst/>
                <a:latin typeface="+mn-lt"/>
                <a:ea typeface="+mn-ea"/>
                <a:cs typeface="+mn-cs"/>
              </a:rPr>
              <a:t>：Linux 用户态参数在 syscall 适配层被转换为 Anemone 的原生能力，后续路径不再依赖 Linux 的内部对象形态。</a:t>
            </a:r>
            <a:endParaRPr lang="zh-CN"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b="0" i="0" kern="1200" dirty="0">
                <a:solidFill>
                  <a:schemeClr val="tx1"/>
                </a:solidFill>
                <a:effectLst/>
                <a:latin typeface="+mn-lt"/>
                <a:ea typeface="+mn-ea"/>
                <a:cs typeface="+mn-cs"/>
              </a:rPr>
              <a:t>下面选择几个有代表性的核心机制进行介绍。</a:t>
            </a:r>
            <a:endParaRPr lang="zh-CN"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b="0" i="0" kern="1200" dirty="0">
                <a:solidFill>
                  <a:schemeClr val="tx1"/>
                </a:solidFill>
                <a:effectLst/>
                <a:latin typeface="+mn-lt"/>
                <a:ea typeface="+mn-ea"/>
                <a:cs typeface="+mn-cs"/>
              </a:rPr>
              <a:t>首先是我们自主设计的 Nemophila。它使用 WebAssembly 承载内核扩展，以明确、受约束的宿主接口控制模块能力，并由统一沙箱运行时管理装载、调用、故障隔离、卸载和重新装载</a:t>
            </a:r>
            <a:r>
              <a:rPr lang="en-US" altLang="zh-CN" sz="1200" b="0" i="0" kern="1200" dirty="0">
                <a:solidFill>
                  <a:schemeClr val="tx1"/>
                </a:solidFill>
                <a:effectLst/>
                <a:latin typeface="+mn-lt"/>
                <a:ea typeface="+mn-ea"/>
                <a:cs typeface="+mn-cs"/>
              </a:rPr>
              <a:t>。</a:t>
            </a:r>
            <a:r>
              <a:rPr lang="zh-CN" altLang="zh-CN" sz="1200" b="0" i="0" kern="1200" dirty="0">
                <a:solidFill>
                  <a:schemeClr val="tx1"/>
                </a:solidFill>
                <a:effectLst/>
                <a:latin typeface="+mn-lt"/>
                <a:ea typeface="+mn-ea"/>
                <a:cs typeface="+mn-cs"/>
              </a:rPr>
              <a:t>更重要的是，同一份 WebAssembly 制品可以直接装载到 RISC-V64 和 LoongArch64 内核中。这样</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我们的内核就具备了动态扩展的能力</a:t>
            </a:r>
            <a:r>
              <a:rPr lang="en-US" altLang="zh-CN" sz="1200" b="0" i="0" kern="1200" dirty="0">
                <a:solidFill>
                  <a:schemeClr val="tx1"/>
                </a:solidFill>
                <a:effectLst/>
                <a:latin typeface="+mn-lt"/>
                <a:ea typeface="+mn-ea"/>
                <a:cs typeface="+mn-cs"/>
              </a:rPr>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b="0" i="0" kern="1200" dirty="0">
                <a:solidFill>
                  <a:schemeClr val="tx1"/>
                </a:solidFill>
                <a:effectLst/>
                <a:latin typeface="+mn-lt"/>
                <a:ea typeface="+mn-ea"/>
                <a:cs typeface="+mn-cs"/>
              </a:rPr>
              <a:t>进程管理中，任务自身信息保留在任务对象里，线程组、进程组和会话关系由统一拓扑维护，从而避免并发发布时出现互相矛盾的状态。在这套模型上，我们实现了 Unix 作业控制，能够支持 Shell 的前后台切换、信号转发等复杂操作。</a:t>
            </a:r>
            <a:endParaRPr lang="zh-CN"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调度方面，</a:t>
            </a:r>
            <a:r>
              <a:rPr lang="en-US" altLang="zh-CN" dirty="0"/>
              <a:t>Anemone </a:t>
            </a:r>
            <a:r>
              <a:rPr lang="zh-CN" altLang="en-US" dirty="0"/>
              <a:t>同时具备公平、实时和空闲调度类，并允许任务动态切换策略。等待与唤醒则由几种职责明确的同步原语组合完成。这样，调度策略可以演进</a:t>
            </a:r>
            <a:endParaRPr lang="zh-CN"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内存管理借鉴 微内核 </a:t>
            </a:r>
            <a:r>
              <a:rPr lang="en-US" altLang="zh-CN" dirty="0"/>
              <a:t>Zircon </a:t>
            </a:r>
            <a:r>
              <a:rPr lang="zh-CN" altLang="en-US" dirty="0"/>
              <a:t>的 </a:t>
            </a:r>
            <a:r>
              <a:rPr lang="en-US" altLang="zh-CN" dirty="0"/>
              <a:t>VMO </a:t>
            </a:r>
            <a:r>
              <a:rPr lang="zh-CN" altLang="en-US" dirty="0"/>
              <a:t>思路，将它改进，适配，应用于宏内核。把匿名页、文件映射、共享内存和写时复制统一组织为内存对象。地址空间只描述映射关系，</a:t>
            </a:r>
            <a:r>
              <a:rPr lang="en-US" altLang="zh-CN" dirty="0"/>
              <a:t>VMO </a:t>
            </a:r>
            <a:r>
              <a:rPr lang="zh-CN" altLang="en-US" dirty="0"/>
              <a:t>负责真正的内存来源，因此一份内存可以自然地被多个地址空间以不同方式使用。</a:t>
            </a:r>
            <a:endParaRPr lang="zh-CN"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b="0" i="0" kern="1200" dirty="0">
                <a:solidFill>
                  <a:schemeClr val="tx1"/>
                </a:solidFill>
                <a:effectLst/>
                <a:latin typeface="+mn-lt"/>
                <a:ea typeface="+mn-ea"/>
                <a:cs typeface="+mn-cs"/>
              </a:rPr>
              <a:t>在 fork 时，我们不会立即复制全部内存，而是用 Shadow VMO 形成父子关系，只在真正写入时复制页面。匿名内存还可以共享全局只读零页。这些设计避免了进程创建时不必要的内存占用和复制开销。</a:t>
            </a:r>
            <a:endParaRPr lang="zh-CN"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b="0" i="0" kern="1200" dirty="0">
                <a:solidFill>
                  <a:schemeClr val="tx1"/>
                </a:solidFill>
                <a:effectLst/>
                <a:latin typeface="+mn-lt"/>
                <a:ea typeface="+mn-ea"/>
                <a:cs typeface="+mn-cs"/>
              </a:rPr>
              <a:t>文件系统采用经典但重新实现的 VFS 分层：文件系统、超级块、inode、目录项、打开文件和路径视图各负其责。同一个超级块可以被多次挂载，并拥有不同的挂载属性，为 bind mount 和复杂命名空间语义打下基础。</a:t>
            </a:r>
            <a:endParaRPr lang="zh-CN"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b="0" i="0" kern="1200" dirty="0">
                <a:solidFill>
                  <a:schemeClr val="tx1"/>
                </a:solidFill>
                <a:effectLst/>
                <a:latin typeface="+mn-lt"/>
                <a:ea typeface="+mn-ea"/>
                <a:cs typeface="+mn-cs"/>
              </a:rPr>
              <a:t>缓存设计围绕对象生命周期，而不是简单地把对象永久留在表中。引用归零后，inode 先退出索引成为可回收对象，再由后台线程统一清理；页缓存和目录项缓存则共同减少磁盘访问和重复路径查找。</a:t>
            </a:r>
            <a:endParaRPr lang="zh-CN"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sz="1200" b="0" i="0" kern="1200" dirty="0">
                <a:solidFill>
                  <a:schemeClr val="tx1"/>
                </a:solidFill>
                <a:effectLst/>
                <a:latin typeface="+mn-lt"/>
                <a:ea typeface="+mn-ea"/>
                <a:cs typeface="+mn-cs"/>
              </a:rPr>
              <a:t>【】</a:t>
            </a:r>
            <a:r>
              <a:rPr lang="zh-CN" altLang="zh-CN" sz="1200" b="0" i="0" kern="1200" dirty="0">
                <a:solidFill>
                  <a:schemeClr val="tx1"/>
                </a:solidFill>
                <a:effectLst/>
                <a:latin typeface="+mn-lt"/>
                <a:ea typeface="+mn-ea"/>
                <a:cs typeface="+mn-cs"/>
              </a:rPr>
              <a:t>设备侧采用 Bus、Device、Driver 模型，让设备与驱动通过总线发现和匹配。当前已经支持 Platform、VirtIO、PCI 和 MMC 等总线，并实现 PCIe ECAM 多级枚举与 BAR 动态分配。这套模型使 QEMU 与真实硬件能够共享大部分驱动框架。</a:t>
            </a:r>
            <a:endParaRPr lang="zh-CN"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a:t>
            </a:r>
            <a:r>
              <a:rPr lang="zh-CN" dirty="0"/>
              <a:t>我们为</a:t>
            </a:r>
            <a:r>
              <a:rPr lang="en-US" altLang="zh-CN" dirty="0"/>
              <a:t>VisionFive2</a:t>
            </a:r>
            <a:r>
              <a:rPr lang="zh-CN" altLang="en-US" dirty="0"/>
              <a:t>和</a:t>
            </a:r>
            <a:r>
              <a:rPr lang="en-US" altLang="zh-CN" dirty="0"/>
              <a:t>Loongson</a:t>
            </a:r>
            <a:r>
              <a:rPr lang="zh-CN" altLang="en-US" dirty="0"/>
              <a:t>的</a:t>
            </a:r>
            <a:r>
              <a:rPr lang="en-US" altLang="zh-CN" dirty="0"/>
              <a:t>2K1000</a:t>
            </a:r>
            <a:r>
              <a:rPr lang="zh-CN" altLang="en-US" dirty="0"/>
              <a:t>星光板做了完整适配</a:t>
            </a:r>
            <a:r>
              <a:rPr lang="en-US" altLang="zh-CN" dirty="0"/>
              <a:t>，</a:t>
            </a:r>
            <a:r>
              <a:rPr lang="zh-CN" altLang="en-US" dirty="0"/>
              <a:t>包含</a:t>
            </a:r>
            <a:r>
              <a:rPr lang="en-US" altLang="zh-CN" dirty="0"/>
              <a:t>OpenRC</a:t>
            </a:r>
            <a:r>
              <a:rPr lang="zh-CN" altLang="en-US" dirty="0"/>
              <a:t>的初始化系统和完整的网络和块设备驱动</a:t>
            </a:r>
            <a:r>
              <a:rPr lang="en-US" altLang="zh-CN" dirty="0"/>
              <a:t>。</a:t>
            </a:r>
            <a:r>
              <a:rPr lang="zh-CN" altLang="en-US" dirty="0"/>
              <a:t>针对</a:t>
            </a:r>
            <a:r>
              <a:rPr lang="en-US" altLang="zh-CN" dirty="0"/>
              <a:t>LoongArch</a:t>
            </a:r>
            <a:r>
              <a:rPr lang="zh-CN" altLang="en-US" dirty="0"/>
              <a:t>开发板不支持非对齐访问的问题</a:t>
            </a:r>
            <a:r>
              <a:rPr lang="en-US" dirty="0"/>
              <a:t>，</a:t>
            </a:r>
            <a:r>
              <a:rPr lang="zh-CN" altLang="en-US" dirty="0"/>
              <a:t>我们实现了软件模拟</a:t>
            </a:r>
            <a:r>
              <a:rPr lang="en-US" altLang="zh-CN" dirty="0"/>
              <a:t>。</a:t>
            </a:r>
            <a:r>
              <a:rPr lang="zh-CN" altLang="en-US" dirty="0"/>
              <a:t>这两张是在开发板上运行网络服务并在同一网络下设备中访问的图片</a:t>
            </a:r>
            <a:r>
              <a:rPr lang="en-US" altLang="zh-CN" dirty="0"/>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b="0" i="0" kern="1200" dirty="0">
                <a:solidFill>
                  <a:schemeClr val="tx1"/>
                </a:solidFill>
                <a:effectLst/>
                <a:latin typeface="+mn-lt"/>
                <a:ea typeface="+mn-ea"/>
                <a:cs typeface="+mn-cs"/>
              </a:rPr>
              <a:t>网络能力也已经进入真实用户态：从 ping 和 iproute2 查询，到 apt 下载、HTTPS Git、Nginx 和 SSH，数据会完整经过网卡、协议栈、Socket、阻塞唤醒和诊断接口。这证明网络栈已经从“能发包”走向“能承载应用”。</a:t>
            </a:r>
            <a:endParaRPr lang="zh-CN"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b="0" i="0" kern="1200" dirty="0">
                <a:solidFill>
                  <a:schemeClr val="tx1"/>
                </a:solidFill>
                <a:effectLst/>
                <a:latin typeface="+mn-lt"/>
                <a:ea typeface="+mn-ea"/>
                <a:cs typeface="+mn-cs"/>
              </a:rPr>
              <a:t>网络子系统</a:t>
            </a:r>
            <a:r>
              <a:rPr lang="en-US" altLang="zh-CN" sz="1200" b="0" i="0" kern="1200" dirty="0">
                <a:solidFill>
                  <a:schemeClr val="tx1"/>
                </a:solidFill>
                <a:effectLst/>
                <a:latin typeface="+mn-lt"/>
                <a:ea typeface="+mn-ea"/>
                <a:cs typeface="+mn-cs"/>
              </a:rPr>
              <a:t>。</a:t>
            </a:r>
            <a:r>
              <a:rPr lang="zh-CN" altLang="zh-CN" sz="1200" b="0" i="0" kern="1200" dirty="0">
                <a:solidFill>
                  <a:schemeClr val="tx1"/>
                </a:solidFill>
                <a:effectLst/>
                <a:latin typeface="+mn-lt"/>
                <a:ea typeface="+mn-ea"/>
                <a:cs typeface="+mn-cs"/>
              </a:rPr>
              <a:t>我们把 Linux Socket 语义、网络抽象、协议状态和 smoltcp 引擎分成四层。每一层只拥有自己的状态，并通过窄接口协作。这样既隔离了 Linux 的阻塞与错误码语义，也为未来替换或扩展协议后端保留空间。</a:t>
            </a:r>
            <a:endParaRPr lang="zh-CN"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跨层协议只传递三类信息。Command 是有界非阻塞操作，Event 只表示应该重新检查，Snapshot 则记录读取时刻的协议事实；Event 本身从不等于 readiness。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这边是我们的</a:t>
            </a:r>
            <a:r>
              <a:rPr lang="en-US" altLang="zh-CN" dirty="0"/>
              <a:t>AI</a:t>
            </a:r>
            <a:r>
              <a:rPr lang="zh-CN" altLang="en-US" dirty="0"/>
              <a:t>使用情况</a:t>
            </a:r>
            <a:r>
              <a:rPr lang="en-US" altLang="zh-CN" dirty="0"/>
              <a:t>。10s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b="0" i="0" kern="1200" dirty="0">
                <a:solidFill>
                  <a:schemeClr val="tx1"/>
                </a:solidFill>
                <a:effectLst/>
                <a:latin typeface="+mn-lt"/>
                <a:ea typeface="+mn-ea"/>
                <a:cs typeface="+mn-cs"/>
              </a:rPr>
              <a:t>最终形成的是这套工程闭环：从 Linux 语义、性能目标和真实负载出发，确定边界与验证计划，再通过实现、审查、双架构构建、测例和日志闭合结果，最后回写证据与限制。AI 可以加速环节，但不能跳过环节。</a:t>
            </a:r>
            <a:endParaRPr lang="zh-CN"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b="0" i="0" kern="1200" dirty="0">
                <a:solidFill>
                  <a:schemeClr val="tx1"/>
                </a:solidFill>
                <a:effectLst/>
                <a:latin typeface="+mn-lt"/>
                <a:ea typeface="+mn-ea"/>
                <a:cs typeface="+mn-cs"/>
              </a:rPr>
              <a:t>我们参考 Linux 6.6 的外部语义与成熟机制、Zircon 的 VMO 思路，以及 Chronix 的早期用户态经验；但 Anemone 的整体架构和核心代码由团队从零构建。Nemophila 则是在此基础上形成的自主动态扩展方案。</a:t>
            </a:r>
            <a:endParaRPr lang="zh-CN"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b="0" i="0" kern="1200" dirty="0">
                <a:solidFill>
                  <a:schemeClr val="tx1"/>
                </a:solidFill>
                <a:effectLst/>
                <a:latin typeface="+mn-lt"/>
                <a:ea typeface="+mn-ea"/>
                <a:cs typeface="+mn-cs"/>
              </a:rPr>
              <a:t>以上就是我们的介绍。感谢各位评委老师聆听。</a:t>
            </a:r>
            <a:endParaRPr lang="zh-CN"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单击以编辑母版副标题样式</a:t>
            </a:r>
          </a:p>
        </p:txBody>
      </p:sp>
      <p:sp>
        <p:nvSpPr>
          <p:cNvPr id="4" name="日期占位符 3"/>
          <p:cNvSpPr>
            <a:spLocks noGrp="1"/>
          </p:cNvSpPr>
          <p:nvPr>
            <p:ph type="dt" sz="half" idx="10"/>
          </p:nvPr>
        </p:nvSpPr>
        <p:spPr/>
        <p:txBody>
          <a:bodyPr/>
          <a:lstStyle/>
          <a:p>
            <a:fld id="{694536CA-A6C4-4358-AF93-5CCBD70D248C}" type="datetimeFigureOut">
              <a:rPr lang="zh-CN" altLang="en-US" smtClean="0"/>
              <a:t>2026/8/17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hasCustomPrompt="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694536CA-A6C4-4358-AF93-5CCBD70D248C}" type="datetimeFigureOut">
              <a:rPr lang="zh-CN" altLang="en-US" smtClean="0"/>
              <a:t>2026/8/17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hasCustomPrompt="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编辑母版文本样式</a:t>
            </a:r>
          </a:p>
        </p:txBody>
      </p:sp>
      <p:sp>
        <p:nvSpPr>
          <p:cNvPr id="4" name="日期占位符 3"/>
          <p:cNvSpPr>
            <a:spLocks noGrp="1"/>
          </p:cNvSpPr>
          <p:nvPr>
            <p:ph type="dt" sz="half" idx="10"/>
          </p:nvPr>
        </p:nvSpPr>
        <p:spPr/>
        <p:txBody>
          <a:bodyPr/>
          <a:lstStyle/>
          <a:p>
            <a:fld id="{694536CA-A6C4-4358-AF93-5CCBD70D248C}" type="datetimeFigureOut">
              <a:rPr lang="zh-CN" altLang="en-US" smtClean="0"/>
              <a:t>2026/8/17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hasCustomPrompt="1"/>
          </p:nvPr>
        </p:nvSpPr>
        <p:spPr>
          <a:xfrm>
            <a:off x="838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hasCustomPrompt="1"/>
          </p:nvPr>
        </p:nvSpPr>
        <p:spPr>
          <a:xfrm>
            <a:off x="6172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694536CA-A6C4-4358-AF93-5CCBD70D248C}" type="datetimeFigureOut">
              <a:rPr lang="zh-CN" altLang="en-US" smtClean="0"/>
              <a:t>2026/8/17</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hasCustomPrompt="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4" name="内容占位符 3"/>
          <p:cNvSpPr>
            <a:spLocks noGrp="1"/>
          </p:cNvSpPr>
          <p:nvPr>
            <p:ph sz="half" idx="2" hasCustomPrompt="1"/>
          </p:nvPr>
        </p:nvSpPr>
        <p:spPr>
          <a:xfrm>
            <a:off x="839788" y="2505075"/>
            <a:ext cx="5157787"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hasCustomPrompt="1"/>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6" name="内容占位符 5"/>
          <p:cNvSpPr>
            <a:spLocks noGrp="1"/>
          </p:cNvSpPr>
          <p:nvPr>
            <p:ph sz="quarter" idx="4" hasCustomPrompt="1"/>
          </p:nvPr>
        </p:nvSpPr>
        <p:spPr>
          <a:xfrm>
            <a:off x="6172200" y="2505075"/>
            <a:ext cx="5183188"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694536CA-A6C4-4358-AF93-5CCBD70D248C}" type="datetimeFigureOut">
              <a:rPr lang="zh-CN" altLang="en-US" smtClean="0"/>
              <a:t>2026/8/17</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694536CA-A6C4-4358-AF93-5CCBD70D248C}" type="datetimeFigureOut">
              <a:rPr lang="zh-CN" altLang="en-US" smtClean="0"/>
              <a:t>2026/8/17</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694536CA-A6C4-4358-AF93-5CCBD70D248C}" type="datetimeFigureOut">
              <a:rPr lang="zh-CN" altLang="en-US" smtClean="0"/>
              <a:t>2026/8/17</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hasCustomPrompt="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p:cNvSpPr>
            <a:spLocks noGrp="1"/>
          </p:cNvSpPr>
          <p:nvPr>
            <p:ph type="dt" sz="half" idx="10"/>
          </p:nvPr>
        </p:nvSpPr>
        <p:spPr/>
        <p:txBody>
          <a:bodyPr/>
          <a:lstStyle/>
          <a:p>
            <a:fld id="{694536CA-A6C4-4358-AF93-5CCBD70D248C}" type="datetimeFigureOut">
              <a:rPr lang="zh-CN" altLang="en-US" smtClean="0"/>
              <a:t>2026/8/17</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p:cNvSpPr>
            <a:spLocks noGrp="1"/>
          </p:cNvSpPr>
          <p:nvPr>
            <p:ph type="dt" sz="half" idx="10"/>
          </p:nvPr>
        </p:nvSpPr>
        <p:spPr/>
        <p:txBody>
          <a:bodyPr/>
          <a:lstStyle/>
          <a:p>
            <a:fld id="{694536CA-A6C4-4358-AF93-5CCBD70D248C}" type="datetimeFigureOut">
              <a:rPr lang="zh-CN" altLang="en-US" smtClean="0"/>
              <a:t>2026/8/17</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hasCustomPrompt="1"/>
          </p:nvPr>
        </p:nvSpPr>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694536CA-A6C4-4358-AF93-5CCBD70D248C}" type="datetimeFigureOut">
              <a:rPr lang="zh-CN" altLang="en-US" smtClean="0"/>
              <a:t>2026/8/17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hasCustomPrompt="1"/>
          </p:nvPr>
        </p:nvSpPr>
        <p:spPr>
          <a:xfrm>
            <a:off x="838200" y="365125"/>
            <a:ext cx="7734300" cy="5811838"/>
          </a:xfrm>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694536CA-A6C4-4358-AF93-5CCBD70D248C}" type="datetimeFigureOut">
              <a:rPr lang="zh-CN" altLang="en-US" smtClean="0"/>
              <a:t>2026/8/17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94536CA-A6C4-4358-AF93-5CCBD70D248C}" type="datetimeFigureOut">
              <a:rPr lang="zh-CN" altLang="en-US" smtClean="0"/>
              <a:t>2026/8/17</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537B7A-7510-410A-AA53-45D600DA0276}" type="slidenum">
              <a:rPr lang="zh-CN" altLang="en-US" smtClean="0"/>
              <a:t>‹#›</a:t>
            </a:fld>
            <a:endParaRPr lang="zh-CN" altLang="en-US"/>
          </a:p>
        </p:txBody>
      </p:sp>
      <p:sp>
        <p:nvSpPr>
          <p:cNvPr id="7" name="矩形 6"/>
          <p:cNvSpPr/>
          <p:nvPr userDrawn="1"/>
        </p:nvSpPr>
        <p:spPr>
          <a:xfrm>
            <a:off x="0" y="0"/>
            <a:ext cx="12192000" cy="685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image" Target="../media/image2.jpeg"/><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4.png"/><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7.png"/><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8.png"/><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microsoft.com/office/2007/relationships/hdphoto" Target="../media/hdphoto1.wdp"/></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microsoft.com/office/2007/relationships/hdphoto" Target="../media/hdphoto1.wdp"/></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microsoft.com/office/2007/relationships/hdphoto" Target="../media/hdphoto1.wdp"/></Relationships>
</file>

<file path=ppt/slides/_rels/slide12.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openxmlformats.org/officeDocument/2006/relationships/image" Target="../media/image3.png"/><Relationship Id="rId7" Type="http://schemas.openxmlformats.org/officeDocument/2006/relationships/diagramLayout" Target="../diagrams/layout1.xml"/><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diagramData" Target="../diagrams/data1.xml"/><Relationship Id="rId5" Type="http://schemas.openxmlformats.org/officeDocument/2006/relationships/image" Target="../media/image9.png"/><Relationship Id="rId10" Type="http://schemas.microsoft.com/office/2007/relationships/diagramDrawing" Target="../diagrams/drawing1.xml"/><Relationship Id="rId4" Type="http://schemas.microsoft.com/office/2007/relationships/hdphoto" Target="../media/hdphoto1.wdp"/><Relationship Id="rId9" Type="http://schemas.openxmlformats.org/officeDocument/2006/relationships/diagramColors" Target="../diagrams/colors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microsoft.com/office/2007/relationships/hdphoto" Target="../media/hdphoto1.wdp"/></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10.png"/><Relationship Id="rId4" Type="http://schemas.microsoft.com/office/2007/relationships/hdphoto" Target="../media/hdphoto1.wdp"/></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11.png"/><Relationship Id="rId4" Type="http://schemas.microsoft.com/office/2007/relationships/hdphoto" Target="../media/hdphoto1.wdp"/></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7.xml"/><Relationship Id="rId1" Type="http://schemas.openxmlformats.org/officeDocument/2006/relationships/themeOverride" Target="../theme/themeOverride1.xml"/><Relationship Id="rId6" Type="http://schemas.openxmlformats.org/officeDocument/2006/relationships/image" Target="../media/image12.png"/><Relationship Id="rId5" Type="http://schemas.microsoft.com/office/2007/relationships/hdphoto" Target="../media/hdphoto1.wdp"/><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7.xml"/><Relationship Id="rId5" Type="http://schemas.openxmlformats.org/officeDocument/2006/relationships/image" Target="../media/image13.png"/><Relationship Id="rId4" Type="http://schemas.microsoft.com/office/2007/relationships/hdphoto" Target="../media/hdphoto1.wdp"/></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14.png"/><Relationship Id="rId4" Type="http://schemas.microsoft.com/office/2007/relationships/hdphoto" Target="../media/hdphoto1.wdp"/></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15.png"/><Relationship Id="rId4" Type="http://schemas.microsoft.com/office/2007/relationships/hdphoto" Target="../media/hdphoto1.wdp"/></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16.png"/><Relationship Id="rId4" Type="http://schemas.microsoft.com/office/2007/relationships/hdphoto" Target="../media/hdphoto1.wdp"/></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7.xml"/><Relationship Id="rId5" Type="http://schemas.openxmlformats.org/officeDocument/2006/relationships/image" Target="../media/image17.png"/><Relationship Id="rId4" Type="http://schemas.microsoft.com/office/2007/relationships/hdphoto" Target="../media/hdphoto1.wdp"/></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microsoft.com/office/2007/relationships/hdphoto" Target="../media/hdphoto1.wdp"/></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7.xml"/><Relationship Id="rId4" Type="http://schemas.microsoft.com/office/2007/relationships/hdphoto" Target="../media/hdphoto1.wdp"/></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7.xml"/><Relationship Id="rId5" Type="http://schemas.openxmlformats.org/officeDocument/2006/relationships/image" Target="../media/image20.png"/><Relationship Id="rId4" Type="http://schemas.microsoft.com/office/2007/relationships/hdphoto" Target="../media/hdphoto1.wdp"/></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7.xml"/><Relationship Id="rId4" Type="http://schemas.microsoft.com/office/2007/relationships/hdphoto" Target="../media/hdphoto1.wdp"/></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7.xml"/><Relationship Id="rId4" Type="http://schemas.microsoft.com/office/2007/relationships/hdphoto" Target="../media/hdphoto1.wdp"/></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microsoft.com/office/2007/relationships/hdphoto" Target="../media/hdphoto1.wdp"/></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microsoft.com/office/2007/relationships/hdphoto" Target="../media/hdphoto1.wdp"/></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image" Target="../media/image2.jpeg"/><Relationship Id="rId5" Type="http://schemas.openxmlformats.org/officeDocument/2006/relationships/image" Target="../media/image1.png"/><Relationship Id="rId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MH_Other_8"/>
          <p:cNvPicPr/>
          <p:nvPr>
            <p:custDataLst>
              <p:tags r:id="rId1"/>
            </p:custDataLst>
          </p:nvPr>
        </p:nvPicPr>
        <p:blipFill>
          <a:blip r:embed="rId5" cstate="print">
            <a:extLst>
              <a:ext uri="{28A0092B-C50C-407E-A947-70E740481C1C}">
                <a14:useLocalDpi xmlns:a14="http://schemas.microsoft.com/office/drawing/2010/main" val="0"/>
              </a:ext>
            </a:extLst>
          </a:blip>
          <a:srcRect l="50887"/>
          <a:stretch>
            <a:fillRect/>
          </a:stretch>
        </p:blipFill>
        <p:spPr bwMode="auto">
          <a:xfrm rot="5400000" flipH="1">
            <a:off x="6024000" y="-3032194"/>
            <a:ext cx="144000" cy="104502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 name="MH_Other_8"/>
          <p:cNvPicPr/>
          <p:nvPr>
            <p:custDataLst>
              <p:tags r:id="rId2"/>
            </p:custDataLst>
          </p:nvPr>
        </p:nvPicPr>
        <p:blipFill>
          <a:blip r:embed="rId5" cstate="print">
            <a:extLst>
              <a:ext uri="{28A0092B-C50C-407E-A947-70E740481C1C}">
                <a14:useLocalDpi xmlns:a14="http://schemas.microsoft.com/office/drawing/2010/main" val="0"/>
              </a:ext>
            </a:extLst>
          </a:blip>
          <a:srcRect l="50887"/>
          <a:stretch>
            <a:fillRect/>
          </a:stretch>
        </p:blipFill>
        <p:spPr bwMode="auto">
          <a:xfrm rot="16200000" flipH="1" flipV="1">
            <a:off x="6024001" y="-127232"/>
            <a:ext cx="144000" cy="104502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矩形 7"/>
          <p:cNvSpPr/>
          <p:nvPr/>
        </p:nvSpPr>
        <p:spPr>
          <a:xfrm>
            <a:off x="0" y="2204967"/>
            <a:ext cx="12192000" cy="2861362"/>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文本框 14"/>
          <p:cNvSpPr txBox="1"/>
          <p:nvPr/>
        </p:nvSpPr>
        <p:spPr>
          <a:xfrm>
            <a:off x="744718" y="2789380"/>
            <a:ext cx="10862821" cy="1569660"/>
          </a:xfrm>
          <a:prstGeom prst="rect">
            <a:avLst/>
          </a:prstGeom>
          <a:noFill/>
        </p:spPr>
        <p:txBody>
          <a:bodyPr wrap="square" rtlCol="0">
            <a:spAutoFit/>
          </a:bodyPr>
          <a:lstStyle/>
          <a:p>
            <a:pPr algn="ctr"/>
            <a:r>
              <a:rPr lang="en-US" altLang="zh-CN" sz="6000" b="1" dirty="0" err="1">
                <a:solidFill>
                  <a:schemeClr val="bg1">
                    <a:lumMod val="95000"/>
                  </a:schemeClr>
                </a:solidFill>
                <a:latin typeface="微软雅黑" panose="020B0503020204020204" pitchFamily="34" charset="-122"/>
                <a:ea typeface="微软雅黑" panose="020B0503020204020204" pitchFamily="34" charset="-122"/>
              </a:rPr>
              <a:t>Anemone</a:t>
            </a:r>
            <a:endParaRPr lang="en-US" altLang="zh-CN" sz="6000" b="1" dirty="0">
              <a:solidFill>
                <a:schemeClr val="bg1">
                  <a:lumMod val="95000"/>
                </a:schemeClr>
              </a:solidFill>
              <a:latin typeface="微软雅黑" panose="020B0503020204020204" pitchFamily="34" charset="-122"/>
              <a:ea typeface="微软雅黑" panose="020B0503020204020204" pitchFamily="34" charset="-122"/>
            </a:endParaRPr>
          </a:p>
          <a:p>
            <a:pPr algn="ctr"/>
            <a:r>
              <a:rPr lang="zh-CN" altLang="en-US" sz="3600" b="1" dirty="0">
                <a:solidFill>
                  <a:schemeClr val="bg1">
                    <a:lumMod val="95000"/>
                  </a:schemeClr>
                </a:solidFill>
                <a:latin typeface="微软雅黑" panose="020B0503020204020204" pitchFamily="34" charset="-122"/>
                <a:ea typeface="微软雅黑" panose="020B0503020204020204" pitchFamily="34" charset="-122"/>
              </a:rPr>
              <a:t>使用Rust开发、多架构、多核、可动态扩展的宏内核</a:t>
            </a:r>
          </a:p>
        </p:txBody>
      </p:sp>
      <p:sp>
        <p:nvSpPr>
          <p:cNvPr id="2" name="文本框 1"/>
          <p:cNvSpPr txBox="1"/>
          <p:nvPr/>
        </p:nvSpPr>
        <p:spPr>
          <a:xfrm>
            <a:off x="635" y="5388610"/>
            <a:ext cx="12191365" cy="645160"/>
          </a:xfrm>
          <a:prstGeom prst="rect">
            <a:avLst/>
          </a:prstGeom>
          <a:noFill/>
        </p:spPr>
        <p:txBody>
          <a:bodyPr wrap="square" rtlCol="0">
            <a:spAutoFit/>
          </a:bodyPr>
          <a:lstStyle/>
          <a:p>
            <a:pPr algn="ctr"/>
            <a:r>
              <a:rPr lang="zh-CN" altLang="en-US" b="1" dirty="0">
                <a:solidFill>
                  <a:srgbClr val="3A6695"/>
                </a:solidFill>
              </a:rPr>
              <a:t>队员：张正翰、陈函申      指导老师：夏文、仇洁婷</a:t>
            </a:r>
            <a:endParaRPr lang="en-US" altLang="zh-CN" b="1" dirty="0">
              <a:solidFill>
                <a:srgbClr val="3A6695"/>
              </a:solidFill>
            </a:endParaRPr>
          </a:p>
          <a:p>
            <a:pPr algn="ctr"/>
            <a:endParaRPr lang="en-US" altLang="zh-CN" b="1" dirty="0">
              <a:solidFill>
                <a:srgbClr val="3A6695"/>
              </a:solidFill>
            </a:endParaRPr>
          </a:p>
        </p:txBody>
      </p:sp>
      <p:pic>
        <p:nvPicPr>
          <p:cNvPr id="3" name="图片 2" descr="hitsz-logo"/>
          <p:cNvPicPr>
            <a:picLocks noChangeAspect="1"/>
          </p:cNvPicPr>
          <p:nvPr/>
        </p:nvPicPr>
        <p:blipFill>
          <a:blip r:embed="rId6">
            <a:clrChange>
              <a:clrFrom>
                <a:srgbClr val="FFFFFF">
                  <a:alpha val="100000"/>
                </a:srgbClr>
              </a:clrFrom>
              <a:clrTo>
                <a:srgbClr val="FFFFFF">
                  <a:alpha val="100000"/>
                  <a:alpha val="0"/>
                </a:srgbClr>
              </a:clrTo>
            </a:clrChange>
          </a:blip>
          <a:stretch>
            <a:fillRect/>
          </a:stretch>
        </p:blipFill>
        <p:spPr>
          <a:xfrm>
            <a:off x="2789555" y="603250"/>
            <a:ext cx="6612255" cy="121856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dirty="0"/>
          </a:p>
        </p:txBody>
      </p:sp>
      <p:pic>
        <p:nvPicPr>
          <p:cNvPr id="39" name="图片 38"/>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2" name="文本框 1"/>
          <p:cNvSpPr txBox="1"/>
          <p:nvPr/>
        </p:nvSpPr>
        <p:spPr>
          <a:xfrm>
            <a:off x="215798" y="1163374"/>
            <a:ext cx="9440405" cy="461665"/>
          </a:xfrm>
          <a:prstGeom prst="rect">
            <a:avLst/>
          </a:prstGeom>
          <a:noFill/>
        </p:spPr>
        <p:txBody>
          <a:bodyPr wrap="none" rtlCol="0">
            <a:spAutoFit/>
          </a:bodyPr>
          <a:lstStyle/>
          <a:p>
            <a:pPr algn="l"/>
            <a:r>
              <a:rPr lang="en-US" altLang="zh-CN" sz="2400" b="1" dirty="0" err="1">
                <a:solidFill>
                  <a:srgbClr val="0070C0"/>
                </a:solidFill>
              </a:rPr>
              <a:t>全部决赛测例通过</a:t>
            </a:r>
            <a:r>
              <a:rPr lang="zh-CN" altLang="en-US" sz="2400" b="1" dirty="0">
                <a:solidFill>
                  <a:srgbClr val="0070C0"/>
                </a:solidFill>
              </a:rPr>
              <a:t>。截至八月十七日十三点整，排名和得分如下。</a:t>
            </a:r>
          </a:p>
        </p:txBody>
      </p:sp>
      <p:sp>
        <p:nvSpPr>
          <p:cNvPr id="32" name="文本框 31"/>
          <p:cNvSpPr txBox="1"/>
          <p:nvPr/>
        </p:nvSpPr>
        <p:spPr>
          <a:xfrm>
            <a:off x="215900" y="4354195"/>
            <a:ext cx="11073130" cy="791845"/>
          </a:xfrm>
          <a:prstGeom prst="rect">
            <a:avLst/>
          </a:prstGeom>
          <a:noFill/>
        </p:spPr>
        <p:txBody>
          <a:bodyPr wrap="square">
            <a:noAutofit/>
          </a:bodyPr>
          <a:lstStyle/>
          <a:p>
            <a:pPr algn="l"/>
            <a:r>
              <a:rPr lang="en-US" altLang="zh-CN" sz="2400" dirty="0" err="1"/>
              <a:t>BuildStorm</a:t>
            </a:r>
            <a:r>
              <a:rPr lang="en-US" altLang="zh-CN" sz="2400" dirty="0"/>
              <a:t> 与 </a:t>
            </a:r>
            <a:r>
              <a:rPr lang="en-US" altLang="zh-CN" sz="2400" dirty="0" err="1"/>
              <a:t>Cagent</a:t>
            </a:r>
            <a:r>
              <a:rPr lang="en-US" altLang="zh-CN" sz="2400" dirty="0"/>
              <a:t> </a:t>
            </a:r>
            <a:r>
              <a:rPr lang="en-US" altLang="zh-CN" sz="2400" dirty="0" err="1"/>
              <a:t>测例全部通过</a:t>
            </a:r>
            <a:r>
              <a:rPr lang="zh-CN" altLang="en-US" sz="2400" dirty="0"/>
              <a:t>，性能得分可观。</a:t>
            </a:r>
            <a:endParaRPr lang="en-US" altLang="zh-CN" sz="2400" dirty="0"/>
          </a:p>
        </p:txBody>
      </p:sp>
      <p:sp>
        <p:nvSpPr>
          <p:cNvPr id="40" name="NavActive 完成情况"/>
          <p:cNvSpPr/>
          <p:nvPr/>
        </p:nvSpPr>
        <p:spPr>
          <a:xfrm>
            <a:off x="3231850"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41"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46"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完成情况</a:t>
            </a:r>
          </a:p>
        </p:txBody>
      </p:sp>
      <p:sp>
        <p:nvSpPr>
          <p:cNvPr id="47"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8"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49"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核心机制</a:t>
            </a:r>
          </a:p>
        </p:txBody>
      </p:sp>
      <p:sp>
        <p:nvSpPr>
          <p:cNvPr id="50"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51"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pic>
        <p:nvPicPr>
          <p:cNvPr id="7" name="图片 6"/>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1413" y="1711960"/>
            <a:ext cx="11377836" cy="2516537"/>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9" name="图片 38"/>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2" name="文本框 1"/>
          <p:cNvSpPr txBox="1"/>
          <p:nvPr/>
        </p:nvSpPr>
        <p:spPr>
          <a:xfrm>
            <a:off x="448766" y="1189414"/>
            <a:ext cx="3542665" cy="829945"/>
          </a:xfrm>
          <a:prstGeom prst="rect">
            <a:avLst/>
          </a:prstGeom>
          <a:noFill/>
        </p:spPr>
        <p:txBody>
          <a:bodyPr wrap="none" rtlCol="0">
            <a:spAutoFit/>
          </a:bodyPr>
          <a:lstStyle/>
          <a:p>
            <a:r>
              <a:rPr lang="en-US" altLang="zh-CN" sz="2400" b="1" dirty="0" err="1">
                <a:solidFill>
                  <a:srgbClr val="0070C0"/>
                </a:solidFill>
              </a:rPr>
              <a:t>八个月</a:t>
            </a:r>
            <a:r>
              <a:rPr lang="zh-CN" altLang="en-US" sz="2400" b="1" dirty="0">
                <a:solidFill>
                  <a:srgbClr val="0070C0"/>
                </a:solidFill>
              </a:rPr>
              <a:t>，</a:t>
            </a:r>
            <a:endParaRPr lang="en-US" altLang="zh-CN" sz="2400" b="1" dirty="0">
              <a:solidFill>
                <a:srgbClr val="0070C0"/>
              </a:solidFill>
            </a:endParaRPr>
          </a:p>
          <a:p>
            <a:pPr algn="ctr"/>
            <a:r>
              <a:rPr lang="en-US" altLang="zh-CN" sz="2400" b="1" dirty="0" err="1">
                <a:solidFill>
                  <a:srgbClr val="0070C0"/>
                </a:solidFill>
              </a:rPr>
              <a:t>从零</a:t>
            </a:r>
            <a:r>
              <a:rPr lang="zh-CN" altLang="en-US" sz="2400" b="1" dirty="0">
                <a:solidFill>
                  <a:srgbClr val="0070C0"/>
                </a:solidFill>
              </a:rPr>
              <a:t>设计、</a:t>
            </a:r>
            <a:r>
              <a:rPr lang="en-US" altLang="zh-CN" sz="2400" b="1" dirty="0" err="1">
                <a:solidFill>
                  <a:srgbClr val="0070C0"/>
                </a:solidFill>
              </a:rPr>
              <a:t>构建完整内核</a:t>
            </a:r>
          </a:p>
        </p:txBody>
      </p:sp>
      <p:sp>
        <p:nvSpPr>
          <p:cNvPr id="3" name="文本框 2"/>
          <p:cNvSpPr txBox="1"/>
          <p:nvPr/>
        </p:nvSpPr>
        <p:spPr>
          <a:xfrm>
            <a:off x="448885" y="2388507"/>
            <a:ext cx="3684022" cy="1938992"/>
          </a:xfrm>
          <a:prstGeom prst="rect">
            <a:avLst/>
          </a:prstGeom>
          <a:noFill/>
        </p:spPr>
        <p:txBody>
          <a:bodyPr wrap="none" rtlCol="0">
            <a:spAutoFit/>
          </a:bodyPr>
          <a:lstStyle/>
          <a:p>
            <a:pPr marL="285750" indent="-285750">
              <a:buFont typeface="Arial" panose="020B0604020202090204" pitchFamily="34" charset="0"/>
              <a:buChar char="•"/>
            </a:pPr>
            <a:r>
              <a:rPr lang="zh-CN" altLang="en-US" sz="2400" dirty="0"/>
              <a:t>内核代码量：</a:t>
            </a:r>
            <a:r>
              <a:rPr lang="en-US" altLang="zh-CN" sz="2400" dirty="0"/>
              <a:t>156096</a:t>
            </a:r>
            <a:r>
              <a:rPr lang="zh-CN" altLang="en-US" sz="2400" dirty="0"/>
              <a:t> 行</a:t>
            </a:r>
            <a:endParaRPr lang="en-US" altLang="zh-CN" sz="2400" dirty="0"/>
          </a:p>
          <a:p>
            <a:pPr marL="285750" indent="-285750">
              <a:buFont typeface="Arial" panose="020B0604020202090204" pitchFamily="34" charset="0"/>
              <a:buChar char="•"/>
            </a:pPr>
            <a:r>
              <a:rPr lang="zh-CN" altLang="en-US" sz="2400" dirty="0"/>
              <a:t>工程时间：8 个月</a:t>
            </a:r>
            <a:endParaRPr lang="en-US" altLang="zh-CN" sz="2400" dirty="0"/>
          </a:p>
          <a:p>
            <a:pPr marL="285750" indent="-285750">
              <a:buFont typeface="Arial" panose="020B0604020202090204" pitchFamily="34" charset="0"/>
              <a:buChar char="•"/>
            </a:pPr>
            <a:r>
              <a:rPr lang="zh-CN" altLang="en-US" sz="2400" dirty="0"/>
              <a:t>Commit 数目：1</a:t>
            </a:r>
            <a:r>
              <a:rPr lang="en-US" altLang="zh-CN" sz="2400" dirty="0"/>
              <a:t>242</a:t>
            </a:r>
          </a:p>
          <a:p>
            <a:pPr marL="285750" indent="-285750">
              <a:buFontTx/>
              <a:buChar char="-"/>
            </a:pPr>
            <a:endParaRPr lang="en-US" altLang="zh-CN" sz="2400" dirty="0"/>
          </a:p>
          <a:p>
            <a:pPr marL="285750" indent="-285750">
              <a:buFontTx/>
              <a:buChar char="-"/>
            </a:pPr>
            <a:endParaRPr lang="en-US" altLang="zh-CN" sz="2400" dirty="0"/>
          </a:p>
        </p:txBody>
      </p:sp>
      <p:sp>
        <p:nvSpPr>
          <p:cNvPr id="40" name="NavActive 完成情况"/>
          <p:cNvSpPr/>
          <p:nvPr/>
        </p:nvSpPr>
        <p:spPr>
          <a:xfrm>
            <a:off x="3231850"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41"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46"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完成情况</a:t>
            </a:r>
          </a:p>
        </p:txBody>
      </p:sp>
      <p:sp>
        <p:nvSpPr>
          <p:cNvPr id="47"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8"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49"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核心机制</a:t>
            </a:r>
          </a:p>
        </p:txBody>
      </p:sp>
      <p:sp>
        <p:nvSpPr>
          <p:cNvPr id="50"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51"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pic>
        <p:nvPicPr>
          <p:cNvPr id="8" name="图片 7"/>
          <p:cNvPicPr>
            <a:picLocks noChangeAspect="1"/>
          </p:cNvPicPr>
          <p:nvPr/>
        </p:nvPicPr>
        <p:blipFill>
          <a:blip r:embed="rId5"/>
          <a:stretch>
            <a:fillRect/>
          </a:stretch>
        </p:blipFill>
        <p:spPr>
          <a:xfrm>
            <a:off x="4638082" y="861189"/>
            <a:ext cx="5624933" cy="3733792"/>
          </a:xfrm>
          <a:prstGeom prst="rect">
            <a:avLst/>
          </a:prstGeom>
        </p:spPr>
      </p:pic>
      <p:pic>
        <p:nvPicPr>
          <p:cNvPr id="6" name="图片 5"/>
          <p:cNvPicPr>
            <a:picLocks noChangeAspect="1"/>
          </p:cNvPicPr>
          <p:nvPr/>
        </p:nvPicPr>
        <p:blipFill>
          <a:blip r:embed="rId6"/>
          <a:stretch>
            <a:fillRect/>
          </a:stretch>
        </p:blipFill>
        <p:spPr>
          <a:xfrm>
            <a:off x="4638082" y="4730641"/>
            <a:ext cx="5442230" cy="2127359"/>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9" name="图片 38"/>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2" name="文本框 1"/>
          <p:cNvSpPr txBox="1"/>
          <p:nvPr/>
        </p:nvSpPr>
        <p:spPr>
          <a:xfrm>
            <a:off x="934618" y="904929"/>
            <a:ext cx="4069080" cy="521970"/>
          </a:xfrm>
          <a:prstGeom prst="rect">
            <a:avLst/>
          </a:prstGeom>
          <a:noFill/>
        </p:spPr>
        <p:txBody>
          <a:bodyPr wrap="none" rtlCol="0">
            <a:spAutoFit/>
          </a:bodyPr>
          <a:lstStyle/>
          <a:p>
            <a:pPr marL="342900" lvl="0" indent="-342900" algn="l">
              <a:buClrTx/>
              <a:buSzTx/>
              <a:buFont typeface="Wingdings" panose="05000000000000000000" pitchFamily="2" charset="2"/>
              <a:buChar char="Ø"/>
            </a:pPr>
            <a:r>
              <a:rPr lang="en-US" altLang="zh-CN" sz="2800" b="1" dirty="0">
                <a:latin typeface="微软雅黑" panose="020B0503020204020204" pitchFamily="34" charset="-122"/>
                <a:ea typeface="微软雅黑" panose="020B0503020204020204" pitchFamily="34" charset="-122"/>
                <a:cs typeface="微软雅黑" panose="020B0503020204020204" pitchFamily="34" charset="-122"/>
                <a:sym typeface="+mn-ea"/>
              </a:rPr>
              <a:t>Anemone 的整体架构</a:t>
            </a:r>
          </a:p>
        </p:txBody>
      </p:sp>
      <p:sp>
        <p:nvSpPr>
          <p:cNvPr id="40" name="NavActive 完成情况"/>
          <p:cNvSpPr/>
          <p:nvPr/>
        </p:nvSpPr>
        <p:spPr>
          <a:xfrm>
            <a:off x="3231850"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41"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46"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完成情况</a:t>
            </a:r>
          </a:p>
        </p:txBody>
      </p:sp>
      <p:sp>
        <p:nvSpPr>
          <p:cNvPr id="47"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8"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49"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核心机制</a:t>
            </a:r>
          </a:p>
        </p:txBody>
      </p:sp>
      <p:sp>
        <p:nvSpPr>
          <p:cNvPr id="50"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51"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pic>
        <p:nvPicPr>
          <p:cNvPr id="5" name="图片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369060" y="1476375"/>
            <a:ext cx="8736330" cy="505904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9" name="图片 38"/>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2" name="文本框 1"/>
          <p:cNvSpPr txBox="1"/>
          <p:nvPr/>
        </p:nvSpPr>
        <p:spPr>
          <a:xfrm>
            <a:off x="551227" y="752105"/>
            <a:ext cx="4425315" cy="521970"/>
          </a:xfrm>
          <a:prstGeom prst="rect">
            <a:avLst/>
          </a:prstGeom>
          <a:noFill/>
        </p:spPr>
        <p:txBody>
          <a:bodyPr wrap="none" rtlCol="0">
            <a:spAutoFit/>
          </a:bodyPr>
          <a:lstStyle/>
          <a:p>
            <a:pPr marL="342900" indent="-342900" algn="l">
              <a:buClrTx/>
              <a:buSzTx/>
              <a:buFont typeface="Wingdings" panose="05000000000000000000" pitchFamily="2" charset="2"/>
              <a:buChar char="Ø"/>
            </a:pPr>
            <a:r>
              <a:rPr lang="en-US" altLang="zh-CN" sz="2800" b="1" dirty="0">
                <a:latin typeface="微软雅黑" panose="020B0503020204020204" pitchFamily="34" charset="-122"/>
                <a:ea typeface="微软雅黑" panose="020B0503020204020204" pitchFamily="34" charset="-122"/>
                <a:cs typeface="微软雅黑" panose="020B0503020204020204" pitchFamily="34" charset="-122"/>
              </a:rPr>
              <a:t>Anemone 核心能力全景</a:t>
            </a:r>
          </a:p>
        </p:txBody>
      </p:sp>
      <p:graphicFrame>
        <p:nvGraphicFramePr>
          <p:cNvPr id="3" name="表格 2"/>
          <p:cNvGraphicFramePr/>
          <p:nvPr/>
        </p:nvGraphicFramePr>
        <p:xfrm>
          <a:off x="574306" y="1243531"/>
          <a:ext cx="9844636" cy="5580944"/>
        </p:xfrm>
        <a:graphic>
          <a:graphicData uri="http://schemas.openxmlformats.org/drawingml/2006/table">
            <a:tbl>
              <a:tblPr firstRow="1" bandRow="1">
                <a:tableStyleId>{5C22544A-7EE6-4342-B048-85BDC9FD1C3A}</a:tableStyleId>
              </a:tblPr>
              <a:tblGrid>
                <a:gridCol w="2123372">
                  <a:extLst>
                    <a:ext uri="{9D8B030D-6E8A-4147-A177-3AD203B41FA5}">
                      <a16:colId xmlns:a16="http://schemas.microsoft.com/office/drawing/2014/main" val="20000"/>
                    </a:ext>
                  </a:extLst>
                </a:gridCol>
                <a:gridCol w="7721264">
                  <a:extLst>
                    <a:ext uri="{9D8B030D-6E8A-4147-A177-3AD203B41FA5}">
                      <a16:colId xmlns:a16="http://schemas.microsoft.com/office/drawing/2014/main" val="20001"/>
                    </a:ext>
                  </a:extLst>
                </a:gridCol>
              </a:tblGrid>
              <a:tr h="652544">
                <a:tc>
                  <a:txBody>
                    <a:bodyPr/>
                    <a:lstStyle/>
                    <a:p>
                      <a:pPr algn="ctr">
                        <a:buNone/>
                      </a:pPr>
                      <a:r>
                        <a:rPr lang="zh-CN" altLang="en-US" dirty="0">
                          <a:latin typeface="微软雅黑" panose="020B0503020204020204" pitchFamily="34" charset="-122"/>
                          <a:ea typeface="微软雅黑" panose="020B0503020204020204" pitchFamily="34" charset="-122"/>
                        </a:rPr>
                        <a:t>核心能力</a:t>
                      </a:r>
                      <a:endParaRPr lang="en-US" altLang="zh-CN" dirty="0">
                        <a:latin typeface="微软雅黑" panose="020B0503020204020204" pitchFamily="34" charset="-122"/>
                        <a:ea typeface="微软雅黑" panose="020B0503020204020204" pitchFamily="34" charset="-122"/>
                      </a:endParaRPr>
                    </a:p>
                  </a:txBody>
                  <a:tcPr anchor="ctr"/>
                </a:tc>
                <a:tc>
                  <a:txBody>
                    <a:bodyPr/>
                    <a:lstStyle/>
                    <a:p>
                      <a:pPr algn="ctr">
                        <a:buNone/>
                      </a:pPr>
                      <a:r>
                        <a:rPr lang="en-US" altLang="zh-CN" dirty="0" err="1">
                          <a:latin typeface="微软雅黑" panose="020B0503020204020204" pitchFamily="34" charset="-122"/>
                          <a:ea typeface="微软雅黑" panose="020B0503020204020204" pitchFamily="34" charset="-122"/>
                        </a:rPr>
                        <a:t>实现功能</a:t>
                      </a:r>
                      <a:endParaRPr lang="en-US" altLang="zh-CN" dirty="0">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10000"/>
                  </a:ext>
                </a:extLst>
              </a:tr>
              <a:tr h="576000">
                <a:tc>
                  <a:txBody>
                    <a:bodyPr/>
                    <a:lstStyle/>
                    <a:p>
                      <a:pPr algn="ctr">
                        <a:buNone/>
                      </a:pPr>
                      <a:r>
                        <a:rPr lang="zh-CN" altLang="en-US" dirty="0">
                          <a:solidFill>
                            <a:schemeClr val="tx1"/>
                          </a:solidFill>
                          <a:latin typeface="微软雅黑" panose="020B0503020204020204" pitchFamily="34" charset="-122"/>
                          <a:ea typeface="微软雅黑" panose="020B0503020204020204" pitchFamily="34" charset="-122"/>
                        </a:rPr>
                        <a:t>进程与调度</a:t>
                      </a:r>
                    </a:p>
                  </a:txBody>
                  <a:tcPr anchor="ctr"/>
                </a:tc>
                <a:tc>
                  <a:txBody>
                    <a:bodyPr/>
                    <a:lstStyle/>
                    <a:p>
                      <a:pPr algn="ctr">
                        <a:buNone/>
                      </a:pPr>
                      <a:r>
                        <a:rPr lang="zh-CN" altLang="en-US" dirty="0">
                          <a:latin typeface="微软雅黑" panose="020B0503020204020204" pitchFamily="34" charset="-122"/>
                          <a:ea typeface="微软雅黑" panose="020B0503020204020204" pitchFamily="34" charset="-122"/>
                        </a:rPr>
                        <a:t>类</a:t>
                      </a:r>
                      <a:r>
                        <a:rPr lang="en-US" altLang="zh-CN" dirty="0">
                          <a:latin typeface="微软雅黑" panose="020B0503020204020204" pitchFamily="34" charset="-122"/>
                          <a:ea typeface="微软雅黑" panose="020B0503020204020204" pitchFamily="34" charset="-122"/>
                        </a:rPr>
                        <a:t>LWP</a:t>
                      </a:r>
                      <a:r>
                        <a:rPr lang="zh-CN" altLang="en-US" dirty="0">
                          <a:latin typeface="微软雅黑" panose="020B0503020204020204" pitchFamily="34" charset="-122"/>
                          <a:ea typeface="微软雅黑" panose="020B0503020204020204" pitchFamily="34" charset="-122"/>
                        </a:rPr>
                        <a:t>设计；SMP； </a:t>
                      </a:r>
                      <a:r>
                        <a:rPr lang="en-US" altLang="zh-CN" dirty="0">
                          <a:latin typeface="微软雅黑" panose="020B0503020204020204" pitchFamily="34" charset="-122"/>
                          <a:ea typeface="微软雅黑" panose="020B0503020204020204" pitchFamily="34" charset="-122"/>
                        </a:rPr>
                        <a:t>Fair</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Realtime</a:t>
                      </a:r>
                      <a:r>
                        <a:rPr lang="zh-CN" altLang="en-US" dirty="0">
                          <a:latin typeface="微软雅黑" panose="020B0503020204020204" pitchFamily="34" charset="-122"/>
                          <a:ea typeface="微软雅黑" panose="020B0503020204020204" pitchFamily="34" charset="-122"/>
                        </a:rPr>
                        <a:t>，多调度类动态切换；</a:t>
                      </a:r>
                      <a:r>
                        <a:rPr lang="en-US" altLang="zh-CN" dirty="0">
                          <a:latin typeface="微软雅黑" panose="020B0503020204020204" pitchFamily="34" charset="-122"/>
                          <a:ea typeface="微软雅黑" panose="020B0503020204020204" pitchFamily="34" charset="-122"/>
                        </a:rPr>
                        <a:t>Unix</a:t>
                      </a:r>
                      <a:r>
                        <a:rPr lang="zh-CN" altLang="en-US" dirty="0">
                          <a:latin typeface="微软雅黑" panose="020B0503020204020204" pitchFamily="34" charset="-122"/>
                          <a:ea typeface="微软雅黑" panose="020B0503020204020204" pitchFamily="34" charset="-122"/>
                        </a:rPr>
                        <a:t>作业控制</a:t>
                      </a:r>
                    </a:p>
                  </a:txBody>
                  <a:tcPr anchor="ctr"/>
                </a:tc>
                <a:extLst>
                  <a:ext uri="{0D108BD9-81ED-4DB2-BD59-A6C34878D82A}">
                    <a16:rowId xmlns:a16="http://schemas.microsoft.com/office/drawing/2014/main" val="10001"/>
                  </a:ext>
                </a:extLst>
              </a:tr>
              <a:tr h="576000">
                <a:tc>
                  <a:txBody>
                    <a:bodyPr/>
                    <a:lstStyle/>
                    <a:p>
                      <a:pPr algn="ctr">
                        <a:buNone/>
                      </a:pPr>
                      <a:r>
                        <a:rPr lang="zh-CN" altLang="en-US" dirty="0">
                          <a:solidFill>
                            <a:schemeClr val="tx1"/>
                          </a:solidFill>
                          <a:latin typeface="微软雅黑" panose="020B0503020204020204" pitchFamily="34" charset="-122"/>
                          <a:ea typeface="微软雅黑" panose="020B0503020204020204" pitchFamily="34" charset="-122"/>
                        </a:rPr>
                        <a:t>动态扩展</a:t>
                      </a:r>
                    </a:p>
                  </a:txBody>
                  <a:tcPr anchor="ctr"/>
                </a:tc>
                <a:tc>
                  <a:txBody>
                    <a:bodyPr/>
                    <a:lstStyle/>
                    <a:p>
                      <a:pPr algn="ctr">
                        <a:buNone/>
                      </a:pPr>
                      <a:r>
                        <a:rPr lang="zh-CN" altLang="en-US" dirty="0">
                          <a:latin typeface="微软雅黑" panose="020B0503020204020204" pitchFamily="34" charset="-122"/>
                          <a:ea typeface="微软雅黑" panose="020B0503020204020204" pitchFamily="34" charset="-122"/>
                        </a:rPr>
                        <a:t>沙箱化内核模块；热插拔；</a:t>
                      </a:r>
                      <a:r>
                        <a:rPr lang="en-US" altLang="zh-CN" dirty="0" err="1">
                          <a:latin typeface="微软雅黑" panose="020B0503020204020204" pitchFamily="34" charset="-122"/>
                          <a:ea typeface="微软雅黑" panose="020B0503020204020204" pitchFamily="34" charset="-122"/>
                        </a:rPr>
                        <a:t>WebAssembly</a:t>
                      </a:r>
                      <a:r>
                        <a:rPr lang="zh-CN" altLang="en-US" dirty="0">
                          <a:latin typeface="微软雅黑" panose="020B0503020204020204" pitchFamily="34" charset="-122"/>
                          <a:ea typeface="微软雅黑" panose="020B0503020204020204" pitchFamily="34" charset="-122"/>
                        </a:rPr>
                        <a:t>；同一模块制品可同时运行在不同架构；</a:t>
                      </a:r>
                      <a:r>
                        <a:rPr lang="en-US" altLang="zh-CN" dirty="0">
                          <a:latin typeface="微软雅黑" panose="020B0503020204020204" pitchFamily="34" charset="-122"/>
                          <a:ea typeface="微软雅黑" panose="020B0503020204020204" pitchFamily="34" charset="-122"/>
                        </a:rPr>
                        <a:t>Rust SDK</a:t>
                      </a:r>
                      <a:endParaRPr lang="zh-CN" altLang="en-US" dirty="0">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10002"/>
                  </a:ext>
                </a:extLst>
              </a:tr>
              <a:tr h="576000">
                <a:tc>
                  <a:txBody>
                    <a:bodyPr/>
                    <a:lstStyle/>
                    <a:p>
                      <a:pPr algn="ctr">
                        <a:buNone/>
                      </a:pPr>
                      <a:r>
                        <a:rPr lang="zh-CN" altLang="en-US" dirty="0">
                          <a:solidFill>
                            <a:schemeClr val="tx1"/>
                          </a:solidFill>
                          <a:latin typeface="微软雅黑" panose="020B0503020204020204" pitchFamily="34" charset="-122"/>
                          <a:ea typeface="微软雅黑" panose="020B0503020204020204" pitchFamily="34" charset="-122"/>
                        </a:rPr>
                        <a:t>内存管理</a:t>
                      </a:r>
                    </a:p>
                  </a:txBody>
                  <a:tcPr anchor="ctr"/>
                </a:tc>
                <a:tc>
                  <a:txBody>
                    <a:bodyPr/>
                    <a:lstStyle/>
                    <a:p>
                      <a:pPr algn="ctr">
                        <a:buNone/>
                      </a:pPr>
                      <a:r>
                        <a:rPr lang="en-US" altLang="zh-CN" dirty="0">
                          <a:latin typeface="微软雅黑" panose="020B0503020204020204" pitchFamily="34" charset="-122"/>
                          <a:ea typeface="微软雅黑" panose="020B0503020204020204" pitchFamily="34" charset="-122"/>
                        </a:rPr>
                        <a:t>Zircon VMO</a:t>
                      </a:r>
                      <a:r>
                        <a:rPr lang="zh-CN" altLang="en-US" dirty="0">
                          <a:latin typeface="微软雅黑" panose="020B0503020204020204" pitchFamily="34" charset="-122"/>
                          <a:ea typeface="微软雅黑" panose="020B0503020204020204" pitchFamily="34" charset="-122"/>
                        </a:rPr>
                        <a:t>架构；</a:t>
                      </a: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写时复制；异常表驱动的用户访存；匿名零页共享；</a:t>
                      </a:r>
                      <a:r>
                        <a:rPr lang="en-US" altLang="zh-CN" dirty="0">
                          <a:latin typeface="微软雅黑" panose="020B0503020204020204" pitchFamily="34" charset="-122"/>
                          <a:ea typeface="微软雅黑" panose="020B0503020204020204" pitchFamily="34" charset="-122"/>
                        </a:rPr>
                        <a:t>IO Remap</a:t>
                      </a:r>
                    </a:p>
                  </a:txBody>
                  <a:tcPr anchor="ctr"/>
                </a:tc>
                <a:extLst>
                  <a:ext uri="{0D108BD9-81ED-4DB2-BD59-A6C34878D82A}">
                    <a16:rowId xmlns:a16="http://schemas.microsoft.com/office/drawing/2014/main" val="10003"/>
                  </a:ext>
                </a:extLst>
              </a:tr>
              <a:tr h="576000">
                <a:tc>
                  <a:txBody>
                    <a:bodyPr/>
                    <a:lstStyle/>
                    <a:p>
                      <a:pPr algn="ctr">
                        <a:buNone/>
                      </a:pPr>
                      <a:r>
                        <a:rPr lang="zh-CN" altLang="en-US" dirty="0">
                          <a:solidFill>
                            <a:schemeClr val="tx1"/>
                          </a:solidFill>
                          <a:latin typeface="微软雅黑" panose="020B0503020204020204" pitchFamily="34" charset="-122"/>
                          <a:ea typeface="微软雅黑" panose="020B0503020204020204" pitchFamily="34" charset="-122"/>
                        </a:rPr>
                        <a:t>VFS</a:t>
                      </a:r>
                    </a:p>
                  </a:txBody>
                  <a:tcPr anchor="ctr"/>
                </a:tc>
                <a:tc>
                  <a:txBody>
                    <a:bodyPr/>
                    <a:lstStyle/>
                    <a:p>
                      <a:pPr algn="ctr">
                        <a:buNone/>
                      </a:pPr>
                      <a:r>
                        <a:rPr lang="zh-CN" altLang="en-US" dirty="0">
                          <a:latin typeface="微软雅黑" panose="020B0503020204020204" pitchFamily="34" charset="-122"/>
                          <a:ea typeface="微软雅黑" panose="020B0503020204020204" pitchFamily="34" charset="-122"/>
                        </a:rPr>
                        <a:t>多重挂载 / Bind Mount；ICache / Page Cache </a:t>
                      </a:r>
                      <a:r>
                        <a:rPr lang="en-US" altLang="zh-CN" dirty="0">
                          <a:latin typeface="微软雅黑" panose="020B0503020204020204" pitchFamily="34" charset="-122"/>
                          <a:ea typeface="微软雅黑" panose="020B0503020204020204" pitchFamily="34" charset="-122"/>
                        </a:rPr>
                        <a:t>/ </a:t>
                      </a:r>
                      <a:r>
                        <a:rPr lang="en-US" altLang="zh-CN" dirty="0" err="1">
                          <a:latin typeface="微软雅黑" panose="020B0503020204020204" pitchFamily="34" charset="-122"/>
                          <a:ea typeface="微软雅黑" panose="020B0503020204020204" pitchFamily="34" charset="-122"/>
                        </a:rPr>
                        <a:t>DCache</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Direct IO</a:t>
                      </a:r>
                      <a:r>
                        <a:rPr lang="zh-CN" altLang="en-US"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ProcFs</a:t>
                      </a:r>
                      <a:r>
                        <a:rPr lang="zh-CN" altLang="en-US"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DevFs</a:t>
                      </a:r>
                      <a:r>
                        <a:rPr lang="zh-CN" altLang="en-US"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SysFs</a:t>
                      </a:r>
                      <a:endParaRPr lang="zh-CN" altLang="en-US" dirty="0">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10004"/>
                  </a:ext>
                </a:extLst>
              </a:tr>
              <a:tr h="576000">
                <a:tc>
                  <a:txBody>
                    <a:bodyPr/>
                    <a:lstStyle/>
                    <a:p>
                      <a:pPr algn="ctr">
                        <a:buNone/>
                      </a:pPr>
                      <a:r>
                        <a:rPr lang="zh-CN" altLang="en-US" dirty="0">
                          <a:solidFill>
                            <a:schemeClr val="tx1"/>
                          </a:solidFill>
                          <a:latin typeface="微软雅黑" panose="020B0503020204020204" pitchFamily="34" charset="-122"/>
                          <a:ea typeface="微软雅黑" panose="020B0503020204020204" pitchFamily="34" charset="-122"/>
                        </a:rPr>
                        <a:t>设备驱动模型</a:t>
                      </a:r>
                    </a:p>
                  </a:txBody>
                  <a:tcPr anchor="ctr"/>
                </a:tc>
                <a:tc>
                  <a:txBody>
                    <a:bodyPr/>
                    <a:lstStyle/>
                    <a:p>
                      <a:pPr algn="ctr">
                        <a:buNone/>
                      </a:pPr>
                      <a:r>
                        <a:rPr lang="zh-CN" altLang="en-US" dirty="0">
                          <a:latin typeface="微软雅黑" panose="020B0503020204020204" pitchFamily="34" charset="-122"/>
                          <a:ea typeface="微软雅黑" panose="020B0503020204020204" pitchFamily="34" charset="-122"/>
                        </a:rPr>
                        <a:t>Bus + Driver + Device模型；支持中断</a:t>
                      </a:r>
                      <a:r>
                        <a:rPr lang="en-US" altLang="zh-CN" dirty="0">
                          <a:latin typeface="微软雅黑" panose="020B0503020204020204" pitchFamily="34" charset="-122"/>
                          <a:ea typeface="微软雅黑" panose="020B0503020204020204" pitchFamily="34" charset="-122"/>
                        </a:rPr>
                        <a:t>IO</a:t>
                      </a:r>
                      <a:r>
                        <a:rPr lang="zh-CN" altLang="en-US" dirty="0">
                          <a:latin typeface="微软雅黑" panose="020B0503020204020204" pitchFamily="34" charset="-122"/>
                          <a:ea typeface="微软雅黑" panose="020B0503020204020204" pitchFamily="34" charset="-122"/>
                        </a:rPr>
                        <a:t>与</a:t>
                      </a:r>
                      <a:r>
                        <a:rPr lang="en-US" altLang="zh-CN" dirty="0">
                          <a:latin typeface="微软雅黑" panose="020B0503020204020204" pitchFamily="34" charset="-122"/>
                          <a:ea typeface="微软雅黑" panose="020B0503020204020204" pitchFamily="34" charset="-122"/>
                        </a:rPr>
                        <a:t>DMA IO</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PCI</a:t>
                      </a:r>
                      <a:r>
                        <a:rPr lang="zh-CN" altLang="en-US" dirty="0">
                          <a:latin typeface="微软雅黑" panose="020B0503020204020204" pitchFamily="34" charset="-122"/>
                          <a:ea typeface="微软雅黑" panose="020B0503020204020204" pitchFamily="34" charset="-122"/>
                        </a:rPr>
                        <a:t>、</a:t>
                      </a:r>
                      <a:r>
                        <a:rPr lang="en-US" altLang="zh-CN" dirty="0" err="1">
                          <a:latin typeface="微软雅黑" panose="020B0503020204020204" pitchFamily="34" charset="-122"/>
                          <a:ea typeface="微软雅黑" panose="020B0503020204020204" pitchFamily="34" charset="-122"/>
                        </a:rPr>
                        <a:t>VirtIO</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MMC</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GMAC</a:t>
                      </a:r>
                      <a:r>
                        <a:rPr lang="zh-CN" altLang="en-US" dirty="0">
                          <a:latin typeface="微软雅黑" panose="020B0503020204020204" pitchFamily="34" charset="-122"/>
                          <a:ea typeface="微软雅黑" panose="020B0503020204020204" pitchFamily="34" charset="-122"/>
                        </a:rPr>
                        <a:t>；多层级</a:t>
                      </a:r>
                      <a:r>
                        <a:rPr lang="en-US" altLang="zh-CN" dirty="0">
                          <a:latin typeface="微软雅黑" panose="020B0503020204020204" pitchFamily="34" charset="-122"/>
                          <a:ea typeface="微软雅黑" panose="020B0503020204020204" pitchFamily="34" charset="-122"/>
                        </a:rPr>
                        <a:t>IRQ</a:t>
                      </a:r>
                      <a:r>
                        <a:rPr lang="zh-CN" altLang="en-US" dirty="0">
                          <a:latin typeface="微软雅黑" panose="020B0503020204020204" pitchFamily="34" charset="-122"/>
                          <a:ea typeface="微软雅黑" panose="020B0503020204020204" pitchFamily="34" charset="-122"/>
                        </a:rPr>
                        <a:t>；设备树</a:t>
                      </a:r>
                      <a:r>
                        <a:rPr lang="en-US" altLang="zh-CN" dirty="0">
                          <a:latin typeface="微软雅黑" panose="020B0503020204020204" pitchFamily="34" charset="-122"/>
                          <a:ea typeface="微软雅黑" panose="020B0503020204020204" pitchFamily="34" charset="-122"/>
                        </a:rPr>
                        <a:t>/EFI</a:t>
                      </a:r>
                      <a:r>
                        <a:rPr lang="zh-CN" altLang="en-US" dirty="0">
                          <a:latin typeface="微软雅黑" panose="020B0503020204020204" pitchFamily="34" charset="-122"/>
                          <a:ea typeface="微软雅黑" panose="020B0503020204020204" pitchFamily="34" charset="-122"/>
                        </a:rPr>
                        <a:t>解析</a:t>
                      </a:r>
                    </a:p>
                  </a:txBody>
                  <a:tcPr anchor="ctr"/>
                </a:tc>
                <a:extLst>
                  <a:ext uri="{0D108BD9-81ED-4DB2-BD59-A6C34878D82A}">
                    <a16:rowId xmlns:a16="http://schemas.microsoft.com/office/drawing/2014/main" val="10005"/>
                  </a:ext>
                </a:extLst>
              </a:tr>
              <a:tr h="576000">
                <a:tc>
                  <a:txBody>
                    <a:bodyPr/>
                    <a:lstStyle/>
                    <a:p>
                      <a:pPr algn="ctr">
                        <a:buNone/>
                      </a:pPr>
                      <a:r>
                        <a:rPr lang="zh-CN" altLang="en-US" dirty="0">
                          <a:solidFill>
                            <a:schemeClr val="tx1"/>
                          </a:solidFill>
                          <a:latin typeface="微软雅黑" panose="020B0503020204020204" pitchFamily="34" charset="-122"/>
                          <a:ea typeface="微软雅黑" panose="020B0503020204020204" pitchFamily="34" charset="-122"/>
                        </a:rPr>
                        <a:t>网络</a:t>
                      </a:r>
                    </a:p>
                  </a:txBody>
                  <a:tcPr anchor="ctr"/>
                </a:tc>
                <a:tc>
                  <a:txBody>
                    <a:bodyPr/>
                    <a:lstStyle/>
                    <a:p>
                      <a:pPr algn="ctr">
                        <a:buNone/>
                      </a:pPr>
                      <a:r>
                        <a:rPr lang="zh-CN" altLang="en-US" sz="1800" dirty="0">
                          <a:solidFill>
                            <a:schemeClr val="tx1"/>
                          </a:solidFill>
                          <a:latin typeface="微软雅黑" panose="020B0503020204020204" pitchFamily="34" charset="-122"/>
                          <a:ea typeface="微软雅黑" panose="020B0503020204020204" pitchFamily="34" charset="-122"/>
                        </a:rPr>
                        <a:t>统一</a:t>
                      </a:r>
                      <a:r>
                        <a:rPr lang="en-US" altLang="zh-CN" sz="1800" dirty="0">
                          <a:solidFill>
                            <a:schemeClr val="tx1"/>
                          </a:solidFill>
                          <a:latin typeface="微软雅黑" panose="020B0503020204020204" pitchFamily="34" charset="-122"/>
                          <a:ea typeface="微软雅黑" panose="020B0503020204020204" pitchFamily="34" charset="-122"/>
                        </a:rPr>
                        <a:t>Socket</a:t>
                      </a:r>
                      <a:r>
                        <a:rPr lang="zh-CN" altLang="en-US" sz="1800" dirty="0">
                          <a:solidFill>
                            <a:schemeClr val="tx1"/>
                          </a:solidFill>
                          <a:latin typeface="微软雅黑" panose="020B0503020204020204" pitchFamily="34" charset="-122"/>
                          <a:ea typeface="微软雅黑" panose="020B0503020204020204" pitchFamily="34" charset="-122"/>
                        </a:rPr>
                        <a:t>前端；</a:t>
                      </a:r>
                      <a:r>
                        <a:rPr lang="en-US" altLang="zh-CN" sz="1800" dirty="0">
                          <a:solidFill>
                            <a:schemeClr val="tx1"/>
                          </a:solidFill>
                          <a:latin typeface="微软雅黑" panose="020B0503020204020204" pitchFamily="34" charset="-122"/>
                          <a:ea typeface="微软雅黑" panose="020B0503020204020204" pitchFamily="34" charset="-122"/>
                        </a:rPr>
                        <a:t>TCP</a:t>
                      </a:r>
                      <a:r>
                        <a:rPr lang="zh-CN" altLang="en-US" sz="1800" dirty="0">
                          <a:solidFill>
                            <a:schemeClr val="tx1"/>
                          </a:solidFill>
                          <a:latin typeface="微软雅黑" panose="020B0503020204020204" pitchFamily="34" charset="-122"/>
                          <a:ea typeface="微软雅黑" panose="020B0503020204020204" pitchFamily="34" charset="-122"/>
                        </a:rPr>
                        <a:t>；</a:t>
                      </a:r>
                      <a:r>
                        <a:rPr lang="en-US" altLang="zh-CN" sz="1800" dirty="0">
                          <a:solidFill>
                            <a:schemeClr val="tx1"/>
                          </a:solidFill>
                          <a:latin typeface="微软雅黑" panose="020B0503020204020204" pitchFamily="34" charset="-122"/>
                          <a:ea typeface="微软雅黑" panose="020B0503020204020204" pitchFamily="34" charset="-122"/>
                        </a:rPr>
                        <a:t>UDP</a:t>
                      </a:r>
                      <a:r>
                        <a:rPr lang="zh-CN" altLang="en-US" sz="1800" dirty="0">
                          <a:solidFill>
                            <a:schemeClr val="tx1"/>
                          </a:solidFill>
                          <a:latin typeface="微软雅黑" panose="020B0503020204020204" pitchFamily="34" charset="-122"/>
                          <a:ea typeface="微软雅黑" panose="020B0503020204020204" pitchFamily="34" charset="-122"/>
                        </a:rPr>
                        <a:t>；</a:t>
                      </a:r>
                      <a:r>
                        <a:rPr lang="en-US" altLang="zh-CN" sz="1800" dirty="0">
                          <a:solidFill>
                            <a:schemeClr val="tx1"/>
                          </a:solidFill>
                          <a:latin typeface="微软雅黑" panose="020B0503020204020204" pitchFamily="34" charset="-122"/>
                          <a:ea typeface="微软雅黑" panose="020B0503020204020204" pitchFamily="34" charset="-122"/>
                        </a:rPr>
                        <a:t>ICMP</a:t>
                      </a:r>
                      <a:r>
                        <a:rPr lang="zh-CN" altLang="en-US" sz="1800" dirty="0">
                          <a:solidFill>
                            <a:schemeClr val="tx1"/>
                          </a:solidFill>
                          <a:latin typeface="微软雅黑" panose="020B0503020204020204" pitchFamily="34" charset="-122"/>
                          <a:ea typeface="微软雅黑" panose="020B0503020204020204" pitchFamily="34" charset="-122"/>
                        </a:rPr>
                        <a:t>；</a:t>
                      </a:r>
                      <a:r>
                        <a:rPr lang="en-US" altLang="zh-CN" sz="1800" dirty="0" err="1">
                          <a:solidFill>
                            <a:schemeClr val="tx1"/>
                          </a:solidFill>
                          <a:latin typeface="微软雅黑" panose="020B0503020204020204" pitchFamily="34" charset="-122"/>
                          <a:ea typeface="微软雅黑" panose="020B0503020204020204" pitchFamily="34" charset="-122"/>
                        </a:rPr>
                        <a:t>NetLink</a:t>
                      </a:r>
                      <a:r>
                        <a:rPr lang="zh-CN" altLang="en-US" sz="1800" dirty="0">
                          <a:solidFill>
                            <a:schemeClr val="tx1"/>
                          </a:solidFill>
                          <a:latin typeface="微软雅黑" panose="020B0503020204020204" pitchFamily="34" charset="-122"/>
                          <a:ea typeface="微软雅黑" panose="020B0503020204020204" pitchFamily="34" charset="-122"/>
                        </a:rPr>
                        <a:t>；</a:t>
                      </a:r>
                      <a:r>
                        <a:rPr lang="en-US" altLang="zh-CN" sz="1800" dirty="0">
                          <a:solidFill>
                            <a:schemeClr val="tx1"/>
                          </a:solidFill>
                          <a:latin typeface="微软雅黑" panose="020B0503020204020204" pitchFamily="34" charset="-122"/>
                          <a:ea typeface="微软雅黑" panose="020B0503020204020204" pitchFamily="34" charset="-122"/>
                        </a:rPr>
                        <a:t>IPv4</a:t>
                      </a:r>
                      <a:r>
                        <a:rPr lang="zh-CN" altLang="en-US" sz="1800" dirty="0">
                          <a:solidFill>
                            <a:schemeClr val="tx1"/>
                          </a:solidFill>
                          <a:latin typeface="微软雅黑" panose="020B0503020204020204" pitchFamily="34" charset="-122"/>
                          <a:ea typeface="微软雅黑" panose="020B0503020204020204" pitchFamily="34" charset="-122"/>
                        </a:rPr>
                        <a:t>；本地回环</a:t>
                      </a:r>
                      <a:endParaRPr lang="zh-CN" altLang="en-US" dirty="0">
                        <a:solidFill>
                          <a:schemeClr val="tx1"/>
                        </a:solidFill>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10006"/>
                  </a:ext>
                </a:extLst>
              </a:tr>
              <a:tr h="576000">
                <a:tc>
                  <a:txBody>
                    <a:bodyPr/>
                    <a:lstStyle/>
                    <a:p>
                      <a:pPr algn="ctr">
                        <a:buNone/>
                      </a:pPr>
                      <a:r>
                        <a:rPr lang="zh-CN" altLang="en-US" dirty="0">
                          <a:solidFill>
                            <a:schemeClr val="tx1"/>
                          </a:solidFill>
                          <a:latin typeface="微软雅黑" panose="020B0503020204020204" pitchFamily="34" charset="-122"/>
                          <a:ea typeface="微软雅黑" panose="020B0503020204020204" pitchFamily="34" charset="-122"/>
                        </a:rPr>
                        <a:t>硬件抽象层</a:t>
                      </a:r>
                    </a:p>
                  </a:txBody>
                  <a:tcPr anchor="ctr"/>
                </a:tc>
                <a:tc>
                  <a:txBody>
                    <a:bodyPr/>
                    <a:lstStyle/>
                    <a:p>
                      <a:pPr algn="ctr">
                        <a:buNone/>
                      </a:pPr>
                      <a:r>
                        <a:rPr lang="zh-CN" altLang="en-US" dirty="0">
                          <a:solidFill>
                            <a:schemeClr val="tx1"/>
                          </a:solidFill>
                          <a:latin typeface="微软雅黑" panose="020B0503020204020204" pitchFamily="34" charset="-122"/>
                          <a:ea typeface="微软雅黑" panose="020B0503020204020204" pitchFamily="34" charset="-122"/>
                        </a:rPr>
                        <a:t>RISC-V64 / LoongArch64；架构特有能力旁路</a:t>
                      </a:r>
                    </a:p>
                  </a:txBody>
                  <a:tcPr anchor="ctr"/>
                </a:tc>
                <a:extLst>
                  <a:ext uri="{0D108BD9-81ED-4DB2-BD59-A6C34878D82A}">
                    <a16:rowId xmlns:a16="http://schemas.microsoft.com/office/drawing/2014/main" val="10007"/>
                  </a:ext>
                </a:extLst>
              </a:tr>
              <a:tr h="576000">
                <a:tc>
                  <a:txBody>
                    <a:bodyPr/>
                    <a:lstStyle/>
                    <a:p>
                      <a:pPr algn="ctr">
                        <a:buNone/>
                      </a:pPr>
                      <a:r>
                        <a:rPr lang="zh-CN" altLang="en-US" dirty="0">
                          <a:solidFill>
                            <a:schemeClr val="tx1"/>
                          </a:solidFill>
                          <a:latin typeface="微软雅黑" panose="020B0503020204020204" pitchFamily="34" charset="-122"/>
                          <a:ea typeface="微软雅黑" panose="020B0503020204020204" pitchFamily="34" charset="-122"/>
                        </a:rPr>
                        <a:t>构建系统</a:t>
                      </a:r>
                    </a:p>
                  </a:txBody>
                  <a:tcPr anchor="ctr"/>
                </a:tc>
                <a:tc>
                  <a:txBody>
                    <a:bodyPr/>
                    <a:lstStyle/>
                    <a:p>
                      <a:pPr algn="ctr">
                        <a:buNone/>
                      </a:pPr>
                      <a:r>
                        <a:rPr lang="en-US" altLang="zh-CN" dirty="0" err="1">
                          <a:solidFill>
                            <a:schemeClr val="tx1"/>
                          </a:solidFill>
                          <a:latin typeface="微软雅黑" panose="020B0503020204020204" pitchFamily="34" charset="-122"/>
                          <a:ea typeface="微软雅黑" panose="020B0503020204020204" pitchFamily="34" charset="-122"/>
                        </a:rPr>
                        <a:t>Xtask</a:t>
                      </a:r>
                      <a:r>
                        <a:rPr lang="zh-CN" altLang="en-US" dirty="0">
                          <a:solidFill>
                            <a:schemeClr val="tx1"/>
                          </a:solidFill>
                          <a:latin typeface="微软雅黑" panose="020B0503020204020204" pitchFamily="34" charset="-122"/>
                          <a:ea typeface="微软雅黑" panose="020B0503020204020204" pitchFamily="34" charset="-122"/>
                        </a:rPr>
                        <a:t>；</a:t>
                      </a:r>
                      <a:r>
                        <a:rPr lang="en-US" altLang="zh-CN" dirty="0" err="1">
                          <a:solidFill>
                            <a:schemeClr val="tx1"/>
                          </a:solidFill>
                          <a:latin typeface="微软雅黑" panose="020B0503020204020204" pitchFamily="34" charset="-122"/>
                          <a:ea typeface="微软雅黑" panose="020B0503020204020204" pitchFamily="34" charset="-122"/>
                        </a:rPr>
                        <a:t>KernelConfig</a:t>
                      </a:r>
                      <a:r>
                        <a:rPr lang="zh-CN" altLang="en-US" dirty="0">
                          <a:solidFill>
                            <a:schemeClr val="tx1"/>
                          </a:solidFill>
                          <a:latin typeface="微软雅黑" panose="020B0503020204020204" pitchFamily="34" charset="-122"/>
                          <a:ea typeface="微软雅黑" panose="020B0503020204020204" pitchFamily="34" charset="-122"/>
                        </a:rPr>
                        <a:t>；</a:t>
                      </a:r>
                      <a:r>
                        <a:rPr lang="en-US" altLang="zh-CN" dirty="0" err="1">
                          <a:solidFill>
                            <a:schemeClr val="tx1"/>
                          </a:solidFill>
                          <a:latin typeface="微软雅黑" panose="020B0503020204020204" pitchFamily="34" charset="-122"/>
                          <a:ea typeface="微软雅黑" panose="020B0503020204020204" pitchFamily="34" charset="-122"/>
                        </a:rPr>
                        <a:t>RootFsConfig</a:t>
                      </a:r>
                      <a:r>
                        <a:rPr lang="en-US" altLang="zh-CN" dirty="0">
                          <a:solidFill>
                            <a:schemeClr val="tx1"/>
                          </a:solidFill>
                          <a:latin typeface="微软雅黑" panose="020B0503020204020204" pitchFamily="34" charset="-122"/>
                          <a:ea typeface="微软雅黑" panose="020B0503020204020204" pitchFamily="34" charset="-122"/>
                        </a:rPr>
                        <a:t>; </a:t>
                      </a:r>
                      <a:r>
                        <a:rPr lang="en-US" altLang="zh-CN" dirty="0" err="1">
                          <a:solidFill>
                            <a:schemeClr val="tx1"/>
                          </a:solidFill>
                          <a:latin typeface="微软雅黑" panose="020B0503020204020204" pitchFamily="34" charset="-122"/>
                          <a:ea typeface="微软雅黑" panose="020B0503020204020204" pitchFamily="34" charset="-122"/>
                        </a:rPr>
                        <a:t>SystemTarget</a:t>
                      </a:r>
                      <a:r>
                        <a:rPr lang="en-US" altLang="zh-CN" dirty="0">
                          <a:solidFill>
                            <a:schemeClr val="tx1"/>
                          </a:solidFill>
                          <a:latin typeface="微软雅黑" panose="020B0503020204020204" pitchFamily="34" charset="-122"/>
                          <a:ea typeface="微软雅黑" panose="020B0503020204020204" pitchFamily="34" charset="-122"/>
                        </a:rPr>
                        <a:t>; App/Module </a:t>
                      </a:r>
                      <a:r>
                        <a:rPr lang="zh-CN" altLang="en-US" dirty="0">
                          <a:solidFill>
                            <a:schemeClr val="tx1"/>
                          </a:solidFill>
                          <a:latin typeface="微软雅黑" panose="020B0503020204020204" pitchFamily="34" charset="-122"/>
                          <a:ea typeface="微软雅黑" panose="020B0503020204020204" pitchFamily="34" charset="-122"/>
                        </a:rPr>
                        <a:t>完整可配置自动化构建链路</a:t>
                      </a:r>
                    </a:p>
                  </a:txBody>
                  <a:tcPr anchor="ctr"/>
                </a:tc>
                <a:extLst>
                  <a:ext uri="{0D108BD9-81ED-4DB2-BD59-A6C34878D82A}">
                    <a16:rowId xmlns:a16="http://schemas.microsoft.com/office/drawing/2014/main" val="10008"/>
                  </a:ext>
                </a:extLst>
              </a:tr>
            </a:tbl>
          </a:graphicData>
        </a:graphic>
      </p:graphicFrame>
      <p:sp>
        <p:nvSpPr>
          <p:cNvPr id="40" name="NavActive 完成情况"/>
          <p:cNvSpPr/>
          <p:nvPr/>
        </p:nvSpPr>
        <p:spPr>
          <a:xfrm>
            <a:off x="3231850"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41"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46"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完成情况</a:t>
            </a:r>
          </a:p>
        </p:txBody>
      </p:sp>
      <p:sp>
        <p:nvSpPr>
          <p:cNvPr id="47"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8"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49"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核心机制</a:t>
            </a:r>
          </a:p>
        </p:txBody>
      </p:sp>
      <p:sp>
        <p:nvSpPr>
          <p:cNvPr id="50"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51"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9" name="图片 38"/>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2" name="文本框 1"/>
          <p:cNvSpPr txBox="1"/>
          <p:nvPr/>
        </p:nvSpPr>
        <p:spPr>
          <a:xfrm>
            <a:off x="420409" y="1007903"/>
            <a:ext cx="5156835" cy="521970"/>
          </a:xfrm>
          <a:prstGeom prst="rect">
            <a:avLst/>
          </a:prstGeom>
          <a:noFill/>
        </p:spPr>
        <p:txBody>
          <a:bodyPr wrap="none" rtlCol="0">
            <a:spAutoFit/>
          </a:bodyPr>
          <a:lstStyle/>
          <a:p>
            <a:pPr marL="342900" indent="-342900" algn="l">
              <a:buClrTx/>
              <a:buSzTx/>
              <a:buFont typeface="Wingdings" panose="05000000000000000000" pitchFamily="2" charset="2"/>
              <a:buChar char="Ø"/>
            </a:pPr>
            <a:r>
              <a:rPr lang="en-US" altLang="zh-CN" sz="2800" b="1" dirty="0">
                <a:latin typeface="微软雅黑" panose="020B0503020204020204" pitchFamily="34" charset="-122"/>
                <a:ea typeface="微软雅黑" panose="020B0503020204020204" pitchFamily="34" charset="-122"/>
                <a:cs typeface="微软雅黑" panose="020B0503020204020204" pitchFamily="34" charset="-122"/>
              </a:rPr>
              <a:t>目前已经支持的应用程序举例</a:t>
            </a:r>
          </a:p>
        </p:txBody>
      </p:sp>
      <p:sp>
        <p:nvSpPr>
          <p:cNvPr id="40" name="NavActive 完成情况"/>
          <p:cNvSpPr/>
          <p:nvPr/>
        </p:nvSpPr>
        <p:spPr>
          <a:xfrm>
            <a:off x="3231850"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41"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46"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完成情况</a:t>
            </a:r>
          </a:p>
        </p:txBody>
      </p:sp>
      <p:sp>
        <p:nvSpPr>
          <p:cNvPr id="47"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8"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49"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核心机制</a:t>
            </a:r>
          </a:p>
        </p:txBody>
      </p:sp>
      <p:sp>
        <p:nvSpPr>
          <p:cNvPr id="50"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51"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sp>
        <p:nvSpPr>
          <p:cNvPr id="4" name="文本框 3"/>
          <p:cNvSpPr txBox="1"/>
          <p:nvPr/>
        </p:nvSpPr>
        <p:spPr>
          <a:xfrm>
            <a:off x="522513" y="1923803"/>
            <a:ext cx="10646229" cy="3046095"/>
          </a:xfrm>
          <a:prstGeom prst="rect">
            <a:avLst/>
          </a:prstGeom>
          <a:noFill/>
        </p:spPr>
        <p:txBody>
          <a:bodyPr wrap="square" rtlCol="0">
            <a:spAutoFit/>
          </a:bodyPr>
          <a:lstStyle/>
          <a:p>
            <a:pPr marL="285750" indent="-285750">
              <a:buFontTx/>
              <a:buChar char="-"/>
            </a:pPr>
            <a:r>
              <a:rPr lang="en-US" altLang="zh-CN" sz="2400" dirty="0"/>
              <a:t>OpenJDK25		</a:t>
            </a:r>
            <a:r>
              <a:rPr lang="en-US" altLang="zh-CN" sz="2400" dirty="0" err="1"/>
              <a:t>HotSpot</a:t>
            </a:r>
            <a:r>
              <a:rPr lang="en-US" altLang="zh-CN" sz="2400" dirty="0"/>
              <a:t> JIT</a:t>
            </a:r>
            <a:r>
              <a:rPr lang="zh-CN" altLang="en-US" sz="2400" dirty="0"/>
              <a:t>，运行</a:t>
            </a:r>
            <a:r>
              <a:rPr lang="en-US" altLang="zh-CN" sz="2400" dirty="0"/>
              <a:t> Minecraft Java 26.2 Server</a:t>
            </a:r>
          </a:p>
          <a:p>
            <a:pPr marL="285750" indent="-285750">
              <a:buFontTx/>
              <a:buChar char="-"/>
            </a:pPr>
            <a:r>
              <a:rPr lang="en-US" altLang="zh-CN" sz="2400" dirty="0"/>
              <a:t>Cargo / </a:t>
            </a:r>
            <a:r>
              <a:rPr lang="en-US" altLang="zh-CN" sz="2400" dirty="0" err="1"/>
              <a:t>RustC</a:t>
            </a:r>
            <a:r>
              <a:rPr lang="en-US" altLang="zh-CN" sz="2400" dirty="0"/>
              <a:t>	</a:t>
            </a:r>
            <a:r>
              <a:rPr lang="zh-CN" altLang="en-US" sz="2400" dirty="0"/>
              <a:t>足以编译大型代码库，例如</a:t>
            </a:r>
            <a:r>
              <a:rPr lang="en-US" altLang="zh-CN" sz="2400" dirty="0"/>
              <a:t> </a:t>
            </a:r>
            <a:r>
              <a:rPr lang="en-US" altLang="zh-CN" sz="2400" dirty="0" err="1"/>
              <a:t>arceos-helloworld</a:t>
            </a:r>
            <a:endParaRPr lang="en-US" altLang="zh-CN" sz="2400" dirty="0"/>
          </a:p>
          <a:p>
            <a:pPr marL="285750" indent="-285750">
              <a:buFontTx/>
              <a:buChar char="-"/>
            </a:pPr>
            <a:r>
              <a:rPr lang="en-US" altLang="zh-CN" sz="2400" dirty="0"/>
              <a:t>Apt			</a:t>
            </a:r>
            <a:r>
              <a:rPr lang="zh-CN" altLang="en-US" sz="2400" dirty="0"/>
              <a:t>已经支持直接使用</a:t>
            </a:r>
            <a:r>
              <a:rPr lang="en-US" altLang="zh-CN" sz="2400" dirty="0"/>
              <a:t>apt</a:t>
            </a:r>
            <a:r>
              <a:rPr lang="zh-CN" altLang="en-US" sz="2400" dirty="0"/>
              <a:t> </a:t>
            </a:r>
            <a:r>
              <a:rPr lang="en-US" altLang="zh-CN" sz="2400" dirty="0"/>
              <a:t>install</a:t>
            </a:r>
            <a:r>
              <a:rPr lang="zh-CN" altLang="en-US" sz="2400" dirty="0"/>
              <a:t>大量包</a:t>
            </a:r>
            <a:endParaRPr lang="en-US" altLang="zh-CN" sz="2400" dirty="0"/>
          </a:p>
          <a:p>
            <a:pPr marL="285750" indent="-285750">
              <a:buFontTx/>
              <a:buChar char="-"/>
            </a:pPr>
            <a:r>
              <a:rPr lang="en-US" altLang="zh-CN" sz="2400" dirty="0"/>
              <a:t>OpenSSH/</a:t>
            </a:r>
            <a:r>
              <a:rPr lang="en-US" altLang="zh-CN" sz="2400" dirty="0" err="1"/>
              <a:t>Dropbear</a:t>
            </a:r>
            <a:r>
              <a:rPr lang="en-US" altLang="zh-CN" sz="2400" dirty="0"/>
              <a:t>	</a:t>
            </a:r>
            <a:r>
              <a:rPr lang="zh-CN" altLang="en-US" sz="2400" dirty="0"/>
              <a:t>已经可以建立</a:t>
            </a:r>
            <a:r>
              <a:rPr lang="en-US" altLang="zh-CN" sz="2400" dirty="0" err="1"/>
              <a:t>sshd</a:t>
            </a:r>
            <a:r>
              <a:rPr lang="zh-CN" altLang="en-US" sz="2400" dirty="0"/>
              <a:t>和通过</a:t>
            </a:r>
            <a:r>
              <a:rPr lang="en-US" altLang="zh-CN" sz="2400" dirty="0"/>
              <a:t>ssh</a:t>
            </a:r>
            <a:r>
              <a:rPr lang="zh-CN" altLang="en-US" sz="2400" dirty="0"/>
              <a:t>连接其他主机</a:t>
            </a:r>
            <a:endParaRPr lang="en-US" altLang="zh-CN" sz="2400" dirty="0"/>
          </a:p>
          <a:p>
            <a:pPr marL="285750" indent="-285750">
              <a:buFontTx/>
              <a:buChar char="-"/>
            </a:pPr>
            <a:r>
              <a:rPr lang="en-US" altLang="zh-CN" sz="2400" dirty="0"/>
              <a:t>Golang		</a:t>
            </a:r>
            <a:r>
              <a:rPr lang="zh-CN" altLang="en-US" sz="2400" dirty="0"/>
              <a:t>支持</a:t>
            </a:r>
            <a:r>
              <a:rPr lang="en-US" altLang="zh-CN" sz="2400" dirty="0"/>
              <a:t>CGO</a:t>
            </a:r>
            <a:r>
              <a:rPr lang="zh-CN" altLang="en-US" sz="2400" dirty="0"/>
              <a:t>与原生</a:t>
            </a:r>
            <a:r>
              <a:rPr lang="en-US" altLang="zh-CN" sz="2400" dirty="0"/>
              <a:t>GO</a:t>
            </a:r>
            <a:r>
              <a:rPr lang="zh-CN" altLang="en-US" sz="2400" dirty="0"/>
              <a:t>大规模编译</a:t>
            </a:r>
            <a:endParaRPr lang="en-US" altLang="zh-CN" sz="2400" dirty="0"/>
          </a:p>
          <a:p>
            <a:pPr marL="285750" indent="-285750">
              <a:buFontTx/>
              <a:buChar char="-"/>
            </a:pPr>
            <a:r>
              <a:rPr lang="en-US" altLang="zh-CN" sz="2400" dirty="0"/>
              <a:t>Nginx		</a:t>
            </a:r>
            <a:r>
              <a:rPr lang="zh-CN" altLang="en-US" sz="2400" dirty="0"/>
              <a:t>可以直接启动服务器，并通过网络访问</a:t>
            </a:r>
            <a:endParaRPr lang="en-US" altLang="zh-CN" sz="2400" dirty="0"/>
          </a:p>
          <a:p>
            <a:pPr marL="285750" indent="-285750">
              <a:buFontTx/>
              <a:buChar char="-"/>
            </a:pPr>
            <a:r>
              <a:rPr lang="en-US" altLang="zh-CN" sz="2400" dirty="0" err="1"/>
              <a:t>Qemu</a:t>
            </a:r>
            <a:r>
              <a:rPr lang="en-US" altLang="zh-CN" sz="2400" dirty="0"/>
              <a:t>-System	</a:t>
            </a:r>
            <a:r>
              <a:rPr lang="zh-CN" altLang="en-US" sz="2400" dirty="0"/>
              <a:t>支持系统级别模拟。可以嵌套启动</a:t>
            </a:r>
            <a:r>
              <a:rPr lang="en-US" altLang="zh-CN" sz="2400" dirty="0"/>
              <a:t>Anemone</a:t>
            </a:r>
            <a:r>
              <a:rPr lang="zh-CN" altLang="en-US" sz="2400" dirty="0"/>
              <a:t>。</a:t>
            </a:r>
          </a:p>
          <a:p>
            <a:pPr indent="0">
              <a:buFontTx/>
              <a:buNone/>
            </a:pPr>
            <a:r>
              <a:rPr lang="en-US" altLang="zh-CN" sz="2400" dirty="0"/>
              <a:t>……</a:t>
            </a:r>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9" name="图片 38"/>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2" name="文本框 1"/>
          <p:cNvSpPr txBox="1"/>
          <p:nvPr/>
        </p:nvSpPr>
        <p:spPr>
          <a:xfrm>
            <a:off x="420409" y="1007903"/>
            <a:ext cx="4918719" cy="523220"/>
          </a:xfrm>
          <a:prstGeom prst="rect">
            <a:avLst/>
          </a:prstGeom>
          <a:noFill/>
        </p:spPr>
        <p:txBody>
          <a:bodyPr wrap="none" rtlCol="0">
            <a:spAutoFit/>
          </a:bodyPr>
          <a:lstStyle/>
          <a:p>
            <a:pPr marL="342900" indent="-342900" algn="l">
              <a:buClrTx/>
              <a:buSzTx/>
              <a:buFont typeface="Wingdings" panose="05000000000000000000" pitchFamily="2" charset="2"/>
              <a:buChar char="Ø"/>
            </a:pPr>
            <a:r>
              <a:rPr lang="zh-CN" altLang="en-US" sz="2800" b="1" dirty="0">
                <a:latin typeface="微软雅黑" panose="020B0503020204020204" pitchFamily="34" charset="-122"/>
                <a:ea typeface="微软雅黑" panose="020B0503020204020204" pitchFamily="34" charset="-122"/>
                <a:cs typeface="微软雅黑" panose="020B0503020204020204" pitchFamily="34" charset="-122"/>
              </a:rPr>
              <a:t>一次</a:t>
            </a:r>
            <a:r>
              <a:rPr lang="en-US" altLang="zh-CN" sz="2800" b="1" dirty="0">
                <a:latin typeface="微软雅黑" panose="020B0503020204020204" pitchFamily="34" charset="-122"/>
                <a:ea typeface="微软雅黑" panose="020B0503020204020204" pitchFamily="34" charset="-122"/>
                <a:cs typeface="微软雅黑" panose="020B0503020204020204" pitchFamily="34" charset="-122"/>
              </a:rPr>
              <a:t>MC Server</a:t>
            </a:r>
            <a:r>
              <a:rPr lang="zh-CN" altLang="en-US" sz="2800" b="1" dirty="0">
                <a:latin typeface="微软雅黑" panose="020B0503020204020204" pitchFamily="34" charset="-122"/>
                <a:ea typeface="微软雅黑" panose="020B0503020204020204" pitchFamily="34" charset="-122"/>
                <a:cs typeface="微软雅黑" panose="020B0503020204020204" pitchFamily="34" charset="-122"/>
              </a:rPr>
              <a:t>启动的日志</a:t>
            </a:r>
            <a:endParaRPr lang="en-US" altLang="zh-CN" sz="2800" b="1"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0" name="NavActive 完成情况"/>
          <p:cNvSpPr/>
          <p:nvPr/>
        </p:nvSpPr>
        <p:spPr>
          <a:xfrm>
            <a:off x="3231850"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41"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46"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完成情况</a:t>
            </a:r>
          </a:p>
        </p:txBody>
      </p:sp>
      <p:sp>
        <p:nvSpPr>
          <p:cNvPr id="47"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8"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49"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核心机制</a:t>
            </a:r>
          </a:p>
        </p:txBody>
      </p:sp>
      <p:sp>
        <p:nvSpPr>
          <p:cNvPr id="50"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51"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pic>
        <p:nvPicPr>
          <p:cNvPr id="7" name="图片 6"/>
          <p:cNvPicPr>
            <a:picLocks noChangeAspect="1"/>
          </p:cNvPicPr>
          <p:nvPr/>
        </p:nvPicPr>
        <p:blipFill>
          <a:blip r:embed="rId5"/>
          <a:stretch>
            <a:fillRect/>
          </a:stretch>
        </p:blipFill>
        <p:spPr>
          <a:xfrm>
            <a:off x="469580" y="1614440"/>
            <a:ext cx="8478040" cy="5110569"/>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62" name="文本框 61"/>
          <p:cNvSpPr txBox="1"/>
          <p:nvPr/>
        </p:nvSpPr>
        <p:spPr>
          <a:xfrm>
            <a:off x="117373" y="1084103"/>
            <a:ext cx="3712845" cy="521970"/>
          </a:xfrm>
          <a:prstGeom prst="rect">
            <a:avLst/>
          </a:prstGeom>
          <a:noFill/>
        </p:spPr>
        <p:txBody>
          <a:bodyPr wrap="none" rtlCol="0">
            <a:spAutoFit/>
          </a:bodyPr>
          <a:lstStyle/>
          <a:p>
            <a:pPr marL="342900" indent="-342900" algn="l">
              <a:buClrTx/>
              <a:buSzTx/>
              <a:buFont typeface="Wingdings" panose="05000000000000000000" pitchFamily="2" charset="2"/>
              <a:buChar char="Ø"/>
            </a:pPr>
            <a:r>
              <a:rPr lang="en-US" altLang="zh-CN" sz="2800" b="1" dirty="0">
                <a:latin typeface="微软雅黑" panose="020B0503020204020204" pitchFamily="34" charset="-122"/>
                <a:ea typeface="微软雅黑" panose="020B0503020204020204" pitchFamily="34" charset="-122"/>
                <a:cs typeface="微软雅黑" panose="020B0503020204020204" pitchFamily="34" charset="-122"/>
              </a:rPr>
              <a:t>Anemone 开发历程</a:t>
            </a:r>
          </a:p>
        </p:txBody>
      </p:sp>
      <p:sp>
        <p:nvSpPr>
          <p:cNvPr id="70" name="Freeform 790"/>
          <p:cNvSpPr/>
          <p:nvPr/>
        </p:nvSpPr>
        <p:spPr bwMode="auto">
          <a:xfrm>
            <a:off x="1347977" y="1800463"/>
            <a:ext cx="2373003" cy="596529"/>
          </a:xfrm>
          <a:custGeom>
            <a:avLst/>
            <a:gdLst>
              <a:gd name="connsiteX0" fmla="*/ 9568 w 10000"/>
              <a:gd name="connsiteY0" fmla="*/ 10000 h 10000"/>
              <a:gd name="connsiteX1" fmla="*/ 4793 w 10000"/>
              <a:gd name="connsiteY1" fmla="*/ 10000 h 10000"/>
              <a:gd name="connsiteX2" fmla="*/ 0 w 10000"/>
              <a:gd name="connsiteY2" fmla="*/ 10000 h 10000"/>
              <a:gd name="connsiteX3" fmla="*/ 1362 w 10000"/>
              <a:gd name="connsiteY3" fmla="*/ 4954 h 10000"/>
              <a:gd name="connsiteX4" fmla="*/ 0 w 10000"/>
              <a:gd name="connsiteY4" fmla="*/ 0 h 10000"/>
              <a:gd name="connsiteX5" fmla="*/ 4793 w 10000"/>
              <a:gd name="connsiteY5" fmla="*/ 0 h 10000"/>
              <a:gd name="connsiteX6" fmla="*/ 9568 w 10000"/>
              <a:gd name="connsiteY6" fmla="*/ 0 h 10000"/>
              <a:gd name="connsiteX7" fmla="*/ 10000 w 10000"/>
              <a:gd name="connsiteY7" fmla="*/ 4954 h 10000"/>
              <a:gd name="connsiteX8" fmla="*/ 9568 w 10000"/>
              <a:gd name="connsiteY8" fmla="*/ 10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000" h="10000">
                <a:moveTo>
                  <a:pt x="9568" y="10000"/>
                </a:moveTo>
                <a:lnTo>
                  <a:pt x="4793" y="10000"/>
                </a:lnTo>
                <a:lnTo>
                  <a:pt x="0" y="10000"/>
                </a:lnTo>
                <a:lnTo>
                  <a:pt x="1362" y="4954"/>
                </a:lnTo>
                <a:lnTo>
                  <a:pt x="0" y="0"/>
                </a:lnTo>
                <a:lnTo>
                  <a:pt x="4793" y="0"/>
                </a:lnTo>
                <a:lnTo>
                  <a:pt x="9568" y="0"/>
                </a:lnTo>
                <a:lnTo>
                  <a:pt x="10000" y="4954"/>
                </a:lnTo>
                <a:lnTo>
                  <a:pt x="9568" y="10000"/>
                </a:lnTo>
                <a:close/>
              </a:path>
            </a:pathLst>
          </a:custGeom>
          <a:solidFill>
            <a:schemeClr val="accent1"/>
          </a:solid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000" b="1">
              <a:latin typeface="微软雅黑" panose="020B0503020204020204" pitchFamily="34" charset="-122"/>
              <a:ea typeface="微软雅黑" panose="020B0503020204020204" pitchFamily="34" charset="-122"/>
            </a:endParaRPr>
          </a:p>
        </p:txBody>
      </p:sp>
      <p:sp>
        <p:nvSpPr>
          <p:cNvPr id="71" name="Freeform 791"/>
          <p:cNvSpPr/>
          <p:nvPr/>
        </p:nvSpPr>
        <p:spPr bwMode="auto">
          <a:xfrm>
            <a:off x="3573477" y="1800463"/>
            <a:ext cx="2384821" cy="596529"/>
          </a:xfrm>
          <a:custGeom>
            <a:avLst/>
            <a:gdLst/>
            <a:ahLst/>
            <a:cxnLst>
              <a:cxn ang="0">
                <a:pos x="996" y="109"/>
              </a:cxn>
              <a:cxn ang="0">
                <a:pos x="499" y="109"/>
              </a:cxn>
              <a:cxn ang="0">
                <a:pos x="0" y="109"/>
              </a:cxn>
              <a:cxn ang="0">
                <a:pos x="45" y="54"/>
              </a:cxn>
              <a:cxn ang="0">
                <a:pos x="0" y="0"/>
              </a:cxn>
              <a:cxn ang="0">
                <a:pos x="499" y="0"/>
              </a:cxn>
              <a:cxn ang="0">
                <a:pos x="996" y="0"/>
              </a:cxn>
              <a:cxn ang="0">
                <a:pos x="1041" y="54"/>
              </a:cxn>
              <a:cxn ang="0">
                <a:pos x="996" y="109"/>
              </a:cxn>
            </a:cxnLst>
            <a:rect l="0" t="0" r="r" b="b"/>
            <a:pathLst>
              <a:path w="1041" h="109">
                <a:moveTo>
                  <a:pt x="996" y="109"/>
                </a:moveTo>
                <a:lnTo>
                  <a:pt x="499" y="109"/>
                </a:lnTo>
                <a:lnTo>
                  <a:pt x="0" y="109"/>
                </a:lnTo>
                <a:lnTo>
                  <a:pt x="45" y="54"/>
                </a:lnTo>
                <a:lnTo>
                  <a:pt x="0" y="0"/>
                </a:lnTo>
                <a:lnTo>
                  <a:pt x="499" y="0"/>
                </a:lnTo>
                <a:lnTo>
                  <a:pt x="996" y="0"/>
                </a:lnTo>
                <a:lnTo>
                  <a:pt x="1041" y="54"/>
                </a:lnTo>
                <a:lnTo>
                  <a:pt x="996" y="109"/>
                </a:lnTo>
                <a:close/>
              </a:path>
            </a:pathLst>
          </a:custGeom>
          <a:solidFill>
            <a:schemeClr val="accent2"/>
          </a:solid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000" b="1">
              <a:latin typeface="微软雅黑" panose="020B0503020204020204" pitchFamily="34" charset="-122"/>
              <a:ea typeface="微软雅黑" panose="020B0503020204020204" pitchFamily="34" charset="-122"/>
            </a:endParaRPr>
          </a:p>
        </p:txBody>
      </p:sp>
      <p:sp>
        <p:nvSpPr>
          <p:cNvPr id="72" name="Freeform 792"/>
          <p:cNvSpPr/>
          <p:nvPr/>
        </p:nvSpPr>
        <p:spPr bwMode="auto">
          <a:xfrm>
            <a:off x="5808677" y="1800463"/>
            <a:ext cx="2384821" cy="596529"/>
          </a:xfrm>
          <a:custGeom>
            <a:avLst/>
            <a:gdLst/>
            <a:ahLst/>
            <a:cxnLst>
              <a:cxn ang="0">
                <a:pos x="996" y="109"/>
              </a:cxn>
              <a:cxn ang="0">
                <a:pos x="497" y="109"/>
              </a:cxn>
              <a:cxn ang="0">
                <a:pos x="0" y="109"/>
              </a:cxn>
              <a:cxn ang="0">
                <a:pos x="45" y="54"/>
              </a:cxn>
              <a:cxn ang="0">
                <a:pos x="0" y="0"/>
              </a:cxn>
              <a:cxn ang="0">
                <a:pos x="497" y="0"/>
              </a:cxn>
              <a:cxn ang="0">
                <a:pos x="996" y="0"/>
              </a:cxn>
              <a:cxn ang="0">
                <a:pos x="1041" y="54"/>
              </a:cxn>
              <a:cxn ang="0">
                <a:pos x="996" y="109"/>
              </a:cxn>
            </a:cxnLst>
            <a:rect l="0" t="0" r="r" b="b"/>
            <a:pathLst>
              <a:path w="1041" h="109">
                <a:moveTo>
                  <a:pt x="996" y="109"/>
                </a:moveTo>
                <a:lnTo>
                  <a:pt x="497" y="109"/>
                </a:lnTo>
                <a:lnTo>
                  <a:pt x="0" y="109"/>
                </a:lnTo>
                <a:lnTo>
                  <a:pt x="45" y="54"/>
                </a:lnTo>
                <a:lnTo>
                  <a:pt x="0" y="0"/>
                </a:lnTo>
                <a:lnTo>
                  <a:pt x="497" y="0"/>
                </a:lnTo>
                <a:lnTo>
                  <a:pt x="996" y="0"/>
                </a:lnTo>
                <a:lnTo>
                  <a:pt x="1041" y="54"/>
                </a:lnTo>
                <a:lnTo>
                  <a:pt x="996" y="109"/>
                </a:lnTo>
                <a:close/>
              </a:path>
            </a:pathLst>
          </a:custGeom>
          <a:solidFill>
            <a:schemeClr val="accent3"/>
          </a:solid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000" b="1">
              <a:latin typeface="微软雅黑" panose="020B0503020204020204" pitchFamily="34" charset="-122"/>
              <a:ea typeface="微软雅黑" panose="020B0503020204020204" pitchFamily="34" charset="-122"/>
            </a:endParaRPr>
          </a:p>
        </p:txBody>
      </p:sp>
      <p:sp>
        <p:nvSpPr>
          <p:cNvPr id="73" name="Freeform 793"/>
          <p:cNvSpPr/>
          <p:nvPr/>
        </p:nvSpPr>
        <p:spPr bwMode="auto">
          <a:xfrm>
            <a:off x="8045991" y="1800463"/>
            <a:ext cx="2377947" cy="596529"/>
          </a:xfrm>
          <a:custGeom>
            <a:avLst/>
            <a:gdLst/>
            <a:ahLst/>
            <a:cxnLst>
              <a:cxn ang="0">
                <a:pos x="993" y="109"/>
              </a:cxn>
              <a:cxn ang="0">
                <a:pos x="497" y="109"/>
              </a:cxn>
              <a:cxn ang="0">
                <a:pos x="0" y="109"/>
              </a:cxn>
              <a:cxn ang="0">
                <a:pos x="45" y="54"/>
              </a:cxn>
              <a:cxn ang="0">
                <a:pos x="0" y="0"/>
              </a:cxn>
              <a:cxn ang="0">
                <a:pos x="497" y="0"/>
              </a:cxn>
              <a:cxn ang="0">
                <a:pos x="993" y="0"/>
              </a:cxn>
              <a:cxn ang="0">
                <a:pos x="1038" y="54"/>
              </a:cxn>
              <a:cxn ang="0">
                <a:pos x="993" y="109"/>
              </a:cxn>
            </a:cxnLst>
            <a:rect l="0" t="0" r="r" b="b"/>
            <a:pathLst>
              <a:path w="1038" h="109">
                <a:moveTo>
                  <a:pt x="993" y="109"/>
                </a:moveTo>
                <a:lnTo>
                  <a:pt x="497" y="109"/>
                </a:lnTo>
                <a:lnTo>
                  <a:pt x="0" y="109"/>
                </a:lnTo>
                <a:lnTo>
                  <a:pt x="45" y="54"/>
                </a:lnTo>
                <a:lnTo>
                  <a:pt x="0" y="0"/>
                </a:lnTo>
                <a:lnTo>
                  <a:pt x="497" y="0"/>
                </a:lnTo>
                <a:lnTo>
                  <a:pt x="993" y="0"/>
                </a:lnTo>
                <a:lnTo>
                  <a:pt x="1038" y="54"/>
                </a:lnTo>
                <a:lnTo>
                  <a:pt x="993" y="109"/>
                </a:lnTo>
                <a:close/>
              </a:path>
            </a:pathLst>
          </a:custGeom>
          <a:solidFill>
            <a:schemeClr val="accent4"/>
          </a:solid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000" b="1">
              <a:latin typeface="微软雅黑" panose="020B0503020204020204" pitchFamily="34" charset="-122"/>
              <a:ea typeface="微软雅黑" panose="020B0503020204020204" pitchFamily="34" charset="-122"/>
            </a:endParaRPr>
          </a:p>
        </p:txBody>
      </p:sp>
      <p:sp>
        <p:nvSpPr>
          <p:cNvPr id="74" name="Content Placeholder 2"/>
          <p:cNvSpPr txBox="1"/>
          <p:nvPr/>
        </p:nvSpPr>
        <p:spPr>
          <a:xfrm>
            <a:off x="1422024" y="3952790"/>
            <a:ext cx="2055002" cy="458697"/>
          </a:xfrm>
          <a:prstGeom prst="rect">
            <a:avLst/>
          </a:prstGeom>
        </p:spPr>
        <p:txBody>
          <a:bodyPr vert="horz" lIns="91440" tIns="45720" rIns="91440" bIns="4572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Font typeface="Arial" panose="020B0604020202090204" pitchFamily="34" charset="0"/>
              <a:buNone/>
            </a:pPr>
            <a:r>
              <a:rPr lang="zh-CN" altLang="en-US" sz="2000" b="1" dirty="0">
                <a:solidFill>
                  <a:schemeClr val="accent1"/>
                </a:solidFill>
                <a:latin typeface="微软雅黑" panose="020B0503020204020204" pitchFamily="34" charset="-122"/>
                <a:ea typeface="微软雅黑" panose="020B0503020204020204" pitchFamily="34" charset="-122"/>
              </a:rPr>
              <a:t>边界</a:t>
            </a:r>
          </a:p>
        </p:txBody>
      </p:sp>
      <p:cxnSp>
        <p:nvCxnSpPr>
          <p:cNvPr id="75" name="Straight Connector 9"/>
          <p:cNvCxnSpPr/>
          <p:nvPr/>
        </p:nvCxnSpPr>
        <p:spPr>
          <a:xfrm>
            <a:off x="2449525" y="2528379"/>
            <a:ext cx="0" cy="400157"/>
          </a:xfrm>
          <a:prstGeom prst="line">
            <a:avLst/>
          </a:prstGeom>
          <a:ln>
            <a:solidFill>
              <a:schemeClr val="bg1">
                <a:lumMod val="65000"/>
              </a:schemeClr>
            </a:solidFill>
            <a:prstDash val="dash"/>
            <a:headEnd type="oval"/>
            <a:tailEnd type="triangle"/>
          </a:ln>
        </p:spPr>
        <p:style>
          <a:lnRef idx="1">
            <a:schemeClr val="accent1"/>
          </a:lnRef>
          <a:fillRef idx="0">
            <a:schemeClr val="accent1"/>
          </a:fillRef>
          <a:effectRef idx="0">
            <a:schemeClr val="accent1"/>
          </a:effectRef>
          <a:fontRef idx="minor">
            <a:schemeClr val="tx1"/>
          </a:fontRef>
        </p:style>
      </p:cxnSp>
      <p:cxnSp>
        <p:nvCxnSpPr>
          <p:cNvPr id="76" name="Straight Connector 10"/>
          <p:cNvCxnSpPr/>
          <p:nvPr/>
        </p:nvCxnSpPr>
        <p:spPr>
          <a:xfrm>
            <a:off x="4604003" y="2528379"/>
            <a:ext cx="0" cy="400157"/>
          </a:xfrm>
          <a:prstGeom prst="line">
            <a:avLst/>
          </a:prstGeom>
          <a:ln>
            <a:solidFill>
              <a:schemeClr val="bg1">
                <a:lumMod val="65000"/>
              </a:schemeClr>
            </a:solidFill>
            <a:prstDash val="dash"/>
            <a:headEnd type="oval"/>
            <a:tailEnd type="triangle"/>
          </a:ln>
        </p:spPr>
        <p:style>
          <a:lnRef idx="1">
            <a:schemeClr val="accent1"/>
          </a:lnRef>
          <a:fillRef idx="0">
            <a:schemeClr val="accent1"/>
          </a:fillRef>
          <a:effectRef idx="0">
            <a:schemeClr val="accent1"/>
          </a:effectRef>
          <a:fontRef idx="minor">
            <a:schemeClr val="tx1"/>
          </a:fontRef>
        </p:style>
      </p:cxnSp>
      <p:cxnSp>
        <p:nvCxnSpPr>
          <p:cNvPr id="77" name="Straight Connector 11"/>
          <p:cNvCxnSpPr/>
          <p:nvPr/>
        </p:nvCxnSpPr>
        <p:spPr>
          <a:xfrm>
            <a:off x="6870502" y="2528379"/>
            <a:ext cx="0" cy="400157"/>
          </a:xfrm>
          <a:prstGeom prst="line">
            <a:avLst/>
          </a:prstGeom>
          <a:ln>
            <a:solidFill>
              <a:schemeClr val="bg1">
                <a:lumMod val="65000"/>
              </a:schemeClr>
            </a:solidFill>
            <a:prstDash val="dash"/>
            <a:headEnd type="oval"/>
            <a:tailEnd type="triangle"/>
          </a:ln>
        </p:spPr>
        <p:style>
          <a:lnRef idx="1">
            <a:schemeClr val="accent1"/>
          </a:lnRef>
          <a:fillRef idx="0">
            <a:schemeClr val="accent1"/>
          </a:fillRef>
          <a:effectRef idx="0">
            <a:schemeClr val="accent1"/>
          </a:effectRef>
          <a:fontRef idx="minor">
            <a:schemeClr val="tx1"/>
          </a:fontRef>
        </p:style>
      </p:cxnSp>
      <p:cxnSp>
        <p:nvCxnSpPr>
          <p:cNvPr id="78" name="Straight Connector 12"/>
          <p:cNvCxnSpPr/>
          <p:nvPr/>
        </p:nvCxnSpPr>
        <p:spPr>
          <a:xfrm>
            <a:off x="9094060" y="2528379"/>
            <a:ext cx="0" cy="400157"/>
          </a:xfrm>
          <a:prstGeom prst="line">
            <a:avLst/>
          </a:prstGeom>
          <a:ln>
            <a:solidFill>
              <a:schemeClr val="bg1">
                <a:lumMod val="65000"/>
              </a:schemeClr>
            </a:solidFill>
            <a:prstDash val="dash"/>
            <a:headEnd type="oval"/>
            <a:tailEnd type="triangle"/>
          </a:ln>
        </p:spPr>
        <p:style>
          <a:lnRef idx="1">
            <a:schemeClr val="accent1"/>
          </a:lnRef>
          <a:fillRef idx="0">
            <a:schemeClr val="accent1"/>
          </a:fillRef>
          <a:effectRef idx="0">
            <a:schemeClr val="accent1"/>
          </a:effectRef>
          <a:fontRef idx="minor">
            <a:schemeClr val="tx1"/>
          </a:fontRef>
        </p:style>
      </p:cxnSp>
      <p:sp>
        <p:nvSpPr>
          <p:cNvPr id="80" name="Oval 14"/>
          <p:cNvSpPr/>
          <p:nvPr/>
        </p:nvSpPr>
        <p:spPr>
          <a:xfrm>
            <a:off x="2038045" y="3059138"/>
            <a:ext cx="822960" cy="822960"/>
          </a:xfrm>
          <a:prstGeom prst="ellipse">
            <a:avLst/>
          </a:prstGeom>
          <a:noFill/>
          <a:ln w="793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000" b="1">
              <a:latin typeface="微软雅黑" panose="020B0503020204020204" pitchFamily="34" charset="-122"/>
              <a:ea typeface="微软雅黑" panose="020B0503020204020204" pitchFamily="34" charset="-122"/>
            </a:endParaRPr>
          </a:p>
        </p:txBody>
      </p:sp>
      <p:sp>
        <p:nvSpPr>
          <p:cNvPr id="81" name="Arc 15"/>
          <p:cNvSpPr/>
          <p:nvPr/>
        </p:nvSpPr>
        <p:spPr>
          <a:xfrm>
            <a:off x="2038045" y="3059138"/>
            <a:ext cx="822960" cy="822960"/>
          </a:xfrm>
          <a:prstGeom prst="arc">
            <a:avLst>
              <a:gd name="adj1" fmla="val 13167232"/>
              <a:gd name="adj2" fmla="val 16466928"/>
            </a:avLst>
          </a:prstGeom>
          <a:ln w="79375">
            <a:solidFill>
              <a:schemeClr val="accent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vi-VN" sz="2000" b="1">
              <a:latin typeface="微软雅黑" panose="020B0503020204020204" pitchFamily="34" charset="-122"/>
              <a:ea typeface="微软雅黑" panose="020B0503020204020204" pitchFamily="34" charset="-122"/>
            </a:endParaRPr>
          </a:p>
        </p:txBody>
      </p:sp>
      <p:sp>
        <p:nvSpPr>
          <p:cNvPr id="82" name="Oval 16"/>
          <p:cNvSpPr/>
          <p:nvPr/>
        </p:nvSpPr>
        <p:spPr>
          <a:xfrm>
            <a:off x="4192523" y="3059138"/>
            <a:ext cx="822960" cy="822960"/>
          </a:xfrm>
          <a:prstGeom prst="ellipse">
            <a:avLst/>
          </a:prstGeom>
          <a:noFill/>
          <a:ln w="793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000" b="1">
              <a:latin typeface="微软雅黑" panose="020B0503020204020204" pitchFamily="34" charset="-122"/>
              <a:ea typeface="微软雅黑" panose="020B0503020204020204" pitchFamily="34" charset="-122"/>
            </a:endParaRPr>
          </a:p>
        </p:txBody>
      </p:sp>
      <p:sp>
        <p:nvSpPr>
          <p:cNvPr id="83" name="Arc 17"/>
          <p:cNvSpPr/>
          <p:nvPr/>
        </p:nvSpPr>
        <p:spPr>
          <a:xfrm>
            <a:off x="4192523" y="3059138"/>
            <a:ext cx="822960" cy="822960"/>
          </a:xfrm>
          <a:prstGeom prst="arc">
            <a:avLst>
              <a:gd name="adj1" fmla="val 9206565"/>
              <a:gd name="adj2" fmla="val 16045990"/>
            </a:avLst>
          </a:prstGeom>
          <a:ln w="79375">
            <a:solidFill>
              <a:schemeClr val="accent2"/>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vi-VN" sz="2000" b="1">
              <a:latin typeface="微软雅黑" panose="020B0503020204020204" pitchFamily="34" charset="-122"/>
              <a:ea typeface="微软雅黑" panose="020B0503020204020204" pitchFamily="34" charset="-122"/>
            </a:endParaRPr>
          </a:p>
        </p:txBody>
      </p:sp>
      <p:sp>
        <p:nvSpPr>
          <p:cNvPr id="84" name="Oval 18"/>
          <p:cNvSpPr/>
          <p:nvPr/>
        </p:nvSpPr>
        <p:spPr>
          <a:xfrm>
            <a:off x="6459022" y="3059138"/>
            <a:ext cx="822960" cy="822960"/>
          </a:xfrm>
          <a:prstGeom prst="ellipse">
            <a:avLst/>
          </a:prstGeom>
          <a:noFill/>
          <a:ln w="793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000" b="1">
              <a:latin typeface="微软雅黑" panose="020B0503020204020204" pitchFamily="34" charset="-122"/>
              <a:ea typeface="微软雅黑" panose="020B0503020204020204" pitchFamily="34" charset="-122"/>
            </a:endParaRPr>
          </a:p>
        </p:txBody>
      </p:sp>
      <p:sp>
        <p:nvSpPr>
          <p:cNvPr id="85" name="Arc 19"/>
          <p:cNvSpPr/>
          <p:nvPr/>
        </p:nvSpPr>
        <p:spPr>
          <a:xfrm>
            <a:off x="6459022" y="3059138"/>
            <a:ext cx="822960" cy="822960"/>
          </a:xfrm>
          <a:prstGeom prst="arc">
            <a:avLst>
              <a:gd name="adj1" fmla="val 5584046"/>
              <a:gd name="adj2" fmla="val 16355650"/>
            </a:avLst>
          </a:prstGeom>
          <a:ln w="79375">
            <a:solidFill>
              <a:schemeClr val="accent3"/>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vi-VN" sz="2000" b="1">
              <a:latin typeface="微软雅黑" panose="020B0503020204020204" pitchFamily="34" charset="-122"/>
              <a:ea typeface="微软雅黑" panose="020B0503020204020204" pitchFamily="34" charset="-122"/>
            </a:endParaRPr>
          </a:p>
        </p:txBody>
      </p:sp>
      <p:sp>
        <p:nvSpPr>
          <p:cNvPr id="86" name="Oval 20"/>
          <p:cNvSpPr/>
          <p:nvPr/>
        </p:nvSpPr>
        <p:spPr>
          <a:xfrm>
            <a:off x="8673399" y="3032963"/>
            <a:ext cx="822960" cy="822960"/>
          </a:xfrm>
          <a:prstGeom prst="ellipse">
            <a:avLst/>
          </a:prstGeom>
          <a:noFill/>
          <a:ln w="793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000" b="1">
              <a:latin typeface="微软雅黑" panose="020B0503020204020204" pitchFamily="34" charset="-122"/>
              <a:ea typeface="微软雅黑" panose="020B0503020204020204" pitchFamily="34" charset="-122"/>
            </a:endParaRPr>
          </a:p>
        </p:txBody>
      </p:sp>
      <p:sp>
        <p:nvSpPr>
          <p:cNvPr id="87" name="Arc 21"/>
          <p:cNvSpPr/>
          <p:nvPr/>
        </p:nvSpPr>
        <p:spPr>
          <a:xfrm>
            <a:off x="8668319" y="3032963"/>
            <a:ext cx="822960" cy="822960"/>
          </a:xfrm>
          <a:prstGeom prst="arc">
            <a:avLst>
              <a:gd name="adj1" fmla="val 867854"/>
              <a:gd name="adj2" fmla="val 16404494"/>
            </a:avLst>
          </a:prstGeom>
          <a:ln w="79375">
            <a:solidFill>
              <a:schemeClr val="accent4"/>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vi-VN" sz="2000" b="1">
              <a:latin typeface="微软雅黑" panose="020B0503020204020204" pitchFamily="34" charset="-122"/>
              <a:ea typeface="微软雅黑" panose="020B0503020204020204" pitchFamily="34" charset="-122"/>
            </a:endParaRPr>
          </a:p>
        </p:txBody>
      </p:sp>
      <p:sp>
        <p:nvSpPr>
          <p:cNvPr id="91" name="TextBox 27"/>
          <p:cNvSpPr txBox="1"/>
          <p:nvPr/>
        </p:nvSpPr>
        <p:spPr>
          <a:xfrm>
            <a:off x="1347977" y="1899426"/>
            <a:ext cx="2373003" cy="39878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rPr>
              <a:t>1–2 月</a:t>
            </a:r>
          </a:p>
        </p:txBody>
      </p:sp>
      <p:sp>
        <p:nvSpPr>
          <p:cNvPr id="92" name="TextBox 28"/>
          <p:cNvSpPr txBox="1"/>
          <p:nvPr/>
        </p:nvSpPr>
        <p:spPr>
          <a:xfrm>
            <a:off x="3569032" y="1899426"/>
            <a:ext cx="2299833" cy="39878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rPr>
              <a:t>3–5 月</a:t>
            </a:r>
          </a:p>
        </p:txBody>
      </p:sp>
      <p:sp>
        <p:nvSpPr>
          <p:cNvPr id="93" name="TextBox 29"/>
          <p:cNvSpPr txBox="1"/>
          <p:nvPr/>
        </p:nvSpPr>
        <p:spPr>
          <a:xfrm>
            <a:off x="5782638" y="1900061"/>
            <a:ext cx="2290137" cy="39878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rPr>
              <a:t>6 月</a:t>
            </a:r>
          </a:p>
        </p:txBody>
      </p:sp>
      <p:sp>
        <p:nvSpPr>
          <p:cNvPr id="94" name="TextBox 30"/>
          <p:cNvSpPr txBox="1"/>
          <p:nvPr/>
        </p:nvSpPr>
        <p:spPr>
          <a:xfrm>
            <a:off x="8033293" y="1900061"/>
            <a:ext cx="2273302" cy="39878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rPr>
              <a:t>7–8 月</a:t>
            </a:r>
          </a:p>
        </p:txBody>
      </p:sp>
      <p:sp>
        <p:nvSpPr>
          <p:cNvPr id="97" name="Content Placeholder 2"/>
          <p:cNvSpPr txBox="1"/>
          <p:nvPr/>
        </p:nvSpPr>
        <p:spPr>
          <a:xfrm>
            <a:off x="3923537" y="3952791"/>
            <a:ext cx="1368815" cy="458697"/>
          </a:xfrm>
          <a:prstGeom prst="rect">
            <a:avLst/>
          </a:prstGeom>
        </p:spPr>
        <p:txBody>
          <a:bodyPr vert="horz" lIns="91440" tIns="45720" rIns="91440" bIns="4572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Font typeface="Arial" panose="020B0604020202090204" pitchFamily="34" charset="0"/>
              <a:buNone/>
            </a:pPr>
            <a:r>
              <a:rPr lang="zh-CN" altLang="en-US" sz="2000" b="1" dirty="0">
                <a:solidFill>
                  <a:schemeClr val="accent2"/>
                </a:solidFill>
                <a:latin typeface="微软雅黑" panose="020B0503020204020204" pitchFamily="34" charset="-122"/>
                <a:ea typeface="微软雅黑" panose="020B0503020204020204" pitchFamily="34" charset="-122"/>
              </a:rPr>
              <a:t>核心</a:t>
            </a:r>
          </a:p>
        </p:txBody>
      </p:sp>
      <p:sp>
        <p:nvSpPr>
          <p:cNvPr id="99" name="Content Placeholder 2"/>
          <p:cNvSpPr txBox="1"/>
          <p:nvPr/>
        </p:nvSpPr>
        <p:spPr>
          <a:xfrm>
            <a:off x="6161731" y="3952792"/>
            <a:ext cx="1368815" cy="458697"/>
          </a:xfrm>
          <a:prstGeom prst="rect">
            <a:avLst/>
          </a:prstGeom>
        </p:spPr>
        <p:txBody>
          <a:bodyPr vert="horz" lIns="91440" tIns="45720" rIns="91440" bIns="4572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Font typeface="Arial" panose="020B0604020202090204" pitchFamily="34" charset="0"/>
              <a:buNone/>
            </a:pPr>
            <a:r>
              <a:rPr lang="zh-CN" altLang="en-US" sz="2000" b="1" dirty="0">
                <a:solidFill>
                  <a:schemeClr val="accent3"/>
                </a:solidFill>
                <a:latin typeface="微软雅黑" panose="020B0503020204020204" pitchFamily="34" charset="-122"/>
                <a:ea typeface="微软雅黑" panose="020B0503020204020204" pitchFamily="34" charset="-122"/>
              </a:rPr>
              <a:t>验证</a:t>
            </a:r>
          </a:p>
        </p:txBody>
      </p:sp>
      <p:sp>
        <p:nvSpPr>
          <p:cNvPr id="101" name="Content Placeholder 2"/>
          <p:cNvSpPr txBox="1"/>
          <p:nvPr/>
        </p:nvSpPr>
        <p:spPr>
          <a:xfrm>
            <a:off x="8395240" y="3952792"/>
            <a:ext cx="1368815" cy="458697"/>
          </a:xfrm>
          <a:prstGeom prst="rect">
            <a:avLst/>
          </a:prstGeom>
        </p:spPr>
        <p:txBody>
          <a:bodyPr vert="horz" lIns="91440" tIns="45720" rIns="91440" bIns="4572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Font typeface="Arial" panose="020B0604020202090204" pitchFamily="34" charset="0"/>
              <a:buNone/>
            </a:pPr>
            <a:r>
              <a:rPr lang="zh-CN" altLang="en-US" sz="2000" b="1" dirty="0">
                <a:solidFill>
                  <a:schemeClr val="accent4"/>
                </a:solidFill>
                <a:latin typeface="微软雅黑" panose="020B0503020204020204" pitchFamily="34" charset="-122"/>
                <a:ea typeface="微软雅黑" panose="020B0503020204020204" pitchFamily="34" charset="-122"/>
                <a:cs typeface="微软雅黑" panose="020B0503020204020204" pitchFamily="34" charset="-122"/>
              </a:rPr>
              <a:t>决赛</a:t>
            </a:r>
            <a:endParaRPr lang="en-US" sz="2000" b="1" dirty="0">
              <a:solidFill>
                <a:schemeClr val="accent4"/>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03" name="Content Placeholder 2"/>
          <p:cNvSpPr txBox="1"/>
          <p:nvPr/>
        </p:nvSpPr>
        <p:spPr>
          <a:xfrm>
            <a:off x="9862365" y="3971970"/>
            <a:ext cx="1368815" cy="458697"/>
          </a:xfrm>
          <a:prstGeom prst="rect">
            <a:avLst/>
          </a:prstGeom>
        </p:spPr>
        <p:txBody>
          <a:bodyPr vert="horz" lIns="91440" tIns="45720" rIns="91440" bIns="4572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Font typeface="Arial" panose="020B0604020202090204" pitchFamily="34" charset="0"/>
              <a:buNone/>
            </a:pPr>
            <a:endParaRPr/>
          </a:p>
        </p:txBody>
      </p:sp>
      <p:sp>
        <p:nvSpPr>
          <p:cNvPr id="105" name="Freeform 6"/>
          <p:cNvSpPr>
            <a:spLocks noChangeArrowheads="1"/>
          </p:cNvSpPr>
          <p:nvPr/>
        </p:nvSpPr>
        <p:spPr bwMode="auto">
          <a:xfrm>
            <a:off x="6661308" y="3313825"/>
            <a:ext cx="365760" cy="365760"/>
          </a:xfrm>
          <a:custGeom>
            <a:avLst/>
            <a:gdLst>
              <a:gd name="T0" fmla="*/ 425 w 444"/>
              <a:gd name="T1" fmla="*/ 17 h 435"/>
              <a:gd name="T2" fmla="*/ 425 w 444"/>
              <a:gd name="T3" fmla="*/ 17 h 435"/>
              <a:gd name="T4" fmla="*/ 345 w 444"/>
              <a:gd name="T5" fmla="*/ 35 h 435"/>
              <a:gd name="T6" fmla="*/ 0 w 444"/>
              <a:gd name="T7" fmla="*/ 222 h 435"/>
              <a:gd name="T8" fmla="*/ 195 w 444"/>
              <a:gd name="T9" fmla="*/ 248 h 435"/>
              <a:gd name="T10" fmla="*/ 221 w 444"/>
              <a:gd name="T11" fmla="*/ 434 h 435"/>
              <a:gd name="T12" fmla="*/ 399 w 444"/>
              <a:gd name="T13" fmla="*/ 89 h 435"/>
              <a:gd name="T14" fmla="*/ 425 w 444"/>
              <a:gd name="T15" fmla="*/ 17 h 435"/>
              <a:gd name="T16" fmla="*/ 381 w 444"/>
              <a:gd name="T17" fmla="*/ 62 h 435"/>
              <a:gd name="T18" fmla="*/ 381 w 444"/>
              <a:gd name="T19" fmla="*/ 62 h 435"/>
              <a:gd name="T20" fmla="*/ 239 w 444"/>
              <a:gd name="T21" fmla="*/ 319 h 435"/>
              <a:gd name="T22" fmla="*/ 230 w 444"/>
              <a:gd name="T23" fmla="*/ 204 h 435"/>
              <a:gd name="T24" fmla="*/ 381 w 444"/>
              <a:gd name="T25" fmla="*/ 62 h 4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4" h="435">
                <a:moveTo>
                  <a:pt x="425" y="17"/>
                </a:moveTo>
                <a:lnTo>
                  <a:pt x="425" y="17"/>
                </a:lnTo>
                <a:cubicBezTo>
                  <a:pt x="408" y="0"/>
                  <a:pt x="399" y="17"/>
                  <a:pt x="345" y="35"/>
                </a:cubicBezTo>
                <a:cubicBezTo>
                  <a:pt x="221" y="97"/>
                  <a:pt x="0" y="222"/>
                  <a:pt x="0" y="222"/>
                </a:cubicBezTo>
                <a:cubicBezTo>
                  <a:pt x="195" y="248"/>
                  <a:pt x="195" y="248"/>
                  <a:pt x="195" y="248"/>
                </a:cubicBezTo>
                <a:cubicBezTo>
                  <a:pt x="221" y="434"/>
                  <a:pt x="221" y="434"/>
                  <a:pt x="221" y="434"/>
                </a:cubicBezTo>
                <a:cubicBezTo>
                  <a:pt x="221" y="434"/>
                  <a:pt x="345" y="222"/>
                  <a:pt x="399" y="89"/>
                </a:cubicBezTo>
                <a:cubicBezTo>
                  <a:pt x="425" y="44"/>
                  <a:pt x="443" y="26"/>
                  <a:pt x="425" y="17"/>
                </a:cubicBezTo>
                <a:close/>
                <a:moveTo>
                  <a:pt x="381" y="62"/>
                </a:moveTo>
                <a:lnTo>
                  <a:pt x="381" y="62"/>
                </a:lnTo>
                <a:cubicBezTo>
                  <a:pt x="239" y="319"/>
                  <a:pt x="239" y="319"/>
                  <a:pt x="239" y="319"/>
                </a:cubicBezTo>
                <a:cubicBezTo>
                  <a:pt x="230" y="204"/>
                  <a:pt x="230" y="204"/>
                  <a:pt x="230" y="204"/>
                </a:cubicBezTo>
                <a:lnTo>
                  <a:pt x="381" y="62"/>
                </a:lnTo>
                <a:close/>
              </a:path>
            </a:pathLst>
          </a:custGeom>
          <a:solidFill>
            <a:schemeClr val="accent3"/>
          </a:solidFill>
          <a:ln>
            <a:noFill/>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000" b="1">
              <a:latin typeface="微软雅黑" panose="020B0503020204020204" pitchFamily="34" charset="-122"/>
              <a:ea typeface="微软雅黑" panose="020B0503020204020204" pitchFamily="34" charset="-122"/>
            </a:endParaRPr>
          </a:p>
        </p:txBody>
      </p:sp>
      <p:sp>
        <p:nvSpPr>
          <p:cNvPr id="106" name="Freeform 25"/>
          <p:cNvSpPr>
            <a:spLocks noChangeArrowheads="1"/>
          </p:cNvSpPr>
          <p:nvPr/>
        </p:nvSpPr>
        <p:spPr bwMode="auto">
          <a:xfrm>
            <a:off x="8905769" y="3236545"/>
            <a:ext cx="365760" cy="365760"/>
          </a:xfrm>
          <a:custGeom>
            <a:avLst/>
            <a:gdLst>
              <a:gd name="T0" fmla="*/ 195 w 346"/>
              <a:gd name="T1" fmla="*/ 0 h 479"/>
              <a:gd name="T2" fmla="*/ 195 w 346"/>
              <a:gd name="T3" fmla="*/ 0 h 479"/>
              <a:gd name="T4" fmla="*/ 160 w 346"/>
              <a:gd name="T5" fmla="*/ 0 h 479"/>
              <a:gd name="T6" fmla="*/ 160 w 346"/>
              <a:gd name="T7" fmla="*/ 328 h 479"/>
              <a:gd name="T8" fmla="*/ 80 w 346"/>
              <a:gd name="T9" fmla="*/ 328 h 479"/>
              <a:gd name="T10" fmla="*/ 10 w 346"/>
              <a:gd name="T11" fmla="*/ 425 h 479"/>
              <a:gd name="T12" fmla="*/ 124 w 346"/>
              <a:gd name="T13" fmla="*/ 461 h 479"/>
              <a:gd name="T14" fmla="*/ 195 w 346"/>
              <a:gd name="T15" fmla="*/ 372 h 479"/>
              <a:gd name="T16" fmla="*/ 195 w 346"/>
              <a:gd name="T17" fmla="*/ 106 h 479"/>
              <a:gd name="T18" fmla="*/ 257 w 346"/>
              <a:gd name="T19" fmla="*/ 230 h 479"/>
              <a:gd name="T20" fmla="*/ 275 w 346"/>
              <a:gd name="T21" fmla="*/ 230 h 479"/>
              <a:gd name="T22" fmla="*/ 195 w 346"/>
              <a:gd name="T23" fmla="*/ 0 h 4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346" h="479">
                <a:moveTo>
                  <a:pt x="195" y="0"/>
                </a:moveTo>
                <a:lnTo>
                  <a:pt x="195" y="0"/>
                </a:lnTo>
                <a:cubicBezTo>
                  <a:pt x="160" y="0"/>
                  <a:pt x="160" y="0"/>
                  <a:pt x="160" y="0"/>
                </a:cubicBezTo>
                <a:cubicBezTo>
                  <a:pt x="160" y="328"/>
                  <a:pt x="160" y="328"/>
                  <a:pt x="160" y="328"/>
                </a:cubicBezTo>
                <a:cubicBezTo>
                  <a:pt x="133" y="319"/>
                  <a:pt x="107" y="319"/>
                  <a:pt x="80" y="328"/>
                </a:cubicBezTo>
                <a:cubicBezTo>
                  <a:pt x="26" y="346"/>
                  <a:pt x="0" y="390"/>
                  <a:pt x="10" y="425"/>
                </a:cubicBezTo>
                <a:cubicBezTo>
                  <a:pt x="26" y="461"/>
                  <a:pt x="71" y="478"/>
                  <a:pt x="124" y="461"/>
                </a:cubicBezTo>
                <a:cubicBezTo>
                  <a:pt x="169" y="443"/>
                  <a:pt x="195" y="408"/>
                  <a:pt x="195" y="372"/>
                </a:cubicBezTo>
                <a:cubicBezTo>
                  <a:pt x="195" y="106"/>
                  <a:pt x="195" y="106"/>
                  <a:pt x="195" y="106"/>
                </a:cubicBezTo>
                <a:cubicBezTo>
                  <a:pt x="266" y="124"/>
                  <a:pt x="266" y="212"/>
                  <a:pt x="257" y="230"/>
                </a:cubicBezTo>
                <a:cubicBezTo>
                  <a:pt x="257" y="239"/>
                  <a:pt x="266" y="248"/>
                  <a:pt x="275" y="230"/>
                </a:cubicBezTo>
                <a:cubicBezTo>
                  <a:pt x="345" y="115"/>
                  <a:pt x="195" y="62"/>
                  <a:pt x="195" y="0"/>
                </a:cubicBezTo>
              </a:path>
            </a:pathLst>
          </a:custGeom>
          <a:solidFill>
            <a:schemeClr val="accent4"/>
          </a:solidFill>
          <a:ln>
            <a:noFill/>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000" b="1">
              <a:latin typeface="微软雅黑" panose="020B0503020204020204" pitchFamily="34" charset="-122"/>
              <a:ea typeface="微软雅黑" panose="020B0503020204020204" pitchFamily="34" charset="-122"/>
            </a:endParaRPr>
          </a:p>
        </p:txBody>
      </p:sp>
      <p:sp>
        <p:nvSpPr>
          <p:cNvPr id="108" name="Freeform 106"/>
          <p:cNvSpPr>
            <a:spLocks noChangeArrowheads="1"/>
          </p:cNvSpPr>
          <p:nvPr/>
        </p:nvSpPr>
        <p:spPr bwMode="auto">
          <a:xfrm>
            <a:off x="4455627" y="3292798"/>
            <a:ext cx="365760" cy="365760"/>
          </a:xfrm>
          <a:custGeom>
            <a:avLst/>
            <a:gdLst>
              <a:gd name="T0" fmla="*/ 35 w 355"/>
              <a:gd name="T1" fmla="*/ 497 h 506"/>
              <a:gd name="T2" fmla="*/ 35 w 355"/>
              <a:gd name="T3" fmla="*/ 497 h 506"/>
              <a:gd name="T4" fmla="*/ 70 w 355"/>
              <a:gd name="T5" fmla="*/ 381 h 506"/>
              <a:gd name="T6" fmla="*/ 203 w 355"/>
              <a:gd name="T7" fmla="*/ 310 h 506"/>
              <a:gd name="T8" fmla="*/ 132 w 355"/>
              <a:gd name="T9" fmla="*/ 284 h 506"/>
              <a:gd name="T10" fmla="*/ 292 w 355"/>
              <a:gd name="T11" fmla="*/ 194 h 506"/>
              <a:gd name="T12" fmla="*/ 194 w 355"/>
              <a:gd name="T13" fmla="*/ 168 h 506"/>
              <a:gd name="T14" fmla="*/ 327 w 355"/>
              <a:gd name="T15" fmla="*/ 133 h 506"/>
              <a:gd name="T16" fmla="*/ 345 w 355"/>
              <a:gd name="T17" fmla="*/ 44 h 506"/>
              <a:gd name="T18" fmla="*/ 248 w 355"/>
              <a:gd name="T19" fmla="*/ 0 h 506"/>
              <a:gd name="T20" fmla="*/ 159 w 355"/>
              <a:gd name="T21" fmla="*/ 124 h 506"/>
              <a:gd name="T22" fmla="*/ 168 w 355"/>
              <a:gd name="T23" fmla="*/ 18 h 506"/>
              <a:gd name="T24" fmla="*/ 70 w 355"/>
              <a:gd name="T25" fmla="*/ 106 h 506"/>
              <a:gd name="T26" fmla="*/ 61 w 355"/>
              <a:gd name="T27" fmla="*/ 301 h 506"/>
              <a:gd name="T28" fmla="*/ 8 w 355"/>
              <a:gd name="T29" fmla="*/ 213 h 506"/>
              <a:gd name="T30" fmla="*/ 35 w 355"/>
              <a:gd name="T31" fmla="*/ 363 h 506"/>
              <a:gd name="T32" fmla="*/ 8 w 355"/>
              <a:gd name="T33" fmla="*/ 478 h 506"/>
              <a:gd name="T34" fmla="*/ 35 w 355"/>
              <a:gd name="T35" fmla="*/ 497 h 5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55" h="506">
                <a:moveTo>
                  <a:pt x="35" y="497"/>
                </a:moveTo>
                <a:lnTo>
                  <a:pt x="35" y="497"/>
                </a:lnTo>
                <a:cubicBezTo>
                  <a:pt x="44" y="469"/>
                  <a:pt x="53" y="434"/>
                  <a:pt x="70" y="381"/>
                </a:cubicBezTo>
                <a:cubicBezTo>
                  <a:pt x="132" y="372"/>
                  <a:pt x="168" y="390"/>
                  <a:pt x="203" y="310"/>
                </a:cubicBezTo>
                <a:cubicBezTo>
                  <a:pt x="168" y="328"/>
                  <a:pt x="132" y="292"/>
                  <a:pt x="132" y="284"/>
                </a:cubicBezTo>
                <a:cubicBezTo>
                  <a:pt x="132" y="266"/>
                  <a:pt x="229" y="292"/>
                  <a:pt x="292" y="194"/>
                </a:cubicBezTo>
                <a:cubicBezTo>
                  <a:pt x="212" y="213"/>
                  <a:pt x="185" y="178"/>
                  <a:pt x="194" y="168"/>
                </a:cubicBezTo>
                <a:cubicBezTo>
                  <a:pt x="221" y="159"/>
                  <a:pt x="292" y="168"/>
                  <a:pt x="327" y="133"/>
                </a:cubicBezTo>
                <a:cubicBezTo>
                  <a:pt x="345" y="115"/>
                  <a:pt x="354" y="62"/>
                  <a:pt x="345" y="44"/>
                </a:cubicBezTo>
                <a:cubicBezTo>
                  <a:pt x="336" y="27"/>
                  <a:pt x="283" y="0"/>
                  <a:pt x="248" y="0"/>
                </a:cubicBezTo>
                <a:cubicBezTo>
                  <a:pt x="221" y="9"/>
                  <a:pt x="168" y="124"/>
                  <a:pt x="159" y="124"/>
                </a:cubicBezTo>
                <a:cubicBezTo>
                  <a:pt x="141" y="124"/>
                  <a:pt x="141" y="71"/>
                  <a:pt x="168" y="18"/>
                </a:cubicBezTo>
                <a:cubicBezTo>
                  <a:pt x="132" y="35"/>
                  <a:pt x="88" y="71"/>
                  <a:pt x="70" y="106"/>
                </a:cubicBezTo>
                <a:cubicBezTo>
                  <a:pt x="44" y="159"/>
                  <a:pt x="79" y="301"/>
                  <a:pt x="61" y="301"/>
                </a:cubicBezTo>
                <a:cubicBezTo>
                  <a:pt x="53" y="310"/>
                  <a:pt x="17" y="239"/>
                  <a:pt x="8" y="213"/>
                </a:cubicBezTo>
                <a:cubicBezTo>
                  <a:pt x="0" y="257"/>
                  <a:pt x="0" y="301"/>
                  <a:pt x="35" y="363"/>
                </a:cubicBezTo>
                <a:cubicBezTo>
                  <a:pt x="26" y="407"/>
                  <a:pt x="17" y="452"/>
                  <a:pt x="8" y="478"/>
                </a:cubicBezTo>
                <a:cubicBezTo>
                  <a:pt x="8" y="497"/>
                  <a:pt x="35" y="505"/>
                  <a:pt x="35" y="497"/>
                </a:cubicBezTo>
              </a:path>
            </a:pathLst>
          </a:custGeom>
          <a:solidFill>
            <a:schemeClr val="accent2"/>
          </a:solidFill>
          <a:ln>
            <a:noFill/>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000" b="1">
              <a:latin typeface="微软雅黑" panose="020B0503020204020204" pitchFamily="34" charset="-122"/>
              <a:ea typeface="微软雅黑" panose="020B0503020204020204" pitchFamily="34" charset="-122"/>
            </a:endParaRPr>
          </a:p>
        </p:txBody>
      </p:sp>
      <p:sp>
        <p:nvSpPr>
          <p:cNvPr id="109" name="Freeform 115"/>
          <p:cNvSpPr>
            <a:spLocks noChangeArrowheads="1"/>
          </p:cNvSpPr>
          <p:nvPr/>
        </p:nvSpPr>
        <p:spPr bwMode="auto">
          <a:xfrm>
            <a:off x="2275745" y="3254161"/>
            <a:ext cx="365760" cy="432913"/>
          </a:xfrm>
          <a:custGeom>
            <a:avLst/>
            <a:gdLst>
              <a:gd name="T0" fmla="*/ 381 w 400"/>
              <a:gd name="T1" fmla="*/ 124 h 498"/>
              <a:gd name="T2" fmla="*/ 381 w 400"/>
              <a:gd name="T3" fmla="*/ 124 h 498"/>
              <a:gd name="T4" fmla="*/ 231 w 400"/>
              <a:gd name="T5" fmla="*/ 9 h 498"/>
              <a:gd name="T6" fmla="*/ 115 w 400"/>
              <a:gd name="T7" fmla="*/ 151 h 498"/>
              <a:gd name="T8" fmla="*/ 133 w 400"/>
              <a:gd name="T9" fmla="*/ 213 h 498"/>
              <a:gd name="T10" fmla="*/ 9 w 400"/>
              <a:gd name="T11" fmla="*/ 407 h 498"/>
              <a:gd name="T12" fmla="*/ 0 w 400"/>
              <a:gd name="T13" fmla="*/ 434 h 498"/>
              <a:gd name="T14" fmla="*/ 9 w 400"/>
              <a:gd name="T15" fmla="*/ 478 h 498"/>
              <a:gd name="T16" fmla="*/ 27 w 400"/>
              <a:gd name="T17" fmla="*/ 497 h 498"/>
              <a:gd name="T18" fmla="*/ 62 w 400"/>
              <a:gd name="T19" fmla="*/ 487 h 498"/>
              <a:gd name="T20" fmla="*/ 89 w 400"/>
              <a:gd name="T21" fmla="*/ 470 h 498"/>
              <a:gd name="T22" fmla="*/ 142 w 400"/>
              <a:gd name="T23" fmla="*/ 390 h 498"/>
              <a:gd name="T24" fmla="*/ 142 w 400"/>
              <a:gd name="T25" fmla="*/ 390 h 498"/>
              <a:gd name="T26" fmla="*/ 177 w 400"/>
              <a:gd name="T27" fmla="*/ 381 h 498"/>
              <a:gd name="T28" fmla="*/ 231 w 400"/>
              <a:gd name="T29" fmla="*/ 284 h 498"/>
              <a:gd name="T30" fmla="*/ 293 w 400"/>
              <a:gd name="T31" fmla="*/ 284 h 498"/>
              <a:gd name="T32" fmla="*/ 381 w 400"/>
              <a:gd name="T33" fmla="*/ 124 h 498"/>
              <a:gd name="T34" fmla="*/ 319 w 400"/>
              <a:gd name="T35" fmla="*/ 159 h 498"/>
              <a:gd name="T36" fmla="*/ 319 w 400"/>
              <a:gd name="T37" fmla="*/ 159 h 498"/>
              <a:gd name="T38" fmla="*/ 256 w 400"/>
              <a:gd name="T39" fmla="*/ 142 h 498"/>
              <a:gd name="T40" fmla="*/ 221 w 400"/>
              <a:gd name="T41" fmla="*/ 80 h 498"/>
              <a:gd name="T42" fmla="*/ 310 w 400"/>
              <a:gd name="T43" fmla="*/ 71 h 498"/>
              <a:gd name="T44" fmla="*/ 319 w 400"/>
              <a:gd name="T45" fmla="*/ 159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400" h="498">
                <a:moveTo>
                  <a:pt x="381" y="124"/>
                </a:moveTo>
                <a:lnTo>
                  <a:pt x="381" y="124"/>
                </a:lnTo>
                <a:cubicBezTo>
                  <a:pt x="372" y="44"/>
                  <a:pt x="301" y="0"/>
                  <a:pt x="231" y="9"/>
                </a:cubicBezTo>
                <a:cubicBezTo>
                  <a:pt x="159" y="27"/>
                  <a:pt x="106" y="80"/>
                  <a:pt x="115" y="151"/>
                </a:cubicBezTo>
                <a:cubicBezTo>
                  <a:pt x="115" y="168"/>
                  <a:pt x="124" y="195"/>
                  <a:pt x="133" y="213"/>
                </a:cubicBezTo>
                <a:cubicBezTo>
                  <a:pt x="9" y="407"/>
                  <a:pt x="9" y="407"/>
                  <a:pt x="9" y="407"/>
                </a:cubicBezTo>
                <a:cubicBezTo>
                  <a:pt x="0" y="407"/>
                  <a:pt x="0" y="425"/>
                  <a:pt x="0" y="434"/>
                </a:cubicBezTo>
                <a:cubicBezTo>
                  <a:pt x="9" y="478"/>
                  <a:pt x="9" y="478"/>
                  <a:pt x="9" y="478"/>
                </a:cubicBezTo>
                <a:cubicBezTo>
                  <a:pt x="9" y="487"/>
                  <a:pt x="18" y="497"/>
                  <a:pt x="27" y="497"/>
                </a:cubicBezTo>
                <a:cubicBezTo>
                  <a:pt x="62" y="487"/>
                  <a:pt x="62" y="487"/>
                  <a:pt x="62" y="487"/>
                </a:cubicBezTo>
                <a:cubicBezTo>
                  <a:pt x="71" y="487"/>
                  <a:pt x="80" y="478"/>
                  <a:pt x="89" y="470"/>
                </a:cubicBezTo>
                <a:cubicBezTo>
                  <a:pt x="142" y="390"/>
                  <a:pt x="142" y="390"/>
                  <a:pt x="142" y="390"/>
                </a:cubicBezTo>
                <a:lnTo>
                  <a:pt x="142" y="390"/>
                </a:lnTo>
                <a:cubicBezTo>
                  <a:pt x="177" y="381"/>
                  <a:pt x="177" y="381"/>
                  <a:pt x="177" y="381"/>
                </a:cubicBezTo>
                <a:cubicBezTo>
                  <a:pt x="231" y="284"/>
                  <a:pt x="231" y="284"/>
                  <a:pt x="231" y="284"/>
                </a:cubicBezTo>
                <a:cubicBezTo>
                  <a:pt x="248" y="293"/>
                  <a:pt x="284" y="284"/>
                  <a:pt x="293" y="284"/>
                </a:cubicBezTo>
                <a:cubicBezTo>
                  <a:pt x="363" y="275"/>
                  <a:pt x="399" y="195"/>
                  <a:pt x="381" y="124"/>
                </a:cubicBezTo>
                <a:close/>
                <a:moveTo>
                  <a:pt x="319" y="159"/>
                </a:moveTo>
                <a:lnTo>
                  <a:pt x="319" y="159"/>
                </a:lnTo>
                <a:cubicBezTo>
                  <a:pt x="301" y="187"/>
                  <a:pt x="284" y="168"/>
                  <a:pt x="256" y="142"/>
                </a:cubicBezTo>
                <a:cubicBezTo>
                  <a:pt x="231" y="124"/>
                  <a:pt x="203" y="115"/>
                  <a:pt x="221" y="80"/>
                </a:cubicBezTo>
                <a:cubicBezTo>
                  <a:pt x="240" y="53"/>
                  <a:pt x="284" y="44"/>
                  <a:pt x="310" y="71"/>
                </a:cubicBezTo>
                <a:cubicBezTo>
                  <a:pt x="337" y="89"/>
                  <a:pt x="346" y="133"/>
                  <a:pt x="319" y="159"/>
                </a:cubicBezTo>
                <a:close/>
              </a:path>
            </a:pathLst>
          </a:custGeom>
          <a:solidFill>
            <a:schemeClr val="accent1"/>
          </a:solidFill>
          <a:ln>
            <a:noFill/>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000" b="1">
              <a:latin typeface="微软雅黑" panose="020B0503020204020204" pitchFamily="34" charset="-122"/>
              <a:ea typeface="微软雅黑" panose="020B0503020204020204" pitchFamily="34" charset="-122"/>
            </a:endParaRPr>
          </a:p>
        </p:txBody>
      </p:sp>
      <p:sp>
        <p:nvSpPr>
          <p:cNvPr id="112" name="文本框 111"/>
          <p:cNvSpPr txBox="1"/>
          <p:nvPr/>
        </p:nvSpPr>
        <p:spPr>
          <a:xfrm>
            <a:off x="1348571" y="4411217"/>
            <a:ext cx="2225675" cy="1477328"/>
          </a:xfrm>
          <a:prstGeom prst="rect">
            <a:avLst/>
          </a:prstGeom>
          <a:noFill/>
        </p:spPr>
        <p:txBody>
          <a:bodyPr wrap="square">
            <a:spAutoFit/>
          </a:bodyPr>
          <a:lstStyle/>
          <a:p>
            <a:pPr marL="285750" indent="-285750" algn="l">
              <a:buFont typeface="Arial" panose="020B0604020202090204" pitchFamily="34" charset="0"/>
              <a:buChar char="•"/>
            </a:pPr>
            <a:r>
              <a:rPr lang="zh-CN" altLang="en-US" sz="1800" dirty="0">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rPr>
              <a:t>确定 Rust 内核路线</a:t>
            </a:r>
          </a:p>
          <a:p>
            <a:pPr marL="285750" indent="-285750" algn="l">
              <a:buFont typeface="Arial" panose="020B0604020202090204" pitchFamily="34" charset="0"/>
              <a:buChar char="•"/>
            </a:pPr>
            <a:r>
              <a:rPr lang="zh-CN" altLang="en-US" sz="1800" dirty="0">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rPr>
              <a:t>建立 Linux ABI 边界</a:t>
            </a:r>
            <a:endParaRPr lang="en-US" altLang="zh-CN" sz="1800" dirty="0">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endParaRPr>
          </a:p>
          <a:p>
            <a:pPr marL="285750" indent="-285750" algn="l">
              <a:buFont typeface="Arial" panose="020B0604020202090204" pitchFamily="34" charset="0"/>
              <a:buChar char="•"/>
            </a:pPr>
            <a:r>
              <a:rPr lang="zh-CN" altLang="en-US" dirty="0">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rPr>
              <a:t>双架构并行推进</a:t>
            </a:r>
            <a:endParaRPr lang="zh-CN" altLang="en-US" sz="1800" dirty="0">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13" name="文本框 112"/>
          <p:cNvSpPr txBox="1"/>
          <p:nvPr/>
        </p:nvSpPr>
        <p:spPr>
          <a:xfrm>
            <a:off x="3569166" y="4411217"/>
            <a:ext cx="2239010" cy="923330"/>
          </a:xfrm>
          <a:prstGeom prst="rect">
            <a:avLst/>
          </a:prstGeom>
          <a:noFill/>
        </p:spPr>
        <p:txBody>
          <a:bodyPr wrap="square">
            <a:spAutoFit/>
          </a:bodyPr>
          <a:lstStyle/>
          <a:p>
            <a:pPr marL="285750" indent="-285750" algn="l">
              <a:buFont typeface="Arial" panose="020B0604020202090204" pitchFamily="34" charset="0"/>
              <a:buChar char="•"/>
            </a:pPr>
            <a:r>
              <a:rPr lang="zh-CN" altLang="en-US" dirty="0">
                <a:solidFill>
                  <a:schemeClr val="accent2"/>
                </a:solidFill>
                <a:latin typeface="微软雅黑" panose="020B0503020204020204" pitchFamily="34" charset="-122"/>
                <a:ea typeface="微软雅黑" panose="020B0503020204020204" pitchFamily="34" charset="-122"/>
              </a:rPr>
              <a:t>进程 / 调度 / VMO</a:t>
            </a:r>
            <a:endParaRPr lang="en-US" altLang="zh-CN" sz="1800" dirty="0">
              <a:solidFill>
                <a:schemeClr val="accent2"/>
              </a:solidFill>
              <a:latin typeface="微软雅黑" panose="020B0503020204020204" pitchFamily="34" charset="-122"/>
              <a:ea typeface="微软雅黑" panose="020B0503020204020204" pitchFamily="34" charset="-122"/>
            </a:endParaRPr>
          </a:p>
          <a:p>
            <a:pPr marL="285750" indent="-285750" algn="l">
              <a:buFont typeface="Arial" panose="020B0604020202090204" pitchFamily="34" charset="0"/>
              <a:buChar char="•"/>
            </a:pPr>
            <a:r>
              <a:rPr lang="zh-CN" altLang="en-US" sz="1800" dirty="0">
                <a:solidFill>
                  <a:schemeClr val="accent2"/>
                </a:solidFill>
                <a:latin typeface="微软雅黑" panose="020B0503020204020204" pitchFamily="34" charset="-122"/>
                <a:ea typeface="微软雅黑" panose="020B0503020204020204" pitchFamily="34" charset="-122"/>
              </a:rPr>
              <a:t>VFS / 设备模型</a:t>
            </a:r>
          </a:p>
          <a:p>
            <a:pPr marL="285750" indent="-285750" algn="l">
              <a:buFont typeface="Arial" panose="020B0604020202090204" pitchFamily="34" charset="0"/>
              <a:buChar char="•"/>
            </a:pPr>
            <a:r>
              <a:rPr lang="zh-CN" altLang="en-US" sz="1800" dirty="0">
                <a:solidFill>
                  <a:schemeClr val="accent2"/>
                </a:solidFill>
                <a:latin typeface="微软雅黑" panose="020B0503020204020204" pitchFamily="34" charset="-122"/>
                <a:ea typeface="微软雅黑" panose="020B0503020204020204" pitchFamily="34" charset="-122"/>
              </a:rPr>
              <a:t>基础用户态运行</a:t>
            </a:r>
            <a:endParaRPr lang="en-US" altLang="zh-CN" sz="1800" dirty="0">
              <a:solidFill>
                <a:schemeClr val="accent2"/>
              </a:solidFill>
              <a:latin typeface="微软雅黑" panose="020B0503020204020204" pitchFamily="34" charset="-122"/>
              <a:ea typeface="微软雅黑" panose="020B0503020204020204" pitchFamily="34" charset="-122"/>
            </a:endParaRPr>
          </a:p>
        </p:txBody>
      </p:sp>
      <p:sp>
        <p:nvSpPr>
          <p:cNvPr id="114" name="Content Placeholder 2"/>
          <p:cNvSpPr txBox="1"/>
          <p:nvPr/>
        </p:nvSpPr>
        <p:spPr>
          <a:xfrm>
            <a:off x="5809445" y="4402327"/>
            <a:ext cx="2350029" cy="1205313"/>
          </a:xfrm>
          <a:prstGeom prst="rect">
            <a:avLst/>
          </a:prstGeom>
        </p:spPr>
        <p:txBody>
          <a:bodyPr vert="horz" lIns="91440" tIns="45720" rIns="91440" bIns="4572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lgn="l">
              <a:buFont typeface="Arial" panose="020B0604020202090204" pitchFamily="34" charset="0"/>
              <a:buChar char="•"/>
            </a:pPr>
            <a:r>
              <a:rPr lang="zh-CN" altLang="en-US" dirty="0">
                <a:solidFill>
                  <a:schemeClr val="accent3"/>
                </a:solidFill>
                <a:latin typeface="微软雅黑" panose="020B0503020204020204" pitchFamily="34" charset="-122"/>
                <a:ea typeface="微软雅黑" panose="020B0503020204020204" pitchFamily="34" charset="-122"/>
              </a:rPr>
              <a:t>初赛测例全部通过</a:t>
            </a:r>
          </a:p>
          <a:p>
            <a:pPr marL="285750" indent="-285750" algn="l">
              <a:buFont typeface="Arial" panose="020B0604020202090204" pitchFamily="34" charset="0"/>
              <a:buChar char="•"/>
            </a:pPr>
            <a:r>
              <a:rPr lang="zh-CN" altLang="en-US" dirty="0">
                <a:solidFill>
                  <a:schemeClr val="accent3"/>
                </a:solidFill>
                <a:latin typeface="微软雅黑" panose="020B0503020204020204" pitchFamily="34" charset="-122"/>
                <a:ea typeface="微软雅黑" panose="020B0503020204020204" pitchFamily="34" charset="-122"/>
              </a:rPr>
              <a:t>补齐 LTP 语义边界</a:t>
            </a:r>
          </a:p>
          <a:p>
            <a:pPr marL="285750" indent="-285750" algn="l">
              <a:buFont typeface="Arial" panose="020B0604020202090204" pitchFamily="34" charset="0"/>
              <a:buChar char="•"/>
            </a:pPr>
            <a:r>
              <a:rPr lang="zh-CN" altLang="en-US" dirty="0">
                <a:solidFill>
                  <a:schemeClr val="accent3"/>
                </a:solidFill>
                <a:latin typeface="微软雅黑" panose="020B0503020204020204" pitchFamily="34" charset="-122"/>
                <a:ea typeface="微软雅黑" panose="020B0503020204020204" pitchFamily="34" charset="-122"/>
                <a:sym typeface="+mn-ea"/>
              </a:rPr>
              <a:t>缓存与挂载路径完善</a:t>
            </a:r>
            <a:endParaRPr lang="en-US" altLang="zh-CN" dirty="0">
              <a:solidFill>
                <a:schemeClr val="accent3"/>
              </a:solidFill>
              <a:latin typeface="微软雅黑" panose="020B0503020204020204" pitchFamily="34" charset="-122"/>
              <a:ea typeface="微软雅黑" panose="020B0503020204020204" pitchFamily="34" charset="-122"/>
            </a:endParaRPr>
          </a:p>
          <a:p>
            <a:pPr marL="285750" indent="-285750" algn="l">
              <a:buFont typeface="Arial" panose="020B0604020202090204" pitchFamily="34" charset="0"/>
              <a:buChar char="•"/>
            </a:pPr>
            <a:endParaRPr lang="en-US" altLang="zh-CN" dirty="0">
              <a:solidFill>
                <a:schemeClr val="accent3"/>
              </a:solidFill>
              <a:latin typeface="微软雅黑" panose="020B0503020204020204" pitchFamily="34" charset="-122"/>
              <a:ea typeface="微软雅黑" panose="020B0503020204020204" pitchFamily="34" charset="-122"/>
            </a:endParaRPr>
          </a:p>
          <a:p>
            <a:pPr marL="285750" indent="-285750" algn="l">
              <a:buFont typeface="Arial" panose="020B0604020202090204" pitchFamily="34" charset="0"/>
              <a:buChar char="•"/>
            </a:pPr>
            <a:endParaRPr lang="en-US" altLang="zh-CN" dirty="0">
              <a:solidFill>
                <a:schemeClr val="accent3"/>
              </a:solidFill>
              <a:latin typeface="微软雅黑" panose="020B0503020204020204" pitchFamily="34" charset="-122"/>
              <a:ea typeface="微软雅黑" panose="020B0503020204020204" pitchFamily="34" charset="-122"/>
            </a:endParaRPr>
          </a:p>
          <a:p>
            <a:pPr marL="285750" indent="-285750" algn="l">
              <a:buFont typeface="Arial" panose="020B0604020202090204" pitchFamily="34" charset="0"/>
              <a:buChar char="•"/>
            </a:pPr>
            <a:endParaRPr lang="en-US" altLang="zh-CN" dirty="0">
              <a:solidFill>
                <a:schemeClr val="accent3"/>
              </a:solidFill>
              <a:latin typeface="微软雅黑" panose="020B0503020204020204" pitchFamily="34" charset="-122"/>
              <a:ea typeface="微软雅黑" panose="020B0503020204020204" pitchFamily="34" charset="-122"/>
            </a:endParaRPr>
          </a:p>
          <a:p>
            <a:pPr marL="285750" indent="-285750" algn="l">
              <a:buFont typeface="Arial" panose="020B0604020202090204" pitchFamily="34" charset="0"/>
              <a:buChar char="•"/>
            </a:pPr>
            <a:endParaRPr lang="en-US" altLang="zh-CN" dirty="0">
              <a:solidFill>
                <a:schemeClr val="accent3"/>
              </a:solidFill>
              <a:latin typeface="微软雅黑" panose="020B0503020204020204" pitchFamily="34" charset="-122"/>
              <a:ea typeface="微软雅黑" panose="020B0503020204020204" pitchFamily="34" charset="-122"/>
              <a:sym typeface="+mn-ea"/>
            </a:endParaRPr>
          </a:p>
          <a:p>
            <a:pPr marL="285750" indent="-285750" algn="l">
              <a:buFont typeface="Arial" panose="020B0604020202090204" pitchFamily="34" charset="0"/>
              <a:buChar char="•"/>
            </a:pPr>
            <a:endParaRPr lang="en-US" altLang="zh-CN" dirty="0">
              <a:solidFill>
                <a:schemeClr val="accent3"/>
              </a:solidFill>
              <a:latin typeface="微软雅黑" panose="020B0503020204020204" pitchFamily="34" charset="-122"/>
              <a:ea typeface="微软雅黑" panose="020B0503020204020204" pitchFamily="34" charset="-122"/>
            </a:endParaRPr>
          </a:p>
          <a:p>
            <a:pPr marL="342900" indent="-342900" algn="l">
              <a:buFont typeface="Arial" panose="020B0604020202090204" pitchFamily="34" charset="0"/>
              <a:buChar char="•"/>
            </a:pPr>
            <a:endParaRPr lang="en-US" altLang="zh-CN" dirty="0">
              <a:solidFill>
                <a:schemeClr val="accent3"/>
              </a:solidFill>
              <a:latin typeface="微软雅黑" panose="020B0503020204020204" pitchFamily="34" charset="-122"/>
              <a:ea typeface="微软雅黑" panose="020B0503020204020204" pitchFamily="34" charset="-122"/>
            </a:endParaRPr>
          </a:p>
          <a:p>
            <a:pPr marL="342900" indent="-342900" algn="l">
              <a:buFont typeface="Arial" panose="020B0604020202090204" pitchFamily="34" charset="0"/>
              <a:buChar char="•"/>
            </a:pPr>
            <a:endParaRPr lang="en-US" altLang="zh-CN" dirty="0">
              <a:solidFill>
                <a:schemeClr val="accent3"/>
              </a:solidFill>
              <a:latin typeface="微软雅黑" panose="020B0503020204020204" pitchFamily="34" charset="-122"/>
              <a:ea typeface="微软雅黑" panose="020B0503020204020204" pitchFamily="34" charset="-122"/>
            </a:endParaRPr>
          </a:p>
        </p:txBody>
      </p:sp>
      <p:sp>
        <p:nvSpPr>
          <p:cNvPr id="115" name="Content Placeholder 2"/>
          <p:cNvSpPr txBox="1"/>
          <p:nvPr/>
        </p:nvSpPr>
        <p:spPr>
          <a:xfrm>
            <a:off x="8046551" y="4402327"/>
            <a:ext cx="2530918" cy="1205313"/>
          </a:xfrm>
          <a:prstGeom prst="rect">
            <a:avLst/>
          </a:prstGeom>
        </p:spPr>
        <p:txBody>
          <a:bodyPr vert="horz" lIns="91440" tIns="45720" rIns="91440" bIns="4572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lgn="l">
              <a:buFont typeface="Arial" panose="020B0604020202090204" pitchFamily="34" charset="0"/>
              <a:buChar char="•"/>
            </a:pPr>
            <a:r>
              <a:rPr lang="zh-CN" altLang="en-US" dirty="0">
                <a:solidFill>
                  <a:schemeClr val="accent4"/>
                </a:solidFill>
                <a:latin typeface="微软雅黑" panose="020B0503020204020204" pitchFamily="34" charset="-122"/>
                <a:ea typeface="微软雅黑" panose="020B0503020204020204" pitchFamily="34" charset="-122"/>
                <a:cs typeface="微软雅黑" panose="020B0503020204020204" pitchFamily="34" charset="-122"/>
              </a:rPr>
              <a:t>网络与作业控制</a:t>
            </a:r>
            <a:endParaRPr lang="en-US" altLang="zh-CN" dirty="0">
              <a:solidFill>
                <a:schemeClr val="accent4"/>
              </a:solidFill>
              <a:latin typeface="微软雅黑" panose="020B0503020204020204" pitchFamily="34" charset="-122"/>
              <a:ea typeface="微软雅黑" panose="020B0503020204020204" pitchFamily="34" charset="-122"/>
              <a:cs typeface="微软雅黑" panose="020B0503020204020204" pitchFamily="34" charset="-122"/>
            </a:endParaRPr>
          </a:p>
          <a:p>
            <a:pPr marL="285750" indent="-285750" algn="l">
              <a:buFont typeface="Arial" panose="020B0604020202090204" pitchFamily="34" charset="0"/>
              <a:buChar char="•"/>
            </a:pPr>
            <a:r>
              <a:rPr lang="zh-CN" altLang="en-US" dirty="0">
                <a:solidFill>
                  <a:schemeClr val="accent4"/>
                </a:solidFill>
                <a:latin typeface="微软雅黑" panose="020B0503020204020204" pitchFamily="34" charset="-122"/>
                <a:ea typeface="微软雅黑" panose="020B0503020204020204" pitchFamily="34" charset="-122"/>
                <a:cs typeface="微软雅黑" panose="020B0503020204020204" pitchFamily="34" charset="-122"/>
              </a:rPr>
              <a:t>BuildStorm / Cagent</a:t>
            </a:r>
            <a:endParaRPr lang="en-US" altLang="zh-CN" dirty="0">
              <a:solidFill>
                <a:schemeClr val="accent4"/>
              </a:solidFill>
              <a:latin typeface="微软雅黑" panose="020B0503020204020204" pitchFamily="34" charset="-122"/>
              <a:ea typeface="微软雅黑" panose="020B0503020204020204" pitchFamily="34" charset="-122"/>
              <a:cs typeface="微软雅黑" panose="020B0503020204020204" pitchFamily="34" charset="-122"/>
            </a:endParaRPr>
          </a:p>
          <a:p>
            <a:pPr marL="285750" indent="-285750" algn="l">
              <a:buFont typeface="Arial" panose="020B0604020202090204" pitchFamily="34" charset="0"/>
              <a:buChar char="•"/>
            </a:pPr>
            <a:r>
              <a:rPr lang="zh-CN" altLang="en-US" dirty="0">
                <a:solidFill>
                  <a:schemeClr val="accent4"/>
                </a:solidFill>
                <a:latin typeface="微软雅黑" panose="020B0503020204020204" pitchFamily="34" charset="-122"/>
                <a:ea typeface="微软雅黑" panose="020B0503020204020204" pitchFamily="34" charset="-122"/>
                <a:cs typeface="微软雅黑" panose="020B0503020204020204" pitchFamily="34" charset="-122"/>
              </a:rPr>
              <a:t>物理平台适配</a:t>
            </a:r>
            <a:r>
              <a:rPr lang="en-US" altLang="zh-CN" dirty="0">
                <a:solidFill>
                  <a:schemeClr val="accent4"/>
                </a:solidFill>
                <a:latin typeface="微软雅黑" panose="020B0503020204020204" pitchFamily="34" charset="-122"/>
                <a:ea typeface="微软雅黑" panose="020B0503020204020204" pitchFamily="34" charset="-122"/>
                <a:cs typeface="微软雅黑" panose="020B0503020204020204" pitchFamily="34" charset="-122"/>
              </a:rPr>
              <a:t> / </a:t>
            </a:r>
            <a:r>
              <a:rPr lang="zh-CN" altLang="en-US" dirty="0">
                <a:solidFill>
                  <a:schemeClr val="accent4"/>
                </a:solidFill>
                <a:latin typeface="微软雅黑" panose="020B0503020204020204" pitchFamily="34" charset="-122"/>
                <a:ea typeface="微软雅黑" panose="020B0503020204020204" pitchFamily="34" charset="-122"/>
                <a:cs typeface="微软雅黑" panose="020B0503020204020204" pitchFamily="34" charset="-122"/>
              </a:rPr>
              <a:t>驱动开发</a:t>
            </a:r>
          </a:p>
          <a:p>
            <a:pPr marL="285750" indent="-285750" algn="l">
              <a:buFont typeface="Arial" panose="020B0604020202090204" pitchFamily="34" charset="0"/>
              <a:buChar char="•"/>
            </a:pPr>
            <a:r>
              <a:rPr lang="zh-CN" altLang="en-US" dirty="0">
                <a:solidFill>
                  <a:schemeClr val="accent4"/>
                </a:solidFill>
                <a:latin typeface="微软雅黑" panose="020B0503020204020204" pitchFamily="34" charset="-122"/>
                <a:ea typeface="微软雅黑" panose="020B0503020204020204" pitchFamily="34" charset="-122"/>
                <a:cs typeface="微软雅黑" panose="020B0503020204020204" pitchFamily="34" charset="-122"/>
              </a:rPr>
              <a:t>性能验证与交付</a:t>
            </a:r>
          </a:p>
        </p:txBody>
      </p:sp>
      <p:sp>
        <p:nvSpPr>
          <p:cNvPr id="2" name="Content Placeholder 2"/>
          <p:cNvSpPr txBox="1"/>
          <p:nvPr/>
        </p:nvSpPr>
        <p:spPr>
          <a:xfrm>
            <a:off x="9748173" y="4125310"/>
            <a:ext cx="1982470" cy="2154555"/>
          </a:xfrm>
          <a:prstGeom prst="rect">
            <a:avLst/>
          </a:prstGeom>
        </p:spPr>
        <p:txBody>
          <a:bodyPr vert="horz" lIns="91440" tIns="45720" rIns="91440" bIns="4572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endParaRPr lang="en-US" altLang="zh-CN" dirty="0">
              <a:solidFill>
                <a:schemeClr val="accent6"/>
              </a:solidFill>
              <a:effectLst>
                <a:outerShdw blurRad="38100" dist="25400" dir="5400000" algn="ctr" rotWithShape="0">
                  <a:srgbClr val="6E747A">
                    <a:alpha val="43000"/>
                  </a:srgbClr>
                </a:outerShdw>
              </a:effectLst>
              <a:latin typeface="微软雅黑" panose="020B0503020204020204" pitchFamily="34" charset="-122"/>
              <a:ea typeface="微软雅黑" panose="020B0503020204020204" pitchFamily="34" charset="-122"/>
              <a:cs typeface="微软雅黑" panose="020B0503020204020204" pitchFamily="34" charset="-122"/>
            </a:endParaRPr>
          </a:p>
          <a:p>
            <a:pPr marL="342900" indent="-342900" algn="l">
              <a:buFont typeface="Arial" panose="020B0604020202090204" pitchFamily="34" charset="0"/>
              <a:buChar char="•"/>
            </a:pPr>
            <a:endParaRPr lang="zh-CN" altLang="en-US" dirty="0">
              <a:solidFill>
                <a:schemeClr val="accent6"/>
              </a:solidFill>
              <a:latin typeface="微软雅黑" panose="020B0503020204020204" pitchFamily="34" charset="-122"/>
              <a:ea typeface="微软雅黑" panose="020B0503020204020204" pitchFamily="34" charset="-122"/>
              <a:cs typeface="微软雅黑" panose="020B0503020204020204" pitchFamily="34" charset="-122"/>
            </a:endParaRPr>
          </a:p>
          <a:p>
            <a:pPr marL="342900" indent="-342900" algn="l">
              <a:buFont typeface="Arial" panose="020B0604020202090204" pitchFamily="34" charset="0"/>
              <a:buChar char="•"/>
            </a:pPr>
            <a:endParaRPr lang="zh-CN" altLang="en-US" sz="2000" dirty="0">
              <a:solidFill>
                <a:schemeClr val="accent6"/>
              </a:solidFill>
            </a:endParaRPr>
          </a:p>
          <a:p>
            <a:pPr marL="342900" indent="-342900" algn="l">
              <a:buFont typeface="Arial" panose="020B0604020202090204" pitchFamily="34" charset="0"/>
              <a:buChar char="•"/>
            </a:pPr>
            <a:endParaRPr lang="zh-CN" altLang="en-US" sz="2000" dirty="0">
              <a:solidFill>
                <a:schemeClr val="accent6"/>
              </a:solidFill>
            </a:endParaRPr>
          </a:p>
        </p:txBody>
      </p:sp>
      <p:sp>
        <p:nvSpPr>
          <p:cNvPr id="116" name="NavActive 开发历程"/>
          <p:cNvSpPr/>
          <p:nvPr/>
        </p:nvSpPr>
        <p:spPr>
          <a:xfrm>
            <a:off x="4638083"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117"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22"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123"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开发历程</a:t>
            </a:r>
          </a:p>
        </p:txBody>
      </p:sp>
      <p:sp>
        <p:nvSpPr>
          <p:cNvPr id="124"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125"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核心机制</a:t>
            </a:r>
          </a:p>
        </p:txBody>
      </p:sp>
      <p:sp>
        <p:nvSpPr>
          <p:cNvPr id="126"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127"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2" name="文本框 1"/>
          <p:cNvSpPr txBox="1"/>
          <p:nvPr/>
        </p:nvSpPr>
        <p:spPr>
          <a:xfrm>
            <a:off x="4825032" y="2809186"/>
            <a:ext cx="2541935" cy="769441"/>
          </a:xfrm>
          <a:prstGeom prst="rect">
            <a:avLst/>
          </a:prstGeom>
          <a:noFill/>
        </p:spPr>
        <p:txBody>
          <a:bodyPr wrap="square" rtlCol="0">
            <a:spAutoFit/>
          </a:bodyPr>
          <a:lstStyle/>
          <a:p>
            <a:r>
              <a:rPr lang="en-US" altLang="zh-CN" sz="44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设计主线</a:t>
            </a:r>
          </a:p>
        </p:txBody>
      </p:sp>
      <p:sp>
        <p:nvSpPr>
          <p:cNvPr id="4" name="文本框 3"/>
          <p:cNvSpPr txBox="1"/>
          <p:nvPr/>
        </p:nvSpPr>
        <p:spPr>
          <a:xfrm>
            <a:off x="4034398" y="3786594"/>
            <a:ext cx="4019835" cy="584775"/>
          </a:xfrm>
          <a:prstGeom prst="rect">
            <a:avLst/>
          </a:prstGeom>
          <a:noFill/>
        </p:spPr>
        <p:txBody>
          <a:bodyPr wrap="square" rtlCol="0">
            <a:spAutoFit/>
          </a:bodyPr>
          <a:lstStyle/>
          <a:p>
            <a:r>
              <a:rPr lang="en-US" altLang="zh-CN" sz="3200" b="1" dirty="0" err="1">
                <a:solidFill>
                  <a:schemeClr val="tx1">
                    <a:lumMod val="50000"/>
                    <a:lumOff val="50000"/>
                  </a:schemeClr>
                </a:solidFill>
                <a:latin typeface="微软雅黑" panose="020B0503020204020204" pitchFamily="34" charset="-122"/>
                <a:ea typeface="微软雅黑" panose="020B0503020204020204" pitchFamily="34" charset="-122"/>
                <a:cs typeface="微软雅黑" panose="020B0503020204020204" pitchFamily="34" charset="-122"/>
              </a:rPr>
              <a:t>边界</a:t>
            </a:r>
            <a:r>
              <a:rPr lang="en-US" altLang="zh-CN" sz="3200" b="1" dirty="0">
                <a:solidFill>
                  <a:schemeClr val="tx1">
                    <a:lumMod val="50000"/>
                    <a:lumOff val="50000"/>
                  </a:schemeClr>
                </a:solidFill>
                <a:latin typeface="微软雅黑" panose="020B0503020204020204" pitchFamily="34" charset="-122"/>
                <a:ea typeface="微软雅黑" panose="020B0503020204020204" pitchFamily="34" charset="-122"/>
                <a:cs typeface="微软雅黑" panose="020B0503020204020204" pitchFamily="34" charset="-122"/>
              </a:rPr>
              <a:t> · </a:t>
            </a:r>
            <a:r>
              <a:rPr lang="zh-CN" altLang="en-US" sz="3200" b="1" dirty="0">
                <a:solidFill>
                  <a:schemeClr val="tx1">
                    <a:lumMod val="50000"/>
                    <a:lumOff val="50000"/>
                  </a:schemeClr>
                </a:solidFill>
                <a:latin typeface="微软雅黑" panose="020B0503020204020204" pitchFamily="34" charset="-122"/>
                <a:ea typeface="微软雅黑" panose="020B0503020204020204" pitchFamily="34" charset="-122"/>
                <a:cs typeface="微软雅黑" panose="020B0503020204020204" pitchFamily="34" charset="-122"/>
              </a:rPr>
              <a:t>所有权 </a:t>
            </a:r>
            <a:r>
              <a:rPr lang="en-US" altLang="zh-CN" sz="3200" b="1" dirty="0">
                <a:solidFill>
                  <a:schemeClr val="tx1">
                    <a:lumMod val="50000"/>
                    <a:lumOff val="50000"/>
                  </a:schemeClr>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3200" b="1" dirty="0">
                <a:solidFill>
                  <a:schemeClr val="tx1">
                    <a:lumMod val="50000"/>
                    <a:lumOff val="50000"/>
                  </a:schemeClr>
                </a:solidFill>
                <a:latin typeface="微软雅黑" panose="020B0503020204020204" pitchFamily="34" charset="-122"/>
                <a:ea typeface="微软雅黑" panose="020B0503020204020204" pitchFamily="34" charset="-122"/>
                <a:cs typeface="微软雅黑" panose="020B0503020204020204" pitchFamily="34" charset="-122"/>
              </a:rPr>
              <a:t>兼容</a:t>
            </a:r>
            <a:r>
              <a:rPr lang="en-US" altLang="zh-CN" sz="3200" b="1" dirty="0">
                <a:solidFill>
                  <a:schemeClr val="tx1">
                    <a:lumMod val="50000"/>
                    <a:lumOff val="50000"/>
                  </a:schemeClr>
                </a:solidFill>
                <a:latin typeface="微软雅黑" panose="020B0503020204020204" pitchFamily="34" charset="-122"/>
                <a:ea typeface="微软雅黑" panose="020B0503020204020204" pitchFamily="34" charset="-122"/>
                <a:cs typeface="微软雅黑" panose="020B0503020204020204" pitchFamily="34" charset="-122"/>
              </a:rPr>
              <a:t>  </a:t>
            </a:r>
          </a:p>
        </p:txBody>
      </p:sp>
      <p:sp>
        <p:nvSpPr>
          <p:cNvPr id="33" name="NavActive 设计主线"/>
          <p:cNvSpPr/>
          <p:nvPr/>
        </p:nvSpPr>
        <p:spPr>
          <a:xfrm>
            <a:off x="6044316" y="0"/>
            <a:ext cx="1406234"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34"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9"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40"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1"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设计主线</a:t>
            </a:r>
          </a:p>
        </p:txBody>
      </p:sp>
      <p:sp>
        <p:nvSpPr>
          <p:cNvPr id="42"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核心机制</a:t>
            </a:r>
          </a:p>
        </p:txBody>
      </p:sp>
      <p:sp>
        <p:nvSpPr>
          <p:cNvPr id="43"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44"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3" name="文本框 2"/>
          <p:cNvSpPr txBox="1"/>
          <p:nvPr/>
        </p:nvSpPr>
        <p:spPr>
          <a:xfrm>
            <a:off x="117292" y="1016779"/>
            <a:ext cx="4899025" cy="521970"/>
          </a:xfrm>
          <a:prstGeom prst="rect">
            <a:avLst/>
          </a:prstGeom>
          <a:noFill/>
        </p:spPr>
        <p:txBody>
          <a:bodyPr wrap="none" rtlCol="0">
            <a:spAutoFit/>
          </a:bodyPr>
          <a:lstStyle/>
          <a:p>
            <a:pPr marL="342900" indent="-342900">
              <a:buFont typeface="Wingdings" panose="05000000000000000000" pitchFamily="2" charset="2"/>
              <a:buChar char="Ø"/>
            </a:pPr>
            <a:r>
              <a:rPr lang="en-US" altLang="zh-CN" sz="2800" b="1" dirty="0">
                <a:solidFill>
                  <a:schemeClr val="tx1"/>
                </a:solidFill>
                <a:latin typeface="微软雅黑" panose="020B0503020204020204" pitchFamily="34" charset="-122"/>
                <a:ea typeface="微软雅黑" panose="020B0503020204020204" pitchFamily="34" charset="-122"/>
                <a:cs typeface="微软雅黑" panose="020B0503020204020204" pitchFamily="34" charset="-122"/>
              </a:rPr>
              <a:t>为什么坚持从零设计</a:t>
            </a:r>
          </a:p>
        </p:txBody>
      </p:sp>
      <p:sp>
        <p:nvSpPr>
          <p:cNvPr id="4" name="文本框 3"/>
          <p:cNvSpPr txBox="1"/>
          <p:nvPr/>
        </p:nvSpPr>
        <p:spPr>
          <a:xfrm>
            <a:off x="588010" y="1871980"/>
            <a:ext cx="2933700" cy="460375"/>
          </a:xfrm>
          <a:prstGeom prst="rect">
            <a:avLst/>
          </a:prstGeom>
          <a:noFill/>
        </p:spPr>
        <p:txBody>
          <a:bodyPr wrap="square">
            <a:spAutoFit/>
          </a:bodyPr>
          <a:lstStyle/>
          <a:p>
            <a:pPr marL="342900" indent="-342900" algn="l">
              <a:buFont typeface="Arial" panose="020B0604020202090204" pitchFamily="34" charset="0"/>
              <a:buChar char="•"/>
            </a:pPr>
            <a:r>
              <a:rPr lang="zh-CN" altLang="en-US" sz="2400" b="1" dirty="0">
                <a:solidFill>
                  <a:schemeClr val="tx1"/>
                </a:solidFill>
                <a:latin typeface="微软雅黑" panose="020B0503020204020204" pitchFamily="34" charset="-122"/>
                <a:ea typeface="微软雅黑" panose="020B0503020204020204" pitchFamily="34" charset="-122"/>
                <a:cs typeface="微软雅黑" panose="020B0503020204020204" pitchFamily="34" charset="-122"/>
              </a:rPr>
              <a:t>兼容对外协议</a:t>
            </a:r>
          </a:p>
        </p:txBody>
      </p:sp>
      <p:sp>
        <p:nvSpPr>
          <p:cNvPr id="6" name="文本框 5"/>
          <p:cNvSpPr txBox="1"/>
          <p:nvPr/>
        </p:nvSpPr>
        <p:spPr>
          <a:xfrm>
            <a:off x="1066800" y="2440940"/>
            <a:ext cx="8641080" cy="1069011"/>
          </a:xfrm>
          <a:prstGeom prst="rect">
            <a:avLst/>
          </a:prstGeom>
          <a:noFill/>
        </p:spPr>
        <p:txBody>
          <a:bodyPr wrap="square" rtlCol="0">
            <a:spAutoFit/>
          </a:bodyPr>
          <a:lstStyle/>
          <a:p>
            <a:pPr indent="0">
              <a:lnSpc>
                <a:spcPct val="170000"/>
              </a:lnSpc>
              <a:buFont typeface="Arial" panose="020B0604020202090204" pitchFamily="34" charset="0"/>
              <a:buNone/>
            </a:pPr>
            <a:r>
              <a:rPr lang="zh-CN" sz="2000" b="1" dirty="0">
                <a:solidFill>
                  <a:schemeClr val="accent6">
                    <a:lumMod val="75000"/>
                  </a:schemeClr>
                </a:solidFill>
                <a:latin typeface="微软雅黑" panose="020B0503020204020204" pitchFamily="34" charset="-122"/>
                <a:ea typeface="微软雅黑" panose="020B0503020204020204" pitchFamily="34" charset="-122"/>
                <a:cs typeface="微软雅黑" panose="020B0503020204020204" pitchFamily="34" charset="-122"/>
              </a:rPr>
              <a:t>Linux ABI 兼容停留在 syscall / UAPI 边界；不复制 Linux 内部对象与历史实现结构</a:t>
            </a:r>
            <a:endParaRPr lang="zh-CN" sz="2000" dirty="0">
              <a:solidFill>
                <a:schemeClr val="tx1"/>
              </a:solidFill>
              <a:latin typeface="微软雅黑" panose="020B0503020204020204" pitchFamily="34" charset="-122"/>
              <a:ea typeface="微软雅黑" panose="020B0503020204020204" pitchFamily="34" charset="-122"/>
              <a:cs typeface="微软雅黑" panose="020B0503020204020204" pitchFamily="34" charset="-122"/>
            </a:endParaRPr>
          </a:p>
          <a:p>
            <a:pPr indent="0">
              <a:lnSpc>
                <a:spcPct val="170000"/>
              </a:lnSpc>
              <a:buFont typeface="Arial" panose="020B0604020202090204" pitchFamily="34" charset="0"/>
              <a:buNone/>
            </a:pPr>
            <a:endParaRPr lang="zh-CN" sz="2000" b="1" dirty="0">
              <a:solidFill>
                <a:schemeClr val="tx1"/>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文本框 1"/>
          <p:cNvSpPr txBox="1"/>
          <p:nvPr/>
        </p:nvSpPr>
        <p:spPr>
          <a:xfrm>
            <a:off x="588010" y="4027805"/>
            <a:ext cx="3272108" cy="461665"/>
          </a:xfrm>
          <a:prstGeom prst="rect">
            <a:avLst/>
          </a:prstGeom>
          <a:noFill/>
        </p:spPr>
        <p:txBody>
          <a:bodyPr wrap="square">
            <a:spAutoFit/>
          </a:bodyPr>
          <a:lstStyle/>
          <a:p>
            <a:pPr marL="342900" indent="-342900" algn="l">
              <a:buFont typeface="Arial" panose="020B0604020202090204" pitchFamily="34" charset="0"/>
              <a:buChar char="•"/>
            </a:pPr>
            <a:r>
              <a:rPr lang="zh-CN" altLang="en-US" sz="2400" b="1" dirty="0">
                <a:solidFill>
                  <a:schemeClr val="tx1"/>
                </a:solidFill>
                <a:latin typeface="微软雅黑" panose="020B0503020204020204" pitchFamily="34" charset="-122"/>
                <a:ea typeface="微软雅黑" panose="020B0503020204020204" pitchFamily="34" charset="-122"/>
                <a:cs typeface="微软雅黑" panose="020B0503020204020204" pitchFamily="34" charset="-122"/>
              </a:rPr>
              <a:t>重建内部</a:t>
            </a:r>
            <a:r>
              <a:rPr lang="zh-CN" altLang="en-US" sz="2400" b="1" dirty="0">
                <a:latin typeface="微软雅黑" panose="020B0503020204020204" pitchFamily="34" charset="-122"/>
                <a:ea typeface="微软雅黑" panose="020B0503020204020204" pitchFamily="34" charset="-122"/>
                <a:cs typeface="微软雅黑" panose="020B0503020204020204" pitchFamily="34" charset="-122"/>
              </a:rPr>
              <a:t>对象模型</a:t>
            </a:r>
            <a:endParaRPr lang="zh-CN" altLang="en-US" sz="2400" b="1" dirty="0">
              <a:solidFill>
                <a:schemeClr val="tx1"/>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 name="文本框 4"/>
          <p:cNvSpPr txBox="1"/>
          <p:nvPr/>
        </p:nvSpPr>
        <p:spPr>
          <a:xfrm>
            <a:off x="1066799" y="4596765"/>
            <a:ext cx="8936449" cy="1069011"/>
          </a:xfrm>
          <a:prstGeom prst="rect">
            <a:avLst/>
          </a:prstGeom>
          <a:noFill/>
        </p:spPr>
        <p:txBody>
          <a:bodyPr wrap="square" rtlCol="0">
            <a:spAutoFit/>
          </a:bodyPr>
          <a:lstStyle/>
          <a:p>
            <a:pPr indent="0">
              <a:lnSpc>
                <a:spcPct val="170000"/>
              </a:lnSpc>
              <a:buFont typeface="Arial" panose="020B0604020202090204" pitchFamily="34" charset="0"/>
              <a:buNone/>
            </a:pPr>
            <a:r>
              <a:rPr lang="zh-CN" sz="2000" b="1" dirty="0">
                <a:solidFill>
                  <a:schemeClr val="accent6">
                    <a:lumMod val="75000"/>
                  </a:schemeClr>
                </a:solidFill>
                <a:latin typeface="微软雅黑" panose="020B0503020204020204" pitchFamily="34" charset="-122"/>
                <a:ea typeface="微软雅黑" panose="020B0503020204020204" pitchFamily="34" charset="-122"/>
                <a:cs typeface="微软雅黑" panose="020B0503020204020204" pitchFamily="34" charset="-122"/>
              </a:rPr>
              <a:t>核心对象围绕 Rust 所有权与单一真相源设计；调试、审查和演进路径更清楚</a:t>
            </a:r>
          </a:p>
          <a:p>
            <a:pPr indent="0">
              <a:lnSpc>
                <a:spcPct val="170000"/>
              </a:lnSpc>
              <a:buFont typeface="Arial" panose="020B0604020202090204" pitchFamily="34" charset="0"/>
              <a:buNone/>
            </a:pPr>
            <a:endParaRPr lang="zh-CN" sz="2000" b="1" dirty="0">
              <a:solidFill>
                <a:schemeClr val="accent6">
                  <a:lumMod val="75000"/>
                </a:scheme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3" name="NavActive 设计主线"/>
          <p:cNvSpPr/>
          <p:nvPr/>
        </p:nvSpPr>
        <p:spPr>
          <a:xfrm>
            <a:off x="6044316" y="0"/>
            <a:ext cx="1406234"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34"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9"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40"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1"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设计主线</a:t>
            </a:r>
          </a:p>
        </p:txBody>
      </p:sp>
      <p:sp>
        <p:nvSpPr>
          <p:cNvPr id="42"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核心机制</a:t>
            </a:r>
          </a:p>
        </p:txBody>
      </p:sp>
      <p:sp>
        <p:nvSpPr>
          <p:cNvPr id="43"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44"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7" name="文本框 6"/>
          <p:cNvSpPr txBox="1"/>
          <p:nvPr/>
        </p:nvSpPr>
        <p:spPr>
          <a:xfrm>
            <a:off x="117475" y="1039495"/>
            <a:ext cx="4328795" cy="521970"/>
          </a:xfrm>
          <a:prstGeom prst="rect">
            <a:avLst/>
          </a:prstGeom>
          <a:noFill/>
        </p:spPr>
        <p:txBody>
          <a:bodyPr wrap="square" rtlCol="0">
            <a:spAutoFit/>
          </a:bodyPr>
          <a:lstStyle/>
          <a:p>
            <a:pPr marL="457200" indent="-457200">
              <a:buFont typeface="Wingdings" panose="05000000000000000000" charset="0"/>
              <a:buChar char=""/>
            </a:pPr>
            <a:r>
              <a:rPr lang="en-US" altLang="zh-CN" sz="2800" b="1" dirty="0">
                <a:latin typeface="微软雅黑" panose="020B0503020204020204" pitchFamily="34" charset="-122"/>
                <a:ea typeface="微软雅黑" panose="020B0503020204020204" pitchFamily="34" charset="-122"/>
                <a:cs typeface="微软雅黑" panose="020B0503020204020204" pitchFamily="34" charset="-122"/>
              </a:rPr>
              <a:t>ABI 与内部对象分层</a:t>
            </a:r>
            <a:endParaRPr lang="zh-CN" altLang="en-US" sz="2800" b="1" dirty="0">
              <a:solidFill>
                <a:srgbClr val="FF0000"/>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8" name="文本框 7"/>
          <p:cNvSpPr txBox="1"/>
          <p:nvPr/>
        </p:nvSpPr>
        <p:spPr>
          <a:xfrm>
            <a:off x="626745" y="1809750"/>
            <a:ext cx="2933700" cy="521970"/>
          </a:xfrm>
          <a:prstGeom prst="rect">
            <a:avLst/>
          </a:prstGeom>
          <a:noFill/>
        </p:spPr>
        <p:txBody>
          <a:bodyPr wrap="square">
            <a:spAutoFit/>
          </a:bodyPr>
          <a:lstStyle/>
          <a:p>
            <a:pPr algn="l"/>
            <a:r>
              <a:rPr lang="zh-CN" altLang="en-US" sz="2800"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完整</a:t>
            </a:r>
            <a:r>
              <a:rPr lang="en-US" altLang="zh-CN" sz="2800"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外部协议</a:t>
            </a:r>
          </a:p>
        </p:txBody>
      </p:sp>
      <p:sp>
        <p:nvSpPr>
          <p:cNvPr id="10" name="文本框 9"/>
          <p:cNvSpPr txBox="1"/>
          <p:nvPr/>
        </p:nvSpPr>
        <p:spPr>
          <a:xfrm>
            <a:off x="3232150" y="1870075"/>
            <a:ext cx="7943215" cy="398780"/>
          </a:xfrm>
          <a:prstGeom prst="rect">
            <a:avLst/>
          </a:prstGeom>
          <a:noFill/>
        </p:spPr>
        <p:txBody>
          <a:bodyPr wrap="square" rtlCol="0">
            <a:spAutoFit/>
          </a:bodyPr>
          <a:lstStyle/>
          <a:p>
            <a:pPr indent="0">
              <a:buNone/>
            </a:pPr>
            <a:r>
              <a:rPr lang="zh-CN" sz="2000" dirty="0">
                <a:solidFill>
                  <a:schemeClr val="tx1">
                    <a:lumMod val="50000"/>
                    <a:lumOff val="50000"/>
                  </a:schemeClr>
                </a:solidFill>
                <a:latin typeface="微软雅黑" panose="020B0503020204020204" pitchFamily="34" charset="-122"/>
                <a:ea typeface="微软雅黑" panose="020B0503020204020204" pitchFamily="34" charset="-122"/>
              </a:rPr>
              <a:t>syscall / UAPI / errno / flag 定义 Linux 用户态可见语义</a:t>
            </a:r>
          </a:p>
        </p:txBody>
      </p:sp>
      <p:sp>
        <p:nvSpPr>
          <p:cNvPr id="11" name="文本框 10"/>
          <p:cNvSpPr txBox="1"/>
          <p:nvPr/>
        </p:nvSpPr>
        <p:spPr>
          <a:xfrm>
            <a:off x="626745" y="2619375"/>
            <a:ext cx="10547985" cy="521970"/>
          </a:xfrm>
          <a:prstGeom prst="rect">
            <a:avLst/>
          </a:prstGeom>
          <a:noFill/>
        </p:spPr>
        <p:txBody>
          <a:bodyPr wrap="square" rtlCol="0">
            <a:spAutoFit/>
          </a:bodyPr>
          <a:lstStyle/>
          <a:p>
            <a:pPr algn="l">
              <a:buClrTx/>
              <a:buSzTx/>
              <a:buFontTx/>
            </a:pPr>
            <a:r>
              <a:rPr lang="en-US" altLang="zh-CN" sz="2800"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内部对象</a:t>
            </a:r>
          </a:p>
        </p:txBody>
      </p:sp>
      <p:sp>
        <p:nvSpPr>
          <p:cNvPr id="23" name="文本框 22"/>
          <p:cNvSpPr txBox="1"/>
          <p:nvPr/>
        </p:nvSpPr>
        <p:spPr>
          <a:xfrm>
            <a:off x="626744" y="4805903"/>
            <a:ext cx="10547985" cy="521970"/>
          </a:xfrm>
          <a:prstGeom prst="rect">
            <a:avLst/>
          </a:prstGeom>
          <a:noFill/>
        </p:spPr>
        <p:txBody>
          <a:bodyPr wrap="square" rtlCol="0">
            <a:spAutoFit/>
          </a:bodyPr>
          <a:lstStyle/>
          <a:p>
            <a:pPr algn="l">
              <a:buClrTx/>
              <a:buSzTx/>
              <a:buFontTx/>
              <a:buNone/>
            </a:pPr>
            <a:r>
              <a:rPr lang="zh-CN" altLang="en-US" sz="2800"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实现效果</a:t>
            </a:r>
          </a:p>
        </p:txBody>
      </p:sp>
      <p:sp>
        <p:nvSpPr>
          <p:cNvPr id="33" name="NavActive 设计主线"/>
          <p:cNvSpPr/>
          <p:nvPr/>
        </p:nvSpPr>
        <p:spPr>
          <a:xfrm>
            <a:off x="6044316" y="0"/>
            <a:ext cx="1406234"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34"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9"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40"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1"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设计主线</a:t>
            </a:r>
          </a:p>
        </p:txBody>
      </p:sp>
      <p:sp>
        <p:nvSpPr>
          <p:cNvPr id="42"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核心机制</a:t>
            </a:r>
          </a:p>
        </p:txBody>
      </p:sp>
      <p:sp>
        <p:nvSpPr>
          <p:cNvPr id="43"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44"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sp>
        <p:nvSpPr>
          <p:cNvPr id="2" name="文本框 1"/>
          <p:cNvSpPr txBox="1"/>
          <p:nvPr/>
        </p:nvSpPr>
        <p:spPr>
          <a:xfrm>
            <a:off x="3232785" y="2722245"/>
            <a:ext cx="8788400" cy="1630045"/>
          </a:xfrm>
          <a:prstGeom prst="rect">
            <a:avLst/>
          </a:prstGeom>
          <a:noFill/>
        </p:spPr>
        <p:txBody>
          <a:bodyPr wrap="square" rtlCol="0">
            <a:spAutoFit/>
          </a:bodyPr>
          <a:lstStyle/>
          <a:p>
            <a:pPr marL="342900" indent="-342900" algn="l">
              <a:buClrTx/>
              <a:buSzTx/>
              <a:buFont typeface="Arial" panose="020B0604020202090204" pitchFamily="34" charset="0"/>
              <a:buChar char="•"/>
            </a:pPr>
            <a:r>
              <a:rPr lang="zh-CN" sz="2000" dirty="0">
                <a:solidFill>
                  <a:schemeClr val="tx1">
                    <a:lumMod val="50000"/>
                    <a:lumOff val="50000"/>
                  </a:schemeClr>
                </a:solidFill>
                <a:latin typeface="微软雅黑" panose="020B0503020204020204" pitchFamily="34" charset="-122"/>
                <a:ea typeface="微软雅黑" panose="020B0503020204020204" pitchFamily="34" charset="-122"/>
              </a:rPr>
              <a:t>不复刻 Linux 源码结构</a:t>
            </a:r>
          </a:p>
          <a:p>
            <a:pPr marL="342900" indent="-342900" algn="l">
              <a:buClrTx/>
              <a:buSzTx/>
              <a:buFont typeface="Arial" panose="020B0604020202090204" pitchFamily="34" charset="0"/>
              <a:buChar char="•"/>
            </a:pPr>
            <a:endParaRPr lang="zh-CN" sz="2000" dirty="0">
              <a:solidFill>
                <a:schemeClr val="tx1">
                  <a:lumMod val="50000"/>
                  <a:lumOff val="50000"/>
                </a:schemeClr>
              </a:solidFill>
              <a:latin typeface="微软雅黑" panose="020B0503020204020204" pitchFamily="34" charset="-122"/>
              <a:ea typeface="微软雅黑" panose="020B0503020204020204" pitchFamily="34" charset="-122"/>
            </a:endParaRPr>
          </a:p>
          <a:p>
            <a:pPr marL="342900" indent="-342900" algn="l">
              <a:buClrTx/>
              <a:buSzTx/>
              <a:buFont typeface="Arial" panose="020B0604020202090204" pitchFamily="34" charset="0"/>
              <a:buChar char="•"/>
            </a:pPr>
            <a:r>
              <a:rPr lang="en-US" altLang="zh-CN" sz="2000" b="1" dirty="0">
                <a:solidFill>
                  <a:schemeClr val="accent6">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ea"/>
              </a:rPr>
              <a:t>进程、文件、地址空间与设备各有明确 owner</a:t>
            </a:r>
          </a:p>
          <a:p>
            <a:pPr marL="342900" indent="-342900" algn="l">
              <a:buClrTx/>
              <a:buSzTx/>
              <a:buFont typeface="Arial" panose="020B0604020202090204" pitchFamily="34" charset="0"/>
              <a:buChar char="•"/>
            </a:pPr>
            <a:endParaRPr lang="zh-CN" altLang="en-US" sz="2000" dirty="0">
              <a:solidFill>
                <a:schemeClr val="tx1"/>
              </a:solidFill>
              <a:latin typeface="微软雅黑" panose="020B0503020204020204" pitchFamily="34" charset="-122"/>
              <a:ea typeface="微软雅黑" panose="020B0503020204020204" pitchFamily="34" charset="-122"/>
              <a:cs typeface="微软雅黑" panose="020B0503020204020204" pitchFamily="34" charset="-122"/>
            </a:endParaRPr>
          </a:p>
          <a:p>
            <a:pPr marL="342900" indent="-342900" algn="l">
              <a:buClrTx/>
              <a:buSzTx/>
              <a:buFont typeface="Arial" panose="020B0604020202090204" pitchFamily="34" charset="0"/>
              <a:buChar char="•"/>
            </a:pPr>
            <a:r>
              <a:rPr lang="en-US" altLang="zh-CN" sz="2000" b="1" dirty="0">
                <a:solidFill>
                  <a:schemeClr val="accent3">
                    <a:lumMod val="50000"/>
                  </a:schemeClr>
                </a:solidFill>
                <a:latin typeface="微软雅黑" panose="020B0503020204020204" pitchFamily="34" charset="-122"/>
                <a:ea typeface="微软雅黑" panose="020B0503020204020204" pitchFamily="34" charset="-122"/>
                <a:cs typeface="微软雅黑" panose="020B0503020204020204" pitchFamily="34" charset="-122"/>
                <a:sym typeface="+mn-ea"/>
              </a:rPr>
              <a:t>兼容逻辑隔离在边界，核心机制保持原生对象</a:t>
            </a:r>
            <a:endParaRPr lang="zh-CN" sz="2000" dirty="0">
              <a:solidFill>
                <a:schemeClr val="tx1">
                  <a:lumMod val="50000"/>
                  <a:lumOff val="50000"/>
                </a:schemeClr>
              </a:solidFill>
              <a:latin typeface="微软雅黑" panose="020B0503020204020204" pitchFamily="34" charset="-122"/>
              <a:ea typeface="微软雅黑" panose="020B0503020204020204" pitchFamily="34" charset="-122"/>
            </a:endParaRPr>
          </a:p>
        </p:txBody>
      </p:sp>
      <p:sp>
        <p:nvSpPr>
          <p:cNvPr id="5" name="文本框 4"/>
          <p:cNvSpPr txBox="1"/>
          <p:nvPr/>
        </p:nvSpPr>
        <p:spPr>
          <a:xfrm>
            <a:off x="3232785" y="4822825"/>
            <a:ext cx="7943215" cy="398780"/>
          </a:xfrm>
          <a:prstGeom prst="rect">
            <a:avLst/>
          </a:prstGeom>
          <a:noFill/>
        </p:spPr>
        <p:txBody>
          <a:bodyPr wrap="square" rtlCol="0">
            <a:spAutoFit/>
          </a:bodyPr>
          <a:lstStyle/>
          <a:p>
            <a:pPr indent="0">
              <a:buFont typeface="Arial" panose="020B0604020202090204" pitchFamily="34" charset="0"/>
              <a:buNone/>
            </a:pPr>
            <a:r>
              <a:rPr lang="en-US" altLang="zh-CN" sz="2000"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ABI 可解释，内部实现可审查、可重构</a:t>
            </a:r>
            <a:endParaRPr lang="zh-CN" sz="2000" dirty="0">
              <a:solidFill>
                <a:schemeClr val="tx1">
                  <a:lumMod val="50000"/>
                  <a:lumOff val="50000"/>
                </a:schemeClr>
              </a:solidFill>
              <a:latin typeface="微软雅黑" panose="020B0503020204020204" pitchFamily="34" charset="-122"/>
              <a:ea typeface="微软雅黑"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1"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1" nodeType="click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1"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0" grpId="1"/>
      <p:bldP spid="11" grpId="0"/>
      <p:bldP spid="11" grpId="1"/>
      <p:bldP spid="23" grpId="0"/>
      <p:bldP spid="23" grpId="1"/>
      <p:bldP spid="2" grpId="0"/>
      <p:bldP spid="2" grpId="1"/>
      <p:bldP spid="5" grpId="0"/>
      <p:bldP spid="5" grpId="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7" name="文本框 6"/>
          <p:cNvSpPr txBox="1"/>
          <p:nvPr/>
        </p:nvSpPr>
        <p:spPr>
          <a:xfrm>
            <a:off x="117292" y="1022494"/>
            <a:ext cx="4202430" cy="521970"/>
          </a:xfrm>
          <a:prstGeom prst="rect">
            <a:avLst/>
          </a:prstGeom>
          <a:noFill/>
        </p:spPr>
        <p:txBody>
          <a:bodyPr wrap="none" rtlCol="0">
            <a:spAutoFit/>
          </a:bodyPr>
          <a:lstStyle/>
          <a:p>
            <a:pPr marL="457200" indent="-457200" algn="l">
              <a:buClrTx/>
              <a:buSzTx/>
              <a:buFont typeface="Wingdings" panose="05000000000000000000" charset="0"/>
              <a:buChar char=""/>
            </a:pPr>
            <a:r>
              <a:rPr lang="en-US" altLang="zh-CN" sz="2800" b="1" dirty="0">
                <a:latin typeface="微软雅黑" panose="020B0503020204020204" pitchFamily="34" charset="-122"/>
                <a:ea typeface="微软雅黑" panose="020B0503020204020204" pitchFamily="34" charset="-122"/>
                <a:cs typeface="微软雅黑" panose="020B0503020204020204" pitchFamily="34" charset="-122"/>
              </a:rPr>
              <a:t>兼容逻辑停</a:t>
            </a:r>
            <a:r>
              <a:rPr lang="zh-CN" altLang="en-US" sz="2800" b="1" dirty="0">
                <a:latin typeface="微软雅黑" panose="020B0503020204020204" pitchFamily="34" charset="-122"/>
                <a:ea typeface="微软雅黑" panose="020B0503020204020204" pitchFamily="34" charset="-122"/>
                <a:cs typeface="微软雅黑" panose="020B0503020204020204" pitchFamily="34" charset="-122"/>
              </a:rPr>
              <a:t>留</a:t>
            </a:r>
            <a:r>
              <a:rPr lang="en-US" altLang="zh-CN" sz="2800" b="1" dirty="0">
                <a:latin typeface="微软雅黑" panose="020B0503020204020204" pitchFamily="34" charset="-122"/>
                <a:ea typeface="微软雅黑" panose="020B0503020204020204" pitchFamily="34" charset="-122"/>
                <a:cs typeface="微软雅黑" panose="020B0503020204020204" pitchFamily="34" charset="-122"/>
              </a:rPr>
              <a:t>在边界层</a:t>
            </a:r>
          </a:p>
        </p:txBody>
      </p:sp>
      <p:pic>
        <p:nvPicPr>
          <p:cNvPr id="3" name="图片 2"/>
          <p:cNvPicPr>
            <a:picLocks noChangeAspect="1"/>
          </p:cNvPicPr>
          <p:nvPr/>
        </p:nvPicPr>
        <p:blipFill>
          <a:blip r:embed="rId5"/>
          <a:stretch>
            <a:fillRect/>
          </a:stretch>
        </p:blipFill>
        <p:spPr>
          <a:xfrm>
            <a:off x="3968115" y="1774825"/>
            <a:ext cx="7701280" cy="4574540"/>
          </a:xfrm>
          <a:prstGeom prst="rect">
            <a:avLst/>
          </a:prstGeom>
        </p:spPr>
      </p:pic>
      <p:sp>
        <p:nvSpPr>
          <p:cNvPr id="33" name="NavActive 设计主线"/>
          <p:cNvSpPr/>
          <p:nvPr/>
        </p:nvSpPr>
        <p:spPr>
          <a:xfrm>
            <a:off x="6044316" y="0"/>
            <a:ext cx="1406234"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34"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9"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40"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1"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设计主线</a:t>
            </a:r>
          </a:p>
        </p:txBody>
      </p:sp>
      <p:sp>
        <p:nvSpPr>
          <p:cNvPr id="42"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核心机制</a:t>
            </a:r>
          </a:p>
        </p:txBody>
      </p:sp>
      <p:sp>
        <p:nvSpPr>
          <p:cNvPr id="43"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44"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graphicFrame>
        <p:nvGraphicFramePr>
          <p:cNvPr id="2" name="图示 1"/>
          <p:cNvGraphicFramePr/>
          <p:nvPr/>
        </p:nvGraphicFramePr>
        <p:xfrm>
          <a:off x="720090" y="1577340"/>
          <a:ext cx="2997200" cy="4857750"/>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2" name="文本框 1"/>
          <p:cNvSpPr txBox="1"/>
          <p:nvPr/>
        </p:nvSpPr>
        <p:spPr>
          <a:xfrm>
            <a:off x="4696447" y="3044279"/>
            <a:ext cx="2494795" cy="768350"/>
          </a:xfrm>
          <a:prstGeom prst="rect">
            <a:avLst/>
          </a:prstGeom>
          <a:noFill/>
        </p:spPr>
        <p:txBody>
          <a:bodyPr wrap="square" rtlCol="0">
            <a:spAutoFit/>
          </a:bodyPr>
          <a:lstStyle/>
          <a:p>
            <a:pPr lvl="0" algn="l">
              <a:buClrTx/>
              <a:buSzTx/>
              <a:buFontTx/>
            </a:pPr>
            <a:r>
              <a:rPr lang="en-US" altLang="zh-CN" sz="44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核心机制</a:t>
            </a:r>
          </a:p>
        </p:txBody>
      </p:sp>
      <p:sp>
        <p:nvSpPr>
          <p:cNvPr id="33" name="NavActive 核心机制"/>
          <p:cNvSpPr/>
          <p:nvPr/>
        </p:nvSpPr>
        <p:spPr>
          <a:xfrm>
            <a:off x="7450550"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34"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9"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40"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1"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42"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核心机制</a:t>
            </a:r>
          </a:p>
        </p:txBody>
      </p:sp>
      <p:sp>
        <p:nvSpPr>
          <p:cNvPr id="43"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44"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sp>
        <p:nvSpPr>
          <p:cNvPr id="6" name="文本框 5">
            <a:extLst>
              <a:ext uri="{FF2B5EF4-FFF2-40B4-BE49-F238E27FC236}">
                <a16:creationId xmlns:a16="http://schemas.microsoft.com/office/drawing/2014/main" id="{26F5E105-98FA-1304-3DD5-A2052AED9C67}"/>
              </a:ext>
            </a:extLst>
          </p:cNvPr>
          <p:cNvSpPr txBox="1"/>
          <p:nvPr/>
        </p:nvSpPr>
        <p:spPr>
          <a:xfrm>
            <a:off x="4034398" y="3786594"/>
            <a:ext cx="4019835" cy="584775"/>
          </a:xfrm>
          <a:prstGeom prst="rect">
            <a:avLst/>
          </a:prstGeom>
          <a:noFill/>
        </p:spPr>
        <p:txBody>
          <a:bodyPr wrap="square" rtlCol="0">
            <a:spAutoFit/>
          </a:bodyPr>
          <a:lstStyle/>
          <a:p>
            <a:r>
              <a:rPr lang="zh-CN" altLang="en-US" sz="3200" b="1" dirty="0">
                <a:solidFill>
                  <a:schemeClr val="tx1">
                    <a:lumMod val="50000"/>
                    <a:lumOff val="50000"/>
                  </a:schemeClr>
                </a:solidFill>
                <a:latin typeface="微软雅黑" panose="020B0503020204020204" pitchFamily="34" charset="-122"/>
                <a:ea typeface="微软雅黑" panose="020B0503020204020204" pitchFamily="34" charset="-122"/>
                <a:cs typeface="微软雅黑" panose="020B0503020204020204" pitchFamily="34" charset="-122"/>
              </a:rPr>
              <a:t>机制</a:t>
            </a:r>
            <a:r>
              <a:rPr lang="en-US" altLang="zh-CN" sz="3200" b="1" dirty="0">
                <a:solidFill>
                  <a:schemeClr val="tx1">
                    <a:lumMod val="50000"/>
                    <a:lumOff val="50000"/>
                  </a:schemeClr>
                </a:solidFill>
                <a:latin typeface="微软雅黑" panose="020B0503020204020204" pitchFamily="34" charset="-122"/>
                <a:ea typeface="微软雅黑" panose="020B0503020204020204" pitchFamily="34" charset="-122"/>
                <a:cs typeface="微软雅黑" panose="020B0503020204020204" pitchFamily="34" charset="-122"/>
              </a:rPr>
              <a:t> · </a:t>
            </a:r>
            <a:r>
              <a:rPr lang="zh-CN" altLang="en-US" sz="3200" b="1" dirty="0">
                <a:solidFill>
                  <a:schemeClr val="tx1">
                    <a:lumMod val="50000"/>
                    <a:lumOff val="50000"/>
                  </a:schemeClr>
                </a:solidFill>
                <a:latin typeface="微软雅黑" panose="020B0503020204020204" pitchFamily="34" charset="-122"/>
                <a:ea typeface="微软雅黑" panose="020B0503020204020204" pitchFamily="34" charset="-122"/>
                <a:cs typeface="微软雅黑" panose="020B0503020204020204" pitchFamily="34" charset="-122"/>
              </a:rPr>
              <a:t>策略 </a:t>
            </a:r>
            <a:r>
              <a:rPr lang="en-US" altLang="zh-CN" sz="3200" b="1" dirty="0">
                <a:solidFill>
                  <a:schemeClr val="tx1">
                    <a:lumMod val="50000"/>
                    <a:lumOff val="50000"/>
                  </a:schemeClr>
                </a:solidFill>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3200" b="1">
                <a:solidFill>
                  <a:schemeClr val="tx1">
                    <a:lumMod val="50000"/>
                    <a:lumOff val="50000"/>
                  </a:schemeClr>
                </a:solidFill>
                <a:latin typeface="微软雅黑" panose="020B0503020204020204" pitchFamily="34" charset="-122"/>
                <a:ea typeface="微软雅黑" panose="020B0503020204020204" pitchFamily="34" charset="-122"/>
                <a:cs typeface="微软雅黑" panose="020B0503020204020204" pitchFamily="34" charset="-122"/>
              </a:rPr>
              <a:t>创新点</a:t>
            </a:r>
            <a:endParaRPr lang="en-US" altLang="zh-CN" sz="3200" b="1" dirty="0">
              <a:solidFill>
                <a:schemeClr val="tx1">
                  <a:lumMod val="50000"/>
                  <a:lumOff val="50000"/>
                </a:schemeClr>
              </a:solidFill>
              <a:latin typeface="微软雅黑" panose="020B0503020204020204" pitchFamily="34" charset="-122"/>
              <a:ea typeface="微软雅黑" panose="020B0503020204020204" pitchFamily="34" charset="-122"/>
              <a:cs typeface="微软雅黑"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3" name="文本框 2"/>
          <p:cNvSpPr txBox="1"/>
          <p:nvPr/>
        </p:nvSpPr>
        <p:spPr>
          <a:xfrm>
            <a:off x="405757" y="995184"/>
            <a:ext cx="8018780" cy="521970"/>
          </a:xfrm>
          <a:prstGeom prst="rect">
            <a:avLst/>
          </a:prstGeom>
          <a:noFill/>
        </p:spPr>
        <p:txBody>
          <a:bodyPr wrap="none" rtlCol="0">
            <a:spAutoFit/>
          </a:bodyPr>
          <a:lstStyle/>
          <a:p>
            <a:pPr marL="457200" indent="-457200" algn="l">
              <a:buClrTx/>
              <a:buSzTx/>
              <a:buFont typeface="Wingdings" panose="05000000000000000000" charset="0"/>
              <a:buChar char=""/>
            </a:pPr>
            <a:r>
              <a:rPr lang="en-US" altLang="zh-CN" sz="28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Nemophila – 基于WASM的内核动态扩展机制</a:t>
            </a:r>
          </a:p>
        </p:txBody>
      </p:sp>
      <p:sp>
        <p:nvSpPr>
          <p:cNvPr id="4" name="文本框 3"/>
          <p:cNvSpPr txBox="1"/>
          <p:nvPr/>
        </p:nvSpPr>
        <p:spPr>
          <a:xfrm>
            <a:off x="385949" y="1564124"/>
            <a:ext cx="10978737" cy="398780"/>
          </a:xfrm>
          <a:prstGeom prst="rect">
            <a:avLst/>
          </a:prstGeom>
          <a:noFill/>
        </p:spPr>
        <p:txBody>
          <a:bodyPr wrap="square" rtlCol="0">
            <a:spAutoFit/>
          </a:bodyPr>
          <a:lstStyle/>
          <a:p>
            <a:r>
              <a:rPr lang="zh-CN" altLang="en-US" sz="2000" b="0" i="0" dirty="0">
                <a:solidFill>
                  <a:srgbClr val="404040"/>
                </a:solidFill>
                <a:effectLst/>
                <a:latin typeface="quote-cjk-patch"/>
              </a:rPr>
              <a:t>模块热插拔；</a:t>
            </a:r>
            <a:r>
              <a:rPr lang="en-US" altLang="zh-CN" sz="2000" b="0" i="0" dirty="0">
                <a:solidFill>
                  <a:srgbClr val="404040"/>
                </a:solidFill>
                <a:effectLst/>
                <a:latin typeface="quote-cjk-patch"/>
              </a:rPr>
              <a:t>WASM</a:t>
            </a:r>
            <a:r>
              <a:rPr lang="zh-CN" altLang="en-US" sz="2000" b="0" i="0" dirty="0">
                <a:solidFill>
                  <a:srgbClr val="404040"/>
                </a:solidFill>
                <a:effectLst/>
                <a:latin typeface="quote-cjk-patch"/>
              </a:rPr>
              <a:t>天然提供沙箱性质；一次编译，多架构装载；内核</a:t>
            </a:r>
            <a:r>
              <a:rPr lang="en-US" altLang="zh-CN" sz="2000" b="0" i="0" dirty="0">
                <a:solidFill>
                  <a:srgbClr val="404040"/>
                </a:solidFill>
                <a:effectLst/>
                <a:latin typeface="quote-cjk-patch"/>
              </a:rPr>
              <a:t>Hook</a:t>
            </a:r>
          </a:p>
        </p:txBody>
      </p:sp>
      <p:sp>
        <p:nvSpPr>
          <p:cNvPr id="33" name="NavActive 核心机制"/>
          <p:cNvSpPr/>
          <p:nvPr/>
        </p:nvSpPr>
        <p:spPr>
          <a:xfrm>
            <a:off x="7450550"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34"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9"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40"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1"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42"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核心机制</a:t>
            </a:r>
          </a:p>
        </p:txBody>
      </p:sp>
      <p:sp>
        <p:nvSpPr>
          <p:cNvPr id="43"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44"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pic>
        <p:nvPicPr>
          <p:cNvPr id="6" name="图片 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45326" y="2005805"/>
            <a:ext cx="10919360" cy="471920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3" name="文本框 2"/>
          <p:cNvSpPr txBox="1"/>
          <p:nvPr/>
        </p:nvSpPr>
        <p:spPr>
          <a:xfrm>
            <a:off x="222877" y="1040904"/>
            <a:ext cx="3846195" cy="521970"/>
          </a:xfrm>
          <a:prstGeom prst="rect">
            <a:avLst/>
          </a:prstGeom>
          <a:noFill/>
        </p:spPr>
        <p:txBody>
          <a:bodyPr wrap="none" rtlCol="0">
            <a:spAutoFit/>
          </a:bodyPr>
          <a:lstStyle/>
          <a:p>
            <a:pPr marL="457200" indent="-457200" algn="l">
              <a:buClrTx/>
              <a:buSzTx/>
              <a:buFont typeface="Wingdings" panose="05000000000000000000" charset="0"/>
              <a:buChar char=""/>
            </a:pPr>
            <a:r>
              <a:rPr lang="en-US" altLang="zh-CN" sz="28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rPr>
              <a:t>进程拓扑与作业控制</a:t>
            </a:r>
          </a:p>
        </p:txBody>
      </p:sp>
      <p:sp>
        <p:nvSpPr>
          <p:cNvPr id="4" name="文本框 3"/>
          <p:cNvSpPr txBox="1"/>
          <p:nvPr/>
        </p:nvSpPr>
        <p:spPr>
          <a:xfrm>
            <a:off x="391795" y="1812925"/>
            <a:ext cx="4689475" cy="3784600"/>
          </a:xfrm>
          <a:prstGeom prst="rect">
            <a:avLst/>
          </a:prstGeom>
          <a:noFill/>
        </p:spPr>
        <p:txBody>
          <a:bodyPr wrap="square" rtlCol="0">
            <a:spAutoFit/>
          </a:bodyPr>
          <a:lstStyle/>
          <a:p>
            <a:pPr marL="342900" indent="-342900">
              <a:buFontTx/>
              <a:buChar char="-"/>
            </a:pPr>
            <a:r>
              <a:rPr lang="en-US" altLang="zh-CN" sz="2400" b="0" i="0" dirty="0">
                <a:solidFill>
                  <a:srgbClr val="404040"/>
                </a:solidFill>
                <a:effectLst/>
                <a:ea typeface="+mn-lt"/>
                <a:cs typeface="+mn-lt"/>
              </a:rPr>
              <a:t>Task</a:t>
            </a:r>
            <a:r>
              <a:rPr lang="zh-CN" altLang="en-US" sz="2400" b="0" i="0" dirty="0">
                <a:solidFill>
                  <a:srgbClr val="404040"/>
                </a:solidFill>
                <a:effectLst/>
                <a:ea typeface="+mn-lt"/>
                <a:cs typeface="+mn-lt"/>
              </a:rPr>
              <a:t>的本地信息存放在</a:t>
            </a:r>
            <a:r>
              <a:rPr lang="en-US" altLang="zh-CN" sz="2400" b="0" i="0" dirty="0">
                <a:solidFill>
                  <a:srgbClr val="404040"/>
                </a:solidFill>
                <a:effectLst/>
                <a:ea typeface="+mn-lt"/>
                <a:cs typeface="+mn-lt"/>
              </a:rPr>
              <a:t>TCB</a:t>
            </a:r>
          </a:p>
          <a:p>
            <a:pPr marL="342900" indent="-342900">
              <a:buFontTx/>
              <a:buChar char="-"/>
            </a:pPr>
            <a:endParaRPr lang="en-US" altLang="zh-CN" sz="2400" dirty="0">
              <a:solidFill>
                <a:srgbClr val="404040"/>
              </a:solidFill>
              <a:ea typeface="+mn-lt"/>
              <a:cs typeface="+mn-lt"/>
            </a:endParaRPr>
          </a:p>
          <a:p>
            <a:pPr marL="342900" indent="-342900">
              <a:buFontTx/>
              <a:buChar char="-"/>
            </a:pPr>
            <a:r>
              <a:rPr lang="zh-CN" altLang="en-US" sz="2400" dirty="0">
                <a:solidFill>
                  <a:srgbClr val="404040"/>
                </a:solidFill>
                <a:ea typeface="+mn-lt"/>
                <a:cs typeface="+mn-lt"/>
              </a:rPr>
              <a:t>关联信息</a:t>
            </a:r>
            <a:r>
              <a:rPr lang="en-US" altLang="zh-CN" sz="2400" dirty="0">
                <a:solidFill>
                  <a:srgbClr val="404040"/>
                </a:solidFill>
                <a:ea typeface="+mn-lt"/>
                <a:cs typeface="+mn-lt"/>
              </a:rPr>
              <a:t>——</a:t>
            </a:r>
            <a:r>
              <a:rPr lang="zh-CN" altLang="en-US" sz="2400" dirty="0">
                <a:solidFill>
                  <a:srgbClr val="404040"/>
                </a:solidFill>
                <a:ea typeface="+mn-lt"/>
                <a:cs typeface="+mn-lt"/>
              </a:rPr>
              <a:t>线程组，进程组，会话关系，则存储在全局拓扑，被一把大锁保护</a:t>
            </a:r>
            <a:endParaRPr lang="en-US" altLang="zh-CN" sz="2400" dirty="0">
              <a:solidFill>
                <a:srgbClr val="404040"/>
              </a:solidFill>
              <a:ea typeface="+mn-lt"/>
              <a:cs typeface="+mn-lt"/>
            </a:endParaRPr>
          </a:p>
          <a:p>
            <a:pPr marL="342900" indent="-342900">
              <a:buFontTx/>
              <a:buChar char="-"/>
            </a:pPr>
            <a:endParaRPr lang="en-US" altLang="zh-CN" sz="2400" b="0" i="0" dirty="0">
              <a:solidFill>
                <a:srgbClr val="404040"/>
              </a:solidFill>
              <a:effectLst/>
              <a:ea typeface="+mn-lt"/>
              <a:cs typeface="+mn-lt"/>
            </a:endParaRPr>
          </a:p>
          <a:p>
            <a:pPr marL="342900" indent="-342900">
              <a:buFontTx/>
              <a:buChar char="-"/>
            </a:pPr>
            <a:r>
              <a:rPr lang="zh-CN" altLang="en-US" sz="2400" b="0" i="0" dirty="0">
                <a:solidFill>
                  <a:srgbClr val="404040"/>
                </a:solidFill>
                <a:effectLst/>
                <a:ea typeface="+mn-lt"/>
                <a:cs typeface="+mn-lt"/>
              </a:rPr>
              <a:t>解决发布窗口期竞态</a:t>
            </a:r>
            <a:endParaRPr lang="en-US" altLang="zh-CN" sz="2400" b="0" i="0" dirty="0">
              <a:solidFill>
                <a:srgbClr val="404040"/>
              </a:solidFill>
              <a:effectLst/>
              <a:ea typeface="+mn-lt"/>
              <a:cs typeface="+mn-lt"/>
            </a:endParaRPr>
          </a:p>
          <a:p>
            <a:pPr marL="342900" indent="-342900">
              <a:buFontTx/>
              <a:buChar char="-"/>
            </a:pPr>
            <a:endParaRPr lang="en-US" altLang="zh-CN" sz="2400" dirty="0">
              <a:solidFill>
                <a:srgbClr val="404040"/>
              </a:solidFill>
              <a:ea typeface="+mn-lt"/>
              <a:cs typeface="+mn-lt"/>
            </a:endParaRPr>
          </a:p>
          <a:p>
            <a:pPr marL="342900" indent="-342900">
              <a:buFontTx/>
              <a:buChar char="-"/>
            </a:pPr>
            <a:r>
              <a:rPr lang="en-US" altLang="zh-CN" sz="2400" b="0" i="0" dirty="0">
                <a:solidFill>
                  <a:srgbClr val="404040"/>
                </a:solidFill>
                <a:effectLst/>
                <a:ea typeface="+mn-lt"/>
                <a:cs typeface="+mn-lt"/>
              </a:rPr>
              <a:t>Unix </a:t>
            </a:r>
            <a:r>
              <a:rPr lang="en-US" altLang="zh-CN" sz="2400" b="0" i="0" dirty="0" err="1">
                <a:solidFill>
                  <a:srgbClr val="404040"/>
                </a:solidFill>
                <a:effectLst/>
                <a:ea typeface="+mn-lt"/>
                <a:cs typeface="+mn-lt"/>
              </a:rPr>
              <a:t>JobCtl</a:t>
            </a:r>
            <a:r>
              <a:rPr lang="zh-CN" altLang="en-US" sz="2400" b="0" i="0" dirty="0">
                <a:solidFill>
                  <a:srgbClr val="404040"/>
                </a:solidFill>
                <a:effectLst/>
                <a:ea typeface="+mn-lt"/>
                <a:cs typeface="+mn-lt"/>
              </a:rPr>
              <a:t>，支持</a:t>
            </a:r>
            <a:r>
              <a:rPr lang="en-US" altLang="zh-CN" sz="2400" b="0" i="0" dirty="0">
                <a:solidFill>
                  <a:srgbClr val="404040"/>
                </a:solidFill>
                <a:effectLst/>
                <a:ea typeface="+mn-lt"/>
                <a:cs typeface="+mn-lt"/>
              </a:rPr>
              <a:t>Shell</a:t>
            </a:r>
            <a:r>
              <a:rPr lang="zh-CN" altLang="en-US" sz="2400" b="0" i="0" dirty="0">
                <a:solidFill>
                  <a:srgbClr val="404040"/>
                </a:solidFill>
                <a:effectLst/>
                <a:ea typeface="+mn-lt"/>
                <a:cs typeface="+mn-lt"/>
              </a:rPr>
              <a:t>的复杂操作</a:t>
            </a:r>
            <a:endParaRPr lang="en-US" altLang="zh-CN" sz="2400" b="0" i="0" dirty="0">
              <a:solidFill>
                <a:srgbClr val="404040"/>
              </a:solidFill>
              <a:effectLst/>
              <a:ea typeface="+mn-lt"/>
              <a:cs typeface="+mn-lt"/>
            </a:endParaRPr>
          </a:p>
        </p:txBody>
      </p:sp>
      <p:pic>
        <p:nvPicPr>
          <p:cNvPr id="5" name="图片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232566" y="1564124"/>
            <a:ext cx="4882385" cy="3945244"/>
          </a:xfrm>
          <a:prstGeom prst="rect">
            <a:avLst/>
          </a:prstGeom>
        </p:spPr>
      </p:pic>
      <p:sp>
        <p:nvSpPr>
          <p:cNvPr id="33" name="NavActive 核心机制"/>
          <p:cNvSpPr/>
          <p:nvPr/>
        </p:nvSpPr>
        <p:spPr>
          <a:xfrm>
            <a:off x="7450550"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34"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9"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40"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1"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42"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核心机制</a:t>
            </a:r>
          </a:p>
        </p:txBody>
      </p:sp>
      <p:sp>
        <p:nvSpPr>
          <p:cNvPr id="43"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44"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4">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5">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3" name="文本框 2"/>
          <p:cNvSpPr txBox="1"/>
          <p:nvPr/>
        </p:nvSpPr>
        <p:spPr>
          <a:xfrm>
            <a:off x="222877" y="1040904"/>
            <a:ext cx="2676525" cy="521970"/>
          </a:xfrm>
          <a:prstGeom prst="rect">
            <a:avLst/>
          </a:prstGeom>
          <a:noFill/>
        </p:spPr>
        <p:txBody>
          <a:bodyPr wrap="none" rtlCol="0">
            <a:spAutoFit/>
          </a:bodyPr>
          <a:lstStyle/>
          <a:p>
            <a:pPr marL="457200" lvl="0" indent="-457200" algn="l">
              <a:buClrTx/>
              <a:buSzTx/>
              <a:buFont typeface="Wingdings" panose="05000000000000000000" charset="0"/>
              <a:buChar char=""/>
            </a:pPr>
            <a:r>
              <a:rPr lang="en-US" altLang="zh-CN" sz="28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动态多调度策略</a:t>
            </a:r>
          </a:p>
        </p:txBody>
      </p:sp>
      <p:sp>
        <p:nvSpPr>
          <p:cNvPr id="4" name="文本框 3"/>
          <p:cNvSpPr txBox="1"/>
          <p:nvPr/>
        </p:nvSpPr>
        <p:spPr>
          <a:xfrm>
            <a:off x="643255" y="1812925"/>
            <a:ext cx="4986020" cy="3784600"/>
          </a:xfrm>
          <a:prstGeom prst="rect">
            <a:avLst/>
          </a:prstGeom>
          <a:noFill/>
        </p:spPr>
        <p:txBody>
          <a:bodyPr wrap="square" rtlCol="0">
            <a:spAutoFit/>
          </a:bodyPr>
          <a:lstStyle/>
          <a:p>
            <a:r>
              <a:rPr lang="zh-CN" altLang="en-US" sz="2400" b="1" dirty="0">
                <a:solidFill>
                  <a:schemeClr val="tx1"/>
                </a:solidFill>
                <a:ea typeface="+mn-lt"/>
                <a:cs typeface="+mn-lt"/>
              </a:rPr>
              <a:t>多种同步原语：</a:t>
            </a:r>
            <a:endParaRPr lang="en-US" altLang="zh-CN" sz="2400" b="1" dirty="0">
              <a:solidFill>
                <a:srgbClr val="404040"/>
              </a:solidFill>
              <a:ea typeface="+mn-lt"/>
              <a:cs typeface="+mn-lt"/>
            </a:endParaRPr>
          </a:p>
          <a:p>
            <a:pPr marL="342900" indent="-342900">
              <a:buFontTx/>
              <a:buChar char="-"/>
            </a:pPr>
            <a:r>
              <a:rPr lang="en-US" altLang="zh-CN" sz="2400" b="0" i="0" dirty="0">
                <a:solidFill>
                  <a:srgbClr val="404040"/>
                </a:solidFill>
                <a:effectLst/>
                <a:ea typeface="+mn-lt"/>
                <a:cs typeface="+mn-lt"/>
              </a:rPr>
              <a:t>Event	</a:t>
            </a:r>
            <a:r>
              <a:rPr lang="zh-CN" altLang="en-US" sz="2400" dirty="0">
                <a:solidFill>
                  <a:srgbClr val="404040"/>
                </a:solidFill>
                <a:ea typeface="+mn-lt"/>
                <a:cs typeface="+mn-lt"/>
              </a:rPr>
              <a:t>等待与发布</a:t>
            </a:r>
            <a:endParaRPr lang="en-US" altLang="zh-CN" sz="2400" b="0" i="0" dirty="0">
              <a:solidFill>
                <a:srgbClr val="404040"/>
              </a:solidFill>
              <a:effectLst/>
              <a:ea typeface="+mn-lt"/>
              <a:cs typeface="+mn-lt"/>
            </a:endParaRPr>
          </a:p>
          <a:p>
            <a:pPr marL="342900" indent="-342900">
              <a:buFontTx/>
              <a:buChar char="-"/>
            </a:pPr>
            <a:r>
              <a:rPr lang="en-US" altLang="zh-CN" sz="2400" dirty="0">
                <a:solidFill>
                  <a:srgbClr val="404040"/>
                </a:solidFill>
                <a:ea typeface="+mn-lt"/>
                <a:cs typeface="+mn-lt"/>
              </a:rPr>
              <a:t>Latch	</a:t>
            </a:r>
            <a:r>
              <a:rPr lang="zh-CN" altLang="en-US" sz="2400" dirty="0">
                <a:solidFill>
                  <a:srgbClr val="404040"/>
                </a:solidFill>
                <a:ea typeface="+mn-lt"/>
                <a:cs typeface="+mn-lt"/>
              </a:rPr>
              <a:t>一次性的等待闸门</a:t>
            </a:r>
            <a:endParaRPr lang="en-US" altLang="zh-CN" sz="2400" dirty="0">
              <a:solidFill>
                <a:srgbClr val="404040"/>
              </a:solidFill>
              <a:ea typeface="+mn-lt"/>
              <a:cs typeface="+mn-lt"/>
            </a:endParaRPr>
          </a:p>
          <a:p>
            <a:pPr marL="342900" indent="-342900">
              <a:buFontTx/>
              <a:buChar char="-"/>
            </a:pPr>
            <a:r>
              <a:rPr lang="en-US" altLang="zh-CN" sz="2400" dirty="0" err="1">
                <a:solidFill>
                  <a:srgbClr val="404040"/>
                </a:solidFill>
                <a:ea typeface="+mn-lt"/>
                <a:cs typeface="+mn-lt"/>
              </a:rPr>
              <a:t>OneShot	</a:t>
            </a:r>
            <a:r>
              <a:rPr lang="zh-CN" altLang="en-US" sz="2400" dirty="0">
                <a:solidFill>
                  <a:srgbClr val="404040"/>
                </a:solidFill>
                <a:ea typeface="+mn-lt"/>
                <a:cs typeface="+mn-lt"/>
              </a:rPr>
              <a:t>一次性的数据通道</a:t>
            </a:r>
            <a:endParaRPr lang="en-US" altLang="zh-CN" sz="2400" dirty="0">
              <a:solidFill>
                <a:srgbClr val="404040"/>
              </a:solidFill>
              <a:ea typeface="+mn-lt"/>
              <a:cs typeface="+mn-lt"/>
            </a:endParaRPr>
          </a:p>
          <a:p>
            <a:pPr marL="342900" indent="-342900">
              <a:buFontTx/>
              <a:buChar char="-"/>
            </a:pPr>
            <a:endParaRPr lang="en-US" altLang="zh-CN" sz="2400" dirty="0">
              <a:solidFill>
                <a:srgbClr val="404040"/>
              </a:solidFill>
              <a:ea typeface="+mn-lt"/>
              <a:cs typeface="+mn-lt"/>
            </a:endParaRPr>
          </a:p>
          <a:p>
            <a:r>
              <a:rPr lang="zh-CN" altLang="en-US" sz="2400" b="1" dirty="0">
                <a:ea typeface="+mn-lt"/>
                <a:cs typeface="+mn-lt"/>
              </a:rPr>
              <a:t>动态调节调度策略：</a:t>
            </a:r>
            <a:endParaRPr lang="en-US" altLang="zh-CN" sz="2400" b="1" dirty="0">
              <a:solidFill>
                <a:srgbClr val="404040"/>
              </a:solidFill>
              <a:ea typeface="+mn-lt"/>
              <a:cs typeface="+mn-lt"/>
            </a:endParaRPr>
          </a:p>
          <a:p>
            <a:pPr marL="342900" indent="-342900">
              <a:buFontTx/>
              <a:buChar char="-"/>
            </a:pPr>
            <a:r>
              <a:rPr lang="zh-CN" altLang="en-US" sz="2400" dirty="0">
                <a:solidFill>
                  <a:srgbClr val="404040"/>
                </a:solidFill>
                <a:ea typeface="+mn-lt"/>
                <a:cs typeface="+mn-lt"/>
              </a:rPr>
              <a:t>公平调度类：</a:t>
            </a:r>
            <a:r>
              <a:rPr lang="en-US" altLang="zh-CN" sz="2400" dirty="0">
                <a:solidFill>
                  <a:srgbClr val="0070C0"/>
                </a:solidFill>
                <a:ea typeface="+mn-lt"/>
                <a:cs typeface="+mn-lt"/>
              </a:rPr>
              <a:t>EEVDF</a:t>
            </a:r>
            <a:r>
              <a:rPr lang="zh-CN" altLang="en-US" sz="2400" dirty="0">
                <a:solidFill>
                  <a:srgbClr val="404040"/>
                </a:solidFill>
                <a:ea typeface="+mn-lt"/>
                <a:cs typeface="+mn-lt"/>
              </a:rPr>
              <a:t>；</a:t>
            </a:r>
            <a:r>
              <a:rPr lang="en-US" altLang="zh-CN" sz="2400" dirty="0">
                <a:solidFill>
                  <a:srgbClr val="404040"/>
                </a:solidFill>
                <a:ea typeface="+mn-lt"/>
                <a:cs typeface="+mn-lt"/>
              </a:rPr>
              <a:t>Stride</a:t>
            </a:r>
          </a:p>
          <a:p>
            <a:pPr marL="342900" indent="-342900">
              <a:buFontTx/>
              <a:buChar char="-"/>
            </a:pPr>
            <a:r>
              <a:rPr lang="zh-CN" altLang="en-US" sz="2400" dirty="0">
                <a:solidFill>
                  <a:srgbClr val="404040"/>
                </a:solidFill>
                <a:ea typeface="+mn-lt"/>
                <a:cs typeface="+mn-lt"/>
              </a:rPr>
              <a:t>实时调度类：轮转算法；</a:t>
            </a:r>
            <a:r>
              <a:rPr lang="en-US" altLang="zh-CN" sz="2400" dirty="0">
                <a:solidFill>
                  <a:srgbClr val="404040"/>
                </a:solidFill>
                <a:ea typeface="+mn-lt"/>
                <a:cs typeface="+mn-lt"/>
              </a:rPr>
              <a:t>FIFO</a:t>
            </a:r>
          </a:p>
          <a:p>
            <a:pPr marL="342900" indent="-342900">
              <a:buFontTx/>
              <a:buChar char="-"/>
            </a:pPr>
            <a:r>
              <a:rPr lang="en-US" altLang="zh-CN" sz="2400" dirty="0">
                <a:solidFill>
                  <a:srgbClr val="404040"/>
                </a:solidFill>
                <a:ea typeface="+mn-lt"/>
                <a:cs typeface="+mn-lt"/>
              </a:rPr>
              <a:t>Idle</a:t>
            </a:r>
            <a:r>
              <a:rPr lang="zh-CN" altLang="en-US" sz="2400" dirty="0">
                <a:solidFill>
                  <a:srgbClr val="404040"/>
                </a:solidFill>
                <a:ea typeface="+mn-lt"/>
                <a:cs typeface="+mn-lt"/>
              </a:rPr>
              <a:t>调度类</a:t>
            </a:r>
            <a:endParaRPr lang="en-US" altLang="zh-CN" sz="2400" dirty="0">
              <a:solidFill>
                <a:srgbClr val="404040"/>
              </a:solidFill>
              <a:ea typeface="+mn-lt"/>
              <a:cs typeface="+mn-lt"/>
            </a:endParaRPr>
          </a:p>
          <a:p>
            <a:pPr marL="342900" indent="-342900">
              <a:buFontTx/>
              <a:buChar char="-"/>
            </a:pPr>
            <a:endParaRPr lang="en-US" altLang="zh-CN" sz="2400" b="0" i="0" dirty="0">
              <a:solidFill>
                <a:srgbClr val="404040"/>
              </a:solidFill>
              <a:effectLst/>
              <a:ea typeface="+mn-lt"/>
              <a:cs typeface="+mn-lt"/>
            </a:endParaRPr>
          </a:p>
        </p:txBody>
      </p:sp>
      <p:pic>
        <p:nvPicPr>
          <p:cNvPr id="5" name="图片 4"/>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232566" y="1564124"/>
            <a:ext cx="4882385" cy="3945244"/>
          </a:xfrm>
          <a:prstGeom prst="rect">
            <a:avLst/>
          </a:prstGeom>
        </p:spPr>
      </p:pic>
      <p:sp>
        <p:nvSpPr>
          <p:cNvPr id="33" name="NavActive 核心机制"/>
          <p:cNvSpPr/>
          <p:nvPr/>
        </p:nvSpPr>
        <p:spPr>
          <a:xfrm>
            <a:off x="7450550"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34"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9"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40"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1"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42"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核心机制</a:t>
            </a:r>
          </a:p>
        </p:txBody>
      </p:sp>
      <p:sp>
        <p:nvSpPr>
          <p:cNvPr id="43"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44"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spTree>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3" name="文本框 2"/>
          <p:cNvSpPr txBox="1"/>
          <p:nvPr/>
        </p:nvSpPr>
        <p:spPr>
          <a:xfrm>
            <a:off x="222877" y="1040904"/>
            <a:ext cx="6407395" cy="523220"/>
          </a:xfrm>
          <a:prstGeom prst="rect">
            <a:avLst/>
          </a:prstGeom>
          <a:noFill/>
        </p:spPr>
        <p:txBody>
          <a:bodyPr wrap="none" rtlCol="0">
            <a:spAutoFit/>
          </a:bodyPr>
          <a:lstStyle/>
          <a:p>
            <a:pPr marL="457200" lvl="0" indent="-457200" algn="l">
              <a:buClrTx/>
              <a:buSzTx/>
              <a:buFont typeface="Wingdings" panose="05000000000000000000" charset="0"/>
              <a:buChar char=""/>
            </a:pPr>
            <a:r>
              <a:rPr lang="en-US" altLang="zh-CN" sz="2800"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VMO </a:t>
            </a:r>
            <a:r>
              <a:rPr lang="en-US" altLang="zh-CN" sz="28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统一内存对象</a:t>
            </a:r>
            <a:r>
              <a:rPr lang="en-US" altLang="zh-CN" sz="2800"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sz="2800"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脱胎于</a:t>
            </a:r>
            <a:r>
              <a:rPr lang="en-US" altLang="zh-CN" sz="2800"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Zircon</a:t>
            </a:r>
          </a:p>
        </p:txBody>
      </p:sp>
      <p:sp>
        <p:nvSpPr>
          <p:cNvPr id="4" name="文本框 3"/>
          <p:cNvSpPr txBox="1"/>
          <p:nvPr/>
        </p:nvSpPr>
        <p:spPr>
          <a:xfrm>
            <a:off x="334645" y="1812925"/>
            <a:ext cx="5229860" cy="4478020"/>
          </a:xfrm>
          <a:prstGeom prst="rect">
            <a:avLst/>
          </a:prstGeom>
          <a:noFill/>
        </p:spPr>
        <p:txBody>
          <a:bodyPr wrap="square" rtlCol="0">
            <a:noAutofit/>
          </a:bodyPr>
          <a:lstStyle/>
          <a:p>
            <a:pPr marL="342900" indent="-342900">
              <a:buFontTx/>
              <a:buChar char="-"/>
            </a:pPr>
            <a:r>
              <a:rPr lang="zh-CN" altLang="en-US" sz="2400" b="0" i="0" dirty="0">
                <a:solidFill>
                  <a:srgbClr val="404040"/>
                </a:solidFill>
                <a:effectLst/>
                <a:ea typeface="+mn-lt"/>
                <a:cs typeface="+mn-lt"/>
              </a:rPr>
              <a:t>微内核的思想，适配，改进，应用于宏内核</a:t>
            </a:r>
            <a:endParaRPr lang="en-US" altLang="zh-CN" sz="2400" b="0" i="0" dirty="0">
              <a:solidFill>
                <a:srgbClr val="404040"/>
              </a:solidFill>
              <a:effectLst/>
              <a:ea typeface="+mn-lt"/>
              <a:cs typeface="+mn-lt"/>
            </a:endParaRPr>
          </a:p>
          <a:p>
            <a:pPr marL="342900" indent="-342900">
              <a:buFontTx/>
              <a:buChar char="-"/>
            </a:pPr>
            <a:r>
              <a:rPr lang="zh-CN" altLang="en-US" sz="2400" b="0" i="0" dirty="0">
                <a:solidFill>
                  <a:srgbClr val="404040"/>
                </a:solidFill>
                <a:effectLst/>
                <a:ea typeface="+mn-lt"/>
                <a:cs typeface="+mn-lt"/>
              </a:rPr>
              <a:t>匿名页、文件映射、共享内存与 COW 由 VMO / backing object 组织</a:t>
            </a:r>
            <a:endParaRPr lang="en-US" altLang="zh-CN" sz="2400" b="0" i="0" dirty="0">
              <a:solidFill>
                <a:srgbClr val="404040"/>
              </a:solidFill>
              <a:effectLst/>
              <a:ea typeface="+mn-lt"/>
              <a:cs typeface="+mn-lt"/>
            </a:endParaRPr>
          </a:p>
          <a:p>
            <a:pPr marL="342900" indent="-342900">
              <a:buFontTx/>
              <a:buChar char="-"/>
            </a:pPr>
            <a:r>
              <a:rPr lang="zh-CN" altLang="en-US" sz="2400" dirty="0">
                <a:solidFill>
                  <a:srgbClr val="404040"/>
                </a:solidFill>
                <a:ea typeface="+mn-lt"/>
                <a:cs typeface="+mn-lt"/>
              </a:rPr>
              <a:t>不同地址空间有不同</a:t>
            </a:r>
            <a:r>
              <a:rPr lang="en-US" altLang="zh-CN" sz="2400" dirty="0">
                <a:solidFill>
                  <a:srgbClr val="404040"/>
                </a:solidFill>
                <a:ea typeface="+mn-lt"/>
                <a:cs typeface="+mn-lt"/>
              </a:rPr>
              <a:t>VMA</a:t>
            </a:r>
          </a:p>
          <a:p>
            <a:pPr marL="342900" indent="-342900">
              <a:buFontTx/>
              <a:buChar char="-"/>
            </a:pPr>
            <a:r>
              <a:rPr lang="en-US" altLang="zh-CN" sz="2400" b="0" i="0" dirty="0">
                <a:solidFill>
                  <a:srgbClr val="404040"/>
                </a:solidFill>
                <a:effectLst/>
                <a:ea typeface="+mn-lt"/>
                <a:cs typeface="+mn-lt"/>
              </a:rPr>
              <a:t>VMA</a:t>
            </a:r>
            <a:r>
              <a:rPr lang="zh-CN" altLang="en-US" sz="2400" b="0" i="0" dirty="0">
                <a:solidFill>
                  <a:srgbClr val="404040"/>
                </a:solidFill>
                <a:effectLst/>
                <a:ea typeface="+mn-lt"/>
                <a:cs typeface="+mn-lt"/>
              </a:rPr>
              <a:t>存在对应的</a:t>
            </a:r>
            <a:r>
              <a:rPr lang="en-US" altLang="zh-CN" sz="2400" b="0" i="0" dirty="0">
                <a:solidFill>
                  <a:srgbClr val="404040"/>
                </a:solidFill>
                <a:effectLst/>
                <a:ea typeface="+mn-lt"/>
                <a:cs typeface="+mn-lt"/>
              </a:rPr>
              <a:t>VMO</a:t>
            </a:r>
            <a:r>
              <a:rPr lang="zh-CN" altLang="en-US" sz="2400" b="0" i="0" dirty="0">
                <a:solidFill>
                  <a:srgbClr val="404040"/>
                </a:solidFill>
                <a:effectLst/>
                <a:ea typeface="+mn-lt"/>
                <a:cs typeface="+mn-lt"/>
              </a:rPr>
              <a:t>后端支持</a:t>
            </a:r>
            <a:endParaRPr lang="en-US" altLang="zh-CN" sz="2400" b="0" i="0" dirty="0">
              <a:solidFill>
                <a:srgbClr val="404040"/>
              </a:solidFill>
              <a:effectLst/>
              <a:ea typeface="+mn-lt"/>
              <a:cs typeface="+mn-lt"/>
            </a:endParaRPr>
          </a:p>
          <a:p>
            <a:pPr marL="342900" indent="-342900">
              <a:buFontTx/>
              <a:buChar char="-"/>
            </a:pPr>
            <a:r>
              <a:rPr lang="zh-CN" altLang="en-US" sz="2400" dirty="0">
                <a:solidFill>
                  <a:srgbClr val="404040"/>
                </a:solidFill>
                <a:ea typeface="+mn-lt"/>
                <a:cs typeface="+mn-lt"/>
              </a:rPr>
              <a:t>一个</a:t>
            </a:r>
            <a:r>
              <a:rPr lang="en-US" altLang="zh-CN" sz="2400" dirty="0">
                <a:solidFill>
                  <a:srgbClr val="404040"/>
                </a:solidFill>
                <a:ea typeface="+mn-lt"/>
                <a:cs typeface="+mn-lt"/>
              </a:rPr>
              <a:t>VMO</a:t>
            </a:r>
            <a:r>
              <a:rPr lang="zh-CN" altLang="en-US" sz="2400" dirty="0">
                <a:solidFill>
                  <a:srgbClr val="404040"/>
                </a:solidFill>
                <a:ea typeface="+mn-lt"/>
                <a:cs typeface="+mn-lt"/>
              </a:rPr>
              <a:t>可以支持多个地址空间的不同</a:t>
            </a:r>
            <a:r>
              <a:rPr lang="en-US" altLang="zh-CN" sz="2400" dirty="0">
                <a:solidFill>
                  <a:srgbClr val="404040"/>
                </a:solidFill>
                <a:ea typeface="+mn-lt"/>
                <a:cs typeface="+mn-lt"/>
              </a:rPr>
              <a:t>VMA</a:t>
            </a:r>
            <a:endParaRPr lang="en-US" altLang="zh-CN" sz="2400" b="0" i="0" dirty="0">
              <a:solidFill>
                <a:srgbClr val="404040"/>
              </a:solidFill>
              <a:effectLst/>
              <a:ea typeface="+mn-lt"/>
              <a:cs typeface="+mn-lt"/>
            </a:endParaRPr>
          </a:p>
        </p:txBody>
      </p:sp>
      <p:pic>
        <p:nvPicPr>
          <p:cNvPr id="5" name="图片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232566" y="1564124"/>
            <a:ext cx="4882385" cy="3945244"/>
          </a:xfrm>
          <a:prstGeom prst="rect">
            <a:avLst/>
          </a:prstGeom>
        </p:spPr>
      </p:pic>
      <p:sp>
        <p:nvSpPr>
          <p:cNvPr id="33" name="NavActive 核心机制"/>
          <p:cNvSpPr/>
          <p:nvPr/>
        </p:nvSpPr>
        <p:spPr>
          <a:xfrm>
            <a:off x="7450550"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34"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9"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40"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1"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42"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核心机制</a:t>
            </a:r>
          </a:p>
        </p:txBody>
      </p:sp>
      <p:sp>
        <p:nvSpPr>
          <p:cNvPr id="43"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44"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3" name="文本框 2"/>
          <p:cNvSpPr txBox="1"/>
          <p:nvPr/>
        </p:nvSpPr>
        <p:spPr>
          <a:xfrm>
            <a:off x="257167" y="1040904"/>
            <a:ext cx="6273165" cy="521970"/>
          </a:xfrm>
          <a:prstGeom prst="rect">
            <a:avLst/>
          </a:prstGeom>
          <a:noFill/>
        </p:spPr>
        <p:txBody>
          <a:bodyPr wrap="none" rtlCol="0">
            <a:spAutoFit/>
          </a:bodyPr>
          <a:lstStyle/>
          <a:p>
            <a:pPr marL="457200" lvl="0" indent="-457200" algn="l">
              <a:buClrTx/>
              <a:buSzTx/>
              <a:buFont typeface="Wingdings" panose="05000000000000000000" charset="0"/>
              <a:buChar char=""/>
            </a:pPr>
            <a:r>
              <a:rPr lang="en-US" altLang="zh-CN" sz="28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Fork </a:t>
            </a:r>
            <a:r>
              <a:rPr lang="zh-CN" altLang="en-US" sz="28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写时复制</a:t>
            </a:r>
            <a:r>
              <a:rPr lang="en-US" altLang="zh-CN" sz="28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 · Shadow VMO</a:t>
            </a:r>
            <a:r>
              <a:rPr lang="zh-CN" altLang="en-US" sz="28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设计</a:t>
            </a:r>
          </a:p>
        </p:txBody>
      </p:sp>
      <p:sp>
        <p:nvSpPr>
          <p:cNvPr id="4" name="文本框 3"/>
          <p:cNvSpPr txBox="1"/>
          <p:nvPr/>
        </p:nvSpPr>
        <p:spPr>
          <a:xfrm>
            <a:off x="391795" y="1619885"/>
            <a:ext cx="7058025" cy="3046095"/>
          </a:xfrm>
          <a:prstGeom prst="rect">
            <a:avLst/>
          </a:prstGeom>
          <a:noFill/>
        </p:spPr>
        <p:txBody>
          <a:bodyPr wrap="square" rtlCol="0">
            <a:noAutofit/>
          </a:bodyPr>
          <a:lstStyle/>
          <a:p>
            <a:pPr marL="342900" lvl="0" indent="-342900" algn="l">
              <a:buClrTx/>
              <a:buSzTx/>
              <a:buFontTx/>
              <a:buChar char="-"/>
            </a:pPr>
            <a:r>
              <a:rPr lang="zh-CN" altLang="en-US" sz="2400" dirty="0">
                <a:solidFill>
                  <a:srgbClr val="404040"/>
                </a:solidFill>
                <a:effectLst/>
                <a:ea typeface="+mn-lt"/>
                <a:cs typeface="+mn-lt"/>
                <a:sym typeface="+mn-ea"/>
              </a:rPr>
              <a:t>COW 延迟复制</a:t>
            </a:r>
            <a:r>
              <a:rPr lang="en-US" altLang="zh-CN" sz="2400" dirty="0">
                <a:solidFill>
                  <a:srgbClr val="404040"/>
                </a:solidFill>
                <a:effectLst/>
                <a:ea typeface="+mn-lt"/>
                <a:cs typeface="+mn-lt"/>
                <a:sym typeface="+mn-ea"/>
              </a:rPr>
              <a:t>·</a:t>
            </a:r>
            <a:r>
              <a:rPr lang="zh-CN" altLang="en-US" sz="2400" dirty="0">
                <a:solidFill>
                  <a:srgbClr val="404040"/>
                </a:solidFill>
                <a:effectLst/>
                <a:ea typeface="+mn-lt"/>
                <a:cs typeface="+mn-lt"/>
                <a:sym typeface="+mn-ea"/>
              </a:rPr>
              <a:t>匿名 VMO 可共享全局只读零页</a:t>
            </a:r>
          </a:p>
          <a:p>
            <a:pPr lvl="0" indent="0" algn="l">
              <a:buClrTx/>
              <a:buSzTx/>
              <a:buFontTx/>
              <a:buNone/>
            </a:pPr>
            <a:endParaRPr lang="zh-CN" altLang="en-US" sz="2400" dirty="0">
              <a:solidFill>
                <a:srgbClr val="404040"/>
              </a:solidFill>
              <a:effectLst/>
              <a:ea typeface="+mn-lt"/>
              <a:cs typeface="+mn-lt"/>
              <a:sym typeface="+mn-ea"/>
            </a:endParaRPr>
          </a:p>
          <a:p>
            <a:pPr marL="342900" lvl="0" indent="-342900" algn="l">
              <a:buClrTx/>
              <a:buSzTx/>
              <a:buFontTx/>
              <a:buChar char="-"/>
            </a:pPr>
            <a:r>
              <a:rPr lang="zh-CN" altLang="en-US" sz="2400" dirty="0">
                <a:solidFill>
                  <a:srgbClr val="404040"/>
                </a:solidFill>
                <a:effectLst/>
                <a:ea typeface="+mn-lt"/>
                <a:cs typeface="+mn-lt"/>
                <a:sym typeface="+mn-ea"/>
              </a:rPr>
              <a:t>Fork后，</a:t>
            </a:r>
            <a:r>
              <a:rPr lang="zh-CN" altLang="en-US" sz="2400" b="1" dirty="0">
                <a:solidFill>
                  <a:srgbClr val="404040"/>
                </a:solidFill>
                <a:effectLst/>
                <a:ea typeface="+mn-lt"/>
                <a:cs typeface="+mn-lt"/>
                <a:sym typeface="+mn-ea"/>
              </a:rPr>
              <a:t>一个VMO转变为三个VMO</a:t>
            </a:r>
            <a:r>
              <a:rPr lang="en-US" altLang="zh-CN" sz="2400" b="1" dirty="0">
                <a:solidFill>
                  <a:srgbClr val="404040"/>
                </a:solidFill>
                <a:effectLst/>
                <a:ea typeface="+mn-lt"/>
                <a:cs typeface="+mn-lt"/>
                <a:sym typeface="+mn-ea"/>
              </a:rPr>
              <a:t>——COW</a:t>
            </a:r>
            <a:r>
              <a:rPr lang="zh-CN" altLang="en-US" sz="2400" b="1" dirty="0">
                <a:solidFill>
                  <a:srgbClr val="404040"/>
                </a:solidFill>
                <a:effectLst/>
                <a:ea typeface="+mn-lt"/>
                <a:cs typeface="+mn-lt"/>
                <a:sym typeface="+mn-ea"/>
              </a:rPr>
              <a:t>。</a:t>
            </a:r>
          </a:p>
          <a:p>
            <a:pPr lvl="0" indent="0" algn="l">
              <a:buClrTx/>
              <a:buSzTx/>
              <a:buFontTx/>
              <a:buNone/>
            </a:pPr>
            <a:endParaRPr lang="zh-CN" altLang="en-US" sz="2400" dirty="0">
              <a:solidFill>
                <a:srgbClr val="404040"/>
              </a:solidFill>
              <a:effectLst/>
              <a:ea typeface="+mn-lt"/>
              <a:cs typeface="+mn-lt"/>
              <a:sym typeface="+mn-ea"/>
            </a:endParaRPr>
          </a:p>
          <a:p>
            <a:pPr marL="342900" lvl="0" indent="-342900" algn="l">
              <a:buClrTx/>
              <a:buSzTx/>
              <a:buFontTx/>
              <a:buChar char="-"/>
            </a:pPr>
            <a:r>
              <a:rPr lang="zh-CN" altLang="en-US" sz="2400" dirty="0">
                <a:solidFill>
                  <a:srgbClr val="404040"/>
                </a:solidFill>
                <a:effectLst/>
                <a:ea typeface="+mn-lt"/>
                <a:cs typeface="+mn-lt"/>
                <a:sym typeface="+mn-ea"/>
              </a:rPr>
              <a:t>Shadow VMO将形成树，</a:t>
            </a:r>
            <a:r>
              <a:rPr lang="zh-CN" altLang="en-US" sz="2400" b="1" dirty="0">
                <a:solidFill>
                  <a:srgbClr val="404040"/>
                </a:solidFill>
                <a:effectLst/>
                <a:ea typeface="+mn-lt"/>
                <a:cs typeface="+mn-lt"/>
                <a:sym typeface="+mn-ea"/>
              </a:rPr>
              <a:t>整个内核所管理的地址空间将是一片森林。</a:t>
            </a:r>
          </a:p>
        </p:txBody>
      </p:sp>
      <p:pic>
        <p:nvPicPr>
          <p:cNvPr id="9" name="图片 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93157" y="2932562"/>
            <a:ext cx="8316098" cy="3925299"/>
          </a:xfrm>
          <a:prstGeom prst="rect">
            <a:avLst/>
          </a:prstGeom>
        </p:spPr>
      </p:pic>
      <p:sp>
        <p:nvSpPr>
          <p:cNvPr id="33" name="NavActive 核心机制"/>
          <p:cNvSpPr/>
          <p:nvPr/>
        </p:nvSpPr>
        <p:spPr>
          <a:xfrm>
            <a:off x="7450550"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34"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9"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40"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1"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42"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核心机制</a:t>
            </a:r>
          </a:p>
        </p:txBody>
      </p:sp>
      <p:sp>
        <p:nvSpPr>
          <p:cNvPr id="43"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44"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3" name="文本框 2"/>
          <p:cNvSpPr txBox="1"/>
          <p:nvPr/>
        </p:nvSpPr>
        <p:spPr>
          <a:xfrm>
            <a:off x="222877" y="1040904"/>
            <a:ext cx="2807335" cy="521970"/>
          </a:xfrm>
          <a:prstGeom prst="rect">
            <a:avLst/>
          </a:prstGeom>
          <a:noFill/>
        </p:spPr>
        <p:txBody>
          <a:bodyPr wrap="none" rtlCol="0">
            <a:spAutoFit/>
          </a:bodyPr>
          <a:lstStyle/>
          <a:p>
            <a:pPr marL="457200" lvl="0" indent="-457200" algn="l">
              <a:buClrTx/>
              <a:buSzTx/>
              <a:buFont typeface="Wingdings" panose="05000000000000000000" charset="0"/>
              <a:buChar char=""/>
            </a:pPr>
            <a:r>
              <a:rPr lang="en-US" altLang="zh-CN" sz="28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VFS 对象模型</a:t>
            </a:r>
          </a:p>
        </p:txBody>
      </p:sp>
      <p:sp>
        <p:nvSpPr>
          <p:cNvPr id="4" name="文本框 3"/>
          <p:cNvSpPr txBox="1"/>
          <p:nvPr/>
        </p:nvSpPr>
        <p:spPr>
          <a:xfrm>
            <a:off x="391795" y="1812925"/>
            <a:ext cx="4868545" cy="2306955"/>
          </a:xfrm>
          <a:prstGeom prst="rect">
            <a:avLst/>
          </a:prstGeom>
          <a:noFill/>
        </p:spPr>
        <p:txBody>
          <a:bodyPr wrap="square" rtlCol="0">
            <a:noAutofit/>
          </a:bodyPr>
          <a:lstStyle/>
          <a:p>
            <a:pPr marL="342900" lvl="0" indent="-342900" algn="l">
              <a:buClrTx/>
              <a:buSzTx/>
              <a:buFontTx/>
              <a:buChar char="-"/>
            </a:pPr>
            <a:r>
              <a:rPr lang="zh-CN" altLang="en-US" sz="2400" dirty="0">
                <a:solidFill>
                  <a:srgbClr val="404040"/>
                </a:solidFill>
                <a:effectLst/>
                <a:ea typeface="+mn-lt"/>
                <a:cs typeface="+mn-lt"/>
                <a:sym typeface="+mn-ea"/>
              </a:rPr>
              <a:t>filesystem</a:t>
            </a:r>
            <a:r>
              <a:rPr lang="en-US" altLang="zh-CN" sz="2400" dirty="0">
                <a:solidFill>
                  <a:srgbClr val="404040"/>
                </a:solidFill>
                <a:effectLst/>
                <a:ea typeface="+mn-lt"/>
                <a:cs typeface="+mn-lt"/>
                <a:sym typeface="+mn-ea"/>
              </a:rPr>
              <a:t>,</a:t>
            </a:r>
            <a:r>
              <a:rPr lang="zh-CN" altLang="en-US" sz="2400" dirty="0">
                <a:solidFill>
                  <a:srgbClr val="404040"/>
                </a:solidFill>
                <a:effectLst/>
                <a:ea typeface="+mn-lt"/>
                <a:cs typeface="+mn-lt"/>
                <a:sym typeface="+mn-ea"/>
              </a:rPr>
              <a:t>superblock</a:t>
            </a:r>
            <a:r>
              <a:rPr lang="en-US" altLang="zh-CN" sz="2400" dirty="0">
                <a:solidFill>
                  <a:srgbClr val="404040"/>
                </a:solidFill>
                <a:effectLst/>
                <a:ea typeface="+mn-lt"/>
                <a:cs typeface="+mn-lt"/>
                <a:sym typeface="+mn-ea"/>
              </a:rPr>
              <a:t>,</a:t>
            </a:r>
            <a:r>
              <a:rPr lang="zh-CN" altLang="en-US" sz="2400" dirty="0">
                <a:solidFill>
                  <a:srgbClr val="404040"/>
                </a:solidFill>
                <a:effectLst/>
                <a:ea typeface="+mn-lt"/>
                <a:cs typeface="+mn-lt"/>
                <a:sym typeface="+mn-ea"/>
              </a:rPr>
              <a:t>inode</a:t>
            </a:r>
            <a:r>
              <a:rPr lang="en-US" altLang="zh-CN" sz="2400" dirty="0">
                <a:solidFill>
                  <a:srgbClr val="404040"/>
                </a:solidFill>
                <a:effectLst/>
                <a:ea typeface="+mn-lt"/>
                <a:cs typeface="+mn-lt"/>
                <a:sym typeface="+mn-ea"/>
              </a:rPr>
              <a:t>,</a:t>
            </a:r>
            <a:r>
              <a:rPr lang="zh-CN" altLang="en-US" sz="2400" dirty="0">
                <a:solidFill>
                  <a:srgbClr val="404040"/>
                </a:solidFill>
                <a:effectLst/>
                <a:ea typeface="+mn-lt"/>
                <a:cs typeface="+mn-lt"/>
                <a:sym typeface="+mn-ea"/>
              </a:rPr>
              <a:t>dentry</a:t>
            </a:r>
            <a:r>
              <a:rPr lang="en-US" altLang="zh-CN" sz="2400" dirty="0">
                <a:solidFill>
                  <a:srgbClr val="404040"/>
                </a:solidFill>
                <a:effectLst/>
                <a:ea typeface="+mn-lt"/>
                <a:cs typeface="+mn-lt"/>
                <a:sym typeface="+mn-ea"/>
              </a:rPr>
              <a:t>,</a:t>
            </a:r>
            <a:r>
              <a:rPr lang="zh-CN" altLang="en-US" sz="2400" dirty="0">
                <a:solidFill>
                  <a:srgbClr val="404040"/>
                </a:solidFill>
                <a:effectLst/>
                <a:ea typeface="+mn-lt"/>
                <a:cs typeface="+mn-lt"/>
                <a:sym typeface="+mn-ea"/>
              </a:rPr>
              <a:t>file 与 path view 分层</a:t>
            </a:r>
          </a:p>
          <a:p>
            <a:pPr lvl="0" indent="0" algn="l">
              <a:buClrTx/>
              <a:buSzTx/>
              <a:buFontTx/>
              <a:buNone/>
            </a:pPr>
            <a:endParaRPr lang="zh-CN" altLang="en-US" sz="2400" dirty="0">
              <a:solidFill>
                <a:srgbClr val="404040"/>
              </a:solidFill>
              <a:effectLst/>
              <a:ea typeface="+mn-lt"/>
              <a:cs typeface="+mn-lt"/>
              <a:sym typeface="+mn-ea"/>
            </a:endParaRPr>
          </a:p>
          <a:p>
            <a:pPr marL="342900" lvl="0" indent="-342900" algn="l">
              <a:buClrTx/>
              <a:buSzTx/>
              <a:buFontTx/>
              <a:buChar char="-"/>
            </a:pPr>
            <a:r>
              <a:rPr lang="zh-CN" altLang="en-US" sz="2400" dirty="0">
                <a:solidFill>
                  <a:srgbClr val="404040"/>
                </a:solidFill>
                <a:effectLst/>
                <a:ea typeface="+mn-lt"/>
                <a:cs typeface="+mn-lt"/>
                <a:sym typeface="+mn-ea"/>
              </a:rPr>
              <a:t>一个SuperBlock可以支持多个属性不同的Mount</a:t>
            </a:r>
          </a:p>
        </p:txBody>
      </p:sp>
      <p:pic>
        <p:nvPicPr>
          <p:cNvPr id="6" name="图片 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872776" y="1813028"/>
            <a:ext cx="6796094" cy="3797375"/>
          </a:xfrm>
          <a:prstGeom prst="rect">
            <a:avLst/>
          </a:prstGeom>
        </p:spPr>
      </p:pic>
      <p:sp>
        <p:nvSpPr>
          <p:cNvPr id="33" name="NavActive 核心机制"/>
          <p:cNvSpPr/>
          <p:nvPr/>
        </p:nvSpPr>
        <p:spPr>
          <a:xfrm>
            <a:off x="7450550"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34"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9"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40"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1"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42"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核心机制</a:t>
            </a:r>
          </a:p>
        </p:txBody>
      </p:sp>
      <p:sp>
        <p:nvSpPr>
          <p:cNvPr id="43"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44"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3" name="文本框 2"/>
          <p:cNvSpPr txBox="1"/>
          <p:nvPr/>
        </p:nvSpPr>
        <p:spPr>
          <a:xfrm>
            <a:off x="222877" y="1040904"/>
            <a:ext cx="2094865" cy="521970"/>
          </a:xfrm>
          <a:prstGeom prst="rect">
            <a:avLst/>
          </a:prstGeom>
          <a:noFill/>
        </p:spPr>
        <p:txBody>
          <a:bodyPr wrap="none" rtlCol="0">
            <a:spAutoFit/>
          </a:bodyPr>
          <a:lstStyle/>
          <a:p>
            <a:pPr marL="457200" lvl="0" indent="-457200" algn="l">
              <a:buClrTx/>
              <a:buSzTx/>
              <a:buFont typeface="Wingdings" panose="05000000000000000000" charset="0"/>
              <a:buChar char=""/>
            </a:pPr>
            <a:r>
              <a:rPr lang="en-US" altLang="zh-CN" sz="28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VFS 缓存</a:t>
            </a:r>
          </a:p>
        </p:txBody>
      </p:sp>
      <p:sp>
        <p:nvSpPr>
          <p:cNvPr id="4" name="文本框 3" descr="7b0a202020202262756c6c6574223a20227b5c2263617465676f727949645c223a5c225c222c5c2274656d706c61746549645c223a32303233313731347d220a7d0a"/>
          <p:cNvSpPr txBox="1"/>
          <p:nvPr/>
        </p:nvSpPr>
        <p:spPr>
          <a:xfrm>
            <a:off x="369613" y="1562874"/>
            <a:ext cx="8536940" cy="4523105"/>
          </a:xfrm>
          <a:prstGeom prst="rect">
            <a:avLst/>
          </a:prstGeom>
          <a:noFill/>
        </p:spPr>
        <p:txBody>
          <a:bodyPr wrap="square" rtlCol="0">
            <a:noAutofit/>
          </a:bodyPr>
          <a:lstStyle/>
          <a:p>
            <a:pPr marL="342900" lvl="0" indent="-342900" algn="l">
              <a:buClrTx/>
              <a:buSzTx/>
              <a:buFontTx/>
              <a:buChar char="-"/>
            </a:pPr>
            <a:r>
              <a:rPr lang="zh-CN" altLang="en-US" sz="2400" dirty="0">
                <a:solidFill>
                  <a:srgbClr val="404040"/>
                </a:solidFill>
                <a:effectLst/>
                <a:ea typeface="+mn-lt"/>
                <a:cs typeface="+mn-lt"/>
                <a:sym typeface="+mn-ea"/>
              </a:rPr>
              <a:t>ICache 稳定 inode 身份</a:t>
            </a:r>
          </a:p>
          <a:p>
            <a:pPr marL="342900" lvl="0" indent="-342900" algn="l">
              <a:buClrTx/>
              <a:buSzTx/>
              <a:buFontTx/>
              <a:buChar char="-"/>
            </a:pPr>
            <a:r>
              <a:rPr lang="en-US" altLang="zh-CN" sz="2400" dirty="0" err="1">
                <a:solidFill>
                  <a:srgbClr val="404040"/>
                </a:solidFill>
                <a:ea typeface="+mn-lt"/>
                <a:cs typeface="+mn-lt"/>
                <a:sym typeface="+mn-ea"/>
              </a:rPr>
              <a:t>INode</a:t>
            </a:r>
            <a:r>
              <a:rPr lang="zh-CN" altLang="en-US" sz="2400" dirty="0">
                <a:solidFill>
                  <a:srgbClr val="404040"/>
                </a:solidFill>
                <a:ea typeface="+mn-lt"/>
                <a:cs typeface="+mn-lt"/>
                <a:sym typeface="+mn-ea"/>
              </a:rPr>
              <a:t>的生命周期</a:t>
            </a:r>
            <a:endParaRPr lang="en-US" altLang="zh-CN" sz="2400" dirty="0">
              <a:solidFill>
                <a:srgbClr val="404040"/>
              </a:solidFill>
              <a:ea typeface="+mn-lt"/>
              <a:cs typeface="+mn-lt"/>
              <a:sym typeface="+mn-ea"/>
            </a:endParaRPr>
          </a:p>
          <a:p>
            <a:pPr marL="800100" lvl="1" indent="-342900">
              <a:buFontTx/>
              <a:buChar char="-"/>
            </a:pPr>
            <a:r>
              <a:rPr lang="en-US" altLang="zh-CN" sz="2400" dirty="0">
                <a:solidFill>
                  <a:srgbClr val="404040"/>
                </a:solidFill>
                <a:ea typeface="+mn-lt"/>
                <a:cs typeface="+mn-lt"/>
                <a:sym typeface="+mn-ea"/>
              </a:rPr>
              <a:t>Alive</a:t>
            </a:r>
            <a:r>
              <a:rPr lang="zh-CN" altLang="en-US" sz="2400" dirty="0">
                <a:solidFill>
                  <a:srgbClr val="404040"/>
                </a:solidFill>
                <a:ea typeface="+mn-lt"/>
                <a:cs typeface="+mn-lt"/>
                <a:sym typeface="+mn-ea"/>
              </a:rPr>
              <a:t>：</a:t>
            </a:r>
            <a:r>
              <a:rPr lang="en-US" altLang="zh-CN" sz="2400" dirty="0" err="1">
                <a:solidFill>
                  <a:srgbClr val="404040"/>
                </a:solidFill>
                <a:ea typeface="+mn-lt"/>
                <a:cs typeface="+mn-lt"/>
                <a:sym typeface="+mn-ea"/>
              </a:rPr>
              <a:t>Inode</a:t>
            </a:r>
            <a:r>
              <a:rPr lang="zh-CN" altLang="en-US" sz="2400" dirty="0">
                <a:solidFill>
                  <a:srgbClr val="404040"/>
                </a:solidFill>
                <a:ea typeface="+mn-lt"/>
                <a:cs typeface="+mn-lt"/>
                <a:sym typeface="+mn-ea"/>
              </a:rPr>
              <a:t>被索引</a:t>
            </a:r>
            <a:r>
              <a:rPr lang="en-US" altLang="zh-CN" sz="2400" dirty="0">
                <a:solidFill>
                  <a:srgbClr val="404040"/>
                </a:solidFill>
                <a:ea typeface="+mn-lt"/>
                <a:cs typeface="+mn-lt"/>
                <a:sym typeface="+mn-ea"/>
              </a:rPr>
              <a:t>/Indexed</a:t>
            </a:r>
            <a:r>
              <a:rPr lang="zh-CN" altLang="en-US" sz="2400" dirty="0">
                <a:solidFill>
                  <a:srgbClr val="404040"/>
                </a:solidFill>
                <a:ea typeface="+mn-lt"/>
                <a:cs typeface="+mn-lt"/>
                <a:sym typeface="+mn-ea"/>
              </a:rPr>
              <a:t>，可以被通过</a:t>
            </a:r>
            <a:r>
              <a:rPr lang="en-US" altLang="zh-CN" sz="2400" dirty="0">
                <a:solidFill>
                  <a:srgbClr val="404040"/>
                </a:solidFill>
                <a:ea typeface="+mn-lt"/>
                <a:cs typeface="+mn-lt"/>
                <a:sym typeface="+mn-ea"/>
              </a:rPr>
              <a:t>Ino</a:t>
            </a:r>
            <a:r>
              <a:rPr lang="zh-CN" altLang="en-US" sz="2400" dirty="0">
                <a:solidFill>
                  <a:srgbClr val="404040"/>
                </a:solidFill>
                <a:ea typeface="+mn-lt"/>
                <a:cs typeface="+mn-lt"/>
                <a:sym typeface="+mn-ea"/>
              </a:rPr>
              <a:t>查找</a:t>
            </a:r>
            <a:endParaRPr lang="en-US" altLang="zh-CN" sz="2400" dirty="0">
              <a:solidFill>
                <a:srgbClr val="404040"/>
              </a:solidFill>
              <a:ea typeface="+mn-lt"/>
              <a:cs typeface="+mn-lt"/>
              <a:sym typeface="+mn-ea"/>
            </a:endParaRPr>
          </a:p>
          <a:p>
            <a:pPr marL="800100" lvl="1" indent="-342900">
              <a:buFontTx/>
              <a:buChar char="-"/>
            </a:pPr>
            <a:r>
              <a:rPr lang="en-US" altLang="zh-CN" sz="2400" dirty="0">
                <a:solidFill>
                  <a:srgbClr val="404040"/>
                </a:solidFill>
                <a:effectLst/>
                <a:ea typeface="+mn-lt"/>
                <a:cs typeface="+mn-lt"/>
                <a:sym typeface="+mn-ea"/>
              </a:rPr>
              <a:t>Ghost</a:t>
            </a:r>
            <a:r>
              <a:rPr lang="zh-CN" altLang="en-US" sz="2400" dirty="0">
                <a:solidFill>
                  <a:srgbClr val="404040"/>
                </a:solidFill>
                <a:effectLst/>
                <a:ea typeface="+mn-lt"/>
                <a:cs typeface="+mn-lt"/>
                <a:sym typeface="+mn-ea"/>
              </a:rPr>
              <a:t>：最后一个硬链接被删除后，</a:t>
            </a:r>
            <a:r>
              <a:rPr lang="en-US" altLang="zh-CN" sz="2400" dirty="0" err="1">
                <a:solidFill>
                  <a:srgbClr val="404040"/>
                </a:solidFill>
                <a:effectLst/>
                <a:ea typeface="+mn-lt"/>
                <a:cs typeface="+mn-lt"/>
                <a:sym typeface="+mn-ea"/>
              </a:rPr>
              <a:t>Inode</a:t>
            </a:r>
            <a:r>
              <a:rPr lang="zh-CN" altLang="en-US" sz="2400" dirty="0">
                <a:solidFill>
                  <a:srgbClr val="404040"/>
                </a:solidFill>
                <a:effectLst/>
                <a:ea typeface="+mn-lt"/>
                <a:cs typeface="+mn-lt"/>
                <a:sym typeface="+mn-ea"/>
              </a:rPr>
              <a:t>被去索引</a:t>
            </a:r>
            <a:r>
              <a:rPr lang="en-US" altLang="zh-CN" sz="2400" dirty="0">
                <a:solidFill>
                  <a:srgbClr val="404040"/>
                </a:solidFill>
                <a:effectLst/>
                <a:ea typeface="+mn-lt"/>
                <a:cs typeface="+mn-lt"/>
                <a:sym typeface="+mn-ea"/>
              </a:rPr>
              <a:t>/Unindexed</a:t>
            </a:r>
            <a:r>
              <a:rPr lang="zh-CN" altLang="en-US" sz="2400" dirty="0">
                <a:solidFill>
                  <a:srgbClr val="404040"/>
                </a:solidFill>
                <a:effectLst/>
                <a:ea typeface="+mn-lt"/>
                <a:cs typeface="+mn-lt"/>
                <a:sym typeface="+mn-ea"/>
              </a:rPr>
              <a:t>，在文件树中不再可见；已有引用仍可继续使用</a:t>
            </a:r>
            <a:endParaRPr lang="en-US" altLang="zh-CN" sz="2400" dirty="0">
              <a:solidFill>
                <a:srgbClr val="404040"/>
              </a:solidFill>
              <a:effectLst/>
              <a:ea typeface="+mn-lt"/>
              <a:cs typeface="+mn-lt"/>
              <a:sym typeface="+mn-ea"/>
            </a:endParaRPr>
          </a:p>
          <a:p>
            <a:pPr marL="800100" lvl="1" indent="-342900">
              <a:buFontTx/>
              <a:buChar char="-"/>
            </a:pPr>
            <a:r>
              <a:rPr lang="en-US" altLang="zh-CN" sz="2400" dirty="0">
                <a:solidFill>
                  <a:srgbClr val="404040"/>
                </a:solidFill>
                <a:ea typeface="+mn-lt"/>
                <a:cs typeface="+mn-lt"/>
                <a:sym typeface="+mn-ea"/>
              </a:rPr>
              <a:t>Evicted</a:t>
            </a:r>
            <a:r>
              <a:rPr lang="zh-CN" altLang="en-US" sz="2400" dirty="0">
                <a:solidFill>
                  <a:srgbClr val="404040"/>
                </a:solidFill>
                <a:ea typeface="+mn-lt"/>
                <a:cs typeface="+mn-lt"/>
                <a:sym typeface="+mn-ea"/>
              </a:rPr>
              <a:t>：引用计数归零后，</a:t>
            </a:r>
            <a:r>
              <a:rPr lang="en-US" altLang="zh-CN" sz="2400" dirty="0">
                <a:solidFill>
                  <a:srgbClr val="404040"/>
                </a:solidFill>
                <a:ea typeface="+mn-lt"/>
                <a:cs typeface="+mn-lt"/>
                <a:sym typeface="+mn-ea"/>
              </a:rPr>
              <a:t>VFS</a:t>
            </a:r>
            <a:r>
              <a:rPr lang="zh-CN" altLang="en-US" sz="2400" dirty="0">
                <a:solidFill>
                  <a:srgbClr val="404040"/>
                </a:solidFill>
                <a:ea typeface="+mn-lt"/>
                <a:cs typeface="+mn-lt"/>
                <a:sym typeface="+mn-ea"/>
              </a:rPr>
              <a:t>将数据同步回块设备，最后驱逐</a:t>
            </a:r>
            <a:r>
              <a:rPr lang="en-US" altLang="zh-CN" sz="2400" dirty="0" err="1">
                <a:solidFill>
                  <a:srgbClr val="404040"/>
                </a:solidFill>
                <a:ea typeface="+mn-lt"/>
                <a:cs typeface="+mn-lt"/>
                <a:sym typeface="+mn-ea"/>
              </a:rPr>
              <a:t>Inode</a:t>
            </a:r>
            <a:endParaRPr lang="zh-CN" altLang="en-US" sz="2400" dirty="0">
              <a:solidFill>
                <a:srgbClr val="404040"/>
              </a:solidFill>
              <a:effectLst/>
              <a:ea typeface="+mn-lt"/>
              <a:cs typeface="+mn-lt"/>
              <a:sym typeface="+mn-ea"/>
            </a:endParaRPr>
          </a:p>
          <a:p>
            <a:pPr marL="342900" lvl="0" indent="-342900" algn="l">
              <a:buClrTx/>
              <a:buSzTx/>
              <a:buFontTx/>
              <a:buChar char="-"/>
            </a:pPr>
            <a:endParaRPr lang="zh-CN" altLang="en-US" sz="2400" dirty="0">
              <a:solidFill>
                <a:srgbClr val="404040"/>
              </a:solidFill>
              <a:effectLst/>
              <a:ea typeface="+mn-lt"/>
              <a:cs typeface="+mn-lt"/>
              <a:sym typeface="+mn-ea"/>
            </a:endParaRPr>
          </a:p>
          <a:p>
            <a:pPr marL="342900" lvl="0" indent="-342900" algn="l">
              <a:buClrTx/>
              <a:buSzTx/>
              <a:buFontTx/>
              <a:buChar char="-"/>
            </a:pPr>
            <a:endParaRPr lang="zh-CN" altLang="en-US" sz="2400" dirty="0">
              <a:solidFill>
                <a:srgbClr val="404040"/>
              </a:solidFill>
              <a:effectLst/>
              <a:ea typeface="+mn-lt"/>
              <a:cs typeface="+mn-lt"/>
              <a:sym typeface="+mn-ea"/>
            </a:endParaRPr>
          </a:p>
          <a:p>
            <a:pPr marL="342900" lvl="0" indent="-342900" algn="l">
              <a:buClrTx/>
              <a:buSzTx/>
              <a:buFontTx/>
              <a:buChar char="-"/>
            </a:pPr>
            <a:endParaRPr lang="zh-CN" altLang="en-US" sz="2400" dirty="0">
              <a:solidFill>
                <a:srgbClr val="404040"/>
              </a:solidFill>
              <a:effectLst/>
              <a:ea typeface="+mn-lt"/>
              <a:cs typeface="+mn-lt"/>
              <a:sym typeface="+mn-ea"/>
            </a:endParaRPr>
          </a:p>
          <a:p>
            <a:pPr marL="342900" lvl="0" indent="-342900" algn="l">
              <a:buClrTx/>
              <a:buSzTx/>
              <a:buFontTx/>
              <a:buChar char="-"/>
            </a:pPr>
            <a:endParaRPr lang="zh-CN" altLang="en-US" sz="2400" dirty="0">
              <a:solidFill>
                <a:srgbClr val="404040"/>
              </a:solidFill>
              <a:effectLst/>
              <a:ea typeface="+mn-lt"/>
              <a:cs typeface="+mn-lt"/>
              <a:sym typeface="+mn-ea"/>
            </a:endParaRPr>
          </a:p>
          <a:p>
            <a:pPr marL="342900" lvl="0" indent="-342900" algn="l">
              <a:buClrTx/>
              <a:buSzTx/>
              <a:buFontTx/>
              <a:buChar char="-"/>
            </a:pPr>
            <a:endParaRPr lang="zh-CN" altLang="en-US" sz="2400" dirty="0">
              <a:solidFill>
                <a:srgbClr val="404040"/>
              </a:solidFill>
              <a:effectLst/>
              <a:ea typeface="+mn-lt"/>
              <a:cs typeface="+mn-lt"/>
              <a:sym typeface="+mn-ea"/>
            </a:endParaRPr>
          </a:p>
          <a:p>
            <a:pPr marL="342900" lvl="0" indent="-342900" algn="l">
              <a:buClrTx/>
              <a:buSzTx/>
              <a:buFontTx/>
              <a:buChar char="-"/>
            </a:pPr>
            <a:r>
              <a:rPr lang="zh-CN" altLang="en-US" sz="2400" dirty="0">
                <a:solidFill>
                  <a:srgbClr val="404040"/>
                </a:solidFill>
                <a:effectLst/>
                <a:ea typeface="+mn-lt"/>
                <a:cs typeface="+mn-lt"/>
                <a:sym typeface="+mn-ea"/>
              </a:rPr>
              <a:t>通过Page Cache，DEntry Cache</a:t>
            </a:r>
            <a:r>
              <a:rPr lang="zh-CN" altLang="en-US" sz="2400" b="1" dirty="0">
                <a:solidFill>
                  <a:srgbClr val="404040"/>
                </a:solidFill>
                <a:effectLst/>
                <a:ea typeface="+mn-lt"/>
                <a:cs typeface="+mn-lt"/>
                <a:sym typeface="+mn-ea"/>
              </a:rPr>
              <a:t>提高性能</a:t>
            </a:r>
            <a:r>
              <a:rPr lang="en-US" altLang="zh-CN" sz="2400" dirty="0">
                <a:solidFill>
                  <a:srgbClr val="404040"/>
                </a:solidFill>
                <a:effectLst/>
                <a:ea typeface="+mn-lt"/>
                <a:cs typeface="+mn-lt"/>
                <a:sym typeface="+mn-ea"/>
              </a:rPr>
              <a:t>。</a:t>
            </a:r>
            <a:endParaRPr lang="zh-CN" altLang="en-US" sz="2400" dirty="0">
              <a:solidFill>
                <a:srgbClr val="404040"/>
              </a:solidFill>
              <a:effectLst/>
              <a:ea typeface="+mn-lt"/>
              <a:cs typeface="+mn-lt"/>
              <a:sym typeface="+mn-ea"/>
            </a:endParaRPr>
          </a:p>
          <a:p>
            <a:pPr marL="342900" lvl="0" indent="-342900" algn="l">
              <a:buClrTx/>
              <a:buSzTx/>
              <a:buFontTx/>
              <a:buChar char="-"/>
            </a:pPr>
            <a:endParaRPr lang="zh-CN" altLang="en-US" sz="2400" dirty="0">
              <a:solidFill>
                <a:srgbClr val="404040"/>
              </a:solidFill>
              <a:effectLst/>
              <a:ea typeface="+mn-lt"/>
              <a:cs typeface="+mn-lt"/>
              <a:sym typeface="+mn-ea"/>
            </a:endParaRPr>
          </a:p>
          <a:p>
            <a:pPr marL="342900" lvl="0" indent="-342900" algn="l">
              <a:buClrTx/>
              <a:buSzTx/>
              <a:buFontTx/>
              <a:buChar char="-"/>
            </a:pPr>
            <a:endParaRPr lang="zh-CN" altLang="en-US" sz="2400" dirty="0">
              <a:solidFill>
                <a:srgbClr val="404040"/>
              </a:solidFill>
              <a:effectLst/>
              <a:ea typeface="+mn-lt"/>
              <a:cs typeface="+mn-lt"/>
              <a:sym typeface="+mn-ea"/>
            </a:endParaRPr>
          </a:p>
          <a:p>
            <a:pPr marL="342900" lvl="0" indent="-342900" algn="l">
              <a:buClrTx/>
              <a:buSzTx/>
              <a:buFontTx/>
              <a:buChar char="-"/>
            </a:pPr>
            <a:endParaRPr lang="zh-CN" altLang="en-US" sz="2400" dirty="0">
              <a:solidFill>
                <a:srgbClr val="404040"/>
              </a:solidFill>
              <a:effectLst/>
              <a:ea typeface="+mn-lt"/>
              <a:cs typeface="+mn-lt"/>
              <a:sym typeface="+mn-ea"/>
            </a:endParaRPr>
          </a:p>
        </p:txBody>
      </p:sp>
      <p:sp>
        <p:nvSpPr>
          <p:cNvPr id="33" name="NavActive 核心机制"/>
          <p:cNvSpPr/>
          <p:nvPr/>
        </p:nvSpPr>
        <p:spPr>
          <a:xfrm>
            <a:off x="7450550"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34"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9"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40"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1"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42"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核心机制</a:t>
            </a:r>
          </a:p>
        </p:txBody>
      </p:sp>
      <p:sp>
        <p:nvSpPr>
          <p:cNvPr id="43"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44"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pic>
        <p:nvPicPr>
          <p:cNvPr id="5" name="图片 4">
            <a:extLst>
              <a:ext uri="{FF2B5EF4-FFF2-40B4-BE49-F238E27FC236}">
                <a16:creationId xmlns:a16="http://schemas.microsoft.com/office/drawing/2014/main" id="{CB3619DB-F061-D677-37F2-8C4E9A7B692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0569" y="4255979"/>
            <a:ext cx="10050861" cy="194844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3" name="文本框 2"/>
          <p:cNvSpPr txBox="1"/>
          <p:nvPr/>
        </p:nvSpPr>
        <p:spPr>
          <a:xfrm>
            <a:off x="222877" y="1040904"/>
            <a:ext cx="6863080" cy="521970"/>
          </a:xfrm>
          <a:prstGeom prst="rect">
            <a:avLst/>
          </a:prstGeom>
          <a:noFill/>
        </p:spPr>
        <p:txBody>
          <a:bodyPr wrap="none" rtlCol="0">
            <a:spAutoFit/>
          </a:bodyPr>
          <a:lstStyle/>
          <a:p>
            <a:pPr marL="457200" lvl="0" indent="-457200" algn="l">
              <a:buClrTx/>
              <a:buSzTx/>
              <a:buFont typeface="Wingdings" panose="05000000000000000000" charset="0"/>
              <a:buChar char=""/>
            </a:pPr>
            <a:r>
              <a:rPr lang="en-US" altLang="zh-CN" sz="28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Bus + Device + Driver：设备驱动模型</a:t>
            </a:r>
          </a:p>
        </p:txBody>
      </p:sp>
      <p:sp>
        <p:nvSpPr>
          <p:cNvPr id="4" name="文本框 3"/>
          <p:cNvSpPr txBox="1"/>
          <p:nvPr/>
        </p:nvSpPr>
        <p:spPr>
          <a:xfrm>
            <a:off x="391887" y="1813028"/>
            <a:ext cx="4327062" cy="2676525"/>
          </a:xfrm>
          <a:prstGeom prst="rect">
            <a:avLst/>
          </a:prstGeom>
          <a:noFill/>
        </p:spPr>
        <p:txBody>
          <a:bodyPr wrap="square" rtlCol="0">
            <a:noAutofit/>
          </a:bodyPr>
          <a:lstStyle/>
          <a:p>
            <a:pPr marL="342900" lvl="0" indent="-342900" algn="l">
              <a:buClrTx/>
              <a:buSzTx/>
              <a:buFontTx/>
              <a:buChar char="-"/>
            </a:pPr>
            <a:r>
              <a:rPr lang="zh-CN" altLang="en-US" sz="2400" dirty="0">
                <a:solidFill>
                  <a:srgbClr val="404040"/>
                </a:solidFill>
                <a:effectLst/>
                <a:ea typeface="+mn-lt"/>
                <a:cs typeface="+mn-lt"/>
                <a:sym typeface="+mn-ea"/>
              </a:rPr>
              <a:t>设备和驱动被挂载到总线上，相互发生匹配</a:t>
            </a:r>
          </a:p>
          <a:p>
            <a:pPr marL="342900" lvl="0" indent="-342900" algn="l">
              <a:buClrTx/>
              <a:buSzTx/>
              <a:buFontTx/>
              <a:buChar char="-"/>
            </a:pPr>
            <a:endParaRPr lang="zh-CN" altLang="en-US" sz="2400" dirty="0">
              <a:solidFill>
                <a:srgbClr val="404040"/>
              </a:solidFill>
              <a:effectLst/>
              <a:ea typeface="+mn-lt"/>
              <a:cs typeface="+mn-lt"/>
              <a:sym typeface="+mn-ea"/>
            </a:endParaRPr>
          </a:p>
          <a:p>
            <a:pPr marL="342900" lvl="0" indent="-342900" algn="l">
              <a:buClrTx/>
              <a:buSzTx/>
              <a:buFontTx/>
              <a:buChar char="-"/>
            </a:pPr>
            <a:r>
              <a:rPr lang="zh-CN" altLang="en-US" sz="2400" dirty="0">
                <a:solidFill>
                  <a:srgbClr val="404040"/>
                </a:solidFill>
                <a:effectLst/>
                <a:ea typeface="+mn-lt"/>
                <a:cs typeface="+mn-lt"/>
                <a:sym typeface="+mn-ea"/>
              </a:rPr>
              <a:t>支持</a:t>
            </a:r>
            <a:r>
              <a:rPr lang="zh-CN" altLang="en-US" sz="2400" b="1" dirty="0">
                <a:solidFill>
                  <a:srgbClr val="0070C0"/>
                </a:solidFill>
                <a:effectLst/>
                <a:ea typeface="+mn-lt"/>
                <a:cs typeface="+mn-lt"/>
                <a:sym typeface="+mn-ea"/>
              </a:rPr>
              <a:t>Platform，VirtIO，PCI，MMC</a:t>
            </a:r>
            <a:r>
              <a:rPr lang="zh-CN" altLang="en-US" sz="2400" dirty="0">
                <a:solidFill>
                  <a:srgbClr val="404040"/>
                </a:solidFill>
                <a:effectLst/>
                <a:ea typeface="+mn-lt"/>
                <a:cs typeface="+mn-lt"/>
                <a:sym typeface="+mn-ea"/>
              </a:rPr>
              <a:t>等多种类型总线</a:t>
            </a:r>
          </a:p>
          <a:p>
            <a:pPr marL="342900" lvl="0" indent="-342900" algn="l">
              <a:buClrTx/>
              <a:buSzTx/>
              <a:buFontTx/>
              <a:buChar char="-"/>
            </a:pPr>
            <a:r>
              <a:rPr lang="zh-CN" altLang="en-US" sz="2400" dirty="0">
                <a:solidFill>
                  <a:srgbClr val="404040"/>
                </a:solidFill>
                <a:effectLst/>
                <a:ea typeface="+mn-lt"/>
                <a:cs typeface="+mn-lt"/>
                <a:sym typeface="+mn-ea"/>
              </a:rPr>
              <a:t>实现完整的</a:t>
            </a:r>
            <a:r>
              <a:rPr lang="en-US" altLang="zh-CN" sz="2400" dirty="0">
                <a:solidFill>
                  <a:srgbClr val="404040"/>
                </a:solidFill>
                <a:effectLst/>
                <a:ea typeface="+mn-lt"/>
                <a:cs typeface="+mn-lt"/>
                <a:sym typeface="+mn-ea"/>
              </a:rPr>
              <a:t>PCIe ECAM</a:t>
            </a:r>
            <a:r>
              <a:rPr lang="zh-CN" altLang="en-US" sz="2400" dirty="0">
                <a:solidFill>
                  <a:srgbClr val="404040"/>
                </a:solidFill>
                <a:effectLst/>
                <a:ea typeface="+mn-lt"/>
                <a:cs typeface="+mn-lt"/>
                <a:sym typeface="+mn-ea"/>
              </a:rPr>
              <a:t>枚举流程</a:t>
            </a:r>
            <a:r>
              <a:rPr lang="en-US" altLang="zh-CN" sz="2400" dirty="0">
                <a:solidFill>
                  <a:srgbClr val="404040"/>
                </a:solidFill>
                <a:effectLst/>
                <a:ea typeface="+mn-lt"/>
                <a:cs typeface="+mn-lt"/>
                <a:sym typeface="+mn-ea"/>
              </a:rPr>
              <a:t>，</a:t>
            </a:r>
            <a:r>
              <a:rPr lang="zh-CN" altLang="en-US" sz="2400" dirty="0">
                <a:solidFill>
                  <a:srgbClr val="404040"/>
                </a:solidFill>
                <a:effectLst/>
                <a:ea typeface="+mn-lt"/>
                <a:cs typeface="+mn-lt"/>
                <a:sym typeface="+mn-ea"/>
              </a:rPr>
              <a:t>支持</a:t>
            </a:r>
            <a:r>
              <a:rPr lang="zh-CN" altLang="en-US" sz="2400" b="1" dirty="0">
                <a:solidFill>
                  <a:srgbClr val="0070C0"/>
                </a:solidFill>
                <a:effectLst/>
                <a:ea typeface="+mn-lt"/>
                <a:cs typeface="+mn-lt"/>
                <a:sym typeface="+mn-ea"/>
              </a:rPr>
              <a:t>多级枚举和动态</a:t>
            </a:r>
            <a:r>
              <a:rPr lang="en-US" altLang="zh-CN" sz="2400" b="1" dirty="0">
                <a:solidFill>
                  <a:srgbClr val="0070C0"/>
                </a:solidFill>
                <a:effectLst/>
                <a:ea typeface="+mn-lt"/>
                <a:cs typeface="+mn-lt"/>
                <a:sym typeface="+mn-ea"/>
              </a:rPr>
              <a:t>BAR</a:t>
            </a:r>
            <a:r>
              <a:rPr lang="zh-CN" altLang="en-US" sz="2400" b="1" dirty="0">
                <a:solidFill>
                  <a:srgbClr val="0070C0"/>
                </a:solidFill>
                <a:effectLst/>
                <a:ea typeface="+mn-lt"/>
                <a:cs typeface="+mn-lt"/>
                <a:sym typeface="+mn-ea"/>
              </a:rPr>
              <a:t>分配</a:t>
            </a:r>
            <a:r>
              <a:rPr lang="en-US" altLang="zh-CN" sz="2400" dirty="0">
                <a:solidFill>
                  <a:srgbClr val="404040"/>
                </a:solidFill>
                <a:effectLst/>
                <a:ea typeface="+mn-lt"/>
                <a:cs typeface="+mn-lt"/>
                <a:sym typeface="+mn-ea"/>
              </a:rPr>
              <a:t>。</a:t>
            </a:r>
            <a:endParaRPr lang="zh-CN" altLang="en-US" sz="2400" dirty="0">
              <a:solidFill>
                <a:srgbClr val="404040"/>
              </a:solidFill>
              <a:effectLst/>
              <a:ea typeface="+mn-lt"/>
              <a:cs typeface="+mn-lt"/>
              <a:sym typeface="+mn-ea"/>
            </a:endParaRPr>
          </a:p>
          <a:p>
            <a:pPr marL="342900" lvl="0" indent="-342900" algn="l">
              <a:buClrTx/>
              <a:buSzTx/>
              <a:buFontTx/>
              <a:buChar char="-"/>
            </a:pPr>
            <a:endParaRPr lang="zh-CN" altLang="en-US" sz="2400" dirty="0">
              <a:solidFill>
                <a:srgbClr val="404040"/>
              </a:solidFill>
              <a:effectLst/>
              <a:ea typeface="+mn-lt"/>
              <a:cs typeface="+mn-lt"/>
              <a:sym typeface="+mn-ea"/>
            </a:endParaRPr>
          </a:p>
          <a:p>
            <a:pPr marL="342900" lvl="0" indent="-342900" algn="l">
              <a:buClrTx/>
              <a:buSzTx/>
              <a:buFontTx/>
              <a:buChar char="-"/>
            </a:pPr>
            <a:r>
              <a:rPr lang="zh-CN" altLang="en-US" sz="2400" dirty="0">
                <a:solidFill>
                  <a:srgbClr val="404040"/>
                </a:solidFill>
                <a:effectLst/>
                <a:ea typeface="+mn-lt"/>
                <a:cs typeface="+mn-lt"/>
                <a:sym typeface="+mn-ea"/>
              </a:rPr>
              <a:t>支持多层级总线</a:t>
            </a:r>
          </a:p>
        </p:txBody>
      </p:sp>
      <p:pic>
        <p:nvPicPr>
          <p:cNvPr id="5" name="图片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444793" y="1585203"/>
            <a:ext cx="5159872" cy="4780828"/>
          </a:xfrm>
          <a:prstGeom prst="rect">
            <a:avLst/>
          </a:prstGeom>
        </p:spPr>
      </p:pic>
      <p:sp>
        <p:nvSpPr>
          <p:cNvPr id="33" name="NavActive 核心机制"/>
          <p:cNvSpPr/>
          <p:nvPr/>
        </p:nvSpPr>
        <p:spPr>
          <a:xfrm>
            <a:off x="7450550"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34"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9"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40"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1"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42"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核心机制</a:t>
            </a:r>
          </a:p>
        </p:txBody>
      </p:sp>
      <p:sp>
        <p:nvSpPr>
          <p:cNvPr id="43"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44"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3" name="文本框 2"/>
          <p:cNvSpPr txBox="1"/>
          <p:nvPr/>
        </p:nvSpPr>
        <p:spPr>
          <a:xfrm>
            <a:off x="222877" y="1040904"/>
            <a:ext cx="7717790" cy="521970"/>
          </a:xfrm>
          <a:prstGeom prst="rect">
            <a:avLst/>
          </a:prstGeom>
          <a:noFill/>
        </p:spPr>
        <p:txBody>
          <a:bodyPr wrap="none" rtlCol="0">
            <a:spAutoFit/>
          </a:bodyPr>
          <a:lstStyle/>
          <a:p>
            <a:pPr marL="457200" lvl="0" indent="-457200" algn="l">
              <a:buClrTx/>
              <a:buSzTx/>
              <a:buFont typeface="Wingdings" panose="05000000000000000000" charset="0"/>
              <a:buChar char=""/>
            </a:pPr>
            <a:r>
              <a:rPr lang="en-US" altLang="zh-CN" sz="28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VisionFive2 和 2K1000 </a:t>
            </a:r>
            <a:r>
              <a:rPr lang="zh-CN" altLang="en-US" sz="28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星光板硬件完整适配</a:t>
            </a:r>
          </a:p>
        </p:txBody>
      </p:sp>
      <p:sp>
        <p:nvSpPr>
          <p:cNvPr id="4" name="文本框 3"/>
          <p:cNvSpPr txBox="1"/>
          <p:nvPr/>
        </p:nvSpPr>
        <p:spPr>
          <a:xfrm>
            <a:off x="391795" y="1812925"/>
            <a:ext cx="4326890" cy="4646930"/>
          </a:xfrm>
          <a:prstGeom prst="rect">
            <a:avLst/>
          </a:prstGeom>
          <a:noFill/>
        </p:spPr>
        <p:txBody>
          <a:bodyPr wrap="square" rtlCol="0">
            <a:noAutofit/>
          </a:bodyPr>
          <a:lstStyle/>
          <a:p>
            <a:pPr marL="342900" lvl="0" indent="-342900" algn="l">
              <a:buClrTx/>
              <a:buSzTx/>
              <a:buFontTx/>
              <a:buChar char="-"/>
            </a:pPr>
            <a:r>
              <a:rPr lang="zh-CN" altLang="en-US" sz="2400" dirty="0">
                <a:solidFill>
                  <a:srgbClr val="404040"/>
                </a:solidFill>
                <a:effectLst/>
                <a:ea typeface="+mn-lt"/>
                <a:cs typeface="+mn-lt"/>
                <a:sym typeface="+mn-ea"/>
              </a:rPr>
              <a:t>为</a:t>
            </a:r>
            <a:r>
              <a:rPr lang="en-US" altLang="zh-CN" sz="2400" dirty="0">
                <a:solidFill>
                  <a:srgbClr val="404040"/>
                </a:solidFill>
                <a:effectLst/>
                <a:ea typeface="+mn-lt"/>
                <a:cs typeface="+mn-lt"/>
                <a:sym typeface="+mn-ea"/>
              </a:rPr>
              <a:t>VisionFive2</a:t>
            </a:r>
            <a:r>
              <a:rPr lang="zh-CN" altLang="en-US" sz="2400" dirty="0">
                <a:solidFill>
                  <a:srgbClr val="404040"/>
                </a:solidFill>
                <a:effectLst/>
                <a:ea typeface="+mn-lt"/>
                <a:cs typeface="+mn-lt"/>
                <a:sym typeface="+mn-ea"/>
              </a:rPr>
              <a:t>和</a:t>
            </a:r>
            <a:r>
              <a:rPr lang="en-US" altLang="zh-CN" sz="2400" dirty="0">
                <a:solidFill>
                  <a:srgbClr val="404040"/>
                </a:solidFill>
                <a:effectLst/>
                <a:ea typeface="+mn-lt"/>
                <a:cs typeface="+mn-lt"/>
                <a:sym typeface="+mn-ea"/>
              </a:rPr>
              <a:t>2K1000</a:t>
            </a:r>
            <a:r>
              <a:rPr lang="zh-CN" altLang="en-US" sz="2400" dirty="0">
                <a:solidFill>
                  <a:srgbClr val="404040"/>
                </a:solidFill>
                <a:effectLst/>
                <a:ea typeface="+mn-lt"/>
                <a:cs typeface="+mn-lt"/>
                <a:sym typeface="+mn-ea"/>
              </a:rPr>
              <a:t>分别制作了完整的类</a:t>
            </a:r>
            <a:r>
              <a:rPr lang="en-US" altLang="zh-CN" sz="2400" dirty="0">
                <a:solidFill>
                  <a:srgbClr val="404040"/>
                </a:solidFill>
                <a:effectLst/>
                <a:ea typeface="+mn-lt"/>
                <a:cs typeface="+mn-lt"/>
                <a:sym typeface="+mn-ea"/>
              </a:rPr>
              <a:t>Linux</a:t>
            </a:r>
            <a:r>
              <a:rPr lang="zh-CN" altLang="en-US" sz="2400" dirty="0">
                <a:solidFill>
                  <a:srgbClr val="404040"/>
                </a:solidFill>
                <a:effectLst/>
                <a:ea typeface="+mn-lt"/>
                <a:cs typeface="+mn-lt"/>
                <a:sym typeface="+mn-ea"/>
              </a:rPr>
              <a:t>镜像</a:t>
            </a:r>
          </a:p>
          <a:p>
            <a:pPr lvl="0" indent="0" algn="l">
              <a:buClrTx/>
              <a:buSzTx/>
              <a:buFontTx/>
              <a:buNone/>
            </a:pPr>
            <a:endParaRPr lang="zh-CN" altLang="en-US" sz="2400" dirty="0">
              <a:solidFill>
                <a:srgbClr val="404040"/>
              </a:solidFill>
              <a:effectLst/>
              <a:ea typeface="+mn-lt"/>
              <a:cs typeface="+mn-lt"/>
              <a:sym typeface="+mn-ea"/>
            </a:endParaRPr>
          </a:p>
          <a:p>
            <a:pPr marL="342900" lvl="0" indent="-342900" algn="l">
              <a:buClrTx/>
              <a:buSzTx/>
              <a:buFontTx/>
              <a:buChar char="-"/>
            </a:pPr>
            <a:r>
              <a:rPr lang="zh-CN" altLang="en-US" sz="2400" dirty="0">
                <a:solidFill>
                  <a:srgbClr val="404040"/>
                </a:solidFill>
                <a:effectLst/>
                <a:ea typeface="+mn-lt"/>
                <a:cs typeface="+mn-lt"/>
                <a:sym typeface="+mn-ea"/>
              </a:rPr>
              <a:t>支持基于</a:t>
            </a:r>
            <a:r>
              <a:rPr lang="en-US" altLang="zh-CN" sz="2400" dirty="0">
                <a:solidFill>
                  <a:srgbClr val="404040"/>
                </a:solidFill>
                <a:effectLst/>
                <a:ea typeface="+mn-lt"/>
                <a:cs typeface="+mn-lt"/>
                <a:sym typeface="+mn-ea"/>
              </a:rPr>
              <a:t>OpenRC</a:t>
            </a:r>
            <a:r>
              <a:rPr lang="zh-CN" altLang="en-US" sz="2400" dirty="0">
                <a:solidFill>
                  <a:srgbClr val="404040"/>
                </a:solidFill>
                <a:effectLst/>
                <a:ea typeface="+mn-lt"/>
                <a:cs typeface="+mn-lt"/>
                <a:sym typeface="+mn-ea"/>
              </a:rPr>
              <a:t>的初始化系统</a:t>
            </a:r>
            <a:r>
              <a:rPr lang="en-US" altLang="zh-CN" sz="2400" dirty="0">
                <a:solidFill>
                  <a:srgbClr val="404040"/>
                </a:solidFill>
                <a:effectLst/>
                <a:ea typeface="+mn-lt"/>
                <a:cs typeface="+mn-lt"/>
                <a:sym typeface="+mn-ea"/>
              </a:rPr>
              <a:t>。</a:t>
            </a:r>
          </a:p>
          <a:p>
            <a:pPr lvl="0" indent="0" algn="l">
              <a:buClrTx/>
              <a:buSzTx/>
              <a:buFontTx/>
              <a:buNone/>
            </a:pPr>
            <a:endParaRPr lang="zh-CN" altLang="en-US" sz="2400" dirty="0">
              <a:solidFill>
                <a:srgbClr val="404040"/>
              </a:solidFill>
              <a:effectLst/>
              <a:ea typeface="+mn-lt"/>
              <a:cs typeface="+mn-lt"/>
              <a:sym typeface="+mn-ea"/>
            </a:endParaRPr>
          </a:p>
          <a:p>
            <a:pPr marL="342900" lvl="0" indent="-342900" algn="l">
              <a:buClrTx/>
              <a:buSzTx/>
              <a:buFontTx/>
              <a:buChar char="-"/>
            </a:pPr>
            <a:r>
              <a:rPr lang="zh-CN" altLang="en-US" sz="2400" dirty="0">
                <a:solidFill>
                  <a:srgbClr val="404040"/>
                </a:solidFill>
                <a:effectLst/>
                <a:ea typeface="+mn-lt"/>
                <a:cs typeface="+mn-lt"/>
                <a:sym typeface="+mn-ea"/>
              </a:rPr>
              <a:t>完整</a:t>
            </a:r>
            <a:r>
              <a:rPr lang="en-US" altLang="zh-CN" sz="2400" dirty="0">
                <a:solidFill>
                  <a:srgbClr val="404040"/>
                </a:solidFill>
                <a:effectLst/>
                <a:ea typeface="+mn-lt"/>
                <a:cs typeface="+mn-lt"/>
                <a:sym typeface="+mn-ea"/>
              </a:rPr>
              <a:t>GMAC</a:t>
            </a:r>
            <a:r>
              <a:rPr lang="zh-CN" altLang="en-US" sz="2400" dirty="0">
                <a:solidFill>
                  <a:srgbClr val="404040"/>
                </a:solidFill>
                <a:effectLst/>
                <a:ea typeface="+mn-lt"/>
                <a:cs typeface="+mn-lt"/>
                <a:sym typeface="+mn-ea"/>
              </a:rPr>
              <a:t>网络驱动</a:t>
            </a:r>
            <a:r>
              <a:rPr lang="en-US" altLang="zh-CN" sz="2400" dirty="0">
                <a:solidFill>
                  <a:srgbClr val="404040"/>
                </a:solidFill>
                <a:effectLst/>
                <a:ea typeface="+mn-lt"/>
                <a:cs typeface="+mn-lt"/>
                <a:sym typeface="+mn-ea"/>
              </a:rPr>
              <a:t>，MMC SD</a:t>
            </a:r>
            <a:r>
              <a:rPr lang="zh-CN" altLang="en-US" sz="2400" dirty="0">
                <a:solidFill>
                  <a:srgbClr val="404040"/>
                </a:solidFill>
                <a:effectLst/>
                <a:ea typeface="+mn-lt"/>
                <a:cs typeface="+mn-lt"/>
                <a:sym typeface="+mn-ea"/>
              </a:rPr>
              <a:t>和</a:t>
            </a:r>
            <a:r>
              <a:rPr lang="en-US" altLang="zh-CN" sz="2400" dirty="0">
                <a:solidFill>
                  <a:srgbClr val="404040"/>
                </a:solidFill>
                <a:effectLst/>
                <a:ea typeface="+mn-lt"/>
                <a:cs typeface="+mn-lt"/>
                <a:sym typeface="+mn-ea"/>
              </a:rPr>
              <a:t>AHCI SATA</a:t>
            </a:r>
            <a:r>
              <a:rPr lang="zh-CN" altLang="en-US" sz="2400" dirty="0">
                <a:solidFill>
                  <a:srgbClr val="404040"/>
                </a:solidFill>
                <a:effectLst/>
                <a:ea typeface="+mn-lt"/>
                <a:cs typeface="+mn-lt"/>
                <a:sym typeface="+mn-ea"/>
              </a:rPr>
              <a:t>驱动</a:t>
            </a:r>
            <a:r>
              <a:rPr lang="en-US" altLang="zh-CN" sz="2400" dirty="0">
                <a:solidFill>
                  <a:srgbClr val="404040"/>
                </a:solidFill>
                <a:effectLst/>
                <a:ea typeface="+mn-lt"/>
                <a:cs typeface="+mn-lt"/>
                <a:sym typeface="+mn-ea"/>
              </a:rPr>
              <a:t>。</a:t>
            </a:r>
            <a:r>
              <a:rPr lang="zh-CN" altLang="en-US" sz="2400" b="1" dirty="0">
                <a:solidFill>
                  <a:srgbClr val="0070C0"/>
                </a:solidFill>
                <a:effectLst/>
                <a:ea typeface="+mn-lt"/>
                <a:cs typeface="+mn-lt"/>
                <a:sym typeface="+mn-ea"/>
              </a:rPr>
              <a:t>可以在物理设备上运行网络服务</a:t>
            </a:r>
            <a:r>
              <a:rPr lang="en-US" altLang="zh-CN" sz="2400" dirty="0">
                <a:solidFill>
                  <a:srgbClr val="404040"/>
                </a:solidFill>
                <a:effectLst/>
                <a:ea typeface="+mn-lt"/>
                <a:cs typeface="+mn-lt"/>
                <a:sym typeface="+mn-ea"/>
              </a:rPr>
              <a:t>。</a:t>
            </a:r>
            <a:endParaRPr lang="zh-CN" altLang="en-US" sz="2400" dirty="0">
              <a:solidFill>
                <a:srgbClr val="404040"/>
              </a:solidFill>
              <a:effectLst/>
              <a:ea typeface="+mn-lt"/>
              <a:cs typeface="+mn-lt"/>
              <a:sym typeface="+mn-ea"/>
            </a:endParaRPr>
          </a:p>
          <a:p>
            <a:pPr marL="342900" lvl="0" indent="-342900" algn="l">
              <a:buClrTx/>
              <a:buSzTx/>
              <a:buFontTx/>
              <a:buChar char="-"/>
            </a:pPr>
            <a:endParaRPr lang="zh-CN" altLang="en-US" sz="2400" dirty="0">
              <a:solidFill>
                <a:srgbClr val="404040"/>
              </a:solidFill>
              <a:effectLst/>
              <a:ea typeface="+mn-lt"/>
              <a:cs typeface="+mn-lt"/>
              <a:sym typeface="+mn-ea"/>
            </a:endParaRPr>
          </a:p>
          <a:p>
            <a:pPr marL="342900" lvl="0" indent="-342900" algn="l">
              <a:buClrTx/>
              <a:buSzTx/>
              <a:buFontTx/>
              <a:buChar char="-"/>
            </a:pPr>
            <a:r>
              <a:rPr lang="en-US" altLang="zh-CN" sz="2400" b="1" dirty="0">
                <a:solidFill>
                  <a:srgbClr val="0070C0"/>
                </a:solidFill>
                <a:effectLst/>
                <a:ea typeface="+mn-lt"/>
                <a:cs typeface="+mn-lt"/>
                <a:sym typeface="+mn-ea"/>
              </a:rPr>
              <a:t>LoongArch</a:t>
            </a:r>
            <a:r>
              <a:rPr lang="zh-CN" altLang="en-US" sz="2400" b="1" dirty="0">
                <a:solidFill>
                  <a:srgbClr val="0070C0"/>
                </a:solidFill>
                <a:effectLst/>
                <a:ea typeface="+mn-lt"/>
                <a:cs typeface="+mn-lt"/>
                <a:sym typeface="+mn-ea"/>
              </a:rPr>
              <a:t>非对齐访问模拟</a:t>
            </a:r>
            <a:r>
              <a:rPr lang="en-US" altLang="zh-CN" sz="2400" b="1" dirty="0">
                <a:solidFill>
                  <a:srgbClr val="404040"/>
                </a:solidFill>
                <a:effectLst/>
                <a:ea typeface="+mn-lt"/>
                <a:cs typeface="+mn-lt"/>
                <a:sym typeface="+mn-ea"/>
              </a:rPr>
              <a:t>。</a:t>
            </a:r>
          </a:p>
        </p:txBody>
      </p:sp>
      <p:sp>
        <p:nvSpPr>
          <p:cNvPr id="33" name="NavActive 核心机制"/>
          <p:cNvSpPr/>
          <p:nvPr/>
        </p:nvSpPr>
        <p:spPr>
          <a:xfrm>
            <a:off x="7450550"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34"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9"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40"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1"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42"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核心机制</a:t>
            </a:r>
          </a:p>
        </p:txBody>
      </p:sp>
      <p:sp>
        <p:nvSpPr>
          <p:cNvPr id="43"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44"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pic>
        <p:nvPicPr>
          <p:cNvPr id="2" name="图片 1" descr="617831ea92372018d2777db40cce6d89_720"/>
          <p:cNvPicPr>
            <a:picLocks noChangeAspect="1"/>
          </p:cNvPicPr>
          <p:nvPr/>
        </p:nvPicPr>
        <p:blipFill>
          <a:blip r:embed="rId5"/>
          <a:stretch>
            <a:fillRect/>
          </a:stretch>
        </p:blipFill>
        <p:spPr>
          <a:xfrm>
            <a:off x="5384800" y="1562735"/>
            <a:ext cx="6170930" cy="4936490"/>
          </a:xfrm>
          <a:prstGeom prst="rect">
            <a:avLst/>
          </a:prstGeom>
        </p:spPr>
      </p:pic>
      <p:pic>
        <p:nvPicPr>
          <p:cNvPr id="7" name="图片 6"/>
          <p:cNvPicPr>
            <a:picLocks noChangeAspect="1"/>
          </p:cNvPicPr>
          <p:nvPr/>
        </p:nvPicPr>
        <p:blipFill>
          <a:blip r:embed="rId6"/>
          <a:stretch>
            <a:fillRect/>
          </a:stretch>
        </p:blipFill>
        <p:spPr>
          <a:xfrm>
            <a:off x="1934210" y="1390650"/>
            <a:ext cx="7999730" cy="4437380"/>
          </a:xfrm>
          <a:prstGeom prst="rect">
            <a:avLst/>
          </a:prstGeom>
          <a:effectLst>
            <a:softEdge rad="50800"/>
          </a:effectLst>
        </p:spPr>
      </p:pic>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19" name="文本框 18"/>
          <p:cNvSpPr txBox="1"/>
          <p:nvPr/>
        </p:nvSpPr>
        <p:spPr>
          <a:xfrm>
            <a:off x="117373" y="1298752"/>
            <a:ext cx="5271135" cy="521970"/>
          </a:xfrm>
          <a:prstGeom prst="rect">
            <a:avLst/>
          </a:prstGeom>
          <a:noFill/>
        </p:spPr>
        <p:txBody>
          <a:bodyPr wrap="none" rtlCol="0">
            <a:spAutoFit/>
          </a:bodyPr>
          <a:lstStyle/>
          <a:p>
            <a:pPr marL="457200" lvl="0" indent="-457200" algn="l">
              <a:buClrTx/>
              <a:buSzTx/>
              <a:buFont typeface="Wingdings" panose="05000000000000000000" charset="0"/>
              <a:buChar char=""/>
            </a:pPr>
            <a:r>
              <a:rPr lang="en-US" altLang="zh-CN" sz="28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网络能力已经进入真实用户态</a:t>
            </a:r>
          </a:p>
        </p:txBody>
      </p:sp>
      <p:sp>
        <p:nvSpPr>
          <p:cNvPr id="23" name="文本框 22"/>
          <p:cNvSpPr txBox="1"/>
          <p:nvPr/>
        </p:nvSpPr>
        <p:spPr>
          <a:xfrm>
            <a:off x="412750" y="1931035"/>
            <a:ext cx="11257280" cy="3046095"/>
          </a:xfrm>
          <a:prstGeom prst="rect">
            <a:avLst/>
          </a:prstGeom>
          <a:noFill/>
        </p:spPr>
        <p:txBody>
          <a:bodyPr wrap="square" rtlCol="0">
            <a:noAutofit/>
          </a:bodyPr>
          <a:lstStyle/>
          <a:p>
            <a:pPr marL="457200" lvl="0" indent="-457200" algn="l">
              <a:buClrTx/>
              <a:buSzTx/>
              <a:buFont typeface="+mj-lt"/>
              <a:buAutoNum type="arabicPeriod"/>
            </a:pPr>
            <a:r>
              <a:rPr lang="zh-CN" altLang="en-US" sz="2400" dirty="0">
                <a:solidFill>
                  <a:srgbClr val="404040"/>
                </a:solidFill>
                <a:effectLst/>
                <a:latin typeface="Consolas" charset="0"/>
                <a:ea typeface="+mn-lt"/>
                <a:cs typeface="Consolas" charset="0"/>
                <a:sym typeface="+mn-ea"/>
              </a:rPr>
              <a:t>ping</a:t>
            </a:r>
            <a:r>
              <a:rPr lang="en-US" altLang="zh-CN" sz="2400" dirty="0">
                <a:solidFill>
                  <a:srgbClr val="404040"/>
                </a:solidFill>
                <a:effectLst/>
                <a:latin typeface="Consolas" charset="0"/>
                <a:ea typeface="+mn-lt"/>
                <a:cs typeface="Consolas" charset="0"/>
                <a:sym typeface="+mn-ea"/>
              </a:rPr>
              <a:t>		</a:t>
            </a:r>
            <a:r>
              <a:rPr lang="zh-CN" altLang="en-US" sz="2400" dirty="0">
                <a:solidFill>
                  <a:srgbClr val="404040"/>
                </a:solidFill>
                <a:effectLst/>
                <a:ea typeface="+mn-lt"/>
                <a:cs typeface="+mn-lt"/>
                <a:sym typeface="+mn-ea"/>
              </a:rPr>
              <a:t>验证 ICMP 与基本 IPv4 路径</a:t>
            </a:r>
          </a:p>
          <a:p>
            <a:pPr marL="457200" lvl="0" indent="-457200" algn="l">
              <a:buClrTx/>
              <a:buSzTx/>
              <a:buFont typeface="+mj-lt"/>
              <a:buAutoNum type="arabicPeriod"/>
            </a:pPr>
            <a:r>
              <a:rPr lang="zh-CN" altLang="en-US" sz="2400" dirty="0">
                <a:solidFill>
                  <a:srgbClr val="404040"/>
                </a:solidFill>
                <a:effectLst/>
                <a:latin typeface="Consolas" charset="0"/>
                <a:ea typeface="+mn-lt"/>
                <a:cs typeface="Consolas" charset="0"/>
                <a:sym typeface="+mn-ea"/>
              </a:rPr>
              <a:t>apt install</a:t>
            </a:r>
            <a:r>
              <a:rPr lang="en-US" altLang="zh-CN" sz="2400" dirty="0">
                <a:solidFill>
                  <a:srgbClr val="404040"/>
                </a:solidFill>
                <a:effectLst/>
                <a:latin typeface="Consolas" charset="0"/>
                <a:ea typeface="+mn-lt"/>
                <a:cs typeface="Consolas" charset="0"/>
                <a:sym typeface="+mn-ea"/>
              </a:rPr>
              <a:t>	</a:t>
            </a:r>
            <a:r>
              <a:rPr lang="zh-CN" altLang="en-US" sz="2400" dirty="0">
                <a:solidFill>
                  <a:srgbClr val="404040"/>
                </a:solidFill>
                <a:effectLst/>
                <a:ea typeface="+mn-lt"/>
                <a:cs typeface="+mn-lt"/>
                <a:sym typeface="+mn-ea"/>
              </a:rPr>
              <a:t>完成软件包下载与安装</a:t>
            </a:r>
          </a:p>
          <a:p>
            <a:pPr marL="457200" lvl="0" indent="-457200" algn="l">
              <a:buClrTx/>
              <a:buSzTx/>
              <a:buFont typeface="+mj-lt"/>
              <a:buAutoNum type="arabicPeriod"/>
            </a:pPr>
            <a:r>
              <a:rPr lang="zh-CN" altLang="en-US" sz="2400" dirty="0">
                <a:solidFill>
                  <a:srgbClr val="404040"/>
                </a:solidFill>
                <a:effectLst/>
                <a:latin typeface="Consolas" charset="0"/>
                <a:ea typeface="+mn-lt"/>
                <a:cs typeface="Consolas" charset="0"/>
                <a:sym typeface="+mn-ea"/>
              </a:rPr>
              <a:t>git clone</a:t>
            </a:r>
            <a:r>
              <a:rPr lang="en-US" altLang="zh-CN" sz="2400" dirty="0">
                <a:solidFill>
                  <a:srgbClr val="404040"/>
                </a:solidFill>
                <a:effectLst/>
                <a:latin typeface="Consolas" charset="0"/>
                <a:ea typeface="+mn-lt"/>
                <a:cs typeface="Consolas" charset="0"/>
                <a:sym typeface="+mn-ea"/>
              </a:rPr>
              <a:t>		</a:t>
            </a:r>
            <a:r>
              <a:rPr lang="zh-CN" altLang="en-US" sz="2400" dirty="0">
                <a:solidFill>
                  <a:srgbClr val="404040"/>
                </a:solidFill>
                <a:effectLst/>
                <a:ea typeface="+mn-lt"/>
                <a:cs typeface="+mn-lt"/>
                <a:sym typeface="+mn-ea"/>
              </a:rPr>
              <a:t>完成 TLS 上的真实数据传输</a:t>
            </a:r>
          </a:p>
          <a:p>
            <a:pPr marL="457200" lvl="0" indent="-457200" algn="l">
              <a:buClrTx/>
              <a:buSzTx/>
              <a:buFont typeface="+mj-lt"/>
              <a:buAutoNum type="arabicPeriod"/>
            </a:pPr>
            <a:r>
              <a:rPr lang="zh-CN" altLang="en-US" sz="2400" dirty="0">
                <a:solidFill>
                  <a:srgbClr val="404040"/>
                </a:solidFill>
                <a:effectLst/>
                <a:latin typeface="Consolas" charset="0"/>
                <a:ea typeface="+mn-lt"/>
                <a:cs typeface="Consolas" charset="0"/>
                <a:sym typeface="+mn-ea"/>
              </a:rPr>
              <a:t>ip link</a:t>
            </a:r>
            <a:r>
              <a:rPr lang="en-US" altLang="zh-CN" sz="2400" dirty="0">
                <a:solidFill>
                  <a:srgbClr val="404040"/>
                </a:solidFill>
                <a:effectLst/>
                <a:latin typeface="Consolas" charset="0"/>
                <a:ea typeface="+mn-lt"/>
                <a:cs typeface="Consolas" charset="0"/>
                <a:sym typeface="+mn-ea"/>
              </a:rPr>
              <a:t>, </a:t>
            </a:r>
            <a:r>
              <a:rPr lang="zh-CN" altLang="en-US" sz="2400" dirty="0">
                <a:solidFill>
                  <a:srgbClr val="404040"/>
                </a:solidFill>
                <a:effectLst/>
                <a:latin typeface="Consolas" charset="0"/>
                <a:ea typeface="+mn-lt"/>
                <a:cs typeface="Consolas" charset="0"/>
                <a:sym typeface="+mn-ea"/>
              </a:rPr>
              <a:t>address</a:t>
            </a:r>
            <a:r>
              <a:rPr lang="en-US" altLang="zh-CN" sz="2400" dirty="0">
                <a:solidFill>
                  <a:srgbClr val="404040"/>
                </a:solidFill>
                <a:effectLst/>
                <a:latin typeface="Consolas" charset="0"/>
                <a:ea typeface="+mn-lt"/>
                <a:cs typeface="Consolas" charset="0"/>
                <a:sym typeface="+mn-ea"/>
              </a:rPr>
              <a:t>,</a:t>
            </a:r>
            <a:r>
              <a:rPr lang="zh-CN" altLang="en-US" sz="2400" dirty="0">
                <a:solidFill>
                  <a:srgbClr val="404040"/>
                </a:solidFill>
                <a:effectLst/>
                <a:latin typeface="Consolas" charset="0"/>
                <a:ea typeface="+mn-lt"/>
                <a:cs typeface="Consolas" charset="0"/>
                <a:sym typeface="+mn-ea"/>
              </a:rPr>
              <a:t>route show</a:t>
            </a:r>
            <a:r>
              <a:rPr lang="en-US" altLang="zh-CN" sz="2400" dirty="0">
                <a:solidFill>
                  <a:srgbClr val="404040"/>
                </a:solidFill>
                <a:effectLst/>
                <a:latin typeface="Consolas" charset="0"/>
                <a:ea typeface="+mn-lt"/>
                <a:cs typeface="Consolas" charset="0"/>
                <a:sym typeface="+mn-ea"/>
              </a:rPr>
              <a:t>	</a:t>
            </a:r>
            <a:r>
              <a:rPr lang="zh-CN" altLang="en-US" sz="2400" dirty="0">
                <a:solidFill>
                  <a:srgbClr val="404040"/>
                </a:solidFill>
                <a:effectLst/>
                <a:ea typeface="+mn-lt"/>
                <a:cs typeface="+mn-lt"/>
                <a:sym typeface="+mn-ea"/>
              </a:rPr>
              <a:t>查看接口与路由</a:t>
            </a:r>
          </a:p>
          <a:p>
            <a:pPr marL="457200" lvl="0" indent="-457200" algn="l">
              <a:buClrTx/>
              <a:buSzTx/>
              <a:buFont typeface="+mj-lt"/>
              <a:buAutoNum type="arabicPeriod"/>
            </a:pPr>
            <a:r>
              <a:rPr lang="zh-CN" altLang="en-US" sz="2400" dirty="0">
                <a:solidFill>
                  <a:srgbClr val="404040"/>
                </a:solidFill>
                <a:effectLst/>
                <a:latin typeface="Consolas" charset="0"/>
                <a:ea typeface="+mn-lt"/>
                <a:cs typeface="Consolas" charset="0"/>
                <a:sym typeface="+mn-ea"/>
              </a:rPr>
              <a:t>ss -tan</a:t>
            </a:r>
            <a:r>
              <a:rPr lang="en-US" altLang="zh-CN" sz="2400" dirty="0">
                <a:solidFill>
                  <a:srgbClr val="404040"/>
                </a:solidFill>
                <a:effectLst/>
                <a:latin typeface="Consolas" charset="0"/>
                <a:ea typeface="+mn-lt"/>
                <a:cs typeface="Consolas" charset="0"/>
                <a:sym typeface="+mn-ea"/>
              </a:rPr>
              <a:t>		</a:t>
            </a:r>
            <a:r>
              <a:rPr lang="zh-CN" altLang="en-US" sz="2400" dirty="0">
                <a:solidFill>
                  <a:srgbClr val="404040"/>
                </a:solidFill>
                <a:effectLst/>
                <a:ea typeface="+mn-lt"/>
                <a:cs typeface="+mn-lt"/>
                <a:sym typeface="+mn-ea"/>
              </a:rPr>
              <a:t>查看 TCP 连接与监听状态</a:t>
            </a:r>
          </a:p>
          <a:p>
            <a:pPr marL="457200" lvl="0" indent="-457200" algn="l">
              <a:buClrTx/>
              <a:buSzTx/>
              <a:buFont typeface="+mj-lt"/>
              <a:buAutoNum type="arabicPeriod"/>
            </a:pPr>
            <a:r>
              <a:rPr lang="zh-CN" altLang="en-US" sz="2400" dirty="0">
                <a:solidFill>
                  <a:srgbClr val="404040"/>
                </a:solidFill>
                <a:effectLst/>
                <a:latin typeface="Consolas" charset="0"/>
                <a:ea typeface="+mn-lt"/>
                <a:cs typeface="Consolas" charset="0"/>
                <a:sym typeface="+mn-ea"/>
              </a:rPr>
              <a:t>nginx</a:t>
            </a:r>
            <a:r>
              <a:rPr lang="en-US" altLang="zh-CN" sz="2400" dirty="0">
                <a:solidFill>
                  <a:srgbClr val="404040"/>
                </a:solidFill>
                <a:effectLst/>
                <a:ea typeface="+mn-lt"/>
                <a:cs typeface="+mn-lt"/>
                <a:sym typeface="+mn-ea"/>
              </a:rPr>
              <a:t>		</a:t>
            </a:r>
            <a:r>
              <a:rPr lang="zh-CN" altLang="en-US" sz="2400" dirty="0">
                <a:solidFill>
                  <a:srgbClr val="404040"/>
                </a:solidFill>
                <a:effectLst/>
                <a:ea typeface="+mn-lt"/>
                <a:cs typeface="+mn-lt"/>
                <a:sym typeface="+mn-ea"/>
              </a:rPr>
              <a:t>支持部署完整网络服务器并通过</a:t>
            </a:r>
            <a:r>
              <a:rPr lang="en-US" altLang="zh-CN" sz="2400" dirty="0">
                <a:solidFill>
                  <a:srgbClr val="404040"/>
                </a:solidFill>
                <a:effectLst/>
                <a:ea typeface="+mn-lt"/>
                <a:cs typeface="+mn-lt"/>
                <a:sym typeface="+mn-ea"/>
              </a:rPr>
              <a:t>SSL</a:t>
            </a:r>
            <a:r>
              <a:rPr lang="zh-CN" altLang="en-US" sz="2400" dirty="0">
                <a:solidFill>
                  <a:srgbClr val="404040"/>
                </a:solidFill>
                <a:effectLst/>
                <a:ea typeface="+mn-lt"/>
                <a:cs typeface="+mn-lt"/>
                <a:sym typeface="+mn-ea"/>
              </a:rPr>
              <a:t>进行安全数据传输</a:t>
            </a:r>
            <a:r>
              <a:rPr lang="en-US" altLang="zh-CN" sz="2400" dirty="0">
                <a:solidFill>
                  <a:srgbClr val="404040"/>
                </a:solidFill>
                <a:effectLst/>
                <a:ea typeface="+mn-lt"/>
                <a:cs typeface="+mn-lt"/>
                <a:sym typeface="+mn-ea"/>
              </a:rPr>
              <a:t>。</a:t>
            </a:r>
          </a:p>
          <a:p>
            <a:pPr marL="457200" lvl="0" indent="-457200" algn="l">
              <a:buClrTx/>
              <a:buSzTx/>
              <a:buFont typeface="+mj-lt"/>
              <a:buAutoNum type="arabicPeriod"/>
            </a:pPr>
            <a:r>
              <a:rPr lang="zh-CN" altLang="en-US" sz="2400" dirty="0">
                <a:solidFill>
                  <a:srgbClr val="404040"/>
                </a:solidFill>
                <a:effectLst/>
                <a:latin typeface="Consolas" charset="0"/>
                <a:ea typeface="+mn-lt"/>
                <a:cs typeface="Consolas" charset="0"/>
                <a:sym typeface="+mn-ea"/>
              </a:rPr>
              <a:t>ssh,sshd</a:t>
            </a:r>
            <a:r>
              <a:rPr lang="en-US" altLang="zh-CN" sz="2400" dirty="0">
                <a:solidFill>
                  <a:srgbClr val="404040"/>
                </a:solidFill>
                <a:effectLst/>
                <a:ea typeface="+mn-lt"/>
                <a:cs typeface="+mn-lt"/>
                <a:sym typeface="+mn-ea"/>
              </a:rPr>
              <a:t>		</a:t>
            </a:r>
            <a:r>
              <a:rPr lang="zh-CN" altLang="en-US" sz="2400" dirty="0">
                <a:solidFill>
                  <a:srgbClr val="404040"/>
                </a:solidFill>
                <a:effectLst/>
                <a:ea typeface="+mn-lt"/>
                <a:cs typeface="+mn-lt"/>
                <a:sym typeface="+mn-ea"/>
              </a:rPr>
              <a:t>支持</a:t>
            </a:r>
            <a:r>
              <a:rPr lang="en-US" altLang="zh-CN" sz="2400" dirty="0">
                <a:solidFill>
                  <a:srgbClr val="404040"/>
                </a:solidFill>
                <a:effectLst/>
                <a:ea typeface="+mn-lt"/>
                <a:cs typeface="+mn-lt"/>
                <a:sym typeface="+mn-ea"/>
              </a:rPr>
              <a:t> SSH </a:t>
            </a:r>
            <a:r>
              <a:rPr lang="zh-CN" altLang="en-US" sz="2400" dirty="0">
                <a:solidFill>
                  <a:srgbClr val="404040"/>
                </a:solidFill>
                <a:effectLst/>
                <a:ea typeface="+mn-lt"/>
                <a:cs typeface="+mn-lt"/>
                <a:sym typeface="+mn-ea"/>
              </a:rPr>
              <a:t>远程连接</a:t>
            </a:r>
            <a:r>
              <a:rPr lang="en-US" altLang="zh-CN" sz="2400" dirty="0">
                <a:solidFill>
                  <a:srgbClr val="404040"/>
                </a:solidFill>
                <a:effectLst/>
                <a:ea typeface="+mn-lt"/>
                <a:cs typeface="+mn-lt"/>
                <a:sym typeface="+mn-ea"/>
              </a:rPr>
              <a:t>。</a:t>
            </a:r>
            <a:endParaRPr lang="zh-CN" altLang="en-US" sz="2400" dirty="0">
              <a:solidFill>
                <a:srgbClr val="404040"/>
              </a:solidFill>
              <a:effectLst/>
              <a:ea typeface="+mn-lt"/>
              <a:cs typeface="+mn-lt"/>
              <a:sym typeface="+mn-ea"/>
            </a:endParaRPr>
          </a:p>
          <a:p>
            <a:pPr marL="457200" lvl="0" indent="-457200" algn="l">
              <a:buClrTx/>
              <a:buSzTx/>
              <a:buFont typeface="+mj-lt"/>
              <a:buAutoNum type="arabicPeriod"/>
            </a:pPr>
            <a:endParaRPr lang="zh-CN" altLang="en-US" sz="2400" dirty="0">
              <a:solidFill>
                <a:srgbClr val="404040"/>
              </a:solidFill>
              <a:effectLst/>
              <a:ea typeface="+mn-lt"/>
              <a:cs typeface="+mn-lt"/>
              <a:sym typeface="+mn-ea"/>
            </a:endParaRPr>
          </a:p>
          <a:p>
            <a:pPr marL="457200" lvl="0" indent="-457200" algn="l">
              <a:buClrTx/>
              <a:buSzTx/>
              <a:buFont typeface="+mj-lt"/>
              <a:buAutoNum type="arabicPeriod"/>
            </a:pPr>
            <a:endParaRPr lang="zh-CN" altLang="en-US" sz="2400" dirty="0">
              <a:solidFill>
                <a:srgbClr val="404040"/>
              </a:solidFill>
              <a:effectLst/>
              <a:ea typeface="+mn-lt"/>
              <a:cs typeface="+mn-lt"/>
              <a:sym typeface="+mn-ea"/>
            </a:endParaRPr>
          </a:p>
          <a:p>
            <a:pPr marL="342900" lvl="0" indent="-342900" algn="l">
              <a:buClrTx/>
              <a:buSzTx/>
              <a:buFontTx/>
              <a:buChar char="-"/>
            </a:pPr>
            <a:endParaRPr lang="zh-CN" altLang="en-US" sz="2400" dirty="0">
              <a:solidFill>
                <a:srgbClr val="404040"/>
              </a:solidFill>
              <a:effectLst/>
              <a:ea typeface="+mn-lt"/>
              <a:cs typeface="+mn-lt"/>
              <a:sym typeface="+mn-ea"/>
            </a:endParaRPr>
          </a:p>
        </p:txBody>
      </p:sp>
      <p:sp>
        <p:nvSpPr>
          <p:cNvPr id="33" name="NavActive 核心机制"/>
          <p:cNvSpPr/>
          <p:nvPr/>
        </p:nvSpPr>
        <p:spPr>
          <a:xfrm>
            <a:off x="7450550"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34"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9"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40"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1"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42"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核心机制</a:t>
            </a:r>
          </a:p>
        </p:txBody>
      </p:sp>
      <p:sp>
        <p:nvSpPr>
          <p:cNvPr id="43"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44"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3" name="文本框 2"/>
          <p:cNvSpPr txBox="1"/>
          <p:nvPr/>
        </p:nvSpPr>
        <p:spPr>
          <a:xfrm>
            <a:off x="222877" y="1040904"/>
            <a:ext cx="2777490" cy="521970"/>
          </a:xfrm>
          <a:prstGeom prst="rect">
            <a:avLst/>
          </a:prstGeom>
          <a:noFill/>
        </p:spPr>
        <p:txBody>
          <a:bodyPr wrap="none" rtlCol="0">
            <a:spAutoFit/>
          </a:bodyPr>
          <a:lstStyle/>
          <a:p>
            <a:pPr marL="457200" lvl="0" indent="-457200" algn="l">
              <a:buClrTx/>
              <a:buSzTx/>
              <a:buFont typeface="Wingdings" panose="05000000000000000000" charset="0"/>
              <a:buChar char=""/>
            </a:pPr>
            <a:r>
              <a:rPr lang="en-US" altLang="zh-CN" sz="28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四层网络架构</a:t>
            </a:r>
          </a:p>
        </p:txBody>
      </p:sp>
      <p:sp>
        <p:nvSpPr>
          <p:cNvPr id="4" name="文本框 3"/>
          <p:cNvSpPr txBox="1"/>
          <p:nvPr/>
        </p:nvSpPr>
        <p:spPr>
          <a:xfrm>
            <a:off x="391795" y="1812925"/>
            <a:ext cx="4794885" cy="4154170"/>
          </a:xfrm>
          <a:prstGeom prst="rect">
            <a:avLst/>
          </a:prstGeom>
          <a:noFill/>
        </p:spPr>
        <p:txBody>
          <a:bodyPr wrap="square" rtlCol="0">
            <a:noAutofit/>
          </a:bodyPr>
          <a:lstStyle/>
          <a:p>
            <a:pPr marL="342900" lvl="0" indent="-342900" algn="l">
              <a:buClrTx/>
              <a:buSzTx/>
              <a:buFontTx/>
              <a:buChar char="-"/>
            </a:pPr>
            <a:r>
              <a:rPr lang="zh-CN" altLang="en-US" sz="2400" dirty="0">
                <a:solidFill>
                  <a:srgbClr val="404040"/>
                </a:solidFill>
                <a:effectLst/>
                <a:ea typeface="+mn-lt"/>
                <a:cs typeface="+mn-lt"/>
                <a:sym typeface="+mn-ea"/>
              </a:rPr>
              <a:t>内核 Socket、Net API、协议栈 owner 与 smoltcp 后端各自拥有状态</a:t>
            </a:r>
          </a:p>
          <a:p>
            <a:pPr marL="342900" lvl="0" indent="-342900" algn="l">
              <a:buClrTx/>
              <a:buSzTx/>
              <a:buFontTx/>
              <a:buChar char="-"/>
            </a:pPr>
            <a:r>
              <a:rPr lang="zh-CN" altLang="en-US" sz="2400" dirty="0">
                <a:solidFill>
                  <a:srgbClr val="404040"/>
                </a:solidFill>
                <a:effectLst/>
                <a:ea typeface="+mn-lt"/>
                <a:cs typeface="+mn-lt"/>
                <a:sym typeface="+mn-ea"/>
              </a:rPr>
              <a:t>内核处理Linux语义，阻塞与同步，Socket状态维护</a:t>
            </a:r>
          </a:p>
          <a:p>
            <a:pPr marL="342900" lvl="0" indent="-342900" algn="l">
              <a:buClrTx/>
              <a:buSzTx/>
              <a:buFontTx/>
              <a:buChar char="-"/>
            </a:pPr>
            <a:r>
              <a:rPr lang="zh-CN" altLang="en-US" sz="2400" dirty="0">
                <a:solidFill>
                  <a:srgbClr val="404040"/>
                </a:solidFill>
                <a:effectLst/>
                <a:ea typeface="+mn-lt"/>
                <a:cs typeface="+mn-lt"/>
                <a:sym typeface="+mn-ea"/>
              </a:rPr>
              <a:t>Net-API 负责语义和能力的确认，可以理解为网络栈的抽象层，屏蔽后端语义，允许此后扩展和切换</a:t>
            </a:r>
          </a:p>
          <a:p>
            <a:pPr marL="342900" lvl="0" indent="-342900" algn="l">
              <a:buClrTx/>
              <a:buSzTx/>
              <a:buFontTx/>
              <a:buChar char="-"/>
            </a:pPr>
            <a:r>
              <a:rPr lang="zh-CN" altLang="en-US" sz="2400" dirty="0">
                <a:solidFill>
                  <a:srgbClr val="404040"/>
                </a:solidFill>
                <a:effectLst/>
                <a:ea typeface="+mn-lt"/>
                <a:cs typeface="+mn-lt"/>
                <a:sym typeface="+mn-ea"/>
              </a:rPr>
              <a:t>Smoltcp-stack是smoltcp的后端适配。</a:t>
            </a:r>
          </a:p>
        </p:txBody>
      </p:sp>
      <p:pic>
        <p:nvPicPr>
          <p:cNvPr id="5" name="图片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183168" y="972314"/>
            <a:ext cx="6220705" cy="5026682"/>
          </a:xfrm>
          <a:prstGeom prst="rect">
            <a:avLst/>
          </a:prstGeom>
        </p:spPr>
      </p:pic>
      <p:sp>
        <p:nvSpPr>
          <p:cNvPr id="33" name="NavActive 核心机制"/>
          <p:cNvSpPr/>
          <p:nvPr/>
        </p:nvSpPr>
        <p:spPr>
          <a:xfrm>
            <a:off x="7450550"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34"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9"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40"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1"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42"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核心机制</a:t>
            </a:r>
          </a:p>
        </p:txBody>
      </p:sp>
      <p:sp>
        <p:nvSpPr>
          <p:cNvPr id="43"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44"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3" name="文本框 2"/>
          <p:cNvSpPr txBox="1"/>
          <p:nvPr/>
        </p:nvSpPr>
        <p:spPr>
          <a:xfrm>
            <a:off x="185872" y="1016779"/>
            <a:ext cx="5682615" cy="521970"/>
          </a:xfrm>
          <a:prstGeom prst="rect">
            <a:avLst/>
          </a:prstGeom>
          <a:noFill/>
        </p:spPr>
        <p:txBody>
          <a:bodyPr wrap="none" rtlCol="0">
            <a:spAutoFit/>
          </a:bodyPr>
          <a:lstStyle/>
          <a:p>
            <a:pPr marL="457200" lvl="0" indent="-457200" algn="l">
              <a:buClrTx/>
              <a:buSzTx/>
              <a:buFont typeface="Wingdings" panose="05000000000000000000" charset="0"/>
              <a:buChar char=""/>
            </a:pPr>
            <a:r>
              <a:rPr lang="en-US" altLang="zh-CN" sz="28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Command / Event / Snapshot</a:t>
            </a:r>
          </a:p>
        </p:txBody>
      </p:sp>
      <p:sp>
        <p:nvSpPr>
          <p:cNvPr id="4" name="文本框 3"/>
          <p:cNvSpPr txBox="1"/>
          <p:nvPr/>
        </p:nvSpPr>
        <p:spPr>
          <a:xfrm>
            <a:off x="588010" y="1871980"/>
            <a:ext cx="2933700" cy="460375"/>
          </a:xfrm>
          <a:prstGeom prst="rect">
            <a:avLst/>
          </a:prstGeom>
          <a:noFill/>
        </p:spPr>
        <p:txBody>
          <a:bodyPr wrap="square">
            <a:spAutoFit/>
          </a:bodyPr>
          <a:lstStyle/>
          <a:p>
            <a:pPr marL="342900" indent="-342900" algn="l">
              <a:buFont typeface="Arial" panose="020B0604020202090204" pitchFamily="34" charset="0"/>
              <a:buChar char="•"/>
            </a:pPr>
            <a:r>
              <a:rPr lang="zh-CN" altLang="en-US" sz="2400" b="1" dirty="0">
                <a:solidFill>
                  <a:schemeClr val="tx1"/>
                </a:solidFill>
                <a:latin typeface="微软雅黑" panose="020B0503020204020204" pitchFamily="34" charset="-122"/>
                <a:ea typeface="微软雅黑" panose="020B0503020204020204" pitchFamily="34" charset="-122"/>
                <a:cs typeface="微软雅黑" panose="020B0503020204020204" pitchFamily="34" charset="-122"/>
              </a:rPr>
              <a:t>Command</a:t>
            </a:r>
          </a:p>
        </p:txBody>
      </p:sp>
      <p:sp>
        <p:nvSpPr>
          <p:cNvPr id="6" name="文本框 5"/>
          <p:cNvSpPr txBox="1"/>
          <p:nvPr/>
        </p:nvSpPr>
        <p:spPr>
          <a:xfrm>
            <a:off x="1066800" y="2440940"/>
            <a:ext cx="8641080" cy="1069011"/>
          </a:xfrm>
          <a:prstGeom prst="rect">
            <a:avLst/>
          </a:prstGeom>
          <a:noFill/>
        </p:spPr>
        <p:txBody>
          <a:bodyPr wrap="square" rtlCol="0">
            <a:spAutoFit/>
          </a:bodyPr>
          <a:lstStyle/>
          <a:p>
            <a:pPr indent="0">
              <a:lnSpc>
                <a:spcPct val="170000"/>
              </a:lnSpc>
              <a:buFont typeface="Arial" panose="020B0604020202090204" pitchFamily="34" charset="0"/>
              <a:buNone/>
            </a:pPr>
            <a:r>
              <a:rPr lang="zh-CN" sz="2000" b="1" dirty="0">
                <a:solidFill>
                  <a:schemeClr val="accent6">
                    <a:lumMod val="75000"/>
                  </a:schemeClr>
                </a:solidFill>
                <a:latin typeface="微软雅黑" panose="020B0503020204020204" pitchFamily="34" charset="-122"/>
                <a:ea typeface="微软雅黑" panose="020B0503020204020204" pitchFamily="34" charset="-122"/>
                <a:cs typeface="微软雅黑" panose="020B0503020204020204" pitchFamily="34" charset="-122"/>
              </a:rPr>
              <a:t>请求一次有界、非阻塞的协议操作；调用不会把等待责任下沉到协议栈</a:t>
            </a:r>
            <a:endParaRPr lang="zh-CN" sz="2000" dirty="0">
              <a:solidFill>
                <a:schemeClr val="tx1"/>
              </a:solidFill>
              <a:latin typeface="微软雅黑" panose="020B0503020204020204" pitchFamily="34" charset="-122"/>
              <a:ea typeface="微软雅黑" panose="020B0503020204020204" pitchFamily="34" charset="-122"/>
              <a:cs typeface="微软雅黑" panose="020B0503020204020204" pitchFamily="34" charset="-122"/>
            </a:endParaRPr>
          </a:p>
          <a:p>
            <a:pPr indent="0">
              <a:lnSpc>
                <a:spcPct val="170000"/>
              </a:lnSpc>
              <a:buFont typeface="Arial" panose="020B0604020202090204" pitchFamily="34" charset="0"/>
              <a:buNone/>
            </a:pPr>
            <a:endParaRPr lang="zh-CN" sz="2000" b="1" dirty="0">
              <a:solidFill>
                <a:schemeClr val="tx1"/>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文本框 1"/>
          <p:cNvSpPr txBox="1"/>
          <p:nvPr/>
        </p:nvSpPr>
        <p:spPr>
          <a:xfrm>
            <a:off x="588010" y="3233296"/>
            <a:ext cx="3764296" cy="460375"/>
          </a:xfrm>
          <a:prstGeom prst="rect">
            <a:avLst/>
          </a:prstGeom>
          <a:noFill/>
        </p:spPr>
        <p:txBody>
          <a:bodyPr wrap="square">
            <a:spAutoFit/>
          </a:bodyPr>
          <a:lstStyle/>
          <a:p>
            <a:pPr marL="342900" indent="-342900" algn="l">
              <a:buFont typeface="Arial" panose="020B0604020202090204" pitchFamily="34" charset="0"/>
              <a:buChar char="•"/>
            </a:pPr>
            <a:r>
              <a:rPr lang="zh-CN" altLang="en-US" sz="2400" b="1" dirty="0">
                <a:solidFill>
                  <a:schemeClr val="tx1"/>
                </a:solidFill>
                <a:latin typeface="微软雅黑" panose="020B0503020204020204" pitchFamily="34" charset="-122"/>
                <a:ea typeface="微软雅黑" panose="020B0503020204020204" pitchFamily="34" charset="-122"/>
                <a:cs typeface="微软雅黑" panose="020B0503020204020204" pitchFamily="34" charset="-122"/>
              </a:rPr>
              <a:t>Event 与 Snapshot</a:t>
            </a:r>
          </a:p>
        </p:txBody>
      </p:sp>
      <p:sp>
        <p:nvSpPr>
          <p:cNvPr id="5" name="文本框 4"/>
          <p:cNvSpPr txBox="1"/>
          <p:nvPr/>
        </p:nvSpPr>
        <p:spPr>
          <a:xfrm>
            <a:off x="1066799" y="3802256"/>
            <a:ext cx="8936449" cy="1069011"/>
          </a:xfrm>
          <a:prstGeom prst="rect">
            <a:avLst/>
          </a:prstGeom>
          <a:noFill/>
        </p:spPr>
        <p:txBody>
          <a:bodyPr wrap="square" rtlCol="0">
            <a:spAutoFit/>
          </a:bodyPr>
          <a:lstStyle/>
          <a:p>
            <a:pPr indent="0">
              <a:lnSpc>
                <a:spcPct val="170000"/>
              </a:lnSpc>
              <a:buFont typeface="Arial" panose="020B0604020202090204" pitchFamily="34" charset="0"/>
              <a:buNone/>
            </a:pPr>
            <a:r>
              <a:rPr lang="zh-CN" sz="2000" b="1" dirty="0">
                <a:solidFill>
                  <a:schemeClr val="accent6">
                    <a:lumMod val="75000"/>
                  </a:schemeClr>
                </a:solidFill>
                <a:latin typeface="微软雅黑" panose="020B0503020204020204" pitchFamily="34" charset="-122"/>
                <a:ea typeface="微软雅黑" panose="020B0503020204020204" pitchFamily="34" charset="-122"/>
                <a:cs typeface="微软雅黑" panose="020B0503020204020204" pitchFamily="34" charset="-122"/>
              </a:rPr>
              <a:t>Event 只提示重新检查，不代表 readiness；Snapshot 是读取时刻的协议事实</a:t>
            </a:r>
          </a:p>
          <a:p>
            <a:pPr indent="0">
              <a:lnSpc>
                <a:spcPct val="170000"/>
              </a:lnSpc>
              <a:buFont typeface="Arial" panose="020B0604020202090204" pitchFamily="34" charset="0"/>
              <a:buNone/>
            </a:pPr>
            <a:endParaRPr lang="zh-CN" sz="2000" b="1" dirty="0">
              <a:solidFill>
                <a:schemeClr val="accent6">
                  <a:lumMod val="75000"/>
                </a:scheme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3" name="NavActive 核心机制"/>
          <p:cNvSpPr/>
          <p:nvPr/>
        </p:nvSpPr>
        <p:spPr>
          <a:xfrm>
            <a:off x="7450550" y="0"/>
            <a:ext cx="1406234"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34"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9"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40"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1" name="NavText 3 设计主线"/>
          <p:cNvSpPr txBox="1"/>
          <p:nvPr/>
        </p:nvSpPr>
        <p:spPr>
          <a:xfrm>
            <a:off x="6044316" y="215903"/>
            <a:ext cx="1406234" cy="340995"/>
          </a:xfrm>
          <a:prstGeom prst="rect">
            <a:avLst/>
          </a:prstGeom>
          <a:noFill/>
        </p:spPr>
        <p:txBody>
          <a:bodyPr wrap="square" lIns="0" tIns="48000" rIns="0" bIns="48000" rtlCol="0">
            <a:spAutoFit/>
          </a:bodyPr>
          <a:lstStyle/>
          <a:p>
            <a:pPr lvl="0" algn="ctr">
              <a:buClrTx/>
              <a:buSzTx/>
              <a:buFontTx/>
            </a:pPr>
            <a:r>
              <a:rPr lang="zh-CN" altLang="en-US" sz="1600" b="1" dirty="0">
                <a:solidFill>
                  <a:srgbClr val="7F7F7F"/>
                </a:solidFill>
                <a:latin typeface="微软雅黑" panose="020B0503020204020204" pitchFamily="34" charset="-122"/>
                <a:ea typeface="微软雅黑" panose="020B0503020204020204" pitchFamily="34" charset="-122"/>
                <a:sym typeface="+mn-ea"/>
              </a:rPr>
              <a:t>设计主线</a:t>
            </a:r>
          </a:p>
        </p:txBody>
      </p:sp>
      <p:sp>
        <p:nvSpPr>
          <p:cNvPr id="42" name="NavText 4 核心机制"/>
          <p:cNvSpPr txBox="1"/>
          <p:nvPr/>
        </p:nvSpPr>
        <p:spPr>
          <a:xfrm>
            <a:off x="7450550" y="215903"/>
            <a:ext cx="1406233" cy="340995"/>
          </a:xfrm>
          <a:prstGeom prst="rect">
            <a:avLst/>
          </a:prstGeom>
          <a:noFill/>
        </p:spPr>
        <p:txBody>
          <a:bodyPr wrap="square" lIns="0" tIns="48000" rIns="0" bIns="48000" rtlCol="0">
            <a:spAutoFit/>
          </a:bodyPr>
          <a:lstStyle/>
          <a:p>
            <a:pPr algn="ctr">
              <a:buClrTx/>
              <a:buSzTx/>
              <a:buFontTx/>
            </a:pPr>
            <a:r>
              <a:rPr lang="zh-CN" altLang="en-US" sz="1600" b="1" dirty="0">
                <a:solidFill>
                  <a:schemeClr val="bg1"/>
                </a:solidFill>
                <a:latin typeface="微软雅黑" panose="020B0503020204020204" pitchFamily="34" charset="-122"/>
                <a:ea typeface="微软雅黑" panose="020B0503020204020204" pitchFamily="34" charset="-122"/>
              </a:rPr>
              <a:t>核心机制</a:t>
            </a:r>
          </a:p>
        </p:txBody>
      </p:sp>
      <p:sp>
        <p:nvSpPr>
          <p:cNvPr id="43"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44"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sp>
        <p:nvSpPr>
          <p:cNvPr id="8" name="文本框 7"/>
          <p:cNvSpPr txBox="1"/>
          <p:nvPr/>
        </p:nvSpPr>
        <p:spPr>
          <a:xfrm>
            <a:off x="2080408" y="5284519"/>
            <a:ext cx="9227206" cy="461665"/>
          </a:xfrm>
          <a:prstGeom prst="rect">
            <a:avLst/>
          </a:prstGeom>
          <a:noFill/>
        </p:spPr>
        <p:txBody>
          <a:bodyPr wrap="none" rtlCol="0">
            <a:spAutoFit/>
          </a:bodyPr>
          <a:lstStyle/>
          <a:p>
            <a:r>
              <a:rPr lang="en-US" altLang="zh-CN" sz="2400" dirty="0"/>
              <a:t>——</a:t>
            </a:r>
            <a:r>
              <a:rPr lang="zh-CN" altLang="en-US" sz="2400" dirty="0"/>
              <a:t>定义非阻塞原语，内核进而自由组合，实现非阻塞</a:t>
            </a:r>
            <a:r>
              <a:rPr lang="en-US" altLang="zh-CN" sz="2400" dirty="0"/>
              <a:t>/</a:t>
            </a:r>
            <a:r>
              <a:rPr lang="zh-CN" altLang="en-US" sz="2400" dirty="0"/>
              <a:t>阻塞语义。</a:t>
            </a:r>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6" grpId="1"/>
      <p:bldP spid="5" grpId="0"/>
      <p:bldP spid="5" grpId="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3" name="文本框 2"/>
          <p:cNvSpPr txBox="1"/>
          <p:nvPr/>
        </p:nvSpPr>
        <p:spPr>
          <a:xfrm>
            <a:off x="140152" y="1016779"/>
            <a:ext cx="4358640" cy="521970"/>
          </a:xfrm>
          <a:prstGeom prst="rect">
            <a:avLst/>
          </a:prstGeom>
          <a:noFill/>
        </p:spPr>
        <p:txBody>
          <a:bodyPr wrap="none" rtlCol="0">
            <a:spAutoFit/>
          </a:bodyPr>
          <a:lstStyle/>
          <a:p>
            <a:pPr marL="457200" lvl="0" indent="-457200" algn="l">
              <a:buClrTx/>
              <a:buSzTx/>
              <a:buFont typeface="Wingdings" panose="05000000000000000000" charset="0"/>
              <a:buChar char=""/>
            </a:pPr>
            <a:r>
              <a:rPr lang="en-US" altLang="zh-CN" sz="28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Agentic Coding工作流</a:t>
            </a:r>
          </a:p>
        </p:txBody>
      </p:sp>
      <p:sp>
        <p:nvSpPr>
          <p:cNvPr id="33" name="NavActive AI使用"/>
          <p:cNvSpPr/>
          <p:nvPr/>
        </p:nvSpPr>
        <p:spPr>
          <a:xfrm>
            <a:off x="8856783"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34"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9"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40"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41"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42"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核心机制</a:t>
            </a:r>
          </a:p>
        </p:txBody>
      </p:sp>
      <p:sp>
        <p:nvSpPr>
          <p:cNvPr id="43"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AI使用</a:t>
            </a:r>
          </a:p>
        </p:txBody>
      </p:sp>
      <p:sp>
        <p:nvSpPr>
          <p:cNvPr id="44"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比赛总结</a:t>
            </a:r>
          </a:p>
        </p:txBody>
      </p:sp>
      <p:sp>
        <p:nvSpPr>
          <p:cNvPr id="7" name="文本框 6"/>
          <p:cNvSpPr txBox="1"/>
          <p:nvPr/>
        </p:nvSpPr>
        <p:spPr>
          <a:xfrm>
            <a:off x="677545" y="1818640"/>
            <a:ext cx="11077575" cy="7108825"/>
          </a:xfrm>
          <a:prstGeom prst="rect">
            <a:avLst/>
          </a:prstGeom>
          <a:noFill/>
        </p:spPr>
        <p:txBody>
          <a:bodyPr wrap="square" rtlCol="0">
            <a:noAutofit/>
          </a:bodyPr>
          <a:lstStyle/>
          <a:p>
            <a:pPr marL="342900" lvl="0" indent="-342900" algn="l">
              <a:buClrTx/>
              <a:buSzTx/>
              <a:buFontTx/>
              <a:buChar char="-"/>
            </a:pPr>
            <a:r>
              <a:rPr lang="zh-CN" altLang="en-US" sz="2400" dirty="0">
                <a:solidFill>
                  <a:srgbClr val="404040"/>
                </a:solidFill>
                <a:effectLst/>
                <a:ea typeface="+mn-lt"/>
                <a:cs typeface="+mn-lt"/>
                <a:sym typeface="+mn-ea"/>
              </a:rPr>
              <a:t>初赛前三个月，我们完全古法编程</a:t>
            </a:r>
          </a:p>
          <a:p>
            <a:pPr marL="342900" lvl="0" indent="-342900" algn="l">
              <a:buClrTx/>
              <a:buSzTx/>
              <a:buFontTx/>
              <a:buChar char="-"/>
            </a:pPr>
            <a:r>
              <a:rPr lang="zh-CN" altLang="en-US" sz="2400" dirty="0">
                <a:solidFill>
                  <a:srgbClr val="404040"/>
                </a:solidFill>
                <a:effectLst/>
                <a:ea typeface="+mn-lt"/>
                <a:cs typeface="+mn-lt"/>
                <a:sym typeface="+mn-ea"/>
              </a:rPr>
              <a:t>初赛的最后一个月，为了追赶进度，我们开始逐步使用LLM辅助开发。</a:t>
            </a:r>
          </a:p>
          <a:p>
            <a:pPr marL="342900" lvl="0" indent="-342900" algn="l">
              <a:buClrTx/>
              <a:buSzTx/>
              <a:buFontTx/>
              <a:buChar char="-"/>
            </a:pPr>
            <a:r>
              <a:rPr lang="zh-CN" altLang="en-US" sz="2400" dirty="0">
                <a:solidFill>
                  <a:srgbClr val="404040"/>
                </a:solidFill>
                <a:effectLst/>
                <a:ea typeface="+mn-lt"/>
                <a:cs typeface="+mn-lt"/>
                <a:sym typeface="+mn-ea"/>
              </a:rPr>
              <a:t>到了决赛，我们大量使用AI辅助开发。</a:t>
            </a:r>
          </a:p>
          <a:p>
            <a:pPr marL="342900" lvl="0" indent="-342900" algn="l">
              <a:buClrTx/>
              <a:buSzTx/>
              <a:buFontTx/>
              <a:buChar char="-"/>
            </a:pPr>
            <a:endParaRPr lang="zh-CN" altLang="en-US" sz="2400" dirty="0">
              <a:solidFill>
                <a:srgbClr val="404040"/>
              </a:solidFill>
              <a:effectLst/>
              <a:ea typeface="+mn-lt"/>
              <a:cs typeface="+mn-lt"/>
              <a:sym typeface="+mn-ea"/>
            </a:endParaRPr>
          </a:p>
          <a:p>
            <a:pPr lvl="0" indent="0" algn="l">
              <a:buClrTx/>
              <a:buSzTx/>
              <a:buFontTx/>
              <a:buNone/>
            </a:pPr>
            <a:r>
              <a:rPr lang="zh-CN" altLang="en-US" sz="2400" b="1" dirty="0">
                <a:solidFill>
                  <a:srgbClr val="0070C0"/>
                </a:solidFill>
                <a:effectLst/>
                <a:ea typeface="+mn-lt"/>
                <a:cs typeface="+mn-lt"/>
                <a:sym typeface="+mn-ea"/>
              </a:rPr>
              <a:t>AI 生成内容本身不等于低质量；真正决定质量的是我们是否能给出清楚的上下文、是否能识别错误方向、是否能把输出放回源码和测试中验证。以及，是否能建立完备的Harness。在这过程中，开发者始终把握架构设计与大方向。</a:t>
            </a:r>
            <a:endParaRPr lang="zh-CN" altLang="en-US" sz="2400" dirty="0">
              <a:solidFill>
                <a:srgbClr val="404040"/>
              </a:solidFill>
              <a:effectLst/>
              <a:ea typeface="+mn-lt"/>
              <a:cs typeface="+mn-lt"/>
              <a:sym typeface="+mn-ea"/>
            </a:endParaRPr>
          </a:p>
          <a:p>
            <a:pPr marL="342900" lvl="0" indent="-342900" algn="l">
              <a:buClrTx/>
              <a:buSzTx/>
              <a:buFontTx/>
              <a:buChar char="-"/>
            </a:pPr>
            <a:endParaRPr lang="zh-CN" altLang="en-US" sz="2400" dirty="0">
              <a:solidFill>
                <a:srgbClr val="404040"/>
              </a:solidFill>
              <a:effectLst/>
              <a:ea typeface="+mn-lt"/>
              <a:cs typeface="+mn-lt"/>
              <a:sym typeface="+mn-ea"/>
            </a:endParaRPr>
          </a:p>
          <a:p>
            <a:pPr marL="342900" lvl="0" indent="-342900" algn="l">
              <a:buClrTx/>
              <a:buSzTx/>
              <a:buFont typeface="Wingdings" panose="05000000000000000000" charset="0"/>
              <a:buChar char=""/>
            </a:pPr>
            <a:r>
              <a:rPr lang="en-US" altLang="zh-CN" sz="24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三种工作流</a:t>
            </a:r>
          </a:p>
          <a:p>
            <a:pPr marL="342900" lvl="0" indent="-342900" algn="l">
              <a:buClrTx/>
              <a:buSzTx/>
              <a:buFont typeface="Wingdings" panose="05000000000000000000" charset="0"/>
              <a:buChar char=""/>
            </a:pPr>
            <a:endParaRPr lang="zh-CN" altLang="en-US" sz="2400" dirty="0">
              <a:solidFill>
                <a:srgbClr val="404040"/>
              </a:solidFill>
              <a:effectLst/>
              <a:ea typeface="+mn-lt"/>
              <a:cs typeface="+mn-lt"/>
              <a:sym typeface="+mn-ea"/>
            </a:endParaRPr>
          </a:p>
          <a:p>
            <a:pPr marL="342900" lvl="0" indent="-342900" algn="l">
              <a:buClrTx/>
              <a:buSzTx/>
              <a:buFontTx/>
              <a:buChar char="-"/>
            </a:pPr>
            <a:r>
              <a:rPr lang="zh-CN" altLang="en-US" sz="2400" dirty="0">
                <a:solidFill>
                  <a:srgbClr val="404040"/>
                </a:solidFill>
                <a:effectLst/>
                <a:ea typeface="+mn-lt"/>
                <a:cs typeface="+mn-lt"/>
                <a:sym typeface="+mn-ea"/>
              </a:rPr>
              <a:t>Patch——最小化的代码迭代，不引入新的系统不变量变更</a:t>
            </a:r>
          </a:p>
          <a:p>
            <a:pPr marL="342900" lvl="0" indent="-342900" algn="l">
              <a:buClrTx/>
              <a:buSzTx/>
              <a:buFontTx/>
              <a:buChar char="-"/>
            </a:pPr>
            <a:r>
              <a:rPr lang="zh-CN" altLang="en-US" sz="2400" dirty="0">
                <a:solidFill>
                  <a:srgbClr val="404040"/>
                </a:solidFill>
                <a:effectLst/>
                <a:ea typeface="+mn-lt"/>
                <a:cs typeface="+mn-lt"/>
                <a:sym typeface="+mn-ea"/>
              </a:rPr>
              <a:t>小迭代——引入或改变系统不变量，但处于一个子系统内部</a:t>
            </a:r>
          </a:p>
          <a:p>
            <a:pPr marL="342900" lvl="0" indent="-342900" algn="l">
              <a:buClrTx/>
              <a:buSzTx/>
              <a:buFontTx/>
              <a:buChar char="-"/>
            </a:pPr>
            <a:r>
              <a:rPr lang="zh-CN" altLang="en-US" sz="2400" dirty="0">
                <a:solidFill>
                  <a:srgbClr val="404040"/>
                </a:solidFill>
                <a:effectLst/>
                <a:ea typeface="+mn-lt"/>
                <a:cs typeface="+mn-lt"/>
                <a:sym typeface="+mn-ea"/>
              </a:rPr>
              <a:t>RFC——系统不变量的新增或更改，且横跨多个子系统</a:t>
            </a:r>
          </a:p>
          <a:p>
            <a:pPr marL="342900" lvl="0" indent="-342900" algn="l">
              <a:buClrTx/>
              <a:buSzTx/>
              <a:buFontTx/>
              <a:buChar char="-"/>
            </a:pPr>
            <a:endParaRPr lang="zh-CN" altLang="en-US" sz="2400" dirty="0">
              <a:solidFill>
                <a:srgbClr val="404040"/>
              </a:solidFill>
              <a:effectLst/>
              <a:ea typeface="+mn-lt"/>
              <a:cs typeface="+mn-lt"/>
              <a:sym typeface="+mn-ea"/>
            </a:endParaRPr>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62" name="文本框 61"/>
          <p:cNvSpPr txBox="1"/>
          <p:nvPr/>
        </p:nvSpPr>
        <p:spPr>
          <a:xfrm>
            <a:off x="117373" y="1084103"/>
            <a:ext cx="2065020" cy="521970"/>
          </a:xfrm>
          <a:prstGeom prst="rect">
            <a:avLst/>
          </a:prstGeom>
          <a:noFill/>
        </p:spPr>
        <p:txBody>
          <a:bodyPr wrap="none" rtlCol="0">
            <a:spAutoFit/>
          </a:bodyPr>
          <a:lstStyle/>
          <a:p>
            <a:pPr marL="457200" lvl="0" indent="-457200" algn="l">
              <a:buClrTx/>
              <a:buSzTx/>
              <a:buFont typeface="Wingdings" panose="05000000000000000000" charset="0"/>
              <a:buChar char=""/>
            </a:pPr>
            <a:r>
              <a:rPr lang="en-US" altLang="zh-CN" sz="28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工程闭环</a:t>
            </a:r>
          </a:p>
        </p:txBody>
      </p:sp>
      <p:sp>
        <p:nvSpPr>
          <p:cNvPr id="69" name="Freeform 793"/>
          <p:cNvSpPr/>
          <p:nvPr/>
        </p:nvSpPr>
        <p:spPr bwMode="auto">
          <a:xfrm>
            <a:off x="9426652" y="1819640"/>
            <a:ext cx="2095769" cy="596529"/>
          </a:xfrm>
          <a:custGeom>
            <a:avLst/>
            <a:gdLst>
              <a:gd name="connsiteX0" fmla="*/ 9566 w 10000"/>
              <a:gd name="connsiteY0" fmla="*/ 10000 h 10000"/>
              <a:gd name="connsiteX1" fmla="*/ 4788 w 10000"/>
              <a:gd name="connsiteY1" fmla="*/ 10000 h 10000"/>
              <a:gd name="connsiteX2" fmla="*/ 0 w 10000"/>
              <a:gd name="connsiteY2" fmla="*/ 10000 h 10000"/>
              <a:gd name="connsiteX3" fmla="*/ 434 w 10000"/>
              <a:gd name="connsiteY3" fmla="*/ 4954 h 10000"/>
              <a:gd name="connsiteX4" fmla="*/ 0 w 10000"/>
              <a:gd name="connsiteY4" fmla="*/ 0 h 10000"/>
              <a:gd name="connsiteX5" fmla="*/ 4788 w 10000"/>
              <a:gd name="connsiteY5" fmla="*/ 0 h 10000"/>
              <a:gd name="connsiteX6" fmla="*/ 8990 w 10000"/>
              <a:gd name="connsiteY6" fmla="*/ 0 h 10000"/>
              <a:gd name="connsiteX7" fmla="*/ 10000 w 10000"/>
              <a:gd name="connsiteY7" fmla="*/ 4954 h 10000"/>
              <a:gd name="connsiteX8" fmla="*/ 9566 w 10000"/>
              <a:gd name="connsiteY8" fmla="*/ 10000 h 10000"/>
              <a:gd name="connsiteX0-1" fmla="*/ 8960 w 10000"/>
              <a:gd name="connsiteY0-2" fmla="*/ 10000 h 10000"/>
              <a:gd name="connsiteX1-3" fmla="*/ 4788 w 10000"/>
              <a:gd name="connsiteY1-4" fmla="*/ 10000 h 10000"/>
              <a:gd name="connsiteX2-5" fmla="*/ 0 w 10000"/>
              <a:gd name="connsiteY2-6" fmla="*/ 10000 h 10000"/>
              <a:gd name="connsiteX3-7" fmla="*/ 434 w 10000"/>
              <a:gd name="connsiteY3-8" fmla="*/ 4954 h 10000"/>
              <a:gd name="connsiteX4-9" fmla="*/ 0 w 10000"/>
              <a:gd name="connsiteY4-10" fmla="*/ 0 h 10000"/>
              <a:gd name="connsiteX5-11" fmla="*/ 4788 w 10000"/>
              <a:gd name="connsiteY5-12" fmla="*/ 0 h 10000"/>
              <a:gd name="connsiteX6-13" fmla="*/ 8990 w 10000"/>
              <a:gd name="connsiteY6-14" fmla="*/ 0 h 10000"/>
              <a:gd name="connsiteX7-15" fmla="*/ 10000 w 10000"/>
              <a:gd name="connsiteY7-16" fmla="*/ 4954 h 10000"/>
              <a:gd name="connsiteX8-17" fmla="*/ 8960 w 10000"/>
              <a:gd name="connsiteY8-18" fmla="*/ 10000 h 10000"/>
              <a:gd name="connsiteX0-19" fmla="*/ 8960 w 10000"/>
              <a:gd name="connsiteY0-20" fmla="*/ 10000 h 10000"/>
              <a:gd name="connsiteX1-21" fmla="*/ 4788 w 10000"/>
              <a:gd name="connsiteY1-22" fmla="*/ 10000 h 10000"/>
              <a:gd name="connsiteX2-23" fmla="*/ 0 w 10000"/>
              <a:gd name="connsiteY2-24" fmla="*/ 10000 h 10000"/>
              <a:gd name="connsiteX3-25" fmla="*/ 434 w 10000"/>
              <a:gd name="connsiteY3-26" fmla="*/ 4954 h 10000"/>
              <a:gd name="connsiteX4-27" fmla="*/ 0 w 10000"/>
              <a:gd name="connsiteY4-28" fmla="*/ 0 h 10000"/>
              <a:gd name="connsiteX5-29" fmla="*/ 4788 w 10000"/>
              <a:gd name="connsiteY5-30" fmla="*/ 0 h 10000"/>
              <a:gd name="connsiteX6-31" fmla="*/ 8990 w 10000"/>
              <a:gd name="connsiteY6-32" fmla="*/ 0 h 10000"/>
              <a:gd name="connsiteX7-33" fmla="*/ 10000 w 10000"/>
              <a:gd name="connsiteY7-34" fmla="*/ 4954 h 10000"/>
              <a:gd name="connsiteX8-35" fmla="*/ 8960 w 10000"/>
              <a:gd name="connsiteY8-36" fmla="*/ 10000 h 10000"/>
              <a:gd name="connsiteX0-37" fmla="*/ 8960 w 10000"/>
              <a:gd name="connsiteY0-38" fmla="*/ 10000 h 10000"/>
              <a:gd name="connsiteX1-39" fmla="*/ 4788 w 10000"/>
              <a:gd name="connsiteY1-40" fmla="*/ 10000 h 10000"/>
              <a:gd name="connsiteX2-41" fmla="*/ 0 w 10000"/>
              <a:gd name="connsiteY2-42" fmla="*/ 10000 h 10000"/>
              <a:gd name="connsiteX3-43" fmla="*/ 434 w 10000"/>
              <a:gd name="connsiteY3-44" fmla="*/ 4954 h 10000"/>
              <a:gd name="connsiteX4-45" fmla="*/ 0 w 10000"/>
              <a:gd name="connsiteY4-46" fmla="*/ 0 h 10000"/>
              <a:gd name="connsiteX5-47" fmla="*/ 4788 w 10000"/>
              <a:gd name="connsiteY5-48" fmla="*/ 0 h 10000"/>
              <a:gd name="connsiteX6-49" fmla="*/ 8990 w 10000"/>
              <a:gd name="connsiteY6-50" fmla="*/ 0 h 10000"/>
              <a:gd name="connsiteX7-51" fmla="*/ 10000 w 10000"/>
              <a:gd name="connsiteY7-52" fmla="*/ 4954 h 10000"/>
              <a:gd name="connsiteX8-53" fmla="*/ 8960 w 10000"/>
              <a:gd name="connsiteY8-54" fmla="*/ 10000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Lst>
            <a:rect l="l" t="t" r="r" b="b"/>
            <a:pathLst>
              <a:path w="10000" h="10000">
                <a:moveTo>
                  <a:pt x="8960" y="10000"/>
                </a:moveTo>
                <a:lnTo>
                  <a:pt x="4788" y="10000"/>
                </a:lnTo>
                <a:lnTo>
                  <a:pt x="0" y="10000"/>
                </a:lnTo>
                <a:cubicBezTo>
                  <a:pt x="145" y="8318"/>
                  <a:pt x="289" y="6636"/>
                  <a:pt x="434" y="4954"/>
                </a:cubicBezTo>
                <a:cubicBezTo>
                  <a:pt x="289" y="3303"/>
                  <a:pt x="145" y="1651"/>
                  <a:pt x="0" y="0"/>
                </a:cubicBezTo>
                <a:lnTo>
                  <a:pt x="4788" y="0"/>
                </a:lnTo>
                <a:lnTo>
                  <a:pt x="8990" y="0"/>
                </a:lnTo>
                <a:lnTo>
                  <a:pt x="10000" y="4954"/>
                </a:lnTo>
                <a:cubicBezTo>
                  <a:pt x="9643" y="6636"/>
                  <a:pt x="9135" y="9010"/>
                  <a:pt x="8960" y="10000"/>
                </a:cubicBezTo>
                <a:close/>
              </a:path>
            </a:pathLst>
          </a:custGeom>
          <a:solidFill>
            <a:schemeClr val="accent6"/>
          </a:solid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000" b="1">
              <a:latin typeface="微软雅黑" panose="020B0503020204020204" pitchFamily="34" charset="-122"/>
              <a:ea typeface="微软雅黑" panose="020B0503020204020204" pitchFamily="34" charset="-122"/>
            </a:endParaRPr>
          </a:p>
        </p:txBody>
      </p:sp>
      <p:sp>
        <p:nvSpPr>
          <p:cNvPr id="70" name="Freeform 790"/>
          <p:cNvSpPr/>
          <p:nvPr/>
        </p:nvSpPr>
        <p:spPr bwMode="auto">
          <a:xfrm>
            <a:off x="467401" y="1819641"/>
            <a:ext cx="2373003" cy="596529"/>
          </a:xfrm>
          <a:custGeom>
            <a:avLst/>
            <a:gdLst>
              <a:gd name="connsiteX0" fmla="*/ 9568 w 10000"/>
              <a:gd name="connsiteY0" fmla="*/ 10000 h 10000"/>
              <a:gd name="connsiteX1" fmla="*/ 4793 w 10000"/>
              <a:gd name="connsiteY1" fmla="*/ 10000 h 10000"/>
              <a:gd name="connsiteX2" fmla="*/ 0 w 10000"/>
              <a:gd name="connsiteY2" fmla="*/ 10000 h 10000"/>
              <a:gd name="connsiteX3" fmla="*/ 1362 w 10000"/>
              <a:gd name="connsiteY3" fmla="*/ 4954 h 10000"/>
              <a:gd name="connsiteX4" fmla="*/ 0 w 10000"/>
              <a:gd name="connsiteY4" fmla="*/ 0 h 10000"/>
              <a:gd name="connsiteX5" fmla="*/ 4793 w 10000"/>
              <a:gd name="connsiteY5" fmla="*/ 0 h 10000"/>
              <a:gd name="connsiteX6" fmla="*/ 9568 w 10000"/>
              <a:gd name="connsiteY6" fmla="*/ 0 h 10000"/>
              <a:gd name="connsiteX7" fmla="*/ 10000 w 10000"/>
              <a:gd name="connsiteY7" fmla="*/ 4954 h 10000"/>
              <a:gd name="connsiteX8" fmla="*/ 9568 w 10000"/>
              <a:gd name="connsiteY8" fmla="*/ 10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000" h="10000">
                <a:moveTo>
                  <a:pt x="9568" y="10000"/>
                </a:moveTo>
                <a:lnTo>
                  <a:pt x="4793" y="10000"/>
                </a:lnTo>
                <a:lnTo>
                  <a:pt x="0" y="10000"/>
                </a:lnTo>
                <a:lnTo>
                  <a:pt x="1362" y="4954"/>
                </a:lnTo>
                <a:lnTo>
                  <a:pt x="0" y="0"/>
                </a:lnTo>
                <a:lnTo>
                  <a:pt x="4793" y="0"/>
                </a:lnTo>
                <a:lnTo>
                  <a:pt x="9568" y="0"/>
                </a:lnTo>
                <a:lnTo>
                  <a:pt x="10000" y="4954"/>
                </a:lnTo>
                <a:lnTo>
                  <a:pt x="9568" y="10000"/>
                </a:lnTo>
                <a:close/>
              </a:path>
            </a:pathLst>
          </a:custGeom>
          <a:solidFill>
            <a:schemeClr val="accent1"/>
          </a:solid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000" b="1">
              <a:latin typeface="微软雅黑" panose="020B0503020204020204" pitchFamily="34" charset="-122"/>
              <a:ea typeface="微软雅黑" panose="020B0503020204020204" pitchFamily="34" charset="-122"/>
            </a:endParaRPr>
          </a:p>
        </p:txBody>
      </p:sp>
      <p:sp>
        <p:nvSpPr>
          <p:cNvPr id="71" name="Freeform 791"/>
          <p:cNvSpPr/>
          <p:nvPr/>
        </p:nvSpPr>
        <p:spPr bwMode="auto">
          <a:xfrm>
            <a:off x="2692901" y="1819641"/>
            <a:ext cx="2384821" cy="596529"/>
          </a:xfrm>
          <a:custGeom>
            <a:avLst/>
            <a:gdLst/>
            <a:ahLst/>
            <a:cxnLst>
              <a:cxn ang="0">
                <a:pos x="996" y="109"/>
              </a:cxn>
              <a:cxn ang="0">
                <a:pos x="499" y="109"/>
              </a:cxn>
              <a:cxn ang="0">
                <a:pos x="0" y="109"/>
              </a:cxn>
              <a:cxn ang="0">
                <a:pos x="45" y="54"/>
              </a:cxn>
              <a:cxn ang="0">
                <a:pos x="0" y="0"/>
              </a:cxn>
              <a:cxn ang="0">
                <a:pos x="499" y="0"/>
              </a:cxn>
              <a:cxn ang="0">
                <a:pos x="996" y="0"/>
              </a:cxn>
              <a:cxn ang="0">
                <a:pos x="1041" y="54"/>
              </a:cxn>
              <a:cxn ang="0">
                <a:pos x="996" y="109"/>
              </a:cxn>
            </a:cxnLst>
            <a:rect l="0" t="0" r="r" b="b"/>
            <a:pathLst>
              <a:path w="1041" h="109">
                <a:moveTo>
                  <a:pt x="996" y="109"/>
                </a:moveTo>
                <a:lnTo>
                  <a:pt x="499" y="109"/>
                </a:lnTo>
                <a:lnTo>
                  <a:pt x="0" y="109"/>
                </a:lnTo>
                <a:lnTo>
                  <a:pt x="45" y="54"/>
                </a:lnTo>
                <a:lnTo>
                  <a:pt x="0" y="0"/>
                </a:lnTo>
                <a:lnTo>
                  <a:pt x="499" y="0"/>
                </a:lnTo>
                <a:lnTo>
                  <a:pt x="996" y="0"/>
                </a:lnTo>
                <a:lnTo>
                  <a:pt x="1041" y="54"/>
                </a:lnTo>
                <a:lnTo>
                  <a:pt x="996" y="109"/>
                </a:lnTo>
                <a:close/>
              </a:path>
            </a:pathLst>
          </a:custGeom>
          <a:solidFill>
            <a:schemeClr val="accent2"/>
          </a:solid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000" b="1">
              <a:latin typeface="微软雅黑" panose="020B0503020204020204" pitchFamily="34" charset="-122"/>
              <a:ea typeface="微软雅黑" panose="020B0503020204020204" pitchFamily="34" charset="-122"/>
            </a:endParaRPr>
          </a:p>
        </p:txBody>
      </p:sp>
      <p:sp>
        <p:nvSpPr>
          <p:cNvPr id="72" name="Freeform 792"/>
          <p:cNvSpPr/>
          <p:nvPr/>
        </p:nvSpPr>
        <p:spPr bwMode="auto">
          <a:xfrm>
            <a:off x="4928101" y="1819641"/>
            <a:ext cx="2384821" cy="596529"/>
          </a:xfrm>
          <a:custGeom>
            <a:avLst/>
            <a:gdLst/>
            <a:ahLst/>
            <a:cxnLst>
              <a:cxn ang="0">
                <a:pos x="996" y="109"/>
              </a:cxn>
              <a:cxn ang="0">
                <a:pos x="497" y="109"/>
              </a:cxn>
              <a:cxn ang="0">
                <a:pos x="0" y="109"/>
              </a:cxn>
              <a:cxn ang="0">
                <a:pos x="45" y="54"/>
              </a:cxn>
              <a:cxn ang="0">
                <a:pos x="0" y="0"/>
              </a:cxn>
              <a:cxn ang="0">
                <a:pos x="497" y="0"/>
              </a:cxn>
              <a:cxn ang="0">
                <a:pos x="996" y="0"/>
              </a:cxn>
              <a:cxn ang="0">
                <a:pos x="1041" y="54"/>
              </a:cxn>
              <a:cxn ang="0">
                <a:pos x="996" y="109"/>
              </a:cxn>
            </a:cxnLst>
            <a:rect l="0" t="0" r="r" b="b"/>
            <a:pathLst>
              <a:path w="1041" h="109">
                <a:moveTo>
                  <a:pt x="996" y="109"/>
                </a:moveTo>
                <a:lnTo>
                  <a:pt x="497" y="109"/>
                </a:lnTo>
                <a:lnTo>
                  <a:pt x="0" y="109"/>
                </a:lnTo>
                <a:lnTo>
                  <a:pt x="45" y="54"/>
                </a:lnTo>
                <a:lnTo>
                  <a:pt x="0" y="0"/>
                </a:lnTo>
                <a:lnTo>
                  <a:pt x="497" y="0"/>
                </a:lnTo>
                <a:lnTo>
                  <a:pt x="996" y="0"/>
                </a:lnTo>
                <a:lnTo>
                  <a:pt x="1041" y="54"/>
                </a:lnTo>
                <a:lnTo>
                  <a:pt x="996" y="109"/>
                </a:lnTo>
                <a:close/>
              </a:path>
            </a:pathLst>
          </a:custGeom>
          <a:solidFill>
            <a:schemeClr val="accent3"/>
          </a:solid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000" b="1">
              <a:latin typeface="微软雅黑" panose="020B0503020204020204" pitchFamily="34" charset="-122"/>
              <a:ea typeface="微软雅黑" panose="020B0503020204020204" pitchFamily="34" charset="-122"/>
            </a:endParaRPr>
          </a:p>
        </p:txBody>
      </p:sp>
      <p:sp>
        <p:nvSpPr>
          <p:cNvPr id="73" name="Freeform 793"/>
          <p:cNvSpPr/>
          <p:nvPr/>
        </p:nvSpPr>
        <p:spPr bwMode="auto">
          <a:xfrm>
            <a:off x="7165415" y="1819641"/>
            <a:ext cx="2377947" cy="596529"/>
          </a:xfrm>
          <a:custGeom>
            <a:avLst/>
            <a:gdLst/>
            <a:ahLst/>
            <a:cxnLst>
              <a:cxn ang="0">
                <a:pos x="993" y="109"/>
              </a:cxn>
              <a:cxn ang="0">
                <a:pos x="497" y="109"/>
              </a:cxn>
              <a:cxn ang="0">
                <a:pos x="0" y="109"/>
              </a:cxn>
              <a:cxn ang="0">
                <a:pos x="45" y="54"/>
              </a:cxn>
              <a:cxn ang="0">
                <a:pos x="0" y="0"/>
              </a:cxn>
              <a:cxn ang="0">
                <a:pos x="497" y="0"/>
              </a:cxn>
              <a:cxn ang="0">
                <a:pos x="993" y="0"/>
              </a:cxn>
              <a:cxn ang="0">
                <a:pos x="1038" y="54"/>
              </a:cxn>
              <a:cxn ang="0">
                <a:pos x="993" y="109"/>
              </a:cxn>
            </a:cxnLst>
            <a:rect l="0" t="0" r="r" b="b"/>
            <a:pathLst>
              <a:path w="1038" h="109">
                <a:moveTo>
                  <a:pt x="993" y="109"/>
                </a:moveTo>
                <a:lnTo>
                  <a:pt x="497" y="109"/>
                </a:lnTo>
                <a:lnTo>
                  <a:pt x="0" y="109"/>
                </a:lnTo>
                <a:lnTo>
                  <a:pt x="45" y="54"/>
                </a:lnTo>
                <a:lnTo>
                  <a:pt x="0" y="0"/>
                </a:lnTo>
                <a:lnTo>
                  <a:pt x="497" y="0"/>
                </a:lnTo>
                <a:lnTo>
                  <a:pt x="993" y="0"/>
                </a:lnTo>
                <a:lnTo>
                  <a:pt x="1038" y="54"/>
                </a:lnTo>
                <a:lnTo>
                  <a:pt x="993" y="109"/>
                </a:lnTo>
                <a:close/>
              </a:path>
            </a:pathLst>
          </a:custGeom>
          <a:solidFill>
            <a:schemeClr val="accent4"/>
          </a:solid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000" b="1">
              <a:latin typeface="微软雅黑" panose="020B0503020204020204" pitchFamily="34" charset="-122"/>
              <a:ea typeface="微软雅黑" panose="020B0503020204020204" pitchFamily="34" charset="-122"/>
            </a:endParaRPr>
          </a:p>
        </p:txBody>
      </p:sp>
      <p:sp>
        <p:nvSpPr>
          <p:cNvPr id="74" name="Content Placeholder 2"/>
          <p:cNvSpPr txBox="1"/>
          <p:nvPr/>
        </p:nvSpPr>
        <p:spPr>
          <a:xfrm>
            <a:off x="541448" y="3971968"/>
            <a:ext cx="2055002" cy="458697"/>
          </a:xfrm>
          <a:prstGeom prst="rect">
            <a:avLst/>
          </a:prstGeom>
        </p:spPr>
        <p:txBody>
          <a:bodyPr vert="horz" lIns="91440" tIns="45720" rIns="91440" bIns="4572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Font typeface="Arial" panose="020B0604020202090204" pitchFamily="34" charset="0"/>
              <a:buNone/>
            </a:pPr>
            <a:r>
              <a:rPr lang="zh-CN" altLang="en-US" sz="2000" b="1" dirty="0">
                <a:solidFill>
                  <a:schemeClr val="accent1"/>
                </a:solidFill>
                <a:latin typeface="微软雅黑" panose="020B0503020204020204" pitchFamily="34" charset="-122"/>
                <a:ea typeface="微软雅黑" panose="020B0503020204020204" pitchFamily="34" charset="-122"/>
              </a:rPr>
              <a:t>回写</a:t>
            </a:r>
          </a:p>
        </p:txBody>
      </p:sp>
      <p:cxnSp>
        <p:nvCxnSpPr>
          <p:cNvPr id="75" name="Straight Connector 9"/>
          <p:cNvCxnSpPr/>
          <p:nvPr/>
        </p:nvCxnSpPr>
        <p:spPr>
          <a:xfrm>
            <a:off x="1568949" y="2547557"/>
            <a:ext cx="0" cy="400157"/>
          </a:xfrm>
          <a:prstGeom prst="line">
            <a:avLst/>
          </a:prstGeom>
          <a:ln>
            <a:solidFill>
              <a:schemeClr val="bg1">
                <a:lumMod val="65000"/>
              </a:schemeClr>
            </a:solidFill>
            <a:prstDash val="dash"/>
            <a:headEnd type="oval"/>
            <a:tailEnd type="triangle"/>
          </a:ln>
        </p:spPr>
        <p:style>
          <a:lnRef idx="1">
            <a:schemeClr val="accent1"/>
          </a:lnRef>
          <a:fillRef idx="0">
            <a:schemeClr val="accent1"/>
          </a:fillRef>
          <a:effectRef idx="0">
            <a:schemeClr val="accent1"/>
          </a:effectRef>
          <a:fontRef idx="minor">
            <a:schemeClr val="tx1"/>
          </a:fontRef>
        </p:style>
      </p:cxnSp>
      <p:cxnSp>
        <p:nvCxnSpPr>
          <p:cNvPr id="76" name="Straight Connector 10"/>
          <p:cNvCxnSpPr/>
          <p:nvPr/>
        </p:nvCxnSpPr>
        <p:spPr>
          <a:xfrm>
            <a:off x="3723427" y="2547557"/>
            <a:ext cx="0" cy="400157"/>
          </a:xfrm>
          <a:prstGeom prst="line">
            <a:avLst/>
          </a:prstGeom>
          <a:ln>
            <a:solidFill>
              <a:schemeClr val="bg1">
                <a:lumMod val="65000"/>
              </a:schemeClr>
            </a:solidFill>
            <a:prstDash val="dash"/>
            <a:headEnd type="oval"/>
            <a:tailEnd type="triangle"/>
          </a:ln>
        </p:spPr>
        <p:style>
          <a:lnRef idx="1">
            <a:schemeClr val="accent1"/>
          </a:lnRef>
          <a:fillRef idx="0">
            <a:schemeClr val="accent1"/>
          </a:fillRef>
          <a:effectRef idx="0">
            <a:schemeClr val="accent1"/>
          </a:effectRef>
          <a:fontRef idx="minor">
            <a:schemeClr val="tx1"/>
          </a:fontRef>
        </p:style>
      </p:cxnSp>
      <p:cxnSp>
        <p:nvCxnSpPr>
          <p:cNvPr id="77" name="Straight Connector 11"/>
          <p:cNvCxnSpPr/>
          <p:nvPr/>
        </p:nvCxnSpPr>
        <p:spPr>
          <a:xfrm>
            <a:off x="5989926" y="2547557"/>
            <a:ext cx="0" cy="400157"/>
          </a:xfrm>
          <a:prstGeom prst="line">
            <a:avLst/>
          </a:prstGeom>
          <a:ln>
            <a:solidFill>
              <a:schemeClr val="bg1">
                <a:lumMod val="65000"/>
              </a:schemeClr>
            </a:solidFill>
            <a:prstDash val="dash"/>
            <a:headEnd type="oval"/>
            <a:tailEnd type="triangle"/>
          </a:ln>
        </p:spPr>
        <p:style>
          <a:lnRef idx="1">
            <a:schemeClr val="accent1"/>
          </a:lnRef>
          <a:fillRef idx="0">
            <a:schemeClr val="accent1"/>
          </a:fillRef>
          <a:effectRef idx="0">
            <a:schemeClr val="accent1"/>
          </a:effectRef>
          <a:fontRef idx="minor">
            <a:schemeClr val="tx1"/>
          </a:fontRef>
        </p:style>
      </p:cxnSp>
      <p:cxnSp>
        <p:nvCxnSpPr>
          <p:cNvPr id="78" name="Straight Connector 12"/>
          <p:cNvCxnSpPr/>
          <p:nvPr/>
        </p:nvCxnSpPr>
        <p:spPr>
          <a:xfrm>
            <a:off x="8213484" y="2547557"/>
            <a:ext cx="0" cy="400157"/>
          </a:xfrm>
          <a:prstGeom prst="line">
            <a:avLst/>
          </a:prstGeom>
          <a:ln>
            <a:solidFill>
              <a:schemeClr val="bg1">
                <a:lumMod val="65000"/>
              </a:schemeClr>
            </a:solidFill>
            <a:prstDash val="dash"/>
            <a:headEnd type="oval"/>
            <a:tailEnd type="triangle"/>
          </a:ln>
        </p:spPr>
        <p:style>
          <a:lnRef idx="1">
            <a:schemeClr val="accent1"/>
          </a:lnRef>
          <a:fillRef idx="0">
            <a:schemeClr val="accent1"/>
          </a:fillRef>
          <a:effectRef idx="0">
            <a:schemeClr val="accent1"/>
          </a:effectRef>
          <a:fontRef idx="minor">
            <a:schemeClr val="tx1"/>
          </a:fontRef>
        </p:style>
      </p:cxnSp>
      <p:cxnSp>
        <p:nvCxnSpPr>
          <p:cNvPr id="79" name="Straight Connector 13"/>
          <p:cNvCxnSpPr/>
          <p:nvPr/>
        </p:nvCxnSpPr>
        <p:spPr>
          <a:xfrm>
            <a:off x="10532917" y="2547557"/>
            <a:ext cx="0" cy="400157"/>
          </a:xfrm>
          <a:prstGeom prst="line">
            <a:avLst/>
          </a:prstGeom>
          <a:ln>
            <a:solidFill>
              <a:schemeClr val="bg1">
                <a:lumMod val="65000"/>
              </a:schemeClr>
            </a:solidFill>
            <a:prstDash val="dash"/>
            <a:headEnd type="oval"/>
            <a:tailEnd type="triangle"/>
          </a:ln>
        </p:spPr>
        <p:style>
          <a:lnRef idx="1">
            <a:schemeClr val="accent1"/>
          </a:lnRef>
          <a:fillRef idx="0">
            <a:schemeClr val="accent1"/>
          </a:fillRef>
          <a:effectRef idx="0">
            <a:schemeClr val="accent1"/>
          </a:effectRef>
          <a:fontRef idx="minor">
            <a:schemeClr val="tx1"/>
          </a:fontRef>
        </p:style>
      </p:cxnSp>
      <p:sp>
        <p:nvSpPr>
          <p:cNvPr id="80" name="Oval 14"/>
          <p:cNvSpPr/>
          <p:nvPr/>
        </p:nvSpPr>
        <p:spPr>
          <a:xfrm>
            <a:off x="1157469" y="3078316"/>
            <a:ext cx="822960" cy="822960"/>
          </a:xfrm>
          <a:prstGeom prst="ellipse">
            <a:avLst/>
          </a:prstGeom>
          <a:noFill/>
          <a:ln w="793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000" b="1">
              <a:latin typeface="微软雅黑" panose="020B0503020204020204" pitchFamily="34" charset="-122"/>
              <a:ea typeface="微软雅黑" panose="020B0503020204020204" pitchFamily="34" charset="-122"/>
            </a:endParaRPr>
          </a:p>
        </p:txBody>
      </p:sp>
      <p:sp>
        <p:nvSpPr>
          <p:cNvPr id="81" name="Arc 15"/>
          <p:cNvSpPr/>
          <p:nvPr/>
        </p:nvSpPr>
        <p:spPr>
          <a:xfrm>
            <a:off x="1157469" y="3078316"/>
            <a:ext cx="822960" cy="822960"/>
          </a:xfrm>
          <a:prstGeom prst="arc">
            <a:avLst>
              <a:gd name="adj1" fmla="val 13167232"/>
              <a:gd name="adj2" fmla="val 16466928"/>
            </a:avLst>
          </a:prstGeom>
          <a:ln w="79375">
            <a:solidFill>
              <a:schemeClr val="accent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vi-VN" sz="2000" b="1">
              <a:latin typeface="微软雅黑" panose="020B0503020204020204" pitchFamily="34" charset="-122"/>
              <a:ea typeface="微软雅黑" panose="020B0503020204020204" pitchFamily="34" charset="-122"/>
            </a:endParaRPr>
          </a:p>
        </p:txBody>
      </p:sp>
      <p:sp>
        <p:nvSpPr>
          <p:cNvPr id="82" name="Oval 16"/>
          <p:cNvSpPr/>
          <p:nvPr/>
        </p:nvSpPr>
        <p:spPr>
          <a:xfrm>
            <a:off x="3311947" y="3078316"/>
            <a:ext cx="822960" cy="822960"/>
          </a:xfrm>
          <a:prstGeom prst="ellipse">
            <a:avLst/>
          </a:prstGeom>
          <a:noFill/>
          <a:ln w="793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000" b="1">
              <a:latin typeface="微软雅黑" panose="020B0503020204020204" pitchFamily="34" charset="-122"/>
              <a:ea typeface="微软雅黑" panose="020B0503020204020204" pitchFamily="34" charset="-122"/>
            </a:endParaRPr>
          </a:p>
        </p:txBody>
      </p:sp>
      <p:sp>
        <p:nvSpPr>
          <p:cNvPr id="83" name="Arc 17"/>
          <p:cNvSpPr/>
          <p:nvPr/>
        </p:nvSpPr>
        <p:spPr>
          <a:xfrm>
            <a:off x="3311947" y="3078316"/>
            <a:ext cx="822960" cy="822960"/>
          </a:xfrm>
          <a:prstGeom prst="arc">
            <a:avLst>
              <a:gd name="adj1" fmla="val 9206565"/>
              <a:gd name="adj2" fmla="val 16045990"/>
            </a:avLst>
          </a:prstGeom>
          <a:ln w="79375">
            <a:solidFill>
              <a:schemeClr val="accent2"/>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vi-VN" sz="2000" b="1">
              <a:latin typeface="微软雅黑" panose="020B0503020204020204" pitchFamily="34" charset="-122"/>
              <a:ea typeface="微软雅黑" panose="020B0503020204020204" pitchFamily="34" charset="-122"/>
            </a:endParaRPr>
          </a:p>
        </p:txBody>
      </p:sp>
      <p:sp>
        <p:nvSpPr>
          <p:cNvPr id="84" name="Oval 18"/>
          <p:cNvSpPr/>
          <p:nvPr/>
        </p:nvSpPr>
        <p:spPr>
          <a:xfrm>
            <a:off x="5578446" y="3078316"/>
            <a:ext cx="822960" cy="822960"/>
          </a:xfrm>
          <a:prstGeom prst="ellipse">
            <a:avLst/>
          </a:prstGeom>
          <a:noFill/>
          <a:ln w="793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000" b="1">
              <a:latin typeface="微软雅黑" panose="020B0503020204020204" pitchFamily="34" charset="-122"/>
              <a:ea typeface="微软雅黑" panose="020B0503020204020204" pitchFamily="34" charset="-122"/>
            </a:endParaRPr>
          </a:p>
        </p:txBody>
      </p:sp>
      <p:sp>
        <p:nvSpPr>
          <p:cNvPr id="85" name="Arc 19"/>
          <p:cNvSpPr/>
          <p:nvPr/>
        </p:nvSpPr>
        <p:spPr>
          <a:xfrm>
            <a:off x="5578446" y="3078316"/>
            <a:ext cx="822960" cy="822960"/>
          </a:xfrm>
          <a:prstGeom prst="arc">
            <a:avLst>
              <a:gd name="adj1" fmla="val 5584046"/>
              <a:gd name="adj2" fmla="val 16355650"/>
            </a:avLst>
          </a:prstGeom>
          <a:ln w="79375">
            <a:solidFill>
              <a:schemeClr val="accent3"/>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vi-VN" sz="2000" b="1">
              <a:latin typeface="微软雅黑" panose="020B0503020204020204" pitchFamily="34" charset="-122"/>
              <a:ea typeface="微软雅黑" panose="020B0503020204020204" pitchFamily="34" charset="-122"/>
            </a:endParaRPr>
          </a:p>
        </p:txBody>
      </p:sp>
      <p:sp>
        <p:nvSpPr>
          <p:cNvPr id="86" name="Oval 20"/>
          <p:cNvSpPr/>
          <p:nvPr/>
        </p:nvSpPr>
        <p:spPr>
          <a:xfrm>
            <a:off x="7792823" y="3052141"/>
            <a:ext cx="822960" cy="822960"/>
          </a:xfrm>
          <a:prstGeom prst="ellipse">
            <a:avLst/>
          </a:prstGeom>
          <a:noFill/>
          <a:ln w="793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000" b="1">
              <a:latin typeface="微软雅黑" panose="020B0503020204020204" pitchFamily="34" charset="-122"/>
              <a:ea typeface="微软雅黑" panose="020B0503020204020204" pitchFamily="34" charset="-122"/>
            </a:endParaRPr>
          </a:p>
        </p:txBody>
      </p:sp>
      <p:sp>
        <p:nvSpPr>
          <p:cNvPr id="87" name="Arc 21"/>
          <p:cNvSpPr/>
          <p:nvPr/>
        </p:nvSpPr>
        <p:spPr>
          <a:xfrm>
            <a:off x="7787743" y="3052141"/>
            <a:ext cx="822960" cy="822960"/>
          </a:xfrm>
          <a:prstGeom prst="arc">
            <a:avLst>
              <a:gd name="adj1" fmla="val 867854"/>
              <a:gd name="adj2" fmla="val 16404494"/>
            </a:avLst>
          </a:prstGeom>
          <a:ln w="79375">
            <a:solidFill>
              <a:schemeClr val="accent4"/>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vi-VN" sz="2000" b="1">
              <a:latin typeface="微软雅黑" panose="020B0503020204020204" pitchFamily="34" charset="-122"/>
              <a:ea typeface="微软雅黑" panose="020B0503020204020204" pitchFamily="34" charset="-122"/>
            </a:endParaRPr>
          </a:p>
        </p:txBody>
      </p:sp>
      <p:grpSp>
        <p:nvGrpSpPr>
          <p:cNvPr id="88" name="Group 22"/>
          <p:cNvGrpSpPr/>
          <p:nvPr/>
        </p:nvGrpSpPr>
        <p:grpSpPr>
          <a:xfrm>
            <a:off x="10121437" y="3052141"/>
            <a:ext cx="822960" cy="822960"/>
            <a:chOff x="10157621" y="3837155"/>
            <a:chExt cx="822960" cy="822960"/>
          </a:xfrm>
        </p:grpSpPr>
        <p:sp>
          <p:nvSpPr>
            <p:cNvPr id="110" name="Oval 23"/>
            <p:cNvSpPr/>
            <p:nvPr/>
          </p:nvSpPr>
          <p:spPr>
            <a:xfrm>
              <a:off x="10157621" y="3837155"/>
              <a:ext cx="822960" cy="822960"/>
            </a:xfrm>
            <a:prstGeom prst="ellipse">
              <a:avLst/>
            </a:prstGeom>
            <a:noFill/>
            <a:ln w="793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000" b="1">
                <a:latin typeface="微软雅黑" panose="020B0503020204020204" pitchFamily="34" charset="-122"/>
                <a:ea typeface="微软雅黑" panose="020B0503020204020204" pitchFamily="34" charset="-122"/>
              </a:endParaRPr>
            </a:p>
          </p:txBody>
        </p:sp>
        <p:sp>
          <p:nvSpPr>
            <p:cNvPr id="111" name="Arc 24"/>
            <p:cNvSpPr/>
            <p:nvPr/>
          </p:nvSpPr>
          <p:spPr>
            <a:xfrm>
              <a:off x="10157621" y="3837155"/>
              <a:ext cx="822960" cy="822960"/>
            </a:xfrm>
            <a:prstGeom prst="arc">
              <a:avLst>
                <a:gd name="adj1" fmla="val 19532749"/>
                <a:gd name="adj2" fmla="val 16375526"/>
              </a:avLst>
            </a:prstGeom>
            <a:ln w="79375">
              <a:solidFill>
                <a:schemeClr val="accent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vi-VN" sz="2000" b="1">
                <a:latin typeface="微软雅黑" panose="020B0503020204020204" pitchFamily="34" charset="-122"/>
                <a:ea typeface="微软雅黑" panose="020B0503020204020204" pitchFamily="34" charset="-122"/>
              </a:endParaRPr>
            </a:p>
          </p:txBody>
        </p:sp>
      </p:grpSp>
      <p:sp>
        <p:nvSpPr>
          <p:cNvPr id="91" name="TextBox 27"/>
          <p:cNvSpPr txBox="1"/>
          <p:nvPr/>
        </p:nvSpPr>
        <p:spPr>
          <a:xfrm>
            <a:off x="467401" y="1918604"/>
            <a:ext cx="2373003" cy="39878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rPr>
              <a:t>需求</a:t>
            </a:r>
          </a:p>
        </p:txBody>
      </p:sp>
      <p:sp>
        <p:nvSpPr>
          <p:cNvPr id="92" name="TextBox 28"/>
          <p:cNvSpPr txBox="1"/>
          <p:nvPr/>
        </p:nvSpPr>
        <p:spPr>
          <a:xfrm>
            <a:off x="2688456" y="1918604"/>
            <a:ext cx="2299833" cy="39878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rPr>
              <a:t>设计</a:t>
            </a:r>
          </a:p>
        </p:txBody>
      </p:sp>
      <p:sp>
        <p:nvSpPr>
          <p:cNvPr id="93" name="TextBox 29"/>
          <p:cNvSpPr txBox="1"/>
          <p:nvPr/>
        </p:nvSpPr>
        <p:spPr>
          <a:xfrm>
            <a:off x="4902062" y="1919239"/>
            <a:ext cx="2290137" cy="39878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rPr>
              <a:t>实现</a:t>
            </a:r>
          </a:p>
        </p:txBody>
      </p:sp>
      <p:sp>
        <p:nvSpPr>
          <p:cNvPr id="94" name="TextBox 30"/>
          <p:cNvSpPr txBox="1"/>
          <p:nvPr/>
        </p:nvSpPr>
        <p:spPr>
          <a:xfrm>
            <a:off x="7152717" y="1919239"/>
            <a:ext cx="2273302" cy="39878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rPr>
              <a:t>验证</a:t>
            </a:r>
            <a:endParaRPr lang="en-US" sz="2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95" name="TextBox 31"/>
          <p:cNvSpPr txBox="1"/>
          <p:nvPr/>
        </p:nvSpPr>
        <p:spPr>
          <a:xfrm>
            <a:off x="9396173" y="1919239"/>
            <a:ext cx="2125794" cy="39878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sz="2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97" name="Content Placeholder 2"/>
          <p:cNvSpPr txBox="1"/>
          <p:nvPr/>
        </p:nvSpPr>
        <p:spPr>
          <a:xfrm>
            <a:off x="3042961" y="3971969"/>
            <a:ext cx="1368815" cy="458697"/>
          </a:xfrm>
          <a:prstGeom prst="rect">
            <a:avLst/>
          </a:prstGeom>
        </p:spPr>
        <p:txBody>
          <a:bodyPr vert="horz" lIns="91440" tIns="45720" rIns="91440" bIns="4572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Font typeface="Arial" panose="020B0604020202090204" pitchFamily="34" charset="0"/>
              <a:buNone/>
            </a:pPr>
            <a:r>
              <a:rPr lang="zh-CN" altLang="en-US" sz="2000" b="1" dirty="0">
                <a:solidFill>
                  <a:schemeClr val="accent2"/>
                </a:solidFill>
                <a:latin typeface="微软雅黑" panose="020B0503020204020204" pitchFamily="34" charset="-122"/>
                <a:ea typeface="微软雅黑" panose="020B0503020204020204" pitchFamily="34" charset="-122"/>
              </a:rPr>
              <a:t>设计</a:t>
            </a:r>
          </a:p>
        </p:txBody>
      </p:sp>
      <p:sp>
        <p:nvSpPr>
          <p:cNvPr id="99" name="Content Placeholder 2"/>
          <p:cNvSpPr txBox="1"/>
          <p:nvPr/>
        </p:nvSpPr>
        <p:spPr>
          <a:xfrm>
            <a:off x="5281155" y="3971970"/>
            <a:ext cx="1368815" cy="458697"/>
          </a:xfrm>
          <a:prstGeom prst="rect">
            <a:avLst/>
          </a:prstGeom>
        </p:spPr>
        <p:txBody>
          <a:bodyPr vert="horz" lIns="91440" tIns="45720" rIns="91440" bIns="4572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Font typeface="Arial" panose="020B0604020202090204" pitchFamily="34" charset="0"/>
              <a:buNone/>
            </a:pPr>
            <a:r>
              <a:rPr lang="zh-CN" altLang="en-US" sz="2000" b="1" dirty="0">
                <a:solidFill>
                  <a:schemeClr val="accent3"/>
                </a:solidFill>
                <a:latin typeface="微软雅黑" panose="020B0503020204020204" pitchFamily="34" charset="-122"/>
                <a:ea typeface="微软雅黑" panose="020B0503020204020204" pitchFamily="34" charset="-122"/>
              </a:rPr>
              <a:t>实现</a:t>
            </a:r>
          </a:p>
        </p:txBody>
      </p:sp>
      <p:sp>
        <p:nvSpPr>
          <p:cNvPr id="101" name="Content Placeholder 2"/>
          <p:cNvSpPr txBox="1"/>
          <p:nvPr/>
        </p:nvSpPr>
        <p:spPr>
          <a:xfrm>
            <a:off x="7514664" y="3971970"/>
            <a:ext cx="1368815" cy="458697"/>
          </a:xfrm>
          <a:prstGeom prst="rect">
            <a:avLst/>
          </a:prstGeom>
        </p:spPr>
        <p:txBody>
          <a:bodyPr vert="horz" lIns="91440" tIns="45720" rIns="91440" bIns="4572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Font typeface="Arial" panose="020B0604020202090204" pitchFamily="34" charset="0"/>
              <a:buNone/>
            </a:pPr>
            <a:r>
              <a:rPr lang="zh-CN" altLang="en-US" sz="2000" b="1" dirty="0">
                <a:solidFill>
                  <a:schemeClr val="accent4"/>
                </a:solidFill>
                <a:latin typeface="微软雅黑" panose="020B0503020204020204" pitchFamily="34" charset="-122"/>
                <a:ea typeface="微软雅黑" panose="020B0503020204020204" pitchFamily="34" charset="-122"/>
                <a:cs typeface="微软雅黑" panose="020B0503020204020204" pitchFamily="34" charset="-122"/>
              </a:rPr>
              <a:t>验证</a:t>
            </a:r>
            <a:endParaRPr lang="en-US" sz="2000" b="1" dirty="0">
              <a:solidFill>
                <a:schemeClr val="accent4"/>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03" name="Content Placeholder 2"/>
          <p:cNvSpPr txBox="1"/>
          <p:nvPr/>
        </p:nvSpPr>
        <p:spPr>
          <a:xfrm>
            <a:off x="9862365" y="3971970"/>
            <a:ext cx="1368815" cy="458697"/>
          </a:xfrm>
          <a:prstGeom prst="rect">
            <a:avLst/>
          </a:prstGeom>
        </p:spPr>
        <p:txBody>
          <a:bodyPr vert="horz" lIns="91440" tIns="45720" rIns="91440" bIns="4572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Font typeface="Arial" panose="020B0604020202090204" pitchFamily="34" charset="0"/>
              <a:buNone/>
            </a:pPr>
            <a:endParaRPr/>
          </a:p>
        </p:txBody>
      </p:sp>
      <p:sp>
        <p:nvSpPr>
          <p:cNvPr id="105" name="Freeform 6"/>
          <p:cNvSpPr>
            <a:spLocks noChangeArrowheads="1"/>
          </p:cNvSpPr>
          <p:nvPr/>
        </p:nvSpPr>
        <p:spPr bwMode="auto">
          <a:xfrm>
            <a:off x="5780732" y="3333003"/>
            <a:ext cx="365760" cy="365760"/>
          </a:xfrm>
          <a:custGeom>
            <a:avLst/>
            <a:gdLst>
              <a:gd name="T0" fmla="*/ 425 w 444"/>
              <a:gd name="T1" fmla="*/ 17 h 435"/>
              <a:gd name="T2" fmla="*/ 425 w 444"/>
              <a:gd name="T3" fmla="*/ 17 h 435"/>
              <a:gd name="T4" fmla="*/ 345 w 444"/>
              <a:gd name="T5" fmla="*/ 35 h 435"/>
              <a:gd name="T6" fmla="*/ 0 w 444"/>
              <a:gd name="T7" fmla="*/ 222 h 435"/>
              <a:gd name="T8" fmla="*/ 195 w 444"/>
              <a:gd name="T9" fmla="*/ 248 h 435"/>
              <a:gd name="T10" fmla="*/ 221 w 444"/>
              <a:gd name="T11" fmla="*/ 434 h 435"/>
              <a:gd name="T12" fmla="*/ 399 w 444"/>
              <a:gd name="T13" fmla="*/ 89 h 435"/>
              <a:gd name="T14" fmla="*/ 425 w 444"/>
              <a:gd name="T15" fmla="*/ 17 h 435"/>
              <a:gd name="T16" fmla="*/ 381 w 444"/>
              <a:gd name="T17" fmla="*/ 62 h 435"/>
              <a:gd name="T18" fmla="*/ 381 w 444"/>
              <a:gd name="T19" fmla="*/ 62 h 435"/>
              <a:gd name="T20" fmla="*/ 239 w 444"/>
              <a:gd name="T21" fmla="*/ 319 h 435"/>
              <a:gd name="T22" fmla="*/ 230 w 444"/>
              <a:gd name="T23" fmla="*/ 204 h 435"/>
              <a:gd name="T24" fmla="*/ 381 w 444"/>
              <a:gd name="T25" fmla="*/ 62 h 4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4" h="435">
                <a:moveTo>
                  <a:pt x="425" y="17"/>
                </a:moveTo>
                <a:lnTo>
                  <a:pt x="425" y="17"/>
                </a:lnTo>
                <a:cubicBezTo>
                  <a:pt x="408" y="0"/>
                  <a:pt x="399" y="17"/>
                  <a:pt x="345" y="35"/>
                </a:cubicBezTo>
                <a:cubicBezTo>
                  <a:pt x="221" y="97"/>
                  <a:pt x="0" y="222"/>
                  <a:pt x="0" y="222"/>
                </a:cubicBezTo>
                <a:cubicBezTo>
                  <a:pt x="195" y="248"/>
                  <a:pt x="195" y="248"/>
                  <a:pt x="195" y="248"/>
                </a:cubicBezTo>
                <a:cubicBezTo>
                  <a:pt x="221" y="434"/>
                  <a:pt x="221" y="434"/>
                  <a:pt x="221" y="434"/>
                </a:cubicBezTo>
                <a:cubicBezTo>
                  <a:pt x="221" y="434"/>
                  <a:pt x="345" y="222"/>
                  <a:pt x="399" y="89"/>
                </a:cubicBezTo>
                <a:cubicBezTo>
                  <a:pt x="425" y="44"/>
                  <a:pt x="443" y="26"/>
                  <a:pt x="425" y="17"/>
                </a:cubicBezTo>
                <a:close/>
                <a:moveTo>
                  <a:pt x="381" y="62"/>
                </a:moveTo>
                <a:lnTo>
                  <a:pt x="381" y="62"/>
                </a:lnTo>
                <a:cubicBezTo>
                  <a:pt x="239" y="319"/>
                  <a:pt x="239" y="319"/>
                  <a:pt x="239" y="319"/>
                </a:cubicBezTo>
                <a:cubicBezTo>
                  <a:pt x="230" y="204"/>
                  <a:pt x="230" y="204"/>
                  <a:pt x="230" y="204"/>
                </a:cubicBezTo>
                <a:lnTo>
                  <a:pt x="381" y="62"/>
                </a:lnTo>
                <a:close/>
              </a:path>
            </a:pathLst>
          </a:custGeom>
          <a:solidFill>
            <a:schemeClr val="accent3"/>
          </a:solidFill>
          <a:ln>
            <a:noFill/>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000" b="1">
              <a:latin typeface="微软雅黑" panose="020B0503020204020204" pitchFamily="34" charset="-122"/>
              <a:ea typeface="微软雅黑" panose="020B0503020204020204" pitchFamily="34" charset="-122"/>
            </a:endParaRPr>
          </a:p>
        </p:txBody>
      </p:sp>
      <p:sp>
        <p:nvSpPr>
          <p:cNvPr id="106" name="Freeform 25"/>
          <p:cNvSpPr>
            <a:spLocks noChangeArrowheads="1"/>
          </p:cNvSpPr>
          <p:nvPr/>
        </p:nvSpPr>
        <p:spPr bwMode="auto">
          <a:xfrm>
            <a:off x="8025193" y="3255723"/>
            <a:ext cx="365760" cy="365760"/>
          </a:xfrm>
          <a:custGeom>
            <a:avLst/>
            <a:gdLst>
              <a:gd name="T0" fmla="*/ 195 w 346"/>
              <a:gd name="T1" fmla="*/ 0 h 479"/>
              <a:gd name="T2" fmla="*/ 195 w 346"/>
              <a:gd name="T3" fmla="*/ 0 h 479"/>
              <a:gd name="T4" fmla="*/ 160 w 346"/>
              <a:gd name="T5" fmla="*/ 0 h 479"/>
              <a:gd name="T6" fmla="*/ 160 w 346"/>
              <a:gd name="T7" fmla="*/ 328 h 479"/>
              <a:gd name="T8" fmla="*/ 80 w 346"/>
              <a:gd name="T9" fmla="*/ 328 h 479"/>
              <a:gd name="T10" fmla="*/ 10 w 346"/>
              <a:gd name="T11" fmla="*/ 425 h 479"/>
              <a:gd name="T12" fmla="*/ 124 w 346"/>
              <a:gd name="T13" fmla="*/ 461 h 479"/>
              <a:gd name="T14" fmla="*/ 195 w 346"/>
              <a:gd name="T15" fmla="*/ 372 h 479"/>
              <a:gd name="T16" fmla="*/ 195 w 346"/>
              <a:gd name="T17" fmla="*/ 106 h 479"/>
              <a:gd name="T18" fmla="*/ 257 w 346"/>
              <a:gd name="T19" fmla="*/ 230 h 479"/>
              <a:gd name="T20" fmla="*/ 275 w 346"/>
              <a:gd name="T21" fmla="*/ 230 h 479"/>
              <a:gd name="T22" fmla="*/ 195 w 346"/>
              <a:gd name="T23" fmla="*/ 0 h 4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346" h="479">
                <a:moveTo>
                  <a:pt x="195" y="0"/>
                </a:moveTo>
                <a:lnTo>
                  <a:pt x="195" y="0"/>
                </a:lnTo>
                <a:cubicBezTo>
                  <a:pt x="160" y="0"/>
                  <a:pt x="160" y="0"/>
                  <a:pt x="160" y="0"/>
                </a:cubicBezTo>
                <a:cubicBezTo>
                  <a:pt x="160" y="328"/>
                  <a:pt x="160" y="328"/>
                  <a:pt x="160" y="328"/>
                </a:cubicBezTo>
                <a:cubicBezTo>
                  <a:pt x="133" y="319"/>
                  <a:pt x="107" y="319"/>
                  <a:pt x="80" y="328"/>
                </a:cubicBezTo>
                <a:cubicBezTo>
                  <a:pt x="26" y="346"/>
                  <a:pt x="0" y="390"/>
                  <a:pt x="10" y="425"/>
                </a:cubicBezTo>
                <a:cubicBezTo>
                  <a:pt x="26" y="461"/>
                  <a:pt x="71" y="478"/>
                  <a:pt x="124" y="461"/>
                </a:cubicBezTo>
                <a:cubicBezTo>
                  <a:pt x="169" y="443"/>
                  <a:pt x="195" y="408"/>
                  <a:pt x="195" y="372"/>
                </a:cubicBezTo>
                <a:cubicBezTo>
                  <a:pt x="195" y="106"/>
                  <a:pt x="195" y="106"/>
                  <a:pt x="195" y="106"/>
                </a:cubicBezTo>
                <a:cubicBezTo>
                  <a:pt x="266" y="124"/>
                  <a:pt x="266" y="212"/>
                  <a:pt x="257" y="230"/>
                </a:cubicBezTo>
                <a:cubicBezTo>
                  <a:pt x="257" y="239"/>
                  <a:pt x="266" y="248"/>
                  <a:pt x="275" y="230"/>
                </a:cubicBezTo>
                <a:cubicBezTo>
                  <a:pt x="345" y="115"/>
                  <a:pt x="195" y="62"/>
                  <a:pt x="195" y="0"/>
                </a:cubicBezTo>
              </a:path>
            </a:pathLst>
          </a:custGeom>
          <a:solidFill>
            <a:schemeClr val="accent4"/>
          </a:solidFill>
          <a:ln>
            <a:noFill/>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000" b="1">
              <a:latin typeface="微软雅黑" panose="020B0503020204020204" pitchFamily="34" charset="-122"/>
              <a:ea typeface="微软雅黑" panose="020B0503020204020204" pitchFamily="34" charset="-122"/>
            </a:endParaRPr>
          </a:p>
        </p:txBody>
      </p:sp>
      <p:sp>
        <p:nvSpPr>
          <p:cNvPr id="107" name="Freeform 28"/>
          <p:cNvSpPr>
            <a:spLocks noChangeArrowheads="1"/>
          </p:cNvSpPr>
          <p:nvPr/>
        </p:nvSpPr>
        <p:spPr bwMode="auto">
          <a:xfrm>
            <a:off x="10363892" y="3281027"/>
            <a:ext cx="365760" cy="365760"/>
          </a:xfrm>
          <a:custGeom>
            <a:avLst/>
            <a:gdLst>
              <a:gd name="T0" fmla="*/ 124 w 498"/>
              <a:gd name="T1" fmla="*/ 81 h 418"/>
              <a:gd name="T2" fmla="*/ 124 w 498"/>
              <a:gd name="T3" fmla="*/ 81 h 418"/>
              <a:gd name="T4" fmla="*/ 36 w 498"/>
              <a:gd name="T5" fmla="*/ 258 h 418"/>
              <a:gd name="T6" fmla="*/ 346 w 498"/>
              <a:gd name="T7" fmla="*/ 116 h 418"/>
              <a:gd name="T8" fmla="*/ 9 w 498"/>
              <a:gd name="T9" fmla="*/ 382 h 418"/>
              <a:gd name="T10" fmla="*/ 44 w 498"/>
              <a:gd name="T11" fmla="*/ 400 h 418"/>
              <a:gd name="T12" fmla="*/ 97 w 498"/>
              <a:gd name="T13" fmla="*/ 311 h 418"/>
              <a:gd name="T14" fmla="*/ 293 w 498"/>
              <a:gd name="T15" fmla="*/ 311 h 418"/>
              <a:gd name="T16" fmla="*/ 469 w 498"/>
              <a:gd name="T17" fmla="*/ 72 h 418"/>
              <a:gd name="T18" fmla="*/ 124 w 498"/>
              <a:gd name="T19" fmla="*/ 81 h 4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98" h="418">
                <a:moveTo>
                  <a:pt x="124" y="81"/>
                </a:moveTo>
                <a:lnTo>
                  <a:pt x="124" y="81"/>
                </a:lnTo>
                <a:cubicBezTo>
                  <a:pt x="27" y="134"/>
                  <a:pt x="36" y="222"/>
                  <a:pt x="36" y="258"/>
                </a:cubicBezTo>
                <a:cubicBezTo>
                  <a:pt x="159" y="107"/>
                  <a:pt x="346" y="116"/>
                  <a:pt x="346" y="116"/>
                </a:cubicBezTo>
                <a:cubicBezTo>
                  <a:pt x="346" y="116"/>
                  <a:pt x="80" y="204"/>
                  <a:pt x="9" y="382"/>
                </a:cubicBezTo>
                <a:cubicBezTo>
                  <a:pt x="0" y="400"/>
                  <a:pt x="36" y="417"/>
                  <a:pt x="44" y="400"/>
                </a:cubicBezTo>
                <a:cubicBezTo>
                  <a:pt x="62" y="355"/>
                  <a:pt x="97" y="311"/>
                  <a:pt x="97" y="311"/>
                </a:cubicBezTo>
                <a:cubicBezTo>
                  <a:pt x="151" y="329"/>
                  <a:pt x="230" y="355"/>
                  <a:pt x="293" y="311"/>
                </a:cubicBezTo>
                <a:cubicBezTo>
                  <a:pt x="363" y="258"/>
                  <a:pt x="363" y="134"/>
                  <a:pt x="469" y="72"/>
                </a:cubicBezTo>
                <a:cubicBezTo>
                  <a:pt x="497" y="63"/>
                  <a:pt x="249" y="0"/>
                  <a:pt x="124" y="81"/>
                </a:cubicBezTo>
              </a:path>
            </a:pathLst>
          </a:custGeom>
          <a:solidFill>
            <a:schemeClr val="accent6"/>
          </a:solidFill>
          <a:ln>
            <a:noFill/>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000" b="1">
              <a:latin typeface="微软雅黑" panose="020B0503020204020204" pitchFamily="34" charset="-122"/>
              <a:ea typeface="微软雅黑" panose="020B0503020204020204" pitchFamily="34" charset="-122"/>
            </a:endParaRPr>
          </a:p>
        </p:txBody>
      </p:sp>
      <p:sp>
        <p:nvSpPr>
          <p:cNvPr id="108" name="Freeform 106"/>
          <p:cNvSpPr>
            <a:spLocks noChangeArrowheads="1"/>
          </p:cNvSpPr>
          <p:nvPr/>
        </p:nvSpPr>
        <p:spPr bwMode="auto">
          <a:xfrm>
            <a:off x="3575051" y="3311976"/>
            <a:ext cx="365760" cy="365760"/>
          </a:xfrm>
          <a:custGeom>
            <a:avLst/>
            <a:gdLst>
              <a:gd name="T0" fmla="*/ 35 w 355"/>
              <a:gd name="T1" fmla="*/ 497 h 506"/>
              <a:gd name="T2" fmla="*/ 35 w 355"/>
              <a:gd name="T3" fmla="*/ 497 h 506"/>
              <a:gd name="T4" fmla="*/ 70 w 355"/>
              <a:gd name="T5" fmla="*/ 381 h 506"/>
              <a:gd name="T6" fmla="*/ 203 w 355"/>
              <a:gd name="T7" fmla="*/ 310 h 506"/>
              <a:gd name="T8" fmla="*/ 132 w 355"/>
              <a:gd name="T9" fmla="*/ 284 h 506"/>
              <a:gd name="T10" fmla="*/ 292 w 355"/>
              <a:gd name="T11" fmla="*/ 194 h 506"/>
              <a:gd name="T12" fmla="*/ 194 w 355"/>
              <a:gd name="T13" fmla="*/ 168 h 506"/>
              <a:gd name="T14" fmla="*/ 327 w 355"/>
              <a:gd name="T15" fmla="*/ 133 h 506"/>
              <a:gd name="T16" fmla="*/ 345 w 355"/>
              <a:gd name="T17" fmla="*/ 44 h 506"/>
              <a:gd name="T18" fmla="*/ 248 w 355"/>
              <a:gd name="T19" fmla="*/ 0 h 506"/>
              <a:gd name="T20" fmla="*/ 159 w 355"/>
              <a:gd name="T21" fmla="*/ 124 h 506"/>
              <a:gd name="T22" fmla="*/ 168 w 355"/>
              <a:gd name="T23" fmla="*/ 18 h 506"/>
              <a:gd name="T24" fmla="*/ 70 w 355"/>
              <a:gd name="T25" fmla="*/ 106 h 506"/>
              <a:gd name="T26" fmla="*/ 61 w 355"/>
              <a:gd name="T27" fmla="*/ 301 h 506"/>
              <a:gd name="T28" fmla="*/ 8 w 355"/>
              <a:gd name="T29" fmla="*/ 213 h 506"/>
              <a:gd name="T30" fmla="*/ 35 w 355"/>
              <a:gd name="T31" fmla="*/ 363 h 506"/>
              <a:gd name="T32" fmla="*/ 8 w 355"/>
              <a:gd name="T33" fmla="*/ 478 h 506"/>
              <a:gd name="T34" fmla="*/ 35 w 355"/>
              <a:gd name="T35" fmla="*/ 497 h 5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55" h="506">
                <a:moveTo>
                  <a:pt x="35" y="497"/>
                </a:moveTo>
                <a:lnTo>
                  <a:pt x="35" y="497"/>
                </a:lnTo>
                <a:cubicBezTo>
                  <a:pt x="44" y="469"/>
                  <a:pt x="53" y="434"/>
                  <a:pt x="70" y="381"/>
                </a:cubicBezTo>
                <a:cubicBezTo>
                  <a:pt x="132" y="372"/>
                  <a:pt x="168" y="390"/>
                  <a:pt x="203" y="310"/>
                </a:cubicBezTo>
                <a:cubicBezTo>
                  <a:pt x="168" y="328"/>
                  <a:pt x="132" y="292"/>
                  <a:pt x="132" y="284"/>
                </a:cubicBezTo>
                <a:cubicBezTo>
                  <a:pt x="132" y="266"/>
                  <a:pt x="229" y="292"/>
                  <a:pt x="292" y="194"/>
                </a:cubicBezTo>
                <a:cubicBezTo>
                  <a:pt x="212" y="213"/>
                  <a:pt x="185" y="178"/>
                  <a:pt x="194" y="168"/>
                </a:cubicBezTo>
                <a:cubicBezTo>
                  <a:pt x="221" y="159"/>
                  <a:pt x="292" y="168"/>
                  <a:pt x="327" y="133"/>
                </a:cubicBezTo>
                <a:cubicBezTo>
                  <a:pt x="345" y="115"/>
                  <a:pt x="354" y="62"/>
                  <a:pt x="345" y="44"/>
                </a:cubicBezTo>
                <a:cubicBezTo>
                  <a:pt x="336" y="27"/>
                  <a:pt x="283" y="0"/>
                  <a:pt x="248" y="0"/>
                </a:cubicBezTo>
                <a:cubicBezTo>
                  <a:pt x="221" y="9"/>
                  <a:pt x="168" y="124"/>
                  <a:pt x="159" y="124"/>
                </a:cubicBezTo>
                <a:cubicBezTo>
                  <a:pt x="141" y="124"/>
                  <a:pt x="141" y="71"/>
                  <a:pt x="168" y="18"/>
                </a:cubicBezTo>
                <a:cubicBezTo>
                  <a:pt x="132" y="35"/>
                  <a:pt x="88" y="71"/>
                  <a:pt x="70" y="106"/>
                </a:cubicBezTo>
                <a:cubicBezTo>
                  <a:pt x="44" y="159"/>
                  <a:pt x="79" y="301"/>
                  <a:pt x="61" y="301"/>
                </a:cubicBezTo>
                <a:cubicBezTo>
                  <a:pt x="53" y="310"/>
                  <a:pt x="17" y="239"/>
                  <a:pt x="8" y="213"/>
                </a:cubicBezTo>
                <a:cubicBezTo>
                  <a:pt x="0" y="257"/>
                  <a:pt x="0" y="301"/>
                  <a:pt x="35" y="363"/>
                </a:cubicBezTo>
                <a:cubicBezTo>
                  <a:pt x="26" y="407"/>
                  <a:pt x="17" y="452"/>
                  <a:pt x="8" y="478"/>
                </a:cubicBezTo>
                <a:cubicBezTo>
                  <a:pt x="8" y="497"/>
                  <a:pt x="35" y="505"/>
                  <a:pt x="35" y="497"/>
                </a:cubicBezTo>
              </a:path>
            </a:pathLst>
          </a:custGeom>
          <a:solidFill>
            <a:schemeClr val="accent2"/>
          </a:solidFill>
          <a:ln>
            <a:noFill/>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000" b="1">
              <a:latin typeface="微软雅黑" panose="020B0503020204020204" pitchFamily="34" charset="-122"/>
              <a:ea typeface="微软雅黑" panose="020B0503020204020204" pitchFamily="34" charset="-122"/>
            </a:endParaRPr>
          </a:p>
        </p:txBody>
      </p:sp>
      <p:sp>
        <p:nvSpPr>
          <p:cNvPr id="109" name="Freeform 115"/>
          <p:cNvSpPr>
            <a:spLocks noChangeArrowheads="1"/>
          </p:cNvSpPr>
          <p:nvPr/>
        </p:nvSpPr>
        <p:spPr bwMode="auto">
          <a:xfrm>
            <a:off x="1395169" y="3273339"/>
            <a:ext cx="365760" cy="432913"/>
          </a:xfrm>
          <a:custGeom>
            <a:avLst/>
            <a:gdLst>
              <a:gd name="T0" fmla="*/ 381 w 400"/>
              <a:gd name="T1" fmla="*/ 124 h 498"/>
              <a:gd name="T2" fmla="*/ 381 w 400"/>
              <a:gd name="T3" fmla="*/ 124 h 498"/>
              <a:gd name="T4" fmla="*/ 231 w 400"/>
              <a:gd name="T5" fmla="*/ 9 h 498"/>
              <a:gd name="T6" fmla="*/ 115 w 400"/>
              <a:gd name="T7" fmla="*/ 151 h 498"/>
              <a:gd name="T8" fmla="*/ 133 w 400"/>
              <a:gd name="T9" fmla="*/ 213 h 498"/>
              <a:gd name="T10" fmla="*/ 9 w 400"/>
              <a:gd name="T11" fmla="*/ 407 h 498"/>
              <a:gd name="T12" fmla="*/ 0 w 400"/>
              <a:gd name="T13" fmla="*/ 434 h 498"/>
              <a:gd name="T14" fmla="*/ 9 w 400"/>
              <a:gd name="T15" fmla="*/ 478 h 498"/>
              <a:gd name="T16" fmla="*/ 27 w 400"/>
              <a:gd name="T17" fmla="*/ 497 h 498"/>
              <a:gd name="T18" fmla="*/ 62 w 400"/>
              <a:gd name="T19" fmla="*/ 487 h 498"/>
              <a:gd name="T20" fmla="*/ 89 w 400"/>
              <a:gd name="T21" fmla="*/ 470 h 498"/>
              <a:gd name="T22" fmla="*/ 142 w 400"/>
              <a:gd name="T23" fmla="*/ 390 h 498"/>
              <a:gd name="T24" fmla="*/ 142 w 400"/>
              <a:gd name="T25" fmla="*/ 390 h 498"/>
              <a:gd name="T26" fmla="*/ 177 w 400"/>
              <a:gd name="T27" fmla="*/ 381 h 498"/>
              <a:gd name="T28" fmla="*/ 231 w 400"/>
              <a:gd name="T29" fmla="*/ 284 h 498"/>
              <a:gd name="T30" fmla="*/ 293 w 400"/>
              <a:gd name="T31" fmla="*/ 284 h 498"/>
              <a:gd name="T32" fmla="*/ 381 w 400"/>
              <a:gd name="T33" fmla="*/ 124 h 498"/>
              <a:gd name="T34" fmla="*/ 319 w 400"/>
              <a:gd name="T35" fmla="*/ 159 h 498"/>
              <a:gd name="T36" fmla="*/ 319 w 400"/>
              <a:gd name="T37" fmla="*/ 159 h 498"/>
              <a:gd name="T38" fmla="*/ 256 w 400"/>
              <a:gd name="T39" fmla="*/ 142 h 498"/>
              <a:gd name="T40" fmla="*/ 221 w 400"/>
              <a:gd name="T41" fmla="*/ 80 h 498"/>
              <a:gd name="T42" fmla="*/ 310 w 400"/>
              <a:gd name="T43" fmla="*/ 71 h 498"/>
              <a:gd name="T44" fmla="*/ 319 w 400"/>
              <a:gd name="T45" fmla="*/ 159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400" h="498">
                <a:moveTo>
                  <a:pt x="381" y="124"/>
                </a:moveTo>
                <a:lnTo>
                  <a:pt x="381" y="124"/>
                </a:lnTo>
                <a:cubicBezTo>
                  <a:pt x="372" y="44"/>
                  <a:pt x="301" y="0"/>
                  <a:pt x="231" y="9"/>
                </a:cubicBezTo>
                <a:cubicBezTo>
                  <a:pt x="159" y="27"/>
                  <a:pt x="106" y="80"/>
                  <a:pt x="115" y="151"/>
                </a:cubicBezTo>
                <a:cubicBezTo>
                  <a:pt x="115" y="168"/>
                  <a:pt x="124" y="195"/>
                  <a:pt x="133" y="213"/>
                </a:cubicBezTo>
                <a:cubicBezTo>
                  <a:pt x="9" y="407"/>
                  <a:pt x="9" y="407"/>
                  <a:pt x="9" y="407"/>
                </a:cubicBezTo>
                <a:cubicBezTo>
                  <a:pt x="0" y="407"/>
                  <a:pt x="0" y="425"/>
                  <a:pt x="0" y="434"/>
                </a:cubicBezTo>
                <a:cubicBezTo>
                  <a:pt x="9" y="478"/>
                  <a:pt x="9" y="478"/>
                  <a:pt x="9" y="478"/>
                </a:cubicBezTo>
                <a:cubicBezTo>
                  <a:pt x="9" y="487"/>
                  <a:pt x="18" y="497"/>
                  <a:pt x="27" y="497"/>
                </a:cubicBezTo>
                <a:cubicBezTo>
                  <a:pt x="62" y="487"/>
                  <a:pt x="62" y="487"/>
                  <a:pt x="62" y="487"/>
                </a:cubicBezTo>
                <a:cubicBezTo>
                  <a:pt x="71" y="487"/>
                  <a:pt x="80" y="478"/>
                  <a:pt x="89" y="470"/>
                </a:cubicBezTo>
                <a:cubicBezTo>
                  <a:pt x="142" y="390"/>
                  <a:pt x="142" y="390"/>
                  <a:pt x="142" y="390"/>
                </a:cubicBezTo>
                <a:lnTo>
                  <a:pt x="142" y="390"/>
                </a:lnTo>
                <a:cubicBezTo>
                  <a:pt x="177" y="381"/>
                  <a:pt x="177" y="381"/>
                  <a:pt x="177" y="381"/>
                </a:cubicBezTo>
                <a:cubicBezTo>
                  <a:pt x="231" y="284"/>
                  <a:pt x="231" y="284"/>
                  <a:pt x="231" y="284"/>
                </a:cubicBezTo>
                <a:cubicBezTo>
                  <a:pt x="248" y="293"/>
                  <a:pt x="284" y="284"/>
                  <a:pt x="293" y="284"/>
                </a:cubicBezTo>
                <a:cubicBezTo>
                  <a:pt x="363" y="275"/>
                  <a:pt x="399" y="195"/>
                  <a:pt x="381" y="124"/>
                </a:cubicBezTo>
                <a:close/>
                <a:moveTo>
                  <a:pt x="319" y="159"/>
                </a:moveTo>
                <a:lnTo>
                  <a:pt x="319" y="159"/>
                </a:lnTo>
                <a:cubicBezTo>
                  <a:pt x="301" y="187"/>
                  <a:pt x="284" y="168"/>
                  <a:pt x="256" y="142"/>
                </a:cubicBezTo>
                <a:cubicBezTo>
                  <a:pt x="231" y="124"/>
                  <a:pt x="203" y="115"/>
                  <a:pt x="221" y="80"/>
                </a:cubicBezTo>
                <a:cubicBezTo>
                  <a:pt x="240" y="53"/>
                  <a:pt x="284" y="44"/>
                  <a:pt x="310" y="71"/>
                </a:cubicBezTo>
                <a:cubicBezTo>
                  <a:pt x="337" y="89"/>
                  <a:pt x="346" y="133"/>
                  <a:pt x="319" y="159"/>
                </a:cubicBezTo>
                <a:close/>
              </a:path>
            </a:pathLst>
          </a:custGeom>
          <a:solidFill>
            <a:schemeClr val="accent1"/>
          </a:solidFill>
          <a:ln>
            <a:noFill/>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000" b="1">
              <a:latin typeface="微软雅黑" panose="020B0503020204020204" pitchFamily="34" charset="-122"/>
              <a:ea typeface="微软雅黑" panose="020B0503020204020204" pitchFamily="34" charset="-122"/>
            </a:endParaRPr>
          </a:p>
        </p:txBody>
      </p:sp>
      <p:sp>
        <p:nvSpPr>
          <p:cNvPr id="112" name="文本框 111"/>
          <p:cNvSpPr txBox="1"/>
          <p:nvPr/>
        </p:nvSpPr>
        <p:spPr>
          <a:xfrm>
            <a:off x="467995" y="4430395"/>
            <a:ext cx="2225675" cy="923330"/>
          </a:xfrm>
          <a:prstGeom prst="rect">
            <a:avLst/>
          </a:prstGeom>
          <a:noFill/>
        </p:spPr>
        <p:txBody>
          <a:bodyPr wrap="square">
            <a:spAutoFit/>
          </a:bodyPr>
          <a:lstStyle/>
          <a:p>
            <a:pPr marL="285750" indent="-285750" algn="l">
              <a:buFont typeface="Arial" panose="020B0604020202090204" pitchFamily="34" charset="0"/>
              <a:buChar char="•"/>
            </a:pPr>
            <a:r>
              <a:rPr lang="en-US" altLang="zh-CN" dirty="0">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rPr>
              <a:t>Linux 语义</a:t>
            </a:r>
            <a:endParaRPr lang="zh-CN" altLang="en-US" sz="1800" dirty="0">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endParaRPr>
          </a:p>
          <a:p>
            <a:pPr marL="285750" indent="-285750" algn="l">
              <a:buFont typeface="Arial" panose="020B0604020202090204" pitchFamily="34" charset="0"/>
              <a:buChar char="•"/>
            </a:pPr>
            <a:r>
              <a:rPr lang="zh-CN" altLang="en-US" dirty="0">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rPr>
              <a:t>性能目标
真实负载</a:t>
            </a:r>
          </a:p>
        </p:txBody>
      </p:sp>
      <p:sp>
        <p:nvSpPr>
          <p:cNvPr id="113" name="文本框 112"/>
          <p:cNvSpPr txBox="1"/>
          <p:nvPr/>
        </p:nvSpPr>
        <p:spPr>
          <a:xfrm>
            <a:off x="2688590" y="4430395"/>
            <a:ext cx="2239010" cy="1200329"/>
          </a:xfrm>
          <a:prstGeom prst="rect">
            <a:avLst/>
          </a:prstGeom>
          <a:noFill/>
        </p:spPr>
        <p:txBody>
          <a:bodyPr wrap="square">
            <a:spAutoFit/>
          </a:bodyPr>
          <a:lstStyle/>
          <a:p>
            <a:pPr marL="285750" indent="-285750" algn="l">
              <a:buFont typeface="Arial" panose="020B0604020202090204" pitchFamily="34" charset="0"/>
              <a:buChar char="•"/>
            </a:pPr>
            <a:r>
              <a:rPr lang="zh-CN" altLang="en-US" dirty="0">
                <a:solidFill>
                  <a:schemeClr val="accent2"/>
                </a:solidFill>
                <a:latin typeface="微软雅黑" panose="020B0503020204020204" pitchFamily="34" charset="-122"/>
                <a:ea typeface="微软雅黑" panose="020B0503020204020204" pitchFamily="34" charset="-122"/>
              </a:rPr>
              <a:t>边界与 owner</a:t>
            </a:r>
            <a:endParaRPr lang="en-US" altLang="zh-CN" sz="1800" dirty="0">
              <a:solidFill>
                <a:schemeClr val="accent2"/>
              </a:solidFill>
              <a:latin typeface="微软雅黑" panose="020B0503020204020204" pitchFamily="34" charset="-122"/>
              <a:ea typeface="微软雅黑" panose="020B0503020204020204" pitchFamily="34" charset="-122"/>
            </a:endParaRPr>
          </a:p>
          <a:p>
            <a:pPr marL="285750" indent="-285750" algn="l">
              <a:buFont typeface="Arial" panose="020B0604020202090204" pitchFamily="34" charset="0"/>
              <a:buChar char="•"/>
            </a:pPr>
            <a:r>
              <a:rPr lang="zh-CN" altLang="en-US" sz="1800" dirty="0">
                <a:solidFill>
                  <a:schemeClr val="accent2"/>
                </a:solidFill>
                <a:latin typeface="微软雅黑" panose="020B0503020204020204" pitchFamily="34" charset="-122"/>
                <a:ea typeface="微软雅黑" panose="020B0503020204020204" pitchFamily="34" charset="-122"/>
              </a:rPr>
              <a:t>ABI / contract</a:t>
            </a:r>
          </a:p>
          <a:p>
            <a:pPr marL="285750" indent="-285750" algn="l">
              <a:buFont typeface="Arial" panose="020B0604020202090204" pitchFamily="34" charset="0"/>
              <a:buChar char="•"/>
            </a:pPr>
            <a:r>
              <a:rPr lang="zh-CN" altLang="en-US" sz="1800" dirty="0">
                <a:solidFill>
                  <a:schemeClr val="accent2"/>
                </a:solidFill>
                <a:latin typeface="微软雅黑" panose="020B0503020204020204" pitchFamily="34" charset="-122"/>
                <a:ea typeface="微软雅黑" panose="020B0503020204020204" pitchFamily="34" charset="-122"/>
              </a:rPr>
              <a:t>验证计划</a:t>
            </a:r>
            <a:endParaRPr lang="en-US" altLang="zh-CN" sz="1800" dirty="0">
              <a:solidFill>
                <a:schemeClr val="accent2"/>
              </a:solidFill>
              <a:latin typeface="微软雅黑" panose="020B0503020204020204" pitchFamily="34" charset="-122"/>
              <a:ea typeface="微软雅黑" panose="020B0503020204020204" pitchFamily="34" charset="-122"/>
            </a:endParaRPr>
          </a:p>
          <a:p>
            <a:pPr marL="285750" indent="-285750" algn="l">
              <a:buFont typeface="Arial" panose="020B0604020202090204" pitchFamily="34" charset="0"/>
              <a:buChar char="•"/>
            </a:pPr>
            <a:endParaRPr lang="en-US" altLang="zh-CN" sz="1800" dirty="0">
              <a:solidFill>
                <a:schemeClr val="accent2"/>
              </a:solidFill>
              <a:latin typeface="微软雅黑" panose="020B0503020204020204" pitchFamily="34" charset="-122"/>
              <a:ea typeface="微软雅黑" panose="020B0503020204020204" pitchFamily="34" charset="-122"/>
            </a:endParaRPr>
          </a:p>
        </p:txBody>
      </p:sp>
      <p:sp>
        <p:nvSpPr>
          <p:cNvPr id="114" name="Content Placeholder 2"/>
          <p:cNvSpPr txBox="1"/>
          <p:nvPr/>
        </p:nvSpPr>
        <p:spPr>
          <a:xfrm>
            <a:off x="4928869" y="4421505"/>
            <a:ext cx="2350029" cy="1200329"/>
          </a:xfrm>
          <a:prstGeom prst="rect">
            <a:avLst/>
          </a:prstGeom>
        </p:spPr>
        <p:txBody>
          <a:bodyPr vert="horz" lIns="91440" tIns="45720" rIns="91440" bIns="4572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lgn="l">
              <a:buFont typeface="Arial" panose="020B0604020202090204" pitchFamily="34" charset="0"/>
              <a:buChar char="•"/>
            </a:pPr>
            <a:r>
              <a:rPr lang="zh-CN" altLang="en-US" dirty="0">
                <a:solidFill>
                  <a:schemeClr val="accent3"/>
                </a:solidFill>
                <a:latin typeface="微软雅黑" panose="020B0503020204020204" pitchFamily="34" charset="-122"/>
                <a:ea typeface="微软雅黑" panose="020B0503020204020204" pitchFamily="34" charset="-122"/>
              </a:rPr>
              <a:t>最小闭环实现</a:t>
            </a:r>
            <a:endParaRPr lang="en-US" altLang="zh-CN" dirty="0">
              <a:solidFill>
                <a:schemeClr val="accent3"/>
              </a:solidFill>
              <a:latin typeface="微软雅黑" panose="020B0503020204020204" pitchFamily="34" charset="-122"/>
              <a:ea typeface="微软雅黑" panose="020B0503020204020204" pitchFamily="34" charset="-122"/>
            </a:endParaRPr>
          </a:p>
          <a:p>
            <a:pPr marL="285750" indent="-285750" algn="l">
              <a:buFont typeface="Arial" panose="020B0604020202090204" pitchFamily="34" charset="0"/>
              <a:buChar char="•"/>
            </a:pPr>
            <a:r>
              <a:rPr lang="zh-CN" altLang="en-US" dirty="0">
                <a:solidFill>
                  <a:schemeClr val="accent3"/>
                </a:solidFill>
                <a:latin typeface="微软雅黑" panose="020B0503020204020204" pitchFamily="34" charset="-122"/>
                <a:ea typeface="微软雅黑" panose="020B0503020204020204" pitchFamily="34" charset="-122"/>
              </a:rPr>
              <a:t>代码审查</a:t>
            </a:r>
          </a:p>
          <a:p>
            <a:pPr marL="285750" indent="-285750" algn="l">
              <a:buFont typeface="Arial" panose="020B0604020202090204" pitchFamily="34" charset="0"/>
              <a:buChar char="•"/>
            </a:pPr>
            <a:r>
              <a:rPr lang="zh-CN" altLang="en-US" dirty="0">
                <a:solidFill>
                  <a:schemeClr val="accent3"/>
                </a:solidFill>
                <a:latin typeface="微软雅黑" panose="020B0503020204020204" pitchFamily="34" charset="-122"/>
                <a:ea typeface="微软雅黑" panose="020B0503020204020204" pitchFamily="34" charset="-122"/>
                <a:sym typeface="+mn-ea"/>
              </a:rPr>
              <a:t>阶段化合入</a:t>
            </a:r>
            <a:endParaRPr lang="en-US" altLang="zh-CN" dirty="0">
              <a:solidFill>
                <a:schemeClr val="accent3"/>
              </a:solidFill>
              <a:latin typeface="微软雅黑" panose="020B0503020204020204" pitchFamily="34" charset="-122"/>
              <a:ea typeface="微软雅黑" panose="020B0503020204020204" pitchFamily="34" charset="-122"/>
              <a:sym typeface="+mn-ea"/>
            </a:endParaRPr>
          </a:p>
          <a:p>
            <a:pPr marL="285750" indent="-285750" algn="l">
              <a:buFont typeface="Arial" panose="020B0604020202090204" pitchFamily="34" charset="0"/>
              <a:buChar char="•"/>
            </a:pPr>
            <a:endParaRPr lang="en-US" altLang="zh-CN" dirty="0">
              <a:solidFill>
                <a:schemeClr val="accent3"/>
              </a:solidFill>
              <a:latin typeface="微软雅黑" panose="020B0503020204020204" pitchFamily="34" charset="-122"/>
              <a:ea typeface="微软雅黑" panose="020B0503020204020204" pitchFamily="34" charset="-122"/>
              <a:sym typeface="+mn-ea"/>
            </a:endParaRPr>
          </a:p>
          <a:p>
            <a:pPr marL="285750" indent="-285750" algn="l">
              <a:buFont typeface="Arial" panose="020B0604020202090204" pitchFamily="34" charset="0"/>
              <a:buChar char="•"/>
            </a:pPr>
            <a:endParaRPr lang="en-US" altLang="zh-CN" dirty="0">
              <a:solidFill>
                <a:schemeClr val="accent3"/>
              </a:solidFill>
              <a:latin typeface="微软雅黑" panose="020B0503020204020204" pitchFamily="34" charset="-122"/>
              <a:ea typeface="微软雅黑" panose="020B0503020204020204" pitchFamily="34" charset="-122"/>
            </a:endParaRPr>
          </a:p>
          <a:p>
            <a:pPr marL="342900" indent="-342900" algn="l">
              <a:buFont typeface="Arial" panose="020B0604020202090204" pitchFamily="34" charset="0"/>
              <a:buChar char="•"/>
            </a:pPr>
            <a:endParaRPr lang="en-US" altLang="zh-CN" dirty="0">
              <a:solidFill>
                <a:schemeClr val="accent3"/>
              </a:solidFill>
              <a:latin typeface="微软雅黑" panose="020B0503020204020204" pitchFamily="34" charset="-122"/>
              <a:ea typeface="微软雅黑" panose="020B0503020204020204" pitchFamily="34" charset="-122"/>
            </a:endParaRPr>
          </a:p>
          <a:p>
            <a:pPr marL="342900" indent="-342900" algn="l">
              <a:buFont typeface="Arial" panose="020B0604020202090204" pitchFamily="34" charset="0"/>
              <a:buChar char="•"/>
            </a:pPr>
            <a:endParaRPr lang="en-US" altLang="zh-CN" dirty="0">
              <a:solidFill>
                <a:schemeClr val="accent3"/>
              </a:solidFill>
              <a:latin typeface="微软雅黑" panose="020B0503020204020204" pitchFamily="34" charset="-122"/>
              <a:ea typeface="微软雅黑" panose="020B0503020204020204" pitchFamily="34" charset="-122"/>
            </a:endParaRPr>
          </a:p>
        </p:txBody>
      </p:sp>
      <p:sp>
        <p:nvSpPr>
          <p:cNvPr id="115" name="Content Placeholder 2"/>
          <p:cNvSpPr txBox="1"/>
          <p:nvPr/>
        </p:nvSpPr>
        <p:spPr>
          <a:xfrm>
            <a:off x="7165975" y="4421506"/>
            <a:ext cx="2530918" cy="1009396"/>
          </a:xfrm>
          <a:prstGeom prst="rect">
            <a:avLst/>
          </a:prstGeom>
        </p:spPr>
        <p:txBody>
          <a:bodyPr vert="horz" lIns="91440" tIns="45720" rIns="91440" bIns="4572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lgn="l">
              <a:buFont typeface="Arial" panose="020B0604020202090204" pitchFamily="34" charset="0"/>
              <a:buChar char="•"/>
            </a:pPr>
            <a:r>
              <a:rPr lang="zh-CN" altLang="en-US" dirty="0">
                <a:solidFill>
                  <a:schemeClr val="accent4"/>
                </a:solidFill>
                <a:latin typeface="微软雅黑" panose="020B0503020204020204" pitchFamily="34" charset="-122"/>
                <a:ea typeface="微软雅黑" panose="020B0503020204020204" pitchFamily="34" charset="-122"/>
                <a:cs typeface="微软雅黑" panose="020B0503020204020204" pitchFamily="34" charset="-122"/>
              </a:rPr>
              <a:t>构建 / 日志 / 测例</a:t>
            </a:r>
            <a:endParaRPr lang="en-US" altLang="zh-CN" dirty="0">
              <a:solidFill>
                <a:schemeClr val="accent4"/>
              </a:solidFill>
              <a:latin typeface="微软雅黑" panose="020B0503020204020204" pitchFamily="34" charset="-122"/>
              <a:ea typeface="微软雅黑" panose="020B0503020204020204" pitchFamily="34" charset="-122"/>
              <a:cs typeface="微软雅黑" panose="020B0503020204020204" pitchFamily="34" charset="-122"/>
            </a:endParaRPr>
          </a:p>
          <a:p>
            <a:pPr marL="285750" indent="-285750" algn="l">
              <a:buFont typeface="Arial" panose="020B0604020202090204" pitchFamily="34" charset="0"/>
              <a:buChar char="•"/>
            </a:pPr>
            <a:r>
              <a:rPr lang="zh-CN" altLang="en-US" dirty="0">
                <a:solidFill>
                  <a:schemeClr val="accent4"/>
                </a:solidFill>
                <a:latin typeface="微软雅黑" panose="020B0503020204020204" pitchFamily="34" charset="-122"/>
                <a:ea typeface="微软雅黑" panose="020B0503020204020204" pitchFamily="34" charset="-122"/>
                <a:cs typeface="微软雅黑" panose="020B0503020204020204" pitchFamily="34" charset="-122"/>
              </a:rPr>
              <a:t>失败归因</a:t>
            </a:r>
          </a:p>
          <a:p>
            <a:pPr marL="285750" indent="-285750" algn="l">
              <a:buFont typeface="Arial" panose="020B0604020202090204" pitchFamily="34" charset="0"/>
              <a:buChar char="•"/>
            </a:pPr>
            <a:r>
              <a:rPr lang="zh-CN" altLang="en-US" dirty="0">
                <a:solidFill>
                  <a:schemeClr val="accent4"/>
                </a:solidFill>
                <a:latin typeface="微软雅黑" panose="020B0503020204020204" pitchFamily="34" charset="-122"/>
                <a:ea typeface="微软雅黑" panose="020B0503020204020204" pitchFamily="34" charset="-122"/>
                <a:cs typeface="微软雅黑" panose="020B0503020204020204" pitchFamily="34" charset="-122"/>
              </a:rPr>
              <a:t>双架构验证</a:t>
            </a:r>
          </a:p>
          <a:p>
            <a:pPr marL="342900" indent="-342900" algn="l">
              <a:buFont typeface="Arial" panose="020B0604020202090204" pitchFamily="34" charset="0"/>
              <a:buChar char="•"/>
            </a:pPr>
            <a:endParaRPr lang="zh-CN" altLang="en-US" sz="2000" dirty="0">
              <a:solidFill>
                <a:schemeClr val="accent4"/>
              </a:solidFill>
            </a:endParaRPr>
          </a:p>
          <a:p>
            <a:pPr marL="342900" indent="-342900" algn="l">
              <a:buFont typeface="Arial" panose="020B0604020202090204" pitchFamily="34" charset="0"/>
              <a:buChar char="•"/>
            </a:pPr>
            <a:endParaRPr lang="zh-CN" altLang="en-US" sz="2000" dirty="0">
              <a:solidFill>
                <a:schemeClr val="accent4"/>
              </a:solidFill>
            </a:endParaRPr>
          </a:p>
        </p:txBody>
      </p:sp>
      <p:sp>
        <p:nvSpPr>
          <p:cNvPr id="2" name="Content Placeholder 2"/>
          <p:cNvSpPr txBox="1"/>
          <p:nvPr/>
        </p:nvSpPr>
        <p:spPr>
          <a:xfrm>
            <a:off x="9748173" y="4125310"/>
            <a:ext cx="1982470" cy="2154555"/>
          </a:xfrm>
          <a:prstGeom prst="rect">
            <a:avLst/>
          </a:prstGeom>
        </p:spPr>
        <p:txBody>
          <a:bodyPr vert="horz" lIns="91440" tIns="45720" rIns="91440" bIns="45720" rtlCol="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endParaRPr lang="zh-CN" altLang="en-US" dirty="0">
              <a:solidFill>
                <a:schemeClr val="accent6"/>
              </a:solidFill>
              <a:effectLst>
                <a:outerShdw blurRad="38100" dist="25400" dir="5400000" algn="ctr" rotWithShape="0">
                  <a:srgbClr val="6E747A">
                    <a:alpha val="43000"/>
                  </a:srgbClr>
                </a:outerShdw>
              </a:effectLst>
              <a:latin typeface="微软雅黑" panose="020B0503020204020204" pitchFamily="34" charset="-122"/>
              <a:ea typeface="微软雅黑" panose="020B0503020204020204" pitchFamily="34" charset="-122"/>
              <a:cs typeface="微软雅黑" panose="020B0503020204020204" pitchFamily="34" charset="-122"/>
            </a:endParaRPr>
          </a:p>
          <a:p>
            <a:pPr algn="l"/>
            <a:r>
              <a:rPr lang="zh-CN" altLang="en-US" dirty="0">
                <a:solidFill>
                  <a:schemeClr val="accent6"/>
                </a:solidFill>
                <a:effectLst>
                  <a:outerShdw blurRad="38100" dist="25400" dir="5400000" algn="ctr" rotWithShape="0">
                    <a:srgbClr val="6E747A">
                      <a:alpha val="43000"/>
                    </a:srgbClr>
                  </a:outerShdw>
                </a:effectLst>
                <a:latin typeface="微软雅黑" panose="020B0503020204020204" pitchFamily="34" charset="-122"/>
                <a:ea typeface="微软雅黑" panose="020B0503020204020204" pitchFamily="34" charset="-122"/>
                <a:cs typeface="微软雅黑" panose="020B0503020204020204" pitchFamily="34" charset="-122"/>
              </a:rPr>
              <a:t>回写证据、限制与下一轮目标</a:t>
            </a:r>
            <a:endParaRPr lang="en-US" altLang="zh-CN" dirty="0">
              <a:solidFill>
                <a:schemeClr val="accent6"/>
              </a:solidFill>
              <a:effectLst>
                <a:outerShdw blurRad="38100" dist="25400" dir="5400000" algn="ctr" rotWithShape="0">
                  <a:srgbClr val="6E747A">
                    <a:alpha val="43000"/>
                  </a:srgbClr>
                </a:outerShdw>
              </a:effectLst>
              <a:latin typeface="微软雅黑" panose="020B0503020204020204" pitchFamily="34" charset="-122"/>
              <a:ea typeface="微软雅黑" panose="020B0503020204020204" pitchFamily="34" charset="-122"/>
              <a:cs typeface="微软雅黑" panose="020B0503020204020204" pitchFamily="34" charset="-122"/>
            </a:endParaRPr>
          </a:p>
          <a:p>
            <a:pPr marL="342900" indent="-342900" algn="l">
              <a:buFont typeface="Arial" panose="020B0604020202090204" pitchFamily="34" charset="0"/>
              <a:buChar char="•"/>
            </a:pPr>
            <a:endParaRPr lang="zh-CN" altLang="en-US" dirty="0">
              <a:solidFill>
                <a:schemeClr val="accent6"/>
              </a:solidFill>
              <a:latin typeface="微软雅黑" panose="020B0503020204020204" pitchFamily="34" charset="-122"/>
              <a:ea typeface="微软雅黑" panose="020B0503020204020204" pitchFamily="34" charset="-122"/>
              <a:cs typeface="微软雅黑" panose="020B0503020204020204" pitchFamily="34" charset="-122"/>
            </a:endParaRPr>
          </a:p>
          <a:p>
            <a:pPr marL="342900" indent="-342900" algn="l">
              <a:buFont typeface="Arial" panose="020B0604020202090204" pitchFamily="34" charset="0"/>
              <a:buChar char="•"/>
            </a:pPr>
            <a:endParaRPr lang="zh-CN" altLang="en-US" sz="2000" dirty="0">
              <a:solidFill>
                <a:schemeClr val="accent6"/>
              </a:solidFill>
            </a:endParaRPr>
          </a:p>
          <a:p>
            <a:pPr marL="342900" indent="-342900" algn="l">
              <a:buFont typeface="Arial" panose="020B0604020202090204" pitchFamily="34" charset="0"/>
              <a:buChar char="•"/>
            </a:pPr>
            <a:endParaRPr lang="zh-CN" altLang="en-US" sz="2000" dirty="0">
              <a:solidFill>
                <a:schemeClr val="accent6"/>
              </a:solidFill>
            </a:endParaRPr>
          </a:p>
        </p:txBody>
      </p:sp>
      <p:sp>
        <p:nvSpPr>
          <p:cNvPr id="116" name="NavActive 比赛总结"/>
          <p:cNvSpPr/>
          <p:nvPr/>
        </p:nvSpPr>
        <p:spPr>
          <a:xfrm>
            <a:off x="10263016"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117"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22"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123"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124"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125"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核心机制</a:t>
            </a:r>
          </a:p>
        </p:txBody>
      </p:sp>
      <p:sp>
        <p:nvSpPr>
          <p:cNvPr id="126"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127"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比赛总结</a:t>
            </a:r>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pic>
        <p:nvPicPr>
          <p:cNvPr id="32" name="图片 31"/>
          <p:cNvPicPr>
            <a:picLocks noChangeAspect="1"/>
          </p:cNvPicPr>
          <p:nvPr/>
        </p:nvPicPr>
        <p:blipFill>
          <a:blip r:embed="rId3">
            <a:clrChange>
              <a:clrFrom>
                <a:srgbClr val="000000">
                  <a:alpha val="0"/>
                </a:srgbClr>
              </a:clrFrom>
              <a:clrTo>
                <a:srgbClr val="000000">
                  <a:alpha val="0"/>
                </a:srgbClr>
              </a:clrTo>
            </a:clrChange>
            <a:duotone>
              <a:prstClr val="black"/>
              <a:schemeClr val="accent6">
                <a:tint val="45000"/>
                <a:satMod val="400000"/>
              </a:schemeClr>
            </a:duotone>
            <a:extLst>
              <a:ext uri="{BEBA8EAE-BF5A-486C-A8C5-ECC9F3942E4B}">
                <a14:imgProps xmlns:a14="http://schemas.microsoft.com/office/drawing/2010/main">
                  <a14:imgLayer r:embed="rId4">
                    <a14:imgEffect>
                      <a14:brightnessContrast bright="-40000" contrast="-40000"/>
                    </a14:imgEffect>
                    <a14:imgEffect>
                      <a14:colorTemperature colorTemp="5988"/>
                    </a14:imgEffect>
                  </a14:imgLayer>
                </a14:imgProps>
              </a:ext>
              <a:ext uri="{28A0092B-C50C-407E-A947-70E740481C1C}">
                <a14:useLocalDpi xmlns:a14="http://schemas.microsoft.com/office/drawing/2010/main" val="0"/>
              </a:ext>
            </a:extLst>
          </a:blip>
          <a:stretch>
            <a:fillRect/>
          </a:stretch>
        </p:blipFill>
        <p:spPr>
          <a:xfrm>
            <a:off x="117373" y="132991"/>
            <a:ext cx="2997105" cy="550154"/>
          </a:xfrm>
          <a:prstGeom prst="rect">
            <a:avLst/>
          </a:prstGeom>
        </p:spPr>
      </p:pic>
      <p:sp>
        <p:nvSpPr>
          <p:cNvPr id="62" name="文本框 61"/>
          <p:cNvSpPr txBox="1"/>
          <p:nvPr/>
        </p:nvSpPr>
        <p:spPr>
          <a:xfrm>
            <a:off x="400574" y="4173473"/>
            <a:ext cx="1364476" cy="523220"/>
          </a:xfrm>
          <a:prstGeom prst="rect">
            <a:avLst/>
          </a:prstGeom>
          <a:noFill/>
        </p:spPr>
        <p:txBody>
          <a:bodyPr wrap="none" rtlCol="0">
            <a:spAutoFit/>
          </a:bodyPr>
          <a:lstStyle/>
          <a:p>
            <a:pPr marL="457200" lvl="0" indent="-457200" algn="l">
              <a:buClrTx/>
              <a:buSzTx/>
              <a:buFont typeface="Wingdings" panose="05000000000000000000" charset="0"/>
              <a:buChar char=""/>
            </a:pPr>
            <a:r>
              <a:rPr lang="en-US" altLang="zh-CN" sz="2800" b="1" dirty="0" err="1">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参考</a:t>
            </a:r>
            <a:endParaRPr lang="en-US" altLang="zh-CN" sz="2800"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16" name="NavActive 比赛总结"/>
          <p:cNvSpPr/>
          <p:nvPr/>
        </p:nvSpPr>
        <p:spPr>
          <a:xfrm>
            <a:off x="10263016" y="0"/>
            <a:ext cx="1406233" cy="792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117" name="NavDivider 1"/>
          <p:cNvCxnSpPr/>
          <p:nvPr/>
        </p:nvCxnSpPr>
        <p:spPr>
          <a:xfrm>
            <a:off x="46380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NavDivider 2"/>
          <p:cNvCxnSpPr/>
          <p:nvPr/>
        </p:nvCxnSpPr>
        <p:spPr>
          <a:xfrm>
            <a:off x="60443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NavDivider 3"/>
          <p:cNvCxnSpPr/>
          <p:nvPr/>
        </p:nvCxnSpPr>
        <p:spPr>
          <a:xfrm>
            <a:off x="745055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NavDivider 4"/>
          <p:cNvCxnSpPr/>
          <p:nvPr/>
        </p:nvCxnSpPr>
        <p:spPr>
          <a:xfrm>
            <a:off x="885678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NavDivider 5"/>
          <p:cNvCxnSpPr/>
          <p:nvPr/>
        </p:nvCxnSpPr>
        <p:spPr>
          <a:xfrm>
            <a:off x="1026301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22" name="NavText 1 完成情况"/>
          <p:cNvSpPr txBox="1"/>
          <p:nvPr/>
        </p:nvSpPr>
        <p:spPr>
          <a:xfrm>
            <a:off x="32318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完成情况</a:t>
            </a:r>
          </a:p>
        </p:txBody>
      </p:sp>
      <p:sp>
        <p:nvSpPr>
          <p:cNvPr id="123" name="NavText 2 开发历程"/>
          <p:cNvSpPr txBox="1"/>
          <p:nvPr/>
        </p:nvSpPr>
        <p:spPr>
          <a:xfrm>
            <a:off x="46380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开发历程</a:t>
            </a:r>
          </a:p>
        </p:txBody>
      </p:sp>
      <p:sp>
        <p:nvSpPr>
          <p:cNvPr id="124" name="NavText 3 设计主线"/>
          <p:cNvSpPr txBox="1"/>
          <p:nvPr/>
        </p:nvSpPr>
        <p:spPr>
          <a:xfrm>
            <a:off x="6044316" y="215903"/>
            <a:ext cx="1406234"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设计主线</a:t>
            </a:r>
          </a:p>
        </p:txBody>
      </p:sp>
      <p:sp>
        <p:nvSpPr>
          <p:cNvPr id="125" name="NavText 4 核心机制"/>
          <p:cNvSpPr txBox="1"/>
          <p:nvPr/>
        </p:nvSpPr>
        <p:spPr>
          <a:xfrm>
            <a:off x="7450550"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核心机制</a:t>
            </a:r>
          </a:p>
        </p:txBody>
      </p:sp>
      <p:sp>
        <p:nvSpPr>
          <p:cNvPr id="126" name="NavText 5 AI使用"/>
          <p:cNvSpPr txBox="1"/>
          <p:nvPr/>
        </p:nvSpPr>
        <p:spPr>
          <a:xfrm>
            <a:off x="8856783" y="215903"/>
            <a:ext cx="1406233" cy="343159"/>
          </a:xfrm>
          <a:prstGeom prst="rect">
            <a:avLst/>
          </a:prstGeom>
          <a:noFill/>
        </p:spPr>
        <p:txBody>
          <a:bodyPr wrap="square" lIns="0" tIns="48000" rIns="0" bIns="48000" rtlCol="0">
            <a:spAutoFit/>
          </a:bodyPr>
          <a:lstStyle/>
          <a:p>
            <a:pPr algn="ctr"/>
            <a:r>
              <a:rPr lang="zh-CN" altLang="en-US" sz="1600" b="1" dirty="0">
                <a:solidFill>
                  <a:srgbClr val="7F7F7F"/>
                </a:solidFill>
                <a:latin typeface="微软雅黑" panose="020B0503020204020204" pitchFamily="34" charset="-122"/>
                <a:ea typeface="微软雅黑" panose="020B0503020204020204" pitchFamily="34" charset="-122"/>
              </a:rPr>
              <a:t>AI使用</a:t>
            </a:r>
          </a:p>
        </p:txBody>
      </p:sp>
      <p:sp>
        <p:nvSpPr>
          <p:cNvPr id="127" name="NavText 6 比赛总结"/>
          <p:cNvSpPr txBox="1"/>
          <p:nvPr/>
        </p:nvSpPr>
        <p:spPr>
          <a:xfrm>
            <a:off x="10263016" y="215903"/>
            <a:ext cx="1406233"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比赛总结</a:t>
            </a:r>
          </a:p>
        </p:txBody>
      </p:sp>
      <p:sp>
        <p:nvSpPr>
          <p:cNvPr id="3" name="文本框 2"/>
          <p:cNvSpPr txBox="1"/>
          <p:nvPr/>
        </p:nvSpPr>
        <p:spPr>
          <a:xfrm>
            <a:off x="400574" y="4696693"/>
            <a:ext cx="6994566" cy="1631216"/>
          </a:xfrm>
          <a:prstGeom prst="rect">
            <a:avLst/>
          </a:prstGeom>
          <a:noFill/>
        </p:spPr>
        <p:txBody>
          <a:bodyPr wrap="square" rtlCol="0">
            <a:spAutoFit/>
          </a:bodyPr>
          <a:lstStyle/>
          <a:p>
            <a:pPr marL="285750" indent="-285750">
              <a:buFontTx/>
              <a:buChar char="-"/>
            </a:pPr>
            <a:r>
              <a:rPr lang="zh-CN" altLang="zh-CN" sz="2000" dirty="0"/>
              <a:t>Linux 6.6。Linux UAPI、进程与信号语义、VFS、设备驱动、网络、调度与各架构实现的主要参考。</a:t>
            </a:r>
            <a:endParaRPr lang="en-US" altLang="zh-CN" sz="2000" dirty="0"/>
          </a:p>
          <a:p>
            <a:pPr marL="285750" indent="-285750">
              <a:buFontTx/>
              <a:buChar char="-"/>
            </a:pPr>
            <a:r>
              <a:rPr lang="zh-CN" altLang="zh-CN" sz="2000" dirty="0"/>
              <a:t>Zircon。VMO、地址空间 backing object 与写时复制设计。</a:t>
            </a:r>
            <a:endParaRPr lang="en-US" altLang="zh-CN" sz="2000" dirty="0"/>
          </a:p>
          <a:p>
            <a:pPr marL="285750" indent="-285750">
              <a:buFontTx/>
              <a:buChar char="-"/>
            </a:pPr>
            <a:r>
              <a:rPr lang="en-US" altLang="zh-CN" sz="2000" dirty="0"/>
              <a:t>Lwext4</a:t>
            </a:r>
            <a:r>
              <a:rPr lang="zh-CN" altLang="en-US" sz="2000" dirty="0"/>
              <a:t>。</a:t>
            </a:r>
            <a:r>
              <a:rPr lang="en-US" altLang="zh-CN" sz="2000" dirty="0"/>
              <a:t>Ext4</a:t>
            </a:r>
            <a:r>
              <a:rPr lang="zh-CN" altLang="en-US" sz="2000" dirty="0"/>
              <a:t>实现。</a:t>
            </a:r>
            <a:endParaRPr lang="en-US" altLang="zh-CN" sz="2000" dirty="0"/>
          </a:p>
          <a:p>
            <a:pPr marL="285750" indent="-285750">
              <a:buFontTx/>
              <a:buChar char="-"/>
            </a:pPr>
            <a:r>
              <a:rPr lang="en-US" altLang="zh-CN" sz="2000" dirty="0" err="1"/>
              <a:t>SmolTCP</a:t>
            </a:r>
            <a:r>
              <a:rPr lang="zh-CN" altLang="en-US" sz="2000" dirty="0"/>
              <a:t>。我们的网络子系统的协议栈后端。</a:t>
            </a:r>
            <a:endParaRPr lang="en-US" altLang="zh-CN" sz="2000" dirty="0"/>
          </a:p>
        </p:txBody>
      </p:sp>
      <p:sp>
        <p:nvSpPr>
          <p:cNvPr id="8" name="文本框 7"/>
          <p:cNvSpPr txBox="1"/>
          <p:nvPr/>
        </p:nvSpPr>
        <p:spPr>
          <a:xfrm>
            <a:off x="400574" y="1077028"/>
            <a:ext cx="1364476" cy="523220"/>
          </a:xfrm>
          <a:prstGeom prst="rect">
            <a:avLst/>
          </a:prstGeom>
          <a:noFill/>
        </p:spPr>
        <p:txBody>
          <a:bodyPr wrap="none" rtlCol="0">
            <a:spAutoFit/>
          </a:bodyPr>
          <a:lstStyle/>
          <a:p>
            <a:pPr marL="457200" lvl="0" indent="-457200" algn="l">
              <a:buClrTx/>
              <a:buSzTx/>
              <a:buFont typeface="Wingdings" panose="05000000000000000000" charset="0"/>
              <a:buChar char=""/>
            </a:pPr>
            <a:r>
              <a:rPr lang="zh-CN" altLang="en-US" sz="2800"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rPr>
              <a:t>创新</a:t>
            </a:r>
            <a:endParaRPr lang="en-US" altLang="zh-CN" sz="2800" b="1" dirty="0">
              <a:solidFill>
                <a:srgbClr val="0070C0"/>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0" name="文本框 9"/>
          <p:cNvSpPr txBox="1"/>
          <p:nvPr/>
        </p:nvSpPr>
        <p:spPr>
          <a:xfrm>
            <a:off x="400574" y="1600248"/>
            <a:ext cx="6994566" cy="2554545"/>
          </a:xfrm>
          <a:prstGeom prst="rect">
            <a:avLst/>
          </a:prstGeom>
          <a:noFill/>
        </p:spPr>
        <p:txBody>
          <a:bodyPr wrap="square" rtlCol="0">
            <a:spAutoFit/>
          </a:bodyPr>
          <a:lstStyle/>
          <a:p>
            <a:pPr marL="285750" indent="-285750">
              <a:buFontTx/>
              <a:buChar char="-"/>
            </a:pPr>
            <a:r>
              <a:rPr lang="zh-CN" altLang="en-US" sz="2000" dirty="0"/>
              <a:t>如前所述，内核设计上，我们没有参考往届队伍的架构，完全从零设计。</a:t>
            </a:r>
            <a:endParaRPr lang="en-US" altLang="zh-CN" sz="2000" dirty="0"/>
          </a:p>
          <a:p>
            <a:pPr marL="285750" indent="-285750">
              <a:buFontTx/>
              <a:buChar char="-"/>
            </a:pPr>
            <a:r>
              <a:rPr lang="zh-CN" altLang="en-US" sz="2000" dirty="0"/>
              <a:t>相较于工业化的内核（</a:t>
            </a:r>
            <a:r>
              <a:rPr lang="en-US" altLang="zh-CN" sz="2000" dirty="0"/>
              <a:t>Linux/Zircon</a:t>
            </a:r>
            <a:r>
              <a:rPr lang="zh-CN" altLang="en-US" sz="2000" dirty="0"/>
              <a:t>），我们没有完全照搬，而是博采众长，对宏内核和微内核的优点兼收并蓄。</a:t>
            </a:r>
            <a:endParaRPr lang="en-US" altLang="zh-CN" sz="2000" dirty="0"/>
          </a:p>
          <a:p>
            <a:pPr marL="285750" indent="-285750">
              <a:buFontTx/>
              <a:buChar char="-"/>
            </a:pPr>
            <a:r>
              <a:rPr lang="zh-CN" altLang="en-US" sz="2000" dirty="0"/>
              <a:t>设计实现了</a:t>
            </a:r>
            <a:r>
              <a:rPr lang="en-US" altLang="zh-CN" sz="2000" dirty="0"/>
              <a:t>Nemophila</a:t>
            </a:r>
            <a:r>
              <a:rPr lang="zh-CN" altLang="en-US" sz="2000" dirty="0"/>
              <a:t>，基于沙箱化</a:t>
            </a:r>
            <a:r>
              <a:rPr lang="en-US" altLang="zh-CN" sz="2000" dirty="0" err="1"/>
              <a:t>WebAssembly</a:t>
            </a:r>
            <a:r>
              <a:rPr lang="zh-CN" altLang="en-US" sz="2000" dirty="0"/>
              <a:t>的内核扩展机制。</a:t>
            </a:r>
            <a:endParaRPr lang="en-US" altLang="zh-CN" sz="2000" dirty="0"/>
          </a:p>
          <a:p>
            <a:pPr marL="285750" indent="-285750">
              <a:buFontTx/>
              <a:buChar char="-"/>
            </a:pPr>
            <a:r>
              <a:rPr lang="zh-CN" altLang="en-US" sz="2000" dirty="0"/>
              <a:t>支持调度策略的动态切换；完备的设备驱动模型；独立设计的硬件抽象层；分散式的</a:t>
            </a:r>
            <a:r>
              <a:rPr lang="en-US" altLang="zh-CN" sz="2000" dirty="0" err="1"/>
              <a:t>Syscall</a:t>
            </a:r>
            <a:r>
              <a:rPr lang="zh-CN" altLang="en-US" sz="2000" dirty="0"/>
              <a:t>注册机制，等等。</a:t>
            </a:r>
            <a:endParaRPr lang="zh-CN" altLang="zh-CN" sz="2000" dirty="0"/>
          </a:p>
        </p:txBody>
      </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MH_Other_8"/>
          <p:cNvPicPr/>
          <p:nvPr>
            <p:custDataLst>
              <p:tags r:id="rId1"/>
            </p:custDataLst>
          </p:nvPr>
        </p:nvPicPr>
        <p:blipFill>
          <a:blip r:embed="rId5" cstate="print">
            <a:extLst>
              <a:ext uri="{28A0092B-C50C-407E-A947-70E740481C1C}">
                <a14:useLocalDpi xmlns:a14="http://schemas.microsoft.com/office/drawing/2010/main" val="0"/>
              </a:ext>
            </a:extLst>
          </a:blip>
          <a:srcRect l="50887"/>
          <a:stretch>
            <a:fillRect/>
          </a:stretch>
        </p:blipFill>
        <p:spPr bwMode="auto">
          <a:xfrm rot="5400000" flipH="1">
            <a:off x="6024000" y="-3032194"/>
            <a:ext cx="144000" cy="104502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 name="MH_Other_8"/>
          <p:cNvPicPr/>
          <p:nvPr>
            <p:custDataLst>
              <p:tags r:id="rId2"/>
            </p:custDataLst>
          </p:nvPr>
        </p:nvPicPr>
        <p:blipFill>
          <a:blip r:embed="rId5" cstate="print">
            <a:extLst>
              <a:ext uri="{28A0092B-C50C-407E-A947-70E740481C1C}">
                <a14:useLocalDpi xmlns:a14="http://schemas.microsoft.com/office/drawing/2010/main" val="0"/>
              </a:ext>
            </a:extLst>
          </a:blip>
          <a:srcRect l="50887"/>
          <a:stretch>
            <a:fillRect/>
          </a:stretch>
        </p:blipFill>
        <p:spPr bwMode="auto">
          <a:xfrm rot="16200000" flipH="1" flipV="1">
            <a:off x="6024001" y="-127232"/>
            <a:ext cx="144000" cy="104502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矩形 7"/>
          <p:cNvSpPr/>
          <p:nvPr/>
        </p:nvSpPr>
        <p:spPr>
          <a:xfrm>
            <a:off x="0" y="2204967"/>
            <a:ext cx="12192000" cy="2861362"/>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文本框 14"/>
          <p:cNvSpPr txBox="1"/>
          <p:nvPr/>
        </p:nvSpPr>
        <p:spPr>
          <a:xfrm>
            <a:off x="664708" y="3127835"/>
            <a:ext cx="10862821" cy="1014730"/>
          </a:xfrm>
          <a:prstGeom prst="rect">
            <a:avLst/>
          </a:prstGeom>
          <a:noFill/>
        </p:spPr>
        <p:txBody>
          <a:bodyPr wrap="square" rtlCol="0">
            <a:spAutoFit/>
          </a:bodyPr>
          <a:lstStyle/>
          <a:p>
            <a:pPr algn="ctr"/>
            <a:r>
              <a:rPr lang="zh-CN" altLang="en-US" sz="6000" b="1" dirty="0">
                <a:solidFill>
                  <a:schemeClr val="bg1">
                    <a:lumMod val="95000"/>
                  </a:schemeClr>
                </a:solidFill>
                <a:latin typeface="微软雅黑" panose="020B0503020204020204" pitchFamily="34" charset="-122"/>
                <a:ea typeface="微软雅黑" panose="020B0503020204020204" pitchFamily="34" charset="-122"/>
              </a:rPr>
              <a:t>感谢聆听</a:t>
            </a:r>
            <a:endParaRPr lang="en-US" sz="3600" b="1" dirty="0">
              <a:solidFill>
                <a:schemeClr val="bg1">
                  <a:lumMod val="95000"/>
                </a:schemeClr>
              </a:solidFill>
              <a:latin typeface="微软雅黑" panose="020B0503020204020204" pitchFamily="34" charset="-122"/>
              <a:ea typeface="微软雅黑" panose="020B0503020204020204" pitchFamily="34" charset="-122"/>
            </a:endParaRPr>
          </a:p>
        </p:txBody>
      </p:sp>
      <p:pic>
        <p:nvPicPr>
          <p:cNvPr id="3" name="图片 2" descr="hitsz-logo"/>
          <p:cNvPicPr>
            <a:picLocks noChangeAspect="1"/>
          </p:cNvPicPr>
          <p:nvPr/>
        </p:nvPicPr>
        <p:blipFill>
          <a:blip r:embed="rId6">
            <a:clrChange>
              <a:clrFrom>
                <a:srgbClr val="FFFFFF">
                  <a:alpha val="100000"/>
                </a:srgbClr>
              </a:clrFrom>
              <a:clrTo>
                <a:srgbClr val="FFFFFF">
                  <a:alpha val="100000"/>
                  <a:alpha val="0"/>
                </a:srgbClr>
              </a:clrTo>
            </a:clrChange>
          </a:blip>
          <a:stretch>
            <a:fillRect/>
          </a:stretch>
        </p:blipFill>
        <p:spPr>
          <a:xfrm>
            <a:off x="2789555" y="603250"/>
            <a:ext cx="6612255" cy="121856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MH" val="20151121191650"/>
  <p:tag name="MH_LIBRARY" val="GRAPHIC"/>
  <p:tag name="MH_TYPE" val="Other"/>
  <p:tag name="MH_ORDER" val="8"/>
</p:tagLst>
</file>

<file path=ppt/tags/tag2.xml><?xml version="1.0" encoding="utf-8"?>
<p:tagLst xmlns:a="http://schemas.openxmlformats.org/drawingml/2006/main" xmlns:r="http://schemas.openxmlformats.org/officeDocument/2006/relationships" xmlns:p="http://schemas.openxmlformats.org/presentationml/2006/main">
  <p:tag name="MH" val="20151121191650"/>
  <p:tag name="MH_LIBRARY" val="GRAPHIC"/>
  <p:tag name="MH_TYPE" val="Other"/>
  <p:tag name="MH_ORDER" val="8"/>
</p:tagLst>
</file>

<file path=ppt/tags/tag3.xml><?xml version="1.0" encoding="utf-8"?>
<p:tagLst xmlns:a="http://schemas.openxmlformats.org/drawingml/2006/main" xmlns:r="http://schemas.openxmlformats.org/officeDocument/2006/relationships" xmlns:p="http://schemas.openxmlformats.org/presentationml/2006/main">
  <p:tag name="MH" val="20151121191650"/>
  <p:tag name="MH_LIBRARY" val="GRAPHIC"/>
  <p:tag name="MH_TYPE" val="Other"/>
  <p:tag name="MH_ORDER" val="8"/>
</p:tagLst>
</file>

<file path=ppt/tags/tag4.xml><?xml version="1.0" encoding="utf-8"?>
<p:tagLst xmlns:a="http://schemas.openxmlformats.org/drawingml/2006/main" xmlns:r="http://schemas.openxmlformats.org/officeDocument/2006/relationships" xmlns:p="http://schemas.openxmlformats.org/presentationml/2006/main">
  <p:tag name="MH" val="20151121191650"/>
  <p:tag name="MH_LIBRARY" val="GRAPHIC"/>
  <p:tag name="MH_TYPE" val="Other"/>
  <p:tag name="MH_ORDER" val="8"/>
</p:tagLst>
</file>

<file path=ppt/theme/theme1.xml><?xml version="1.0" encoding="utf-8"?>
<a:theme xmlns:a="http://schemas.openxmlformats.org/drawingml/2006/main" name="Office 主题​​">
  <a:themeElements>
    <a:clrScheme name="蓝绿色">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蓝绿色">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themeOverride>
</file>

<file path=docProps/app.xml><?xml version="1.0" encoding="utf-8"?>
<Properties xmlns="http://schemas.openxmlformats.org/officeDocument/2006/extended-properties" xmlns:vt="http://schemas.openxmlformats.org/officeDocument/2006/docPropsVTypes">
  <TotalTime>90</TotalTime>
  <Words>5752</Words>
  <Application>Microsoft Office PowerPoint</Application>
  <PresentationFormat>宽屏</PresentationFormat>
  <Paragraphs>416</Paragraphs>
  <Slides>29</Slides>
  <Notes>29</Notes>
  <HiddenSlides>5</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29</vt:i4>
      </vt:variant>
    </vt:vector>
  </HeadingPairs>
  <TitlesOfParts>
    <vt:vector size="38" baseType="lpstr">
      <vt:lpstr>quote-cjk-patch</vt:lpstr>
      <vt:lpstr>等线</vt:lpstr>
      <vt:lpstr>等线 Light</vt:lpstr>
      <vt:lpstr>微软雅黑</vt:lpstr>
      <vt:lpstr>Arial</vt:lpstr>
      <vt:lpstr>Calibri</vt:lpstr>
      <vt:lpstr>Consolas</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答辩-19</dc:title>
  <dc:creator>LP</dc:creator>
  <cp:lastModifiedBy>Doruche 朵露切</cp:lastModifiedBy>
  <cp:revision>811</cp:revision>
  <dcterms:created xsi:type="dcterms:W3CDTF">2026-08-17T09:28:53Z</dcterms:created>
  <dcterms:modified xsi:type="dcterms:W3CDTF">2026-08-17T15:36:57Z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2052-12.1.26046.26046</vt:lpwstr>
  </property>
  <property fmtid="{D5CDD505-2E9C-101B-9397-08002B2CF9AE}" pid="3" name="ICV">
    <vt:lpwstr/>
  </property>
</Properties>
</file>