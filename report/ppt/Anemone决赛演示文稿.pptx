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0"/>
  </p:notesMasterIdLst>
  <p:handoutMasterIdLst>
    <p:handoutMasterId r:id="rId31"/>
  </p:handoutMasterIdLst>
  <p:sldIdLst>
    <p:sldId id="256" r:id="rId2"/>
    <p:sldId id="257" r:id="rId3"/>
    <p:sldId id="259" r:id="rId4"/>
    <p:sldId id="260" r:id="rId5"/>
    <p:sldId id="261" r:id="rId6"/>
    <p:sldId id="294" r:id="rId7"/>
    <p:sldId id="295" r:id="rId8"/>
    <p:sldId id="263" r:id="rId9"/>
    <p:sldId id="265" r:id="rId10"/>
    <p:sldId id="266" r:id="rId11"/>
    <p:sldId id="267" r:id="rId12"/>
    <p:sldId id="268" r:id="rId13"/>
    <p:sldId id="269" r:id="rId14"/>
    <p:sldId id="291" r:id="rId15"/>
    <p:sldId id="270" r:id="rId16"/>
    <p:sldId id="271" r:id="rId17"/>
    <p:sldId id="272" r:id="rId18"/>
    <p:sldId id="273" r:id="rId19"/>
    <p:sldId id="275" r:id="rId20"/>
    <p:sldId id="277" r:id="rId21"/>
    <p:sldId id="279" r:id="rId22"/>
    <p:sldId id="281" r:id="rId23"/>
    <p:sldId id="282" r:id="rId24"/>
    <p:sldId id="283" r:id="rId25"/>
    <p:sldId id="287" r:id="rId26"/>
    <p:sldId id="288" r:id="rId27"/>
    <p:sldId id="293" r:id="rId28"/>
    <p:sldId id="290" r:id="rId2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27" userDrawn="1">
          <p15:clr>
            <a:srgbClr val="A4A3A4"/>
          </p15:clr>
        </p15:guide>
        <p15:guide id="2" pos="391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F7F7F"/>
    <a:srgbClr val="949494"/>
    <a:srgbClr val="F2F2F2"/>
    <a:srgbClr val="9CC5FD"/>
    <a:srgbClr val="3A6695"/>
    <a:srgbClr val="134263"/>
    <a:srgbClr val="1E2B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44" autoAdjust="0"/>
    <p:restoredTop sz="93906" autoAdjust="0"/>
  </p:normalViewPr>
  <p:slideViewPr>
    <p:cSldViewPr snapToGrid="0" showGuides="1">
      <p:cViewPr varScale="1">
        <p:scale>
          <a:sx n="104" d="100"/>
          <a:sy n="104" d="100"/>
        </p:scale>
        <p:origin x="72" y="164"/>
      </p:cViewPr>
      <p:guideLst>
        <p:guide orient="horz" pos="2227"/>
        <p:guide pos="391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5#1">
  <dgm:title val=""/>
  <dgm:desc val=""/>
  <dgm:catLst>
    <dgm:cat type="accent1" pri="11500"/>
  </dgm:catLst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4CA7B40-9EB7-4C77-8556-119F053A3BC1}" type="doc">
      <dgm:prSet loTypeId="urn:microsoft.com/office/officeart/2005/8/layout/process2" loCatId="process" qsTypeId="urn:microsoft.com/office/officeart/2005/8/quickstyle/simple1#1" qsCatId="simple" csTypeId="urn:microsoft.com/office/officeart/2005/8/colors/accent1_5#1" csCatId="accent1" phldr="1"/>
      <dgm:spPr/>
    </dgm:pt>
    <dgm:pt modelId="{7166A9DB-20D7-41DA-B6C7-4E91D46FE0EA}">
      <dgm:prSet phldrT="[文本]" phldr="0" custT="0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Linux 用户态</a:t>
          </a:r>
          <a:endParaRPr lang="zh-CN" altLang="en-US"/>
        </a:p>
      </dgm:t>
    </dgm:pt>
    <dgm:pt modelId="{408890A2-EC03-4CB7-8006-30F7A6F0770D}" type="parTrans" cxnId="{13E80D11-766A-46EB-BA13-ED3E2AAD53FA}">
      <dgm:prSet/>
      <dgm:spPr/>
      <dgm:t>
        <a:bodyPr/>
        <a:lstStyle/>
        <a:p>
          <a:endParaRPr lang="zh-CN" altLang="en-US"/>
        </a:p>
      </dgm:t>
    </dgm:pt>
    <dgm:pt modelId="{581D0B67-AC66-4DBF-B99A-8C26BE060068}" type="sibTrans" cxnId="{13E80D11-766A-46EB-BA13-ED3E2AAD53FA}">
      <dgm:prSet/>
      <dgm:spPr/>
      <dgm:t>
        <a:bodyPr/>
        <a:lstStyle/>
        <a:p>
          <a:endParaRPr lang="zh-CN" altLang="en-US"/>
        </a:p>
      </dgm:t>
    </dgm:pt>
    <dgm:pt modelId="{6185F46A-CE7B-4D19-AD38-021F06F11723}">
      <dgm:prSet phldrT="[文本]" phldr="0" custT="0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syscall 适配</a:t>
          </a:r>
          <a:endParaRPr lang="zh-CN" altLang="en-US"/>
        </a:p>
      </dgm:t>
    </dgm:pt>
    <dgm:pt modelId="{ED707A62-C95F-489D-A288-204A854541E1}" type="parTrans" cxnId="{243C770F-B836-4879-ABD0-C9E2F54BCF54}">
      <dgm:prSet/>
      <dgm:spPr/>
      <dgm:t>
        <a:bodyPr/>
        <a:lstStyle/>
        <a:p>
          <a:endParaRPr lang="zh-CN" altLang="en-US"/>
        </a:p>
      </dgm:t>
    </dgm:pt>
    <dgm:pt modelId="{209F9C23-F1DF-401B-A4AD-306C9EB4247C}" type="sibTrans" cxnId="{243C770F-B836-4879-ABD0-C9E2F54BCF54}">
      <dgm:prSet/>
      <dgm:spPr/>
      <dgm:t>
        <a:bodyPr/>
        <a:lstStyle/>
        <a:p>
          <a:endParaRPr lang="zh-CN" altLang="en-US"/>
        </a:p>
      </dgm:t>
    </dgm:pt>
    <dgm:pt modelId="{9D4F7890-BC71-471E-AB1B-9F598D752858}">
      <dgm:prSet phldrT="[文本]" phldr="0" custT="0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Anemone 核心对象</a:t>
          </a:r>
          <a:endParaRPr lang="zh-CN" altLang="en-US"/>
        </a:p>
      </dgm:t>
    </dgm:pt>
    <dgm:pt modelId="{8A81A9A1-3D17-4B5E-823A-F4C61634A717}" type="parTrans" cxnId="{CF0B19FC-6B35-47BD-86E2-D1F5F6FDA4D9}">
      <dgm:prSet/>
      <dgm:spPr/>
      <dgm:t>
        <a:bodyPr/>
        <a:lstStyle/>
        <a:p>
          <a:endParaRPr lang="zh-CN" altLang="en-US"/>
        </a:p>
      </dgm:t>
    </dgm:pt>
    <dgm:pt modelId="{A02D4AB0-BE01-45C2-BD3E-6766ADB3B021}" type="sibTrans" cxnId="{CF0B19FC-6B35-47BD-86E2-D1F5F6FDA4D9}">
      <dgm:prSet/>
      <dgm:spPr/>
      <dgm:t>
        <a:bodyPr/>
        <a:lstStyle/>
        <a:p>
          <a:endParaRPr lang="zh-CN" altLang="en-US"/>
        </a:p>
      </dgm:t>
    </dgm:pt>
    <dgm:pt modelId="{7E3F7EC5-1729-4088-BB09-36E02E33A0BF}" type="pres">
      <dgm:prSet presAssocID="{A4CA7B40-9EB7-4C77-8556-119F053A3BC1}" presName="linearFlow" presStyleCnt="0">
        <dgm:presLayoutVars>
          <dgm:resizeHandles val="exact"/>
        </dgm:presLayoutVars>
      </dgm:prSet>
      <dgm:spPr/>
    </dgm:pt>
    <dgm:pt modelId="{E17E57AF-0587-449A-A755-B1B96DEF2BD2}" type="pres">
      <dgm:prSet presAssocID="{7166A9DB-20D7-41DA-B6C7-4E91D46FE0EA}" presName="node" presStyleLbl="node1" presStyleIdx="0" presStyleCnt="3">
        <dgm:presLayoutVars>
          <dgm:bulletEnabled val="1"/>
        </dgm:presLayoutVars>
      </dgm:prSet>
      <dgm:spPr/>
    </dgm:pt>
    <dgm:pt modelId="{11477A19-6F59-488F-BD44-5E3FBE8E3386}" type="pres">
      <dgm:prSet presAssocID="{581D0B67-AC66-4DBF-B99A-8C26BE060068}" presName="sibTrans" presStyleLbl="sibTrans2D1" presStyleIdx="0" presStyleCnt="2"/>
      <dgm:spPr/>
    </dgm:pt>
    <dgm:pt modelId="{1FA9844B-FD2C-4DAF-BE12-A8E3C3B7E384}" type="pres">
      <dgm:prSet presAssocID="{581D0B67-AC66-4DBF-B99A-8C26BE060068}" presName="connectorText" presStyleLbl="sibTrans2D1" presStyleIdx="0" presStyleCnt="2"/>
      <dgm:spPr/>
    </dgm:pt>
    <dgm:pt modelId="{353C71C7-5E8B-4565-86BF-B755B524B25E}" type="pres">
      <dgm:prSet presAssocID="{6185F46A-CE7B-4D19-AD38-021F06F11723}" presName="node" presStyleLbl="node1" presStyleIdx="1" presStyleCnt="3">
        <dgm:presLayoutVars>
          <dgm:bulletEnabled val="1"/>
        </dgm:presLayoutVars>
      </dgm:prSet>
      <dgm:spPr/>
    </dgm:pt>
    <dgm:pt modelId="{06ECC167-6368-4F79-84C6-65D90B9BC4A6}" type="pres">
      <dgm:prSet presAssocID="{209F9C23-F1DF-401B-A4AD-306C9EB4247C}" presName="sibTrans" presStyleLbl="sibTrans2D1" presStyleIdx="1" presStyleCnt="2"/>
      <dgm:spPr/>
    </dgm:pt>
    <dgm:pt modelId="{1AF533A8-48F1-4B19-9CD9-5A2DB7199B85}" type="pres">
      <dgm:prSet presAssocID="{209F9C23-F1DF-401B-A4AD-306C9EB4247C}" presName="connectorText" presStyleLbl="sibTrans2D1" presStyleIdx="1" presStyleCnt="2"/>
      <dgm:spPr/>
    </dgm:pt>
    <dgm:pt modelId="{93DEFB83-998E-4F52-9267-01422D869D93}" type="pres">
      <dgm:prSet presAssocID="{9D4F7890-BC71-471E-AB1B-9F598D752858}" presName="node" presStyleLbl="node1" presStyleIdx="2" presStyleCnt="3">
        <dgm:presLayoutVars>
          <dgm:bulletEnabled val="1"/>
        </dgm:presLayoutVars>
      </dgm:prSet>
      <dgm:spPr/>
    </dgm:pt>
  </dgm:ptLst>
  <dgm:cxnLst>
    <dgm:cxn modelId="{397EC40A-FA9A-4774-902D-9F2E8A7AD38C}" type="presOf" srcId="{A4CA7B40-9EB7-4C77-8556-119F053A3BC1}" destId="{7E3F7EC5-1729-4088-BB09-36E02E33A0BF}" srcOrd="0" destOrd="0" presId="urn:microsoft.com/office/officeart/2005/8/layout/process2"/>
    <dgm:cxn modelId="{243C770F-B836-4879-ABD0-C9E2F54BCF54}" srcId="{A4CA7B40-9EB7-4C77-8556-119F053A3BC1}" destId="{6185F46A-CE7B-4D19-AD38-021F06F11723}" srcOrd="1" destOrd="0" parTransId="{ED707A62-C95F-489D-A288-204A854541E1}" sibTransId="{209F9C23-F1DF-401B-A4AD-306C9EB4247C}"/>
    <dgm:cxn modelId="{13E80D11-766A-46EB-BA13-ED3E2AAD53FA}" srcId="{A4CA7B40-9EB7-4C77-8556-119F053A3BC1}" destId="{7166A9DB-20D7-41DA-B6C7-4E91D46FE0EA}" srcOrd="0" destOrd="0" parTransId="{408890A2-EC03-4CB7-8006-30F7A6F0770D}" sibTransId="{581D0B67-AC66-4DBF-B99A-8C26BE060068}"/>
    <dgm:cxn modelId="{5302A166-C269-4F63-8F72-C987FE84B6D5}" type="presOf" srcId="{581D0B67-AC66-4DBF-B99A-8C26BE060068}" destId="{1FA9844B-FD2C-4DAF-BE12-A8E3C3B7E384}" srcOrd="1" destOrd="0" presId="urn:microsoft.com/office/officeart/2005/8/layout/process2"/>
    <dgm:cxn modelId="{4C7E8C70-C13B-4D3D-B127-7C2501084E0B}" type="presOf" srcId="{6185F46A-CE7B-4D19-AD38-021F06F11723}" destId="{353C71C7-5E8B-4565-86BF-B755B524B25E}" srcOrd="0" destOrd="0" presId="urn:microsoft.com/office/officeart/2005/8/layout/process2"/>
    <dgm:cxn modelId="{C56F1989-4657-40D5-938D-2105B4B6BB8B}" type="presOf" srcId="{209F9C23-F1DF-401B-A4AD-306C9EB4247C}" destId="{06ECC167-6368-4F79-84C6-65D90B9BC4A6}" srcOrd="0" destOrd="0" presId="urn:microsoft.com/office/officeart/2005/8/layout/process2"/>
    <dgm:cxn modelId="{AAF719A9-0BA9-4781-AE53-03C8E3AC31E5}" type="presOf" srcId="{209F9C23-F1DF-401B-A4AD-306C9EB4247C}" destId="{1AF533A8-48F1-4B19-9CD9-5A2DB7199B85}" srcOrd="1" destOrd="0" presId="urn:microsoft.com/office/officeart/2005/8/layout/process2"/>
    <dgm:cxn modelId="{BDDC4CAA-6C8F-450E-9CAD-DED36AFEF6EA}" type="presOf" srcId="{7166A9DB-20D7-41DA-B6C7-4E91D46FE0EA}" destId="{E17E57AF-0587-449A-A755-B1B96DEF2BD2}" srcOrd="0" destOrd="0" presId="urn:microsoft.com/office/officeart/2005/8/layout/process2"/>
    <dgm:cxn modelId="{308B74B6-8C27-45C6-A97D-9A018E824C9A}" type="presOf" srcId="{581D0B67-AC66-4DBF-B99A-8C26BE060068}" destId="{11477A19-6F59-488F-BD44-5E3FBE8E3386}" srcOrd="0" destOrd="0" presId="urn:microsoft.com/office/officeart/2005/8/layout/process2"/>
    <dgm:cxn modelId="{4749F7E0-B0AD-4A61-8EF1-DB8F1C8B8E57}" type="presOf" srcId="{9D4F7890-BC71-471E-AB1B-9F598D752858}" destId="{93DEFB83-998E-4F52-9267-01422D869D93}" srcOrd="0" destOrd="0" presId="urn:microsoft.com/office/officeart/2005/8/layout/process2"/>
    <dgm:cxn modelId="{CF0B19FC-6B35-47BD-86E2-D1F5F6FDA4D9}" srcId="{A4CA7B40-9EB7-4C77-8556-119F053A3BC1}" destId="{9D4F7890-BC71-471E-AB1B-9F598D752858}" srcOrd="2" destOrd="0" parTransId="{8A81A9A1-3D17-4B5E-823A-F4C61634A717}" sibTransId="{A02D4AB0-BE01-45C2-BD3E-6766ADB3B021}"/>
    <dgm:cxn modelId="{7D19605F-024C-451E-B59B-881F14EA43C2}" type="presParOf" srcId="{7E3F7EC5-1729-4088-BB09-36E02E33A0BF}" destId="{E17E57AF-0587-449A-A755-B1B96DEF2BD2}" srcOrd="0" destOrd="0" presId="urn:microsoft.com/office/officeart/2005/8/layout/process2"/>
    <dgm:cxn modelId="{3AA5064D-14B3-4AA8-BD31-A9E4F2E23136}" type="presParOf" srcId="{7E3F7EC5-1729-4088-BB09-36E02E33A0BF}" destId="{11477A19-6F59-488F-BD44-5E3FBE8E3386}" srcOrd="1" destOrd="0" presId="urn:microsoft.com/office/officeart/2005/8/layout/process2"/>
    <dgm:cxn modelId="{D4022FD0-0F8C-4DC3-BA25-1541D60C634F}" type="presParOf" srcId="{11477A19-6F59-488F-BD44-5E3FBE8E3386}" destId="{1FA9844B-FD2C-4DAF-BE12-A8E3C3B7E384}" srcOrd="0" destOrd="0" presId="urn:microsoft.com/office/officeart/2005/8/layout/process2"/>
    <dgm:cxn modelId="{2DB649E8-30E2-44EA-99DE-53A039066634}" type="presParOf" srcId="{7E3F7EC5-1729-4088-BB09-36E02E33A0BF}" destId="{353C71C7-5E8B-4565-86BF-B755B524B25E}" srcOrd="2" destOrd="0" presId="urn:microsoft.com/office/officeart/2005/8/layout/process2"/>
    <dgm:cxn modelId="{A3591B20-3653-4157-83E1-5964FF547960}" type="presParOf" srcId="{7E3F7EC5-1729-4088-BB09-36E02E33A0BF}" destId="{06ECC167-6368-4F79-84C6-65D90B9BC4A6}" srcOrd="3" destOrd="0" presId="urn:microsoft.com/office/officeart/2005/8/layout/process2"/>
    <dgm:cxn modelId="{A091C5A3-AC92-4E0F-9BBC-E5157FA0564B}" type="presParOf" srcId="{06ECC167-6368-4F79-84C6-65D90B9BC4A6}" destId="{1AF533A8-48F1-4B19-9CD9-5A2DB7199B85}" srcOrd="0" destOrd="0" presId="urn:microsoft.com/office/officeart/2005/8/layout/process2"/>
    <dgm:cxn modelId="{A1B29D4E-2AD9-4199-925A-BF19E0B315E5}" type="presParOf" srcId="{7E3F7EC5-1729-4088-BB09-36E02E33A0BF}" destId="{93DEFB83-998E-4F52-9267-01422D869D93}" srcOrd="4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7E57AF-0587-449A-A755-B1B96DEF2BD2}">
      <dsp:nvSpPr>
        <dsp:cNvPr id="0" name=""/>
        <dsp:cNvSpPr/>
      </dsp:nvSpPr>
      <dsp:spPr>
        <a:xfrm>
          <a:off x="405606" y="0"/>
          <a:ext cx="2185987" cy="1214437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200" kern="12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Linux 用户态</a:t>
          </a:r>
          <a:endParaRPr lang="zh-CN" altLang="en-US" sz="2200" kern="1200"/>
        </a:p>
      </dsp:txBody>
      <dsp:txXfrm>
        <a:off x="441176" y="35570"/>
        <a:ext cx="2114847" cy="1143297"/>
      </dsp:txXfrm>
    </dsp:sp>
    <dsp:sp modelId="{11477A19-6F59-488F-BD44-5E3FBE8E3386}">
      <dsp:nvSpPr>
        <dsp:cNvPr id="0" name=""/>
        <dsp:cNvSpPr/>
      </dsp:nvSpPr>
      <dsp:spPr>
        <a:xfrm rot="5400000">
          <a:off x="1270892" y="1244798"/>
          <a:ext cx="455414" cy="54649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700" kern="1200"/>
        </a:p>
      </dsp:txBody>
      <dsp:txXfrm rot="-5400000">
        <a:off x="1334650" y="1290339"/>
        <a:ext cx="327898" cy="318790"/>
      </dsp:txXfrm>
    </dsp:sp>
    <dsp:sp modelId="{353C71C7-5E8B-4565-86BF-B755B524B25E}">
      <dsp:nvSpPr>
        <dsp:cNvPr id="0" name=""/>
        <dsp:cNvSpPr/>
      </dsp:nvSpPr>
      <dsp:spPr>
        <a:xfrm>
          <a:off x="405606" y="1821656"/>
          <a:ext cx="2185987" cy="1214437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200" kern="12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syscall 适配</a:t>
          </a:r>
          <a:endParaRPr lang="zh-CN" altLang="en-US" sz="2200" kern="1200"/>
        </a:p>
      </dsp:txBody>
      <dsp:txXfrm>
        <a:off x="441176" y="1857226"/>
        <a:ext cx="2114847" cy="1143297"/>
      </dsp:txXfrm>
    </dsp:sp>
    <dsp:sp modelId="{06ECC167-6368-4F79-84C6-65D90B9BC4A6}">
      <dsp:nvSpPr>
        <dsp:cNvPr id="0" name=""/>
        <dsp:cNvSpPr/>
      </dsp:nvSpPr>
      <dsp:spPr>
        <a:xfrm rot="5400000">
          <a:off x="1270892" y="3066454"/>
          <a:ext cx="455414" cy="54649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shade val="90000"/>
            <a:hueOff val="423159"/>
            <a:satOff val="-21413"/>
            <a:lumOff val="36825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700" kern="1200"/>
        </a:p>
      </dsp:txBody>
      <dsp:txXfrm rot="-5400000">
        <a:off x="1334650" y="3111995"/>
        <a:ext cx="327898" cy="318790"/>
      </dsp:txXfrm>
    </dsp:sp>
    <dsp:sp modelId="{93DEFB83-998E-4F52-9267-01422D869D93}">
      <dsp:nvSpPr>
        <dsp:cNvPr id="0" name=""/>
        <dsp:cNvSpPr/>
      </dsp:nvSpPr>
      <dsp:spPr>
        <a:xfrm>
          <a:off x="405606" y="3643312"/>
          <a:ext cx="2185987" cy="1214437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200" kern="12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Anemone 核心对象</a:t>
          </a:r>
          <a:endParaRPr lang="zh-CN" altLang="en-US" sz="2200" kern="1200"/>
        </a:p>
      </dsp:txBody>
      <dsp:txXfrm>
        <a:off x="441176" y="3678882"/>
        <a:ext cx="2114847" cy="114329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1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CE4261-0CDD-45A3-84C2-311859DE5B03}" type="datetime1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F711DA-82CB-44C8-99EC-9CE596A896F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E60BE8-925A-11B1-A6FC-8227F12E5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4E0EDA-A47C-6EF1-866F-3EE69CC16F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96851B-4D04-EF55-528D-541E89ECE8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11533500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跨层协议只传递三类信息。Command 是有界非阻塞操作，Event 只表示应该重新检查，Snapshot 则记录读取时刻的协议事实；Event 本身从不等于 readiness。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4536CA-A6C4-4358-AF93-5CCBD70D248C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2.jpe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.xml"/><Relationship Id="rId3" Type="http://schemas.openxmlformats.org/officeDocument/2006/relationships/image" Target="../media/image3.png"/><Relationship Id="rId7" Type="http://schemas.openxmlformats.org/officeDocument/2006/relationships/diagramLayout" Target="../diagrams/layou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diagramData" Target="../diagrams/data1.xml"/><Relationship Id="rId5" Type="http://schemas.openxmlformats.org/officeDocument/2006/relationships/image" Target="../media/image9.png"/><Relationship Id="rId10" Type="http://schemas.microsoft.com/office/2007/relationships/diagramDrawing" Target="../diagrams/drawing1.xml"/><Relationship Id="rId4" Type="http://schemas.microsoft.com/office/2007/relationships/hdphoto" Target="../media/hdphoto1.wdp"/><Relationship Id="rId9" Type="http://schemas.openxmlformats.org/officeDocument/2006/relationships/diagramColors" Target="../diagrams/colors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microsoft.com/office/2007/relationships/hdphoto" Target="../media/hdphoto1.wdp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microsoft.com/office/2007/relationships/hdphoto" Target="../media/hdphoto1.wdp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12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microsoft.com/office/2007/relationships/hdphoto" Target="../media/hdphoto1.wdp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microsoft.com/office/2007/relationships/hdphoto" Target="../media/hdphoto1.wdp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microsoft.com/office/2007/relationships/hdphoto" Target="../media/hdphoto1.wdp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svg"/><Relationship Id="rId4" Type="http://schemas.microsoft.com/office/2007/relationships/hdphoto" Target="../media/hdphoto1.wdp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microsoft.com/office/2007/relationships/hdphoto" Target="../media/hdphoto1.wdp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microsoft.com/office/2007/relationships/hdphoto" Target="../media/hdphoto1.wdp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image" Target="../media/image2.jpe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MH_Other_8"/>
          <p:cNvPicPr/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887"/>
          <a:stretch>
            <a:fillRect/>
          </a:stretch>
        </p:blipFill>
        <p:spPr bwMode="auto">
          <a:xfrm rot="5400000" flipH="1">
            <a:off x="6024000" y="-3032194"/>
            <a:ext cx="144000" cy="104502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MH_Other_8"/>
          <p:cNvPicPr/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887"/>
          <a:stretch>
            <a:fillRect/>
          </a:stretch>
        </p:blipFill>
        <p:spPr bwMode="auto">
          <a:xfrm rot="16200000" flipH="1" flipV="1">
            <a:off x="6024001" y="-127232"/>
            <a:ext cx="144000" cy="104502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7"/>
          <p:cNvSpPr/>
          <p:nvPr/>
        </p:nvSpPr>
        <p:spPr>
          <a:xfrm>
            <a:off x="0" y="2204967"/>
            <a:ext cx="12192000" cy="286136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744718" y="2789380"/>
            <a:ext cx="1086282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000" b="1" dirty="0" err="1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Anemone</a:t>
            </a:r>
            <a:endParaRPr lang="en-US" altLang="zh-CN" sz="6000" b="1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36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使用Rust开发、多架构、多核、可动态扩展的宏内核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635" y="5388610"/>
            <a:ext cx="121913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3A6695"/>
                </a:solidFill>
              </a:rPr>
              <a:t>队员：张正翰、陈函申      指导老师：夏文、仇洁婷</a:t>
            </a:r>
            <a:endParaRPr lang="en-US" altLang="zh-CN" b="1" dirty="0">
              <a:solidFill>
                <a:srgbClr val="3A6695"/>
              </a:solidFill>
            </a:endParaRPr>
          </a:p>
          <a:p>
            <a:pPr algn="ctr"/>
            <a:endParaRPr lang="en-US" altLang="zh-CN" b="1" dirty="0">
              <a:solidFill>
                <a:srgbClr val="3A6695"/>
              </a:solidFill>
            </a:endParaRPr>
          </a:p>
        </p:txBody>
      </p:sp>
      <p:pic>
        <p:nvPicPr>
          <p:cNvPr id="3" name="图片 2" descr="hitsz-logo"/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789555" y="603250"/>
            <a:ext cx="6612255" cy="121856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 dirty="0"/>
          </a:p>
        </p:txBody>
      </p:sp>
      <p:pic>
        <p:nvPicPr>
          <p:cNvPr id="39" name="图片 38"/>
          <p:cNvPicPr>
            <a:picLocks noChangeAspect="1"/>
          </p:cNvPicPr>
          <p:nvPr/>
        </p:nvPicPr>
        <p:blipFill>
          <a:blip r:embed="rId3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-40000"/>
                    </a14:imgEffect>
                    <a14:imgEffect>
                      <a14:colorTemperature colorTemp="5988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373" y="132991"/>
            <a:ext cx="2997105" cy="550154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15798" y="1163374"/>
            <a:ext cx="94404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400" b="1" dirty="0" err="1">
                <a:solidFill>
                  <a:srgbClr val="0070C0"/>
                </a:solidFill>
              </a:rPr>
              <a:t>全部决赛测例通过</a:t>
            </a:r>
            <a:r>
              <a:rPr lang="zh-CN" altLang="en-US" sz="2400" b="1" dirty="0">
                <a:solidFill>
                  <a:srgbClr val="0070C0"/>
                </a:solidFill>
              </a:rPr>
              <a:t>。截至八月十七日十三点整，排名和得分如下。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215900" y="4354195"/>
            <a:ext cx="11073130" cy="79184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lang="en-US" altLang="zh-CN" sz="2400" dirty="0"/>
              <a:t>Anemone 已通过所有决赛测例
BuildStorm 与 Cagent 测例全部通过</a:t>
            </a:r>
          </a:p>
        </p:txBody>
      </p:sp>
      <p:sp>
        <p:nvSpPr>
          <p:cNvPr id="40" name="NavActive 完成情况"/>
          <p:cNvSpPr/>
          <p:nvPr/>
        </p:nvSpPr>
        <p:spPr>
          <a:xfrm>
            <a:off x="3231850" y="0"/>
            <a:ext cx="1406233" cy="792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cxnSp>
        <p:nvCxnSpPr>
          <p:cNvPr id="41" name="NavDivider 1"/>
          <p:cNvCxnSpPr/>
          <p:nvPr/>
        </p:nvCxnSpPr>
        <p:spPr>
          <a:xfrm>
            <a:off x="4638083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NavDivider 2"/>
          <p:cNvCxnSpPr/>
          <p:nvPr/>
        </p:nvCxnSpPr>
        <p:spPr>
          <a:xfrm>
            <a:off x="6044316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NavDivider 3"/>
          <p:cNvCxnSpPr/>
          <p:nvPr/>
        </p:nvCxnSpPr>
        <p:spPr>
          <a:xfrm>
            <a:off x="74505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NavDivider 4"/>
          <p:cNvCxnSpPr/>
          <p:nvPr/>
        </p:nvCxnSpPr>
        <p:spPr>
          <a:xfrm>
            <a:off x="8856783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NavDivider 5"/>
          <p:cNvCxnSpPr/>
          <p:nvPr/>
        </p:nvCxnSpPr>
        <p:spPr>
          <a:xfrm>
            <a:off x="10263016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NavText 1 完成情况"/>
          <p:cNvSpPr txBox="1"/>
          <p:nvPr/>
        </p:nvSpPr>
        <p:spPr>
          <a:xfrm>
            <a:off x="3231850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完成情况</a:t>
            </a:r>
          </a:p>
        </p:txBody>
      </p:sp>
      <p:sp>
        <p:nvSpPr>
          <p:cNvPr id="47" name="NavText 2 开发历程"/>
          <p:cNvSpPr txBox="1"/>
          <p:nvPr/>
        </p:nvSpPr>
        <p:spPr>
          <a:xfrm>
            <a:off x="4638083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开发历程</a:t>
            </a:r>
          </a:p>
        </p:txBody>
      </p:sp>
      <p:sp>
        <p:nvSpPr>
          <p:cNvPr id="48" name="NavText 3 设计主线"/>
          <p:cNvSpPr txBox="1"/>
          <p:nvPr/>
        </p:nvSpPr>
        <p:spPr>
          <a:xfrm>
            <a:off x="6044316" y="215903"/>
            <a:ext cx="1406234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设计主线</a:t>
            </a:r>
          </a:p>
        </p:txBody>
      </p:sp>
      <p:sp>
        <p:nvSpPr>
          <p:cNvPr id="49" name="NavText 4 核心机制"/>
          <p:cNvSpPr txBox="1"/>
          <p:nvPr/>
        </p:nvSpPr>
        <p:spPr>
          <a:xfrm>
            <a:off x="7450550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核心机制</a:t>
            </a:r>
          </a:p>
        </p:txBody>
      </p:sp>
      <p:sp>
        <p:nvSpPr>
          <p:cNvPr id="50" name="NavText 5 AI使用"/>
          <p:cNvSpPr txBox="1"/>
          <p:nvPr/>
        </p:nvSpPr>
        <p:spPr>
          <a:xfrm>
            <a:off x="8856783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AI使用</a:t>
            </a:r>
          </a:p>
        </p:txBody>
      </p:sp>
      <p:sp>
        <p:nvSpPr>
          <p:cNvPr id="51" name="NavText 6 比赛总结"/>
          <p:cNvSpPr txBox="1"/>
          <p:nvPr/>
        </p:nvSpPr>
        <p:spPr>
          <a:xfrm>
            <a:off x="10263016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比赛总结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8CCC500-DECD-FD5F-E949-4ACBB0587AE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413" y="1711960"/>
            <a:ext cx="11377836" cy="2516537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pic>
        <p:nvPicPr>
          <p:cNvPr id="39" name="图片 38"/>
          <p:cNvPicPr>
            <a:picLocks noChangeAspect="1"/>
          </p:cNvPicPr>
          <p:nvPr/>
        </p:nvPicPr>
        <p:blipFill>
          <a:blip r:embed="rId3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-40000"/>
                    </a14:imgEffect>
                    <a14:imgEffect>
                      <a14:colorTemperature colorTemp="5988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373" y="132991"/>
            <a:ext cx="2997105" cy="550154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48766" y="1189414"/>
            <a:ext cx="3542665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 err="1">
                <a:solidFill>
                  <a:srgbClr val="0070C0"/>
                </a:solidFill>
              </a:rPr>
              <a:t>八个月</a:t>
            </a:r>
            <a:r>
              <a:rPr lang="zh-CN" altLang="en-US" sz="2400" b="1" dirty="0">
                <a:solidFill>
                  <a:srgbClr val="0070C0"/>
                </a:solidFill>
              </a:rPr>
              <a:t>，</a:t>
            </a:r>
            <a:endParaRPr lang="en-US" altLang="zh-CN" sz="2400" b="1" dirty="0">
              <a:solidFill>
                <a:srgbClr val="0070C0"/>
              </a:solidFill>
            </a:endParaRPr>
          </a:p>
          <a:p>
            <a:pPr algn="ctr"/>
            <a:r>
              <a:rPr lang="en-US" altLang="zh-CN" sz="2400" b="1" dirty="0" err="1">
                <a:solidFill>
                  <a:srgbClr val="0070C0"/>
                </a:solidFill>
              </a:rPr>
              <a:t>从零</a:t>
            </a:r>
            <a:r>
              <a:rPr lang="zh-CN" altLang="en-US" sz="2400" b="1" dirty="0">
                <a:solidFill>
                  <a:srgbClr val="0070C0"/>
                </a:solidFill>
              </a:rPr>
              <a:t>设计、</a:t>
            </a:r>
            <a:r>
              <a:rPr lang="en-US" altLang="zh-CN" sz="2400" b="1" dirty="0" err="1">
                <a:solidFill>
                  <a:srgbClr val="0070C0"/>
                </a:solidFill>
              </a:rPr>
              <a:t>构建完整内核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48885" y="2388507"/>
            <a:ext cx="3684022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 sz="2400" dirty="0"/>
              <a:t>内核代码量：1</a:t>
            </a:r>
            <a:r>
              <a:rPr lang="en-US" altLang="zh-CN" sz="2400" dirty="0"/>
              <a:t>91041</a:t>
            </a:r>
            <a:r>
              <a:rPr lang="zh-CN" altLang="en-US" sz="2400" dirty="0"/>
              <a:t> 行</a:t>
            </a:r>
            <a:endParaRPr lang="en-US" altLang="zh-CN" sz="2400" dirty="0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 sz="2400" dirty="0"/>
              <a:t>工程时间：8 个月</a:t>
            </a:r>
            <a:endParaRPr lang="en-US" altLang="zh-CN" sz="2400" dirty="0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 sz="2400" dirty="0"/>
              <a:t>Commit 数目：1</a:t>
            </a:r>
            <a:r>
              <a:rPr lang="en-US" altLang="zh-CN" sz="2400" dirty="0"/>
              <a:t>242</a:t>
            </a:r>
          </a:p>
          <a:p>
            <a:pPr marL="285750" indent="-285750">
              <a:buFontTx/>
              <a:buChar char="-"/>
            </a:pPr>
            <a:endParaRPr lang="en-US" altLang="zh-CN" sz="2400" dirty="0"/>
          </a:p>
          <a:p>
            <a:pPr marL="285750" indent="-285750">
              <a:buFontTx/>
              <a:buChar char="-"/>
            </a:pPr>
            <a:endParaRPr lang="en-US" altLang="zh-CN" sz="2400" dirty="0"/>
          </a:p>
        </p:txBody>
      </p:sp>
      <p:sp>
        <p:nvSpPr>
          <p:cNvPr id="40" name="NavActive 完成情况"/>
          <p:cNvSpPr/>
          <p:nvPr/>
        </p:nvSpPr>
        <p:spPr>
          <a:xfrm>
            <a:off x="3231850" y="0"/>
            <a:ext cx="1406233" cy="792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cxnSp>
        <p:nvCxnSpPr>
          <p:cNvPr id="41" name="NavDivider 1"/>
          <p:cNvCxnSpPr/>
          <p:nvPr/>
        </p:nvCxnSpPr>
        <p:spPr>
          <a:xfrm>
            <a:off x="4638083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NavDivider 2"/>
          <p:cNvCxnSpPr/>
          <p:nvPr/>
        </p:nvCxnSpPr>
        <p:spPr>
          <a:xfrm>
            <a:off x="6044316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NavDivider 3"/>
          <p:cNvCxnSpPr/>
          <p:nvPr/>
        </p:nvCxnSpPr>
        <p:spPr>
          <a:xfrm>
            <a:off x="74505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NavDivider 4"/>
          <p:cNvCxnSpPr/>
          <p:nvPr/>
        </p:nvCxnSpPr>
        <p:spPr>
          <a:xfrm>
            <a:off x="8856783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NavDivider 5"/>
          <p:cNvCxnSpPr/>
          <p:nvPr/>
        </p:nvCxnSpPr>
        <p:spPr>
          <a:xfrm>
            <a:off x="10263016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NavText 1 完成情况"/>
          <p:cNvSpPr txBox="1"/>
          <p:nvPr/>
        </p:nvSpPr>
        <p:spPr>
          <a:xfrm>
            <a:off x="3231850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完成情况</a:t>
            </a:r>
          </a:p>
        </p:txBody>
      </p:sp>
      <p:sp>
        <p:nvSpPr>
          <p:cNvPr id="47" name="NavText 2 开发历程"/>
          <p:cNvSpPr txBox="1"/>
          <p:nvPr/>
        </p:nvSpPr>
        <p:spPr>
          <a:xfrm>
            <a:off x="4638083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开发历程</a:t>
            </a:r>
          </a:p>
        </p:txBody>
      </p:sp>
      <p:sp>
        <p:nvSpPr>
          <p:cNvPr id="48" name="NavText 3 设计主线"/>
          <p:cNvSpPr txBox="1"/>
          <p:nvPr/>
        </p:nvSpPr>
        <p:spPr>
          <a:xfrm>
            <a:off x="6044316" y="215903"/>
            <a:ext cx="1406234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设计主线</a:t>
            </a:r>
          </a:p>
        </p:txBody>
      </p:sp>
      <p:sp>
        <p:nvSpPr>
          <p:cNvPr id="49" name="NavText 4 核心机制"/>
          <p:cNvSpPr txBox="1"/>
          <p:nvPr/>
        </p:nvSpPr>
        <p:spPr>
          <a:xfrm>
            <a:off x="7450550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核心机制</a:t>
            </a:r>
          </a:p>
        </p:txBody>
      </p:sp>
      <p:sp>
        <p:nvSpPr>
          <p:cNvPr id="50" name="NavText 5 AI使用"/>
          <p:cNvSpPr txBox="1"/>
          <p:nvPr/>
        </p:nvSpPr>
        <p:spPr>
          <a:xfrm>
            <a:off x="8856783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AI使用</a:t>
            </a:r>
          </a:p>
        </p:txBody>
      </p:sp>
      <p:sp>
        <p:nvSpPr>
          <p:cNvPr id="51" name="NavText 6 比赛总结"/>
          <p:cNvSpPr txBox="1"/>
          <p:nvPr/>
        </p:nvSpPr>
        <p:spPr>
          <a:xfrm>
            <a:off x="10263016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比赛总结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8082" y="861189"/>
            <a:ext cx="5624933" cy="3733792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486E2590-F4DC-7EED-F5B1-A021BB1684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38082" y="4730641"/>
            <a:ext cx="5442230" cy="2127359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pic>
        <p:nvPicPr>
          <p:cNvPr id="39" name="图片 38"/>
          <p:cNvPicPr>
            <a:picLocks noChangeAspect="1"/>
          </p:cNvPicPr>
          <p:nvPr/>
        </p:nvPicPr>
        <p:blipFill>
          <a:blip r:embed="rId3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-40000"/>
                    </a14:imgEffect>
                    <a14:imgEffect>
                      <a14:colorTemperature colorTemp="5988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373" y="132991"/>
            <a:ext cx="2997105" cy="550154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934618" y="904929"/>
            <a:ext cx="40690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lvl="0" indent="-342900" algn="l">
              <a:buClrTx/>
              <a:buSzTx/>
              <a:buFont typeface="Wingdings" panose="05000000000000000000" pitchFamily="2" charset="2"/>
              <a:buChar char="Ø"/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Anemone 的整体架构</a:t>
            </a:r>
          </a:p>
        </p:txBody>
      </p:sp>
      <p:sp>
        <p:nvSpPr>
          <p:cNvPr id="40" name="NavActive 完成情况"/>
          <p:cNvSpPr/>
          <p:nvPr/>
        </p:nvSpPr>
        <p:spPr>
          <a:xfrm>
            <a:off x="3231850" y="0"/>
            <a:ext cx="1406233" cy="792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cxnSp>
        <p:nvCxnSpPr>
          <p:cNvPr id="41" name="NavDivider 1"/>
          <p:cNvCxnSpPr/>
          <p:nvPr/>
        </p:nvCxnSpPr>
        <p:spPr>
          <a:xfrm>
            <a:off x="4638083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NavDivider 2"/>
          <p:cNvCxnSpPr/>
          <p:nvPr/>
        </p:nvCxnSpPr>
        <p:spPr>
          <a:xfrm>
            <a:off x="6044316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NavDivider 3"/>
          <p:cNvCxnSpPr/>
          <p:nvPr/>
        </p:nvCxnSpPr>
        <p:spPr>
          <a:xfrm>
            <a:off x="74505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NavDivider 4"/>
          <p:cNvCxnSpPr/>
          <p:nvPr/>
        </p:nvCxnSpPr>
        <p:spPr>
          <a:xfrm>
            <a:off x="8856783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NavDivider 5"/>
          <p:cNvCxnSpPr/>
          <p:nvPr/>
        </p:nvCxnSpPr>
        <p:spPr>
          <a:xfrm>
            <a:off x="10263016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NavText 1 完成情况"/>
          <p:cNvSpPr txBox="1"/>
          <p:nvPr/>
        </p:nvSpPr>
        <p:spPr>
          <a:xfrm>
            <a:off x="3231850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完成情况</a:t>
            </a:r>
          </a:p>
        </p:txBody>
      </p:sp>
      <p:sp>
        <p:nvSpPr>
          <p:cNvPr id="47" name="NavText 2 开发历程"/>
          <p:cNvSpPr txBox="1"/>
          <p:nvPr/>
        </p:nvSpPr>
        <p:spPr>
          <a:xfrm>
            <a:off x="4638083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开发历程</a:t>
            </a:r>
          </a:p>
        </p:txBody>
      </p:sp>
      <p:sp>
        <p:nvSpPr>
          <p:cNvPr id="48" name="NavText 3 设计主线"/>
          <p:cNvSpPr txBox="1"/>
          <p:nvPr/>
        </p:nvSpPr>
        <p:spPr>
          <a:xfrm>
            <a:off x="6044316" y="215903"/>
            <a:ext cx="1406234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设计主线</a:t>
            </a:r>
          </a:p>
        </p:txBody>
      </p:sp>
      <p:sp>
        <p:nvSpPr>
          <p:cNvPr id="49" name="NavText 4 核心机制"/>
          <p:cNvSpPr txBox="1"/>
          <p:nvPr/>
        </p:nvSpPr>
        <p:spPr>
          <a:xfrm>
            <a:off x="7450550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核心机制</a:t>
            </a:r>
          </a:p>
        </p:txBody>
      </p:sp>
      <p:sp>
        <p:nvSpPr>
          <p:cNvPr id="50" name="NavText 5 AI使用"/>
          <p:cNvSpPr txBox="1"/>
          <p:nvPr/>
        </p:nvSpPr>
        <p:spPr>
          <a:xfrm>
            <a:off x="8856783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AI使用</a:t>
            </a:r>
          </a:p>
        </p:txBody>
      </p:sp>
      <p:sp>
        <p:nvSpPr>
          <p:cNvPr id="51" name="NavText 6 比赛总结"/>
          <p:cNvSpPr txBox="1"/>
          <p:nvPr/>
        </p:nvSpPr>
        <p:spPr>
          <a:xfrm>
            <a:off x="10263016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比赛总结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9060" y="1476375"/>
            <a:ext cx="8736330" cy="505904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pic>
        <p:nvPicPr>
          <p:cNvPr id="39" name="图片 38"/>
          <p:cNvPicPr>
            <a:picLocks noChangeAspect="1"/>
          </p:cNvPicPr>
          <p:nvPr/>
        </p:nvPicPr>
        <p:blipFill>
          <a:blip r:embed="rId3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-40000"/>
                    </a14:imgEffect>
                    <a14:imgEffect>
                      <a14:colorTemperature colorTemp="5988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373" y="132991"/>
            <a:ext cx="2997105" cy="550154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551227" y="752105"/>
            <a:ext cx="442531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 algn="l">
              <a:buClrTx/>
              <a:buSzTx/>
              <a:buFont typeface="Wingdings" panose="05000000000000000000" pitchFamily="2" charset="2"/>
              <a:buChar char="Ø"/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Anemone 核心能力全景</a:t>
            </a:r>
          </a:p>
        </p:txBody>
      </p:sp>
      <p:graphicFrame>
        <p:nvGraphicFramePr>
          <p:cNvPr id="3" name="表格 2"/>
          <p:cNvGraphicFramePr/>
          <p:nvPr/>
        </p:nvGraphicFramePr>
        <p:xfrm>
          <a:off x="574306" y="1243531"/>
          <a:ext cx="9844636" cy="5580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33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212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254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核心能力</a:t>
                      </a:r>
                      <a:endParaRPr lang="en-US" altLang="zh-CN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实现功能</a:t>
                      </a:r>
                      <a:endParaRPr lang="en-US" altLang="zh-CN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进程与调度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</a:t>
                      </a:r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LWP</a:t>
                      </a:r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设计；SMP； </a:t>
                      </a:r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Fair</a:t>
                      </a:r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</a:t>
                      </a:r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Realtime</a:t>
                      </a:r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，多调度类动态切换；</a:t>
                      </a:r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Unix</a:t>
                      </a:r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作业控制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动态扩展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沙箱化内核模块；热插拔；</a:t>
                      </a:r>
                      <a:r>
                        <a:rPr lang="en-US" altLang="zh-CN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WebAssembly</a:t>
                      </a:r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；同一模块制品可同时运行在不同架构；</a:t>
                      </a:r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Rust SDK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内存管理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Zircon VMO</a:t>
                      </a:r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架构；</a:t>
                      </a:r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写时复制；异常表驱动的用户访存；匿名零页共享；</a:t>
                      </a:r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IO Remap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VFS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多重挂载 / Bind Mount；ICache / Page Cache </a:t>
                      </a:r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 </a:t>
                      </a:r>
                      <a:r>
                        <a:rPr lang="en-US" altLang="zh-CN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DCache</a:t>
                      </a:r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；</a:t>
                      </a:r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Direct IO</a:t>
                      </a:r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；</a:t>
                      </a:r>
                      <a:r>
                        <a:rPr lang="en-US" altLang="zh-CN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ProcFs</a:t>
                      </a:r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；</a:t>
                      </a:r>
                      <a:r>
                        <a:rPr lang="en-US" altLang="zh-CN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DevFs</a:t>
                      </a:r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；</a:t>
                      </a:r>
                      <a:r>
                        <a:rPr lang="en-US" altLang="zh-CN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SysFs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设备驱动模型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Bus + Driver + Device模型；支持中断</a:t>
                      </a:r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IO</a:t>
                      </a:r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与</a:t>
                      </a:r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DMA IO</a:t>
                      </a:r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；</a:t>
                      </a:r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PCI</a:t>
                      </a:r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lang="en-US" altLang="zh-CN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VirtIO</a:t>
                      </a:r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MMC</a:t>
                      </a:r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GMAC</a:t>
                      </a:r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；多层级</a:t>
                      </a:r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IRQ</a:t>
                      </a:r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；设备树</a:t>
                      </a:r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/EFI</a:t>
                      </a:r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解析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网络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统一</a:t>
                      </a:r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Socket</a:t>
                      </a:r>
                      <a:r>
                        <a:rPr lang="zh-CN" altLang="en-US" sz="1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前端；</a:t>
                      </a:r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TCP</a:t>
                      </a:r>
                      <a:r>
                        <a:rPr lang="zh-CN" altLang="en-US" sz="1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；</a:t>
                      </a:r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UDP</a:t>
                      </a:r>
                      <a:r>
                        <a:rPr lang="zh-CN" altLang="en-US" sz="1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；</a:t>
                      </a:r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ICMP</a:t>
                      </a:r>
                      <a:r>
                        <a:rPr lang="zh-CN" altLang="en-US" sz="1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；</a:t>
                      </a:r>
                      <a:r>
                        <a:rPr lang="en-US" altLang="zh-CN" sz="1800" dirty="0" err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NetLink</a:t>
                      </a:r>
                      <a:r>
                        <a:rPr lang="zh-CN" altLang="en-US" sz="1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；</a:t>
                      </a:r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IPv4</a:t>
                      </a:r>
                      <a:r>
                        <a:rPr lang="zh-CN" altLang="en-US" sz="1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；本地回环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硬件抽象层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RISC-V64 / LoongArch64；架构特有能力旁路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构建系统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dirty="0" err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Xtask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；</a:t>
                      </a:r>
                      <a:r>
                        <a:rPr lang="en-US" altLang="zh-CN" dirty="0" err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KernelConfig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；</a:t>
                      </a:r>
                      <a:r>
                        <a:rPr lang="en-US" altLang="zh-CN" dirty="0" err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RootFsConfig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; </a:t>
                      </a:r>
                      <a:r>
                        <a:rPr lang="en-US" altLang="zh-CN" dirty="0" err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SystemTarget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; App/Module 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完整可配置自动化构建链路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0" name="NavActive 完成情况"/>
          <p:cNvSpPr/>
          <p:nvPr/>
        </p:nvSpPr>
        <p:spPr>
          <a:xfrm>
            <a:off x="3231850" y="0"/>
            <a:ext cx="1406233" cy="792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cxnSp>
        <p:nvCxnSpPr>
          <p:cNvPr id="41" name="NavDivider 1"/>
          <p:cNvCxnSpPr/>
          <p:nvPr/>
        </p:nvCxnSpPr>
        <p:spPr>
          <a:xfrm>
            <a:off x="4638083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NavDivider 2"/>
          <p:cNvCxnSpPr/>
          <p:nvPr/>
        </p:nvCxnSpPr>
        <p:spPr>
          <a:xfrm>
            <a:off x="6044316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NavDivider 3"/>
          <p:cNvCxnSpPr/>
          <p:nvPr/>
        </p:nvCxnSpPr>
        <p:spPr>
          <a:xfrm>
            <a:off x="74505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NavDivider 4"/>
          <p:cNvCxnSpPr/>
          <p:nvPr/>
        </p:nvCxnSpPr>
        <p:spPr>
          <a:xfrm>
            <a:off x="8856783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NavDivider 5"/>
          <p:cNvCxnSpPr/>
          <p:nvPr/>
        </p:nvCxnSpPr>
        <p:spPr>
          <a:xfrm>
            <a:off x="10263016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NavText 1 完成情况"/>
          <p:cNvSpPr txBox="1"/>
          <p:nvPr/>
        </p:nvSpPr>
        <p:spPr>
          <a:xfrm>
            <a:off x="3231850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完成情况</a:t>
            </a:r>
          </a:p>
        </p:txBody>
      </p:sp>
      <p:sp>
        <p:nvSpPr>
          <p:cNvPr id="47" name="NavText 2 开发历程"/>
          <p:cNvSpPr txBox="1"/>
          <p:nvPr/>
        </p:nvSpPr>
        <p:spPr>
          <a:xfrm>
            <a:off x="4638083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开发历程</a:t>
            </a:r>
          </a:p>
        </p:txBody>
      </p:sp>
      <p:sp>
        <p:nvSpPr>
          <p:cNvPr id="48" name="NavText 3 设计主线"/>
          <p:cNvSpPr txBox="1"/>
          <p:nvPr/>
        </p:nvSpPr>
        <p:spPr>
          <a:xfrm>
            <a:off x="6044316" y="215903"/>
            <a:ext cx="1406234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设计主线</a:t>
            </a:r>
          </a:p>
        </p:txBody>
      </p:sp>
      <p:sp>
        <p:nvSpPr>
          <p:cNvPr id="49" name="NavText 4 核心机制"/>
          <p:cNvSpPr txBox="1"/>
          <p:nvPr/>
        </p:nvSpPr>
        <p:spPr>
          <a:xfrm>
            <a:off x="7450550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核心机制</a:t>
            </a:r>
          </a:p>
        </p:txBody>
      </p:sp>
      <p:sp>
        <p:nvSpPr>
          <p:cNvPr id="50" name="NavText 5 AI使用"/>
          <p:cNvSpPr txBox="1"/>
          <p:nvPr/>
        </p:nvSpPr>
        <p:spPr>
          <a:xfrm>
            <a:off x="8856783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AI使用</a:t>
            </a:r>
          </a:p>
        </p:txBody>
      </p:sp>
      <p:sp>
        <p:nvSpPr>
          <p:cNvPr id="51" name="NavText 6 比赛总结"/>
          <p:cNvSpPr txBox="1"/>
          <p:nvPr/>
        </p:nvSpPr>
        <p:spPr>
          <a:xfrm>
            <a:off x="10263016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比赛总结</a:t>
            </a: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pic>
        <p:nvPicPr>
          <p:cNvPr id="39" name="图片 38"/>
          <p:cNvPicPr>
            <a:picLocks noChangeAspect="1"/>
          </p:cNvPicPr>
          <p:nvPr/>
        </p:nvPicPr>
        <p:blipFill>
          <a:blip r:embed="rId3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-40000"/>
                    </a14:imgEffect>
                    <a14:imgEffect>
                      <a14:colorTemperature colorTemp="5988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373" y="132991"/>
            <a:ext cx="2997105" cy="550154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20409" y="1007903"/>
            <a:ext cx="515683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 algn="l">
              <a:buClrTx/>
              <a:buSzTx/>
              <a:buFont typeface="Wingdings" panose="05000000000000000000" pitchFamily="2" charset="2"/>
              <a:buChar char="Ø"/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目前已经支持的应用程序举例</a:t>
            </a:r>
          </a:p>
        </p:txBody>
      </p:sp>
      <p:sp>
        <p:nvSpPr>
          <p:cNvPr id="40" name="NavActive 完成情况"/>
          <p:cNvSpPr/>
          <p:nvPr/>
        </p:nvSpPr>
        <p:spPr>
          <a:xfrm>
            <a:off x="3231850" y="0"/>
            <a:ext cx="1406233" cy="792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cxnSp>
        <p:nvCxnSpPr>
          <p:cNvPr id="41" name="NavDivider 1"/>
          <p:cNvCxnSpPr/>
          <p:nvPr/>
        </p:nvCxnSpPr>
        <p:spPr>
          <a:xfrm>
            <a:off x="4638083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NavDivider 2"/>
          <p:cNvCxnSpPr/>
          <p:nvPr/>
        </p:nvCxnSpPr>
        <p:spPr>
          <a:xfrm>
            <a:off x="6044316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NavDivider 3"/>
          <p:cNvCxnSpPr/>
          <p:nvPr/>
        </p:nvCxnSpPr>
        <p:spPr>
          <a:xfrm>
            <a:off x="74505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NavDivider 4"/>
          <p:cNvCxnSpPr/>
          <p:nvPr/>
        </p:nvCxnSpPr>
        <p:spPr>
          <a:xfrm>
            <a:off x="8856783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NavDivider 5"/>
          <p:cNvCxnSpPr/>
          <p:nvPr/>
        </p:nvCxnSpPr>
        <p:spPr>
          <a:xfrm>
            <a:off x="10263016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NavText 1 完成情况"/>
          <p:cNvSpPr txBox="1"/>
          <p:nvPr/>
        </p:nvSpPr>
        <p:spPr>
          <a:xfrm>
            <a:off x="3231850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完成情况</a:t>
            </a:r>
          </a:p>
        </p:txBody>
      </p:sp>
      <p:sp>
        <p:nvSpPr>
          <p:cNvPr id="47" name="NavText 2 开发历程"/>
          <p:cNvSpPr txBox="1"/>
          <p:nvPr/>
        </p:nvSpPr>
        <p:spPr>
          <a:xfrm>
            <a:off x="4638083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开发历程</a:t>
            </a:r>
          </a:p>
        </p:txBody>
      </p:sp>
      <p:sp>
        <p:nvSpPr>
          <p:cNvPr id="48" name="NavText 3 设计主线"/>
          <p:cNvSpPr txBox="1"/>
          <p:nvPr/>
        </p:nvSpPr>
        <p:spPr>
          <a:xfrm>
            <a:off x="6044316" y="215903"/>
            <a:ext cx="1406234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设计主线</a:t>
            </a:r>
          </a:p>
        </p:txBody>
      </p:sp>
      <p:sp>
        <p:nvSpPr>
          <p:cNvPr id="49" name="NavText 4 核心机制"/>
          <p:cNvSpPr txBox="1"/>
          <p:nvPr/>
        </p:nvSpPr>
        <p:spPr>
          <a:xfrm>
            <a:off x="7450550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核心机制</a:t>
            </a:r>
          </a:p>
        </p:txBody>
      </p:sp>
      <p:sp>
        <p:nvSpPr>
          <p:cNvPr id="50" name="NavText 5 AI使用"/>
          <p:cNvSpPr txBox="1"/>
          <p:nvPr/>
        </p:nvSpPr>
        <p:spPr>
          <a:xfrm>
            <a:off x="8856783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AI使用</a:t>
            </a:r>
          </a:p>
        </p:txBody>
      </p:sp>
      <p:sp>
        <p:nvSpPr>
          <p:cNvPr id="51" name="NavText 6 比赛总结"/>
          <p:cNvSpPr txBox="1"/>
          <p:nvPr/>
        </p:nvSpPr>
        <p:spPr>
          <a:xfrm>
            <a:off x="10263016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比赛总结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522513" y="1923803"/>
            <a:ext cx="10646229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zh-CN" sz="2400" dirty="0"/>
              <a:t>OpenJDK25		</a:t>
            </a:r>
            <a:r>
              <a:rPr lang="en-US" altLang="zh-CN" sz="2400" dirty="0" err="1"/>
              <a:t>HotSpot</a:t>
            </a:r>
            <a:r>
              <a:rPr lang="en-US" altLang="zh-CN" sz="2400" dirty="0"/>
              <a:t> JIT</a:t>
            </a:r>
            <a:r>
              <a:rPr lang="zh-CN" altLang="en-US" sz="2400" dirty="0"/>
              <a:t>，运行</a:t>
            </a:r>
            <a:r>
              <a:rPr lang="en-US" altLang="zh-CN" sz="2400" dirty="0"/>
              <a:t> Minecraft Java 26.2 Server</a:t>
            </a:r>
          </a:p>
          <a:p>
            <a:pPr marL="285750" indent="-285750">
              <a:buFontTx/>
              <a:buChar char="-"/>
            </a:pPr>
            <a:r>
              <a:rPr lang="en-US" altLang="zh-CN" sz="2400" dirty="0"/>
              <a:t>Cargo / </a:t>
            </a:r>
            <a:r>
              <a:rPr lang="en-US" altLang="zh-CN" sz="2400" dirty="0" err="1"/>
              <a:t>RustC</a:t>
            </a:r>
            <a:r>
              <a:rPr lang="en-US" altLang="zh-CN" sz="2400" dirty="0"/>
              <a:t>	</a:t>
            </a:r>
            <a:r>
              <a:rPr lang="zh-CN" altLang="en-US" sz="2400" dirty="0"/>
              <a:t>足以编译大型代码库，例如</a:t>
            </a:r>
            <a:r>
              <a:rPr lang="en-US" altLang="zh-CN" sz="2400" dirty="0"/>
              <a:t> </a:t>
            </a:r>
            <a:r>
              <a:rPr lang="en-US" altLang="zh-CN" sz="2400" dirty="0" err="1"/>
              <a:t>arceos-helloworld</a:t>
            </a:r>
            <a:endParaRPr lang="en-US" altLang="zh-CN" sz="2400" dirty="0"/>
          </a:p>
          <a:p>
            <a:pPr marL="285750" indent="-285750">
              <a:buFontTx/>
              <a:buChar char="-"/>
            </a:pPr>
            <a:r>
              <a:rPr lang="en-US" altLang="zh-CN" sz="2400" dirty="0"/>
              <a:t>Apt			</a:t>
            </a:r>
            <a:r>
              <a:rPr lang="zh-CN" altLang="en-US" sz="2400" dirty="0"/>
              <a:t>已经支持直接使用</a:t>
            </a:r>
            <a:r>
              <a:rPr lang="en-US" altLang="zh-CN" sz="2400" dirty="0"/>
              <a:t>apt</a:t>
            </a:r>
            <a:r>
              <a:rPr lang="zh-CN" altLang="en-US" sz="2400" dirty="0"/>
              <a:t> </a:t>
            </a:r>
            <a:r>
              <a:rPr lang="en-US" altLang="zh-CN" sz="2400" dirty="0"/>
              <a:t>install</a:t>
            </a:r>
            <a:r>
              <a:rPr lang="zh-CN" altLang="en-US" sz="2400" dirty="0"/>
              <a:t>大量包</a:t>
            </a:r>
            <a:endParaRPr lang="en-US" altLang="zh-CN" sz="2400" dirty="0"/>
          </a:p>
          <a:p>
            <a:pPr marL="285750" indent="-285750">
              <a:buFontTx/>
              <a:buChar char="-"/>
            </a:pPr>
            <a:r>
              <a:rPr lang="en-US" altLang="zh-CN" sz="2400" dirty="0"/>
              <a:t>OpenSSH/</a:t>
            </a:r>
            <a:r>
              <a:rPr lang="en-US" altLang="zh-CN" sz="2400" dirty="0" err="1"/>
              <a:t>Dropbear</a:t>
            </a:r>
            <a:r>
              <a:rPr lang="en-US" altLang="zh-CN" sz="2400" dirty="0"/>
              <a:t>	</a:t>
            </a:r>
            <a:r>
              <a:rPr lang="zh-CN" altLang="en-US" sz="2400" dirty="0"/>
              <a:t>已经可以建立</a:t>
            </a:r>
            <a:r>
              <a:rPr lang="en-US" altLang="zh-CN" sz="2400" dirty="0" err="1"/>
              <a:t>sshd</a:t>
            </a:r>
            <a:r>
              <a:rPr lang="zh-CN" altLang="en-US" sz="2400" dirty="0"/>
              <a:t>和通过</a:t>
            </a:r>
            <a:r>
              <a:rPr lang="en-US" altLang="zh-CN" sz="2400" dirty="0"/>
              <a:t>ssh</a:t>
            </a:r>
            <a:r>
              <a:rPr lang="zh-CN" altLang="en-US" sz="2400" dirty="0"/>
              <a:t>连接其他主机</a:t>
            </a:r>
            <a:endParaRPr lang="en-US" altLang="zh-CN" sz="2400" dirty="0"/>
          </a:p>
          <a:p>
            <a:pPr marL="285750" indent="-285750">
              <a:buFontTx/>
              <a:buChar char="-"/>
            </a:pPr>
            <a:r>
              <a:rPr lang="en-US" altLang="zh-CN" sz="2400" dirty="0"/>
              <a:t>Golang		</a:t>
            </a:r>
            <a:r>
              <a:rPr lang="zh-CN" altLang="en-US" sz="2400" dirty="0"/>
              <a:t>支持</a:t>
            </a:r>
            <a:r>
              <a:rPr lang="en-US" altLang="zh-CN" sz="2400" dirty="0"/>
              <a:t>CGO</a:t>
            </a:r>
            <a:r>
              <a:rPr lang="zh-CN" altLang="en-US" sz="2400" dirty="0"/>
              <a:t>与原生</a:t>
            </a:r>
            <a:r>
              <a:rPr lang="en-US" altLang="zh-CN" sz="2400" dirty="0"/>
              <a:t>GO</a:t>
            </a:r>
            <a:r>
              <a:rPr lang="zh-CN" altLang="en-US" sz="2400" dirty="0"/>
              <a:t>大规模编译</a:t>
            </a:r>
            <a:endParaRPr lang="en-US" altLang="zh-CN" sz="2400" dirty="0"/>
          </a:p>
          <a:p>
            <a:pPr marL="285750" indent="-285750">
              <a:buFontTx/>
              <a:buChar char="-"/>
            </a:pPr>
            <a:r>
              <a:rPr lang="en-US" altLang="zh-CN" sz="2400" dirty="0"/>
              <a:t>Nginx		</a:t>
            </a:r>
            <a:r>
              <a:rPr lang="zh-CN" altLang="en-US" sz="2400" dirty="0"/>
              <a:t>可以直接启动服务器，并通过网络访问</a:t>
            </a:r>
            <a:endParaRPr lang="en-US" altLang="zh-CN" sz="2400" dirty="0"/>
          </a:p>
          <a:p>
            <a:pPr marL="285750" indent="-285750">
              <a:buFontTx/>
              <a:buChar char="-"/>
            </a:pPr>
            <a:r>
              <a:rPr lang="en-US" altLang="zh-CN" sz="2400" dirty="0" err="1"/>
              <a:t>Qemu</a:t>
            </a:r>
            <a:r>
              <a:rPr lang="en-US" altLang="zh-CN" sz="2400" dirty="0"/>
              <a:t>-System	</a:t>
            </a:r>
            <a:r>
              <a:rPr lang="zh-CN" altLang="en-US" sz="2400" dirty="0"/>
              <a:t>支持系统级别模拟。可以嵌套启动</a:t>
            </a:r>
            <a:r>
              <a:rPr lang="en-US" altLang="zh-CN" sz="2400" dirty="0"/>
              <a:t>Anemone</a:t>
            </a:r>
            <a:r>
              <a:rPr lang="zh-CN" altLang="en-US" sz="2400" dirty="0"/>
              <a:t>。</a:t>
            </a:r>
          </a:p>
          <a:p>
            <a:pPr indent="0">
              <a:buFontTx/>
              <a:buNone/>
            </a:pPr>
            <a:r>
              <a:rPr lang="en-US" altLang="zh-CN" sz="2400" dirty="0"/>
              <a:t>……</a:t>
            </a: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2262C-E412-F53D-17CA-9A158B94D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>
            <a:extLst>
              <a:ext uri="{FF2B5EF4-FFF2-40B4-BE49-F238E27FC236}">
                <a16:creationId xmlns:a16="http://schemas.microsoft.com/office/drawing/2014/main" id="{A7522E15-5A1B-649C-1004-162EF7B80945}"/>
              </a:ext>
            </a:extLst>
          </p:cNvPr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pic>
        <p:nvPicPr>
          <p:cNvPr id="39" name="图片 38">
            <a:extLst>
              <a:ext uri="{FF2B5EF4-FFF2-40B4-BE49-F238E27FC236}">
                <a16:creationId xmlns:a16="http://schemas.microsoft.com/office/drawing/2014/main" id="{2C01BD67-998A-4064-EB37-CB7F246FBCC8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-40000"/>
                    </a14:imgEffect>
                    <a14:imgEffect>
                      <a14:colorTemperature colorTemp="5988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373" y="132991"/>
            <a:ext cx="2997105" cy="550154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A6BDF4AC-FCA2-0897-E0A6-B3E788509CBF}"/>
              </a:ext>
            </a:extLst>
          </p:cNvPr>
          <p:cNvSpPr txBox="1"/>
          <p:nvPr/>
        </p:nvSpPr>
        <p:spPr>
          <a:xfrm>
            <a:off x="420409" y="1007903"/>
            <a:ext cx="49187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 algn="l">
              <a:buClrTx/>
              <a:buSzTx/>
              <a:buFont typeface="Wingdings" panose="05000000000000000000" pitchFamily="2" charset="2"/>
              <a:buChar char="Ø"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一次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MC Server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启动的日志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0" name="NavActive 完成情况">
            <a:extLst>
              <a:ext uri="{FF2B5EF4-FFF2-40B4-BE49-F238E27FC236}">
                <a16:creationId xmlns:a16="http://schemas.microsoft.com/office/drawing/2014/main" id="{3DDFAFC9-BCCA-A775-8BC4-71FD18BFC048}"/>
              </a:ext>
            </a:extLst>
          </p:cNvPr>
          <p:cNvSpPr/>
          <p:nvPr/>
        </p:nvSpPr>
        <p:spPr>
          <a:xfrm>
            <a:off x="3231850" y="0"/>
            <a:ext cx="1406233" cy="792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cxnSp>
        <p:nvCxnSpPr>
          <p:cNvPr id="41" name="NavDivider 1">
            <a:extLst>
              <a:ext uri="{FF2B5EF4-FFF2-40B4-BE49-F238E27FC236}">
                <a16:creationId xmlns:a16="http://schemas.microsoft.com/office/drawing/2014/main" id="{7AFEB218-5C06-876B-CF9C-AD2163FC6464}"/>
              </a:ext>
            </a:extLst>
          </p:cNvPr>
          <p:cNvCxnSpPr/>
          <p:nvPr/>
        </p:nvCxnSpPr>
        <p:spPr>
          <a:xfrm>
            <a:off x="4638083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NavDivider 2">
            <a:extLst>
              <a:ext uri="{FF2B5EF4-FFF2-40B4-BE49-F238E27FC236}">
                <a16:creationId xmlns:a16="http://schemas.microsoft.com/office/drawing/2014/main" id="{CDBCEEAE-B193-B8A4-1271-9995A2B4E688}"/>
              </a:ext>
            </a:extLst>
          </p:cNvPr>
          <p:cNvCxnSpPr/>
          <p:nvPr/>
        </p:nvCxnSpPr>
        <p:spPr>
          <a:xfrm>
            <a:off x="6044316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NavDivider 3">
            <a:extLst>
              <a:ext uri="{FF2B5EF4-FFF2-40B4-BE49-F238E27FC236}">
                <a16:creationId xmlns:a16="http://schemas.microsoft.com/office/drawing/2014/main" id="{2F394411-7489-A0EB-6980-6E8E402A253F}"/>
              </a:ext>
            </a:extLst>
          </p:cNvPr>
          <p:cNvCxnSpPr/>
          <p:nvPr/>
        </p:nvCxnSpPr>
        <p:spPr>
          <a:xfrm>
            <a:off x="74505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NavDivider 4">
            <a:extLst>
              <a:ext uri="{FF2B5EF4-FFF2-40B4-BE49-F238E27FC236}">
                <a16:creationId xmlns:a16="http://schemas.microsoft.com/office/drawing/2014/main" id="{2A5CE8BD-92EA-C04B-7163-FA284EC10881}"/>
              </a:ext>
            </a:extLst>
          </p:cNvPr>
          <p:cNvCxnSpPr/>
          <p:nvPr/>
        </p:nvCxnSpPr>
        <p:spPr>
          <a:xfrm>
            <a:off x="8856783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NavDivider 5">
            <a:extLst>
              <a:ext uri="{FF2B5EF4-FFF2-40B4-BE49-F238E27FC236}">
                <a16:creationId xmlns:a16="http://schemas.microsoft.com/office/drawing/2014/main" id="{D85548B6-670B-B218-2748-7626740F28CB}"/>
              </a:ext>
            </a:extLst>
          </p:cNvPr>
          <p:cNvCxnSpPr/>
          <p:nvPr/>
        </p:nvCxnSpPr>
        <p:spPr>
          <a:xfrm>
            <a:off x="10263016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NavText 1 完成情况">
            <a:extLst>
              <a:ext uri="{FF2B5EF4-FFF2-40B4-BE49-F238E27FC236}">
                <a16:creationId xmlns:a16="http://schemas.microsoft.com/office/drawing/2014/main" id="{5A85D088-82DA-436A-ACA2-0E747C31CD37}"/>
              </a:ext>
            </a:extLst>
          </p:cNvPr>
          <p:cNvSpPr txBox="1"/>
          <p:nvPr/>
        </p:nvSpPr>
        <p:spPr>
          <a:xfrm>
            <a:off x="3231850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完成情况</a:t>
            </a:r>
          </a:p>
        </p:txBody>
      </p:sp>
      <p:sp>
        <p:nvSpPr>
          <p:cNvPr id="47" name="NavText 2 开发历程">
            <a:extLst>
              <a:ext uri="{FF2B5EF4-FFF2-40B4-BE49-F238E27FC236}">
                <a16:creationId xmlns:a16="http://schemas.microsoft.com/office/drawing/2014/main" id="{E91CD41F-0AB3-EF71-7E6F-0A9E998C17D0}"/>
              </a:ext>
            </a:extLst>
          </p:cNvPr>
          <p:cNvSpPr txBox="1"/>
          <p:nvPr/>
        </p:nvSpPr>
        <p:spPr>
          <a:xfrm>
            <a:off x="4638083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开发历程</a:t>
            </a:r>
          </a:p>
        </p:txBody>
      </p:sp>
      <p:sp>
        <p:nvSpPr>
          <p:cNvPr id="48" name="NavText 3 设计主线">
            <a:extLst>
              <a:ext uri="{FF2B5EF4-FFF2-40B4-BE49-F238E27FC236}">
                <a16:creationId xmlns:a16="http://schemas.microsoft.com/office/drawing/2014/main" id="{00F0D013-D508-AC09-0688-F453D049A552}"/>
              </a:ext>
            </a:extLst>
          </p:cNvPr>
          <p:cNvSpPr txBox="1"/>
          <p:nvPr/>
        </p:nvSpPr>
        <p:spPr>
          <a:xfrm>
            <a:off x="6044316" y="215903"/>
            <a:ext cx="1406234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设计主线</a:t>
            </a:r>
          </a:p>
        </p:txBody>
      </p:sp>
      <p:sp>
        <p:nvSpPr>
          <p:cNvPr id="49" name="NavText 4 核心机制">
            <a:extLst>
              <a:ext uri="{FF2B5EF4-FFF2-40B4-BE49-F238E27FC236}">
                <a16:creationId xmlns:a16="http://schemas.microsoft.com/office/drawing/2014/main" id="{67AE9817-230A-0E31-CCD1-EDBC34B5B900}"/>
              </a:ext>
            </a:extLst>
          </p:cNvPr>
          <p:cNvSpPr txBox="1"/>
          <p:nvPr/>
        </p:nvSpPr>
        <p:spPr>
          <a:xfrm>
            <a:off x="7450550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核心机制</a:t>
            </a:r>
          </a:p>
        </p:txBody>
      </p:sp>
      <p:sp>
        <p:nvSpPr>
          <p:cNvPr id="50" name="NavText 5 AI使用">
            <a:extLst>
              <a:ext uri="{FF2B5EF4-FFF2-40B4-BE49-F238E27FC236}">
                <a16:creationId xmlns:a16="http://schemas.microsoft.com/office/drawing/2014/main" id="{66B2C057-BBEE-61B1-7DF2-027C9654C0F5}"/>
              </a:ext>
            </a:extLst>
          </p:cNvPr>
          <p:cNvSpPr txBox="1"/>
          <p:nvPr/>
        </p:nvSpPr>
        <p:spPr>
          <a:xfrm>
            <a:off x="8856783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AI使用</a:t>
            </a:r>
          </a:p>
        </p:txBody>
      </p:sp>
      <p:sp>
        <p:nvSpPr>
          <p:cNvPr id="51" name="NavText 6 比赛总结">
            <a:extLst>
              <a:ext uri="{FF2B5EF4-FFF2-40B4-BE49-F238E27FC236}">
                <a16:creationId xmlns:a16="http://schemas.microsoft.com/office/drawing/2014/main" id="{4819E6D8-A393-B855-CF06-8300E3592515}"/>
              </a:ext>
            </a:extLst>
          </p:cNvPr>
          <p:cNvSpPr txBox="1"/>
          <p:nvPr/>
        </p:nvSpPr>
        <p:spPr>
          <a:xfrm>
            <a:off x="10263016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比赛总结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1CFE060-55E2-EDE4-B6F5-73F697068D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580" y="1614440"/>
            <a:ext cx="8478040" cy="5110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584319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3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-40000"/>
                    </a14:imgEffect>
                    <a14:imgEffect>
                      <a14:colorTemperature colorTemp="5988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373" y="132991"/>
            <a:ext cx="2997105" cy="550154"/>
          </a:xfrm>
          <a:prstGeom prst="rect">
            <a:avLst/>
          </a:prstGeom>
        </p:spPr>
      </p:pic>
      <p:sp>
        <p:nvSpPr>
          <p:cNvPr id="62" name="文本框 61"/>
          <p:cNvSpPr txBox="1"/>
          <p:nvPr/>
        </p:nvSpPr>
        <p:spPr>
          <a:xfrm>
            <a:off x="117373" y="1084103"/>
            <a:ext cx="371284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 algn="l">
              <a:buClrTx/>
              <a:buSzTx/>
              <a:buFont typeface="Wingdings" panose="05000000000000000000" pitchFamily="2" charset="2"/>
              <a:buChar char="Ø"/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Anemone 开发历程</a:t>
            </a:r>
          </a:p>
        </p:txBody>
      </p:sp>
      <p:sp>
        <p:nvSpPr>
          <p:cNvPr id="70" name="Freeform 790"/>
          <p:cNvSpPr/>
          <p:nvPr/>
        </p:nvSpPr>
        <p:spPr bwMode="auto">
          <a:xfrm>
            <a:off x="1347977" y="1800463"/>
            <a:ext cx="2373003" cy="596529"/>
          </a:xfrm>
          <a:custGeom>
            <a:avLst/>
            <a:gdLst>
              <a:gd name="connsiteX0" fmla="*/ 9568 w 10000"/>
              <a:gd name="connsiteY0" fmla="*/ 10000 h 10000"/>
              <a:gd name="connsiteX1" fmla="*/ 4793 w 10000"/>
              <a:gd name="connsiteY1" fmla="*/ 10000 h 10000"/>
              <a:gd name="connsiteX2" fmla="*/ 0 w 10000"/>
              <a:gd name="connsiteY2" fmla="*/ 10000 h 10000"/>
              <a:gd name="connsiteX3" fmla="*/ 1362 w 10000"/>
              <a:gd name="connsiteY3" fmla="*/ 4954 h 10000"/>
              <a:gd name="connsiteX4" fmla="*/ 0 w 10000"/>
              <a:gd name="connsiteY4" fmla="*/ 0 h 10000"/>
              <a:gd name="connsiteX5" fmla="*/ 4793 w 10000"/>
              <a:gd name="connsiteY5" fmla="*/ 0 h 10000"/>
              <a:gd name="connsiteX6" fmla="*/ 9568 w 10000"/>
              <a:gd name="connsiteY6" fmla="*/ 0 h 10000"/>
              <a:gd name="connsiteX7" fmla="*/ 10000 w 10000"/>
              <a:gd name="connsiteY7" fmla="*/ 4954 h 10000"/>
              <a:gd name="connsiteX8" fmla="*/ 9568 w 10000"/>
              <a:gd name="connsiteY8" fmla="*/ 100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000" h="10000">
                <a:moveTo>
                  <a:pt x="9568" y="10000"/>
                </a:moveTo>
                <a:lnTo>
                  <a:pt x="4793" y="10000"/>
                </a:lnTo>
                <a:lnTo>
                  <a:pt x="0" y="10000"/>
                </a:lnTo>
                <a:lnTo>
                  <a:pt x="1362" y="4954"/>
                </a:lnTo>
                <a:lnTo>
                  <a:pt x="0" y="0"/>
                </a:lnTo>
                <a:lnTo>
                  <a:pt x="4793" y="0"/>
                </a:lnTo>
                <a:lnTo>
                  <a:pt x="9568" y="0"/>
                </a:lnTo>
                <a:lnTo>
                  <a:pt x="10000" y="4954"/>
                </a:lnTo>
                <a:lnTo>
                  <a:pt x="9568" y="10000"/>
                </a:lnTo>
                <a:close/>
              </a:path>
            </a:pathLst>
          </a:custGeom>
          <a:solidFill>
            <a:schemeClr val="accent1"/>
          </a:solidFill>
          <a:ln w="9525">
            <a:noFill/>
            <a:round/>
          </a:ln>
        </p:spPr>
        <p:txBody>
          <a:bodyPr vert="horz" wrap="square" lIns="121920" tIns="60960" rIns="121920" bIns="60960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Freeform 791"/>
          <p:cNvSpPr/>
          <p:nvPr/>
        </p:nvSpPr>
        <p:spPr bwMode="auto">
          <a:xfrm>
            <a:off x="3573477" y="1800463"/>
            <a:ext cx="2384821" cy="596529"/>
          </a:xfrm>
          <a:custGeom>
            <a:avLst/>
            <a:gdLst/>
            <a:ahLst/>
            <a:cxnLst>
              <a:cxn ang="0">
                <a:pos x="996" y="109"/>
              </a:cxn>
              <a:cxn ang="0">
                <a:pos x="499" y="109"/>
              </a:cxn>
              <a:cxn ang="0">
                <a:pos x="0" y="109"/>
              </a:cxn>
              <a:cxn ang="0">
                <a:pos x="45" y="54"/>
              </a:cxn>
              <a:cxn ang="0">
                <a:pos x="0" y="0"/>
              </a:cxn>
              <a:cxn ang="0">
                <a:pos x="499" y="0"/>
              </a:cxn>
              <a:cxn ang="0">
                <a:pos x="996" y="0"/>
              </a:cxn>
              <a:cxn ang="0">
                <a:pos x="1041" y="54"/>
              </a:cxn>
              <a:cxn ang="0">
                <a:pos x="996" y="109"/>
              </a:cxn>
            </a:cxnLst>
            <a:rect l="0" t="0" r="r" b="b"/>
            <a:pathLst>
              <a:path w="1041" h="109">
                <a:moveTo>
                  <a:pt x="996" y="109"/>
                </a:moveTo>
                <a:lnTo>
                  <a:pt x="499" y="109"/>
                </a:lnTo>
                <a:lnTo>
                  <a:pt x="0" y="109"/>
                </a:lnTo>
                <a:lnTo>
                  <a:pt x="45" y="54"/>
                </a:lnTo>
                <a:lnTo>
                  <a:pt x="0" y="0"/>
                </a:lnTo>
                <a:lnTo>
                  <a:pt x="499" y="0"/>
                </a:lnTo>
                <a:lnTo>
                  <a:pt x="996" y="0"/>
                </a:lnTo>
                <a:lnTo>
                  <a:pt x="1041" y="54"/>
                </a:lnTo>
                <a:lnTo>
                  <a:pt x="996" y="109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</a:ln>
        </p:spPr>
        <p:txBody>
          <a:bodyPr vert="horz" wrap="square" lIns="121920" tIns="60960" rIns="121920" bIns="60960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Freeform 792"/>
          <p:cNvSpPr/>
          <p:nvPr/>
        </p:nvSpPr>
        <p:spPr bwMode="auto">
          <a:xfrm>
            <a:off x="5808677" y="1800463"/>
            <a:ext cx="2384821" cy="596529"/>
          </a:xfrm>
          <a:custGeom>
            <a:avLst/>
            <a:gdLst/>
            <a:ahLst/>
            <a:cxnLst>
              <a:cxn ang="0">
                <a:pos x="996" y="109"/>
              </a:cxn>
              <a:cxn ang="0">
                <a:pos x="497" y="109"/>
              </a:cxn>
              <a:cxn ang="0">
                <a:pos x="0" y="109"/>
              </a:cxn>
              <a:cxn ang="0">
                <a:pos x="45" y="54"/>
              </a:cxn>
              <a:cxn ang="0">
                <a:pos x="0" y="0"/>
              </a:cxn>
              <a:cxn ang="0">
                <a:pos x="497" y="0"/>
              </a:cxn>
              <a:cxn ang="0">
                <a:pos x="996" y="0"/>
              </a:cxn>
              <a:cxn ang="0">
                <a:pos x="1041" y="54"/>
              </a:cxn>
              <a:cxn ang="0">
                <a:pos x="996" y="109"/>
              </a:cxn>
            </a:cxnLst>
            <a:rect l="0" t="0" r="r" b="b"/>
            <a:pathLst>
              <a:path w="1041" h="109">
                <a:moveTo>
                  <a:pt x="996" y="109"/>
                </a:moveTo>
                <a:lnTo>
                  <a:pt x="497" y="109"/>
                </a:lnTo>
                <a:lnTo>
                  <a:pt x="0" y="109"/>
                </a:lnTo>
                <a:lnTo>
                  <a:pt x="45" y="54"/>
                </a:lnTo>
                <a:lnTo>
                  <a:pt x="0" y="0"/>
                </a:lnTo>
                <a:lnTo>
                  <a:pt x="497" y="0"/>
                </a:lnTo>
                <a:lnTo>
                  <a:pt x="996" y="0"/>
                </a:lnTo>
                <a:lnTo>
                  <a:pt x="1041" y="54"/>
                </a:lnTo>
                <a:lnTo>
                  <a:pt x="996" y="109"/>
                </a:lnTo>
                <a:close/>
              </a:path>
            </a:pathLst>
          </a:custGeom>
          <a:solidFill>
            <a:schemeClr val="accent3"/>
          </a:solidFill>
          <a:ln w="9525">
            <a:noFill/>
            <a:round/>
          </a:ln>
        </p:spPr>
        <p:txBody>
          <a:bodyPr vert="horz" wrap="square" lIns="121920" tIns="60960" rIns="121920" bIns="60960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Freeform 793"/>
          <p:cNvSpPr/>
          <p:nvPr/>
        </p:nvSpPr>
        <p:spPr bwMode="auto">
          <a:xfrm>
            <a:off x="8045991" y="1800463"/>
            <a:ext cx="2377947" cy="596529"/>
          </a:xfrm>
          <a:custGeom>
            <a:avLst/>
            <a:gdLst/>
            <a:ahLst/>
            <a:cxnLst>
              <a:cxn ang="0">
                <a:pos x="993" y="109"/>
              </a:cxn>
              <a:cxn ang="0">
                <a:pos x="497" y="109"/>
              </a:cxn>
              <a:cxn ang="0">
                <a:pos x="0" y="109"/>
              </a:cxn>
              <a:cxn ang="0">
                <a:pos x="45" y="54"/>
              </a:cxn>
              <a:cxn ang="0">
                <a:pos x="0" y="0"/>
              </a:cxn>
              <a:cxn ang="0">
                <a:pos x="497" y="0"/>
              </a:cxn>
              <a:cxn ang="0">
                <a:pos x="993" y="0"/>
              </a:cxn>
              <a:cxn ang="0">
                <a:pos x="1038" y="54"/>
              </a:cxn>
              <a:cxn ang="0">
                <a:pos x="993" y="109"/>
              </a:cxn>
            </a:cxnLst>
            <a:rect l="0" t="0" r="r" b="b"/>
            <a:pathLst>
              <a:path w="1038" h="109">
                <a:moveTo>
                  <a:pt x="993" y="109"/>
                </a:moveTo>
                <a:lnTo>
                  <a:pt x="497" y="109"/>
                </a:lnTo>
                <a:lnTo>
                  <a:pt x="0" y="109"/>
                </a:lnTo>
                <a:lnTo>
                  <a:pt x="45" y="54"/>
                </a:lnTo>
                <a:lnTo>
                  <a:pt x="0" y="0"/>
                </a:lnTo>
                <a:lnTo>
                  <a:pt x="497" y="0"/>
                </a:lnTo>
                <a:lnTo>
                  <a:pt x="993" y="0"/>
                </a:lnTo>
                <a:lnTo>
                  <a:pt x="1038" y="54"/>
                </a:lnTo>
                <a:lnTo>
                  <a:pt x="993" y="109"/>
                </a:lnTo>
                <a:close/>
              </a:path>
            </a:pathLst>
          </a:custGeom>
          <a:solidFill>
            <a:schemeClr val="accent4"/>
          </a:solidFill>
          <a:ln w="9525">
            <a:noFill/>
            <a:round/>
          </a:ln>
        </p:spPr>
        <p:txBody>
          <a:bodyPr vert="horz" wrap="square" lIns="121920" tIns="60960" rIns="121920" bIns="60960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Content Placeholder 2"/>
          <p:cNvSpPr txBox="1"/>
          <p:nvPr/>
        </p:nvSpPr>
        <p:spPr>
          <a:xfrm>
            <a:off x="1422024" y="3952790"/>
            <a:ext cx="2055002" cy="4586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90204" pitchFamily="34" charset="0"/>
              <a:buNone/>
            </a:pPr>
            <a:r>
              <a:rPr lang="zh-CN" altLang="en-US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边界</a:t>
            </a:r>
          </a:p>
        </p:txBody>
      </p:sp>
      <p:cxnSp>
        <p:nvCxnSpPr>
          <p:cNvPr id="75" name="Straight Connector 9"/>
          <p:cNvCxnSpPr/>
          <p:nvPr/>
        </p:nvCxnSpPr>
        <p:spPr>
          <a:xfrm>
            <a:off x="2449525" y="2528379"/>
            <a:ext cx="0" cy="40015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10"/>
          <p:cNvCxnSpPr/>
          <p:nvPr/>
        </p:nvCxnSpPr>
        <p:spPr>
          <a:xfrm>
            <a:off x="4604003" y="2528379"/>
            <a:ext cx="0" cy="40015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11"/>
          <p:cNvCxnSpPr/>
          <p:nvPr/>
        </p:nvCxnSpPr>
        <p:spPr>
          <a:xfrm>
            <a:off x="6870502" y="2528379"/>
            <a:ext cx="0" cy="40015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12"/>
          <p:cNvCxnSpPr/>
          <p:nvPr/>
        </p:nvCxnSpPr>
        <p:spPr>
          <a:xfrm>
            <a:off x="9094060" y="2528379"/>
            <a:ext cx="0" cy="40015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Oval 14"/>
          <p:cNvSpPr/>
          <p:nvPr/>
        </p:nvSpPr>
        <p:spPr>
          <a:xfrm>
            <a:off x="2038045" y="3059138"/>
            <a:ext cx="822960" cy="822960"/>
          </a:xfrm>
          <a:prstGeom prst="ellipse">
            <a:avLst/>
          </a:prstGeom>
          <a:noFill/>
          <a:ln w="793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2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1" name="Arc 15"/>
          <p:cNvSpPr/>
          <p:nvPr/>
        </p:nvSpPr>
        <p:spPr>
          <a:xfrm>
            <a:off x="2038045" y="3059138"/>
            <a:ext cx="822960" cy="822960"/>
          </a:xfrm>
          <a:prstGeom prst="arc">
            <a:avLst>
              <a:gd name="adj1" fmla="val 13167232"/>
              <a:gd name="adj2" fmla="val 16466928"/>
            </a:avLst>
          </a:prstGeom>
          <a:ln w="79375">
            <a:solidFill>
              <a:schemeClr val="accent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vi-VN" sz="2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2" name="Oval 16"/>
          <p:cNvSpPr/>
          <p:nvPr/>
        </p:nvSpPr>
        <p:spPr>
          <a:xfrm>
            <a:off x="4192523" y="3059138"/>
            <a:ext cx="822960" cy="822960"/>
          </a:xfrm>
          <a:prstGeom prst="ellipse">
            <a:avLst/>
          </a:prstGeom>
          <a:noFill/>
          <a:ln w="793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2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3" name="Arc 17"/>
          <p:cNvSpPr/>
          <p:nvPr/>
        </p:nvSpPr>
        <p:spPr>
          <a:xfrm>
            <a:off x="4192523" y="3059138"/>
            <a:ext cx="822960" cy="822960"/>
          </a:xfrm>
          <a:prstGeom prst="arc">
            <a:avLst>
              <a:gd name="adj1" fmla="val 9206565"/>
              <a:gd name="adj2" fmla="val 16045990"/>
            </a:avLst>
          </a:prstGeom>
          <a:ln w="79375">
            <a:solidFill>
              <a:schemeClr val="accent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vi-VN" sz="2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4" name="Oval 18"/>
          <p:cNvSpPr/>
          <p:nvPr/>
        </p:nvSpPr>
        <p:spPr>
          <a:xfrm>
            <a:off x="6459022" y="3059138"/>
            <a:ext cx="822960" cy="822960"/>
          </a:xfrm>
          <a:prstGeom prst="ellipse">
            <a:avLst/>
          </a:prstGeom>
          <a:noFill/>
          <a:ln w="793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2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5" name="Arc 19"/>
          <p:cNvSpPr/>
          <p:nvPr/>
        </p:nvSpPr>
        <p:spPr>
          <a:xfrm>
            <a:off x="6459022" y="3059138"/>
            <a:ext cx="822960" cy="822960"/>
          </a:xfrm>
          <a:prstGeom prst="arc">
            <a:avLst>
              <a:gd name="adj1" fmla="val 5584046"/>
              <a:gd name="adj2" fmla="val 16355650"/>
            </a:avLst>
          </a:prstGeom>
          <a:ln w="79375">
            <a:solidFill>
              <a:schemeClr val="accent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vi-VN" sz="2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6" name="Oval 20"/>
          <p:cNvSpPr/>
          <p:nvPr/>
        </p:nvSpPr>
        <p:spPr>
          <a:xfrm>
            <a:off x="8673399" y="3032963"/>
            <a:ext cx="822960" cy="822960"/>
          </a:xfrm>
          <a:prstGeom prst="ellipse">
            <a:avLst/>
          </a:prstGeom>
          <a:noFill/>
          <a:ln w="793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2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7" name="Arc 21"/>
          <p:cNvSpPr/>
          <p:nvPr/>
        </p:nvSpPr>
        <p:spPr>
          <a:xfrm>
            <a:off x="8668319" y="3032963"/>
            <a:ext cx="822960" cy="822960"/>
          </a:xfrm>
          <a:prstGeom prst="arc">
            <a:avLst>
              <a:gd name="adj1" fmla="val 867854"/>
              <a:gd name="adj2" fmla="val 16404494"/>
            </a:avLst>
          </a:prstGeom>
          <a:ln w="79375">
            <a:solidFill>
              <a:schemeClr val="accent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vi-VN" sz="2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1" name="TextBox 27"/>
          <p:cNvSpPr txBox="1"/>
          <p:nvPr/>
        </p:nvSpPr>
        <p:spPr>
          <a:xfrm>
            <a:off x="1347977" y="1899426"/>
            <a:ext cx="2373003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1–2 月</a:t>
            </a:r>
          </a:p>
        </p:txBody>
      </p:sp>
      <p:sp>
        <p:nvSpPr>
          <p:cNvPr id="92" name="TextBox 28"/>
          <p:cNvSpPr txBox="1"/>
          <p:nvPr/>
        </p:nvSpPr>
        <p:spPr>
          <a:xfrm>
            <a:off x="3569032" y="1899426"/>
            <a:ext cx="2299833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3–5 月</a:t>
            </a:r>
          </a:p>
        </p:txBody>
      </p:sp>
      <p:sp>
        <p:nvSpPr>
          <p:cNvPr id="93" name="TextBox 29"/>
          <p:cNvSpPr txBox="1"/>
          <p:nvPr/>
        </p:nvSpPr>
        <p:spPr>
          <a:xfrm>
            <a:off x="5782638" y="1900061"/>
            <a:ext cx="2290137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6 月</a:t>
            </a:r>
          </a:p>
        </p:txBody>
      </p:sp>
      <p:sp>
        <p:nvSpPr>
          <p:cNvPr id="94" name="TextBox 30"/>
          <p:cNvSpPr txBox="1"/>
          <p:nvPr/>
        </p:nvSpPr>
        <p:spPr>
          <a:xfrm>
            <a:off x="8033293" y="1900061"/>
            <a:ext cx="2273302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7–8 月</a:t>
            </a:r>
          </a:p>
        </p:txBody>
      </p:sp>
      <p:sp>
        <p:nvSpPr>
          <p:cNvPr id="97" name="Content Placeholder 2"/>
          <p:cNvSpPr txBox="1"/>
          <p:nvPr/>
        </p:nvSpPr>
        <p:spPr>
          <a:xfrm>
            <a:off x="3923537" y="3952791"/>
            <a:ext cx="1368815" cy="4586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90204" pitchFamily="34" charset="0"/>
              <a:buNone/>
            </a:pP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</a:t>
            </a:r>
          </a:p>
        </p:txBody>
      </p:sp>
      <p:sp>
        <p:nvSpPr>
          <p:cNvPr id="99" name="Content Placeholder 2"/>
          <p:cNvSpPr txBox="1"/>
          <p:nvPr/>
        </p:nvSpPr>
        <p:spPr>
          <a:xfrm>
            <a:off x="6161731" y="3952792"/>
            <a:ext cx="1368815" cy="4586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90204" pitchFamily="34" charset="0"/>
              <a:buNone/>
            </a:pPr>
            <a:r>
              <a:rPr lang="zh-CN" altLang="en-US" sz="2000" b="1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验证</a:t>
            </a:r>
          </a:p>
        </p:txBody>
      </p:sp>
      <p:sp>
        <p:nvSpPr>
          <p:cNvPr id="101" name="Content Placeholder 2"/>
          <p:cNvSpPr txBox="1"/>
          <p:nvPr/>
        </p:nvSpPr>
        <p:spPr>
          <a:xfrm>
            <a:off x="8395240" y="3952792"/>
            <a:ext cx="1368815" cy="4586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90204" pitchFamily="34" charset="0"/>
              <a:buNone/>
            </a:pPr>
            <a:r>
              <a:rPr lang="zh-CN" altLang="en-US" sz="2000" b="1" dirty="0">
                <a:solidFill>
                  <a:schemeClr val="accent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决赛</a:t>
            </a:r>
            <a:endParaRPr lang="en-US" sz="2000" b="1" dirty="0">
              <a:solidFill>
                <a:schemeClr val="accent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Content Placeholder 2"/>
          <p:cNvSpPr txBox="1"/>
          <p:nvPr/>
        </p:nvSpPr>
        <p:spPr>
          <a:xfrm>
            <a:off x="9862365" y="3971970"/>
            <a:ext cx="1368815" cy="4586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90204" pitchFamily="34" charset="0"/>
              <a:buNone/>
            </a:pPr>
            <a:endParaRPr/>
          </a:p>
        </p:txBody>
      </p:sp>
      <p:sp>
        <p:nvSpPr>
          <p:cNvPr id="105" name="Freeform 6"/>
          <p:cNvSpPr>
            <a:spLocks noChangeArrowheads="1"/>
          </p:cNvSpPr>
          <p:nvPr/>
        </p:nvSpPr>
        <p:spPr bwMode="auto">
          <a:xfrm>
            <a:off x="6661308" y="3313825"/>
            <a:ext cx="365760" cy="365760"/>
          </a:xfrm>
          <a:custGeom>
            <a:avLst/>
            <a:gdLst>
              <a:gd name="T0" fmla="*/ 425 w 444"/>
              <a:gd name="T1" fmla="*/ 17 h 435"/>
              <a:gd name="T2" fmla="*/ 425 w 444"/>
              <a:gd name="T3" fmla="*/ 17 h 435"/>
              <a:gd name="T4" fmla="*/ 345 w 444"/>
              <a:gd name="T5" fmla="*/ 35 h 435"/>
              <a:gd name="T6" fmla="*/ 0 w 444"/>
              <a:gd name="T7" fmla="*/ 222 h 435"/>
              <a:gd name="T8" fmla="*/ 195 w 444"/>
              <a:gd name="T9" fmla="*/ 248 h 435"/>
              <a:gd name="T10" fmla="*/ 221 w 444"/>
              <a:gd name="T11" fmla="*/ 434 h 435"/>
              <a:gd name="T12" fmla="*/ 399 w 444"/>
              <a:gd name="T13" fmla="*/ 89 h 435"/>
              <a:gd name="T14" fmla="*/ 425 w 444"/>
              <a:gd name="T15" fmla="*/ 17 h 435"/>
              <a:gd name="T16" fmla="*/ 381 w 444"/>
              <a:gd name="T17" fmla="*/ 62 h 435"/>
              <a:gd name="T18" fmla="*/ 381 w 444"/>
              <a:gd name="T19" fmla="*/ 62 h 435"/>
              <a:gd name="T20" fmla="*/ 239 w 444"/>
              <a:gd name="T21" fmla="*/ 319 h 435"/>
              <a:gd name="T22" fmla="*/ 230 w 444"/>
              <a:gd name="T23" fmla="*/ 204 h 435"/>
              <a:gd name="T24" fmla="*/ 381 w 444"/>
              <a:gd name="T25" fmla="*/ 62 h 4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44" h="435">
                <a:moveTo>
                  <a:pt x="425" y="17"/>
                </a:moveTo>
                <a:lnTo>
                  <a:pt x="425" y="17"/>
                </a:lnTo>
                <a:cubicBezTo>
                  <a:pt x="408" y="0"/>
                  <a:pt x="399" y="17"/>
                  <a:pt x="345" y="35"/>
                </a:cubicBezTo>
                <a:cubicBezTo>
                  <a:pt x="221" y="97"/>
                  <a:pt x="0" y="222"/>
                  <a:pt x="0" y="222"/>
                </a:cubicBezTo>
                <a:cubicBezTo>
                  <a:pt x="195" y="248"/>
                  <a:pt x="195" y="248"/>
                  <a:pt x="195" y="248"/>
                </a:cubicBezTo>
                <a:cubicBezTo>
                  <a:pt x="221" y="434"/>
                  <a:pt x="221" y="434"/>
                  <a:pt x="221" y="434"/>
                </a:cubicBezTo>
                <a:cubicBezTo>
                  <a:pt x="221" y="434"/>
                  <a:pt x="345" y="222"/>
                  <a:pt x="399" y="89"/>
                </a:cubicBezTo>
                <a:cubicBezTo>
                  <a:pt x="425" y="44"/>
                  <a:pt x="443" y="26"/>
                  <a:pt x="425" y="17"/>
                </a:cubicBezTo>
                <a:close/>
                <a:moveTo>
                  <a:pt x="381" y="62"/>
                </a:moveTo>
                <a:lnTo>
                  <a:pt x="381" y="62"/>
                </a:lnTo>
                <a:cubicBezTo>
                  <a:pt x="239" y="319"/>
                  <a:pt x="239" y="319"/>
                  <a:pt x="239" y="319"/>
                </a:cubicBezTo>
                <a:cubicBezTo>
                  <a:pt x="230" y="204"/>
                  <a:pt x="230" y="204"/>
                  <a:pt x="230" y="204"/>
                </a:cubicBezTo>
                <a:lnTo>
                  <a:pt x="381" y="62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6" name="Freeform 25"/>
          <p:cNvSpPr>
            <a:spLocks noChangeArrowheads="1"/>
          </p:cNvSpPr>
          <p:nvPr/>
        </p:nvSpPr>
        <p:spPr bwMode="auto">
          <a:xfrm>
            <a:off x="8905769" y="3236545"/>
            <a:ext cx="365760" cy="365760"/>
          </a:xfrm>
          <a:custGeom>
            <a:avLst/>
            <a:gdLst>
              <a:gd name="T0" fmla="*/ 195 w 346"/>
              <a:gd name="T1" fmla="*/ 0 h 479"/>
              <a:gd name="T2" fmla="*/ 195 w 346"/>
              <a:gd name="T3" fmla="*/ 0 h 479"/>
              <a:gd name="T4" fmla="*/ 160 w 346"/>
              <a:gd name="T5" fmla="*/ 0 h 479"/>
              <a:gd name="T6" fmla="*/ 160 w 346"/>
              <a:gd name="T7" fmla="*/ 328 h 479"/>
              <a:gd name="T8" fmla="*/ 80 w 346"/>
              <a:gd name="T9" fmla="*/ 328 h 479"/>
              <a:gd name="T10" fmla="*/ 10 w 346"/>
              <a:gd name="T11" fmla="*/ 425 h 479"/>
              <a:gd name="T12" fmla="*/ 124 w 346"/>
              <a:gd name="T13" fmla="*/ 461 h 479"/>
              <a:gd name="T14" fmla="*/ 195 w 346"/>
              <a:gd name="T15" fmla="*/ 372 h 479"/>
              <a:gd name="T16" fmla="*/ 195 w 346"/>
              <a:gd name="T17" fmla="*/ 106 h 479"/>
              <a:gd name="T18" fmla="*/ 257 w 346"/>
              <a:gd name="T19" fmla="*/ 230 h 479"/>
              <a:gd name="T20" fmla="*/ 275 w 346"/>
              <a:gd name="T21" fmla="*/ 230 h 479"/>
              <a:gd name="T22" fmla="*/ 195 w 346"/>
              <a:gd name="T23" fmla="*/ 0 h 4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346" h="479">
                <a:moveTo>
                  <a:pt x="195" y="0"/>
                </a:moveTo>
                <a:lnTo>
                  <a:pt x="195" y="0"/>
                </a:lnTo>
                <a:cubicBezTo>
                  <a:pt x="160" y="0"/>
                  <a:pt x="160" y="0"/>
                  <a:pt x="160" y="0"/>
                </a:cubicBezTo>
                <a:cubicBezTo>
                  <a:pt x="160" y="328"/>
                  <a:pt x="160" y="328"/>
                  <a:pt x="160" y="328"/>
                </a:cubicBezTo>
                <a:cubicBezTo>
                  <a:pt x="133" y="319"/>
                  <a:pt x="107" y="319"/>
                  <a:pt x="80" y="328"/>
                </a:cubicBezTo>
                <a:cubicBezTo>
                  <a:pt x="26" y="346"/>
                  <a:pt x="0" y="390"/>
                  <a:pt x="10" y="425"/>
                </a:cubicBezTo>
                <a:cubicBezTo>
                  <a:pt x="26" y="461"/>
                  <a:pt x="71" y="478"/>
                  <a:pt x="124" y="461"/>
                </a:cubicBezTo>
                <a:cubicBezTo>
                  <a:pt x="169" y="443"/>
                  <a:pt x="195" y="408"/>
                  <a:pt x="195" y="372"/>
                </a:cubicBezTo>
                <a:cubicBezTo>
                  <a:pt x="195" y="106"/>
                  <a:pt x="195" y="106"/>
                  <a:pt x="195" y="106"/>
                </a:cubicBezTo>
                <a:cubicBezTo>
                  <a:pt x="266" y="124"/>
                  <a:pt x="266" y="212"/>
                  <a:pt x="257" y="230"/>
                </a:cubicBezTo>
                <a:cubicBezTo>
                  <a:pt x="257" y="239"/>
                  <a:pt x="266" y="248"/>
                  <a:pt x="275" y="230"/>
                </a:cubicBezTo>
                <a:cubicBezTo>
                  <a:pt x="345" y="115"/>
                  <a:pt x="195" y="62"/>
                  <a:pt x="195" y="0"/>
                </a:cubicBezTo>
              </a:path>
            </a:pathLst>
          </a:custGeom>
          <a:solidFill>
            <a:schemeClr val="accent4"/>
          </a:solidFill>
          <a:ln>
            <a:noFill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8" name="Freeform 106"/>
          <p:cNvSpPr>
            <a:spLocks noChangeArrowheads="1"/>
          </p:cNvSpPr>
          <p:nvPr/>
        </p:nvSpPr>
        <p:spPr bwMode="auto">
          <a:xfrm>
            <a:off x="4455627" y="3292798"/>
            <a:ext cx="365760" cy="365760"/>
          </a:xfrm>
          <a:custGeom>
            <a:avLst/>
            <a:gdLst>
              <a:gd name="T0" fmla="*/ 35 w 355"/>
              <a:gd name="T1" fmla="*/ 497 h 506"/>
              <a:gd name="T2" fmla="*/ 35 w 355"/>
              <a:gd name="T3" fmla="*/ 497 h 506"/>
              <a:gd name="T4" fmla="*/ 70 w 355"/>
              <a:gd name="T5" fmla="*/ 381 h 506"/>
              <a:gd name="T6" fmla="*/ 203 w 355"/>
              <a:gd name="T7" fmla="*/ 310 h 506"/>
              <a:gd name="T8" fmla="*/ 132 w 355"/>
              <a:gd name="T9" fmla="*/ 284 h 506"/>
              <a:gd name="T10" fmla="*/ 292 w 355"/>
              <a:gd name="T11" fmla="*/ 194 h 506"/>
              <a:gd name="T12" fmla="*/ 194 w 355"/>
              <a:gd name="T13" fmla="*/ 168 h 506"/>
              <a:gd name="T14" fmla="*/ 327 w 355"/>
              <a:gd name="T15" fmla="*/ 133 h 506"/>
              <a:gd name="T16" fmla="*/ 345 w 355"/>
              <a:gd name="T17" fmla="*/ 44 h 506"/>
              <a:gd name="T18" fmla="*/ 248 w 355"/>
              <a:gd name="T19" fmla="*/ 0 h 506"/>
              <a:gd name="T20" fmla="*/ 159 w 355"/>
              <a:gd name="T21" fmla="*/ 124 h 506"/>
              <a:gd name="T22" fmla="*/ 168 w 355"/>
              <a:gd name="T23" fmla="*/ 18 h 506"/>
              <a:gd name="T24" fmla="*/ 70 w 355"/>
              <a:gd name="T25" fmla="*/ 106 h 506"/>
              <a:gd name="T26" fmla="*/ 61 w 355"/>
              <a:gd name="T27" fmla="*/ 301 h 506"/>
              <a:gd name="T28" fmla="*/ 8 w 355"/>
              <a:gd name="T29" fmla="*/ 213 h 506"/>
              <a:gd name="T30" fmla="*/ 35 w 355"/>
              <a:gd name="T31" fmla="*/ 363 h 506"/>
              <a:gd name="T32" fmla="*/ 8 w 355"/>
              <a:gd name="T33" fmla="*/ 478 h 506"/>
              <a:gd name="T34" fmla="*/ 35 w 355"/>
              <a:gd name="T35" fmla="*/ 497 h 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355" h="506">
                <a:moveTo>
                  <a:pt x="35" y="497"/>
                </a:moveTo>
                <a:lnTo>
                  <a:pt x="35" y="497"/>
                </a:lnTo>
                <a:cubicBezTo>
                  <a:pt x="44" y="469"/>
                  <a:pt x="53" y="434"/>
                  <a:pt x="70" y="381"/>
                </a:cubicBezTo>
                <a:cubicBezTo>
                  <a:pt x="132" y="372"/>
                  <a:pt x="168" y="390"/>
                  <a:pt x="203" y="310"/>
                </a:cubicBezTo>
                <a:cubicBezTo>
                  <a:pt x="168" y="328"/>
                  <a:pt x="132" y="292"/>
                  <a:pt x="132" y="284"/>
                </a:cubicBezTo>
                <a:cubicBezTo>
                  <a:pt x="132" y="266"/>
                  <a:pt x="229" y="292"/>
                  <a:pt x="292" y="194"/>
                </a:cubicBezTo>
                <a:cubicBezTo>
                  <a:pt x="212" y="213"/>
                  <a:pt x="185" y="178"/>
                  <a:pt x="194" y="168"/>
                </a:cubicBezTo>
                <a:cubicBezTo>
                  <a:pt x="221" y="159"/>
                  <a:pt x="292" y="168"/>
                  <a:pt x="327" y="133"/>
                </a:cubicBezTo>
                <a:cubicBezTo>
                  <a:pt x="345" y="115"/>
                  <a:pt x="354" y="62"/>
                  <a:pt x="345" y="44"/>
                </a:cubicBezTo>
                <a:cubicBezTo>
                  <a:pt x="336" y="27"/>
                  <a:pt x="283" y="0"/>
                  <a:pt x="248" y="0"/>
                </a:cubicBezTo>
                <a:cubicBezTo>
                  <a:pt x="221" y="9"/>
                  <a:pt x="168" y="124"/>
                  <a:pt x="159" y="124"/>
                </a:cubicBezTo>
                <a:cubicBezTo>
                  <a:pt x="141" y="124"/>
                  <a:pt x="141" y="71"/>
                  <a:pt x="168" y="18"/>
                </a:cubicBezTo>
                <a:cubicBezTo>
                  <a:pt x="132" y="35"/>
                  <a:pt x="88" y="71"/>
                  <a:pt x="70" y="106"/>
                </a:cubicBezTo>
                <a:cubicBezTo>
                  <a:pt x="44" y="159"/>
                  <a:pt x="79" y="301"/>
                  <a:pt x="61" y="301"/>
                </a:cubicBezTo>
                <a:cubicBezTo>
                  <a:pt x="53" y="310"/>
                  <a:pt x="17" y="239"/>
                  <a:pt x="8" y="213"/>
                </a:cubicBezTo>
                <a:cubicBezTo>
                  <a:pt x="0" y="257"/>
                  <a:pt x="0" y="301"/>
                  <a:pt x="35" y="363"/>
                </a:cubicBezTo>
                <a:cubicBezTo>
                  <a:pt x="26" y="407"/>
                  <a:pt x="17" y="452"/>
                  <a:pt x="8" y="478"/>
                </a:cubicBezTo>
                <a:cubicBezTo>
                  <a:pt x="8" y="497"/>
                  <a:pt x="35" y="505"/>
                  <a:pt x="35" y="497"/>
                </a:cubicBezTo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9" name="Freeform 115"/>
          <p:cNvSpPr>
            <a:spLocks noChangeArrowheads="1"/>
          </p:cNvSpPr>
          <p:nvPr/>
        </p:nvSpPr>
        <p:spPr bwMode="auto">
          <a:xfrm>
            <a:off x="2275745" y="3254161"/>
            <a:ext cx="365760" cy="432913"/>
          </a:xfrm>
          <a:custGeom>
            <a:avLst/>
            <a:gdLst>
              <a:gd name="T0" fmla="*/ 381 w 400"/>
              <a:gd name="T1" fmla="*/ 124 h 498"/>
              <a:gd name="T2" fmla="*/ 381 w 400"/>
              <a:gd name="T3" fmla="*/ 124 h 498"/>
              <a:gd name="T4" fmla="*/ 231 w 400"/>
              <a:gd name="T5" fmla="*/ 9 h 498"/>
              <a:gd name="T6" fmla="*/ 115 w 400"/>
              <a:gd name="T7" fmla="*/ 151 h 498"/>
              <a:gd name="T8" fmla="*/ 133 w 400"/>
              <a:gd name="T9" fmla="*/ 213 h 498"/>
              <a:gd name="T10" fmla="*/ 9 w 400"/>
              <a:gd name="T11" fmla="*/ 407 h 498"/>
              <a:gd name="T12" fmla="*/ 0 w 400"/>
              <a:gd name="T13" fmla="*/ 434 h 498"/>
              <a:gd name="T14" fmla="*/ 9 w 400"/>
              <a:gd name="T15" fmla="*/ 478 h 498"/>
              <a:gd name="T16" fmla="*/ 27 w 400"/>
              <a:gd name="T17" fmla="*/ 497 h 498"/>
              <a:gd name="T18" fmla="*/ 62 w 400"/>
              <a:gd name="T19" fmla="*/ 487 h 498"/>
              <a:gd name="T20" fmla="*/ 89 w 400"/>
              <a:gd name="T21" fmla="*/ 470 h 498"/>
              <a:gd name="T22" fmla="*/ 142 w 400"/>
              <a:gd name="T23" fmla="*/ 390 h 498"/>
              <a:gd name="T24" fmla="*/ 142 w 400"/>
              <a:gd name="T25" fmla="*/ 390 h 498"/>
              <a:gd name="T26" fmla="*/ 177 w 400"/>
              <a:gd name="T27" fmla="*/ 381 h 498"/>
              <a:gd name="T28" fmla="*/ 231 w 400"/>
              <a:gd name="T29" fmla="*/ 284 h 498"/>
              <a:gd name="T30" fmla="*/ 293 w 400"/>
              <a:gd name="T31" fmla="*/ 284 h 498"/>
              <a:gd name="T32" fmla="*/ 381 w 400"/>
              <a:gd name="T33" fmla="*/ 124 h 498"/>
              <a:gd name="T34" fmla="*/ 319 w 400"/>
              <a:gd name="T35" fmla="*/ 159 h 498"/>
              <a:gd name="T36" fmla="*/ 319 w 400"/>
              <a:gd name="T37" fmla="*/ 159 h 498"/>
              <a:gd name="T38" fmla="*/ 256 w 400"/>
              <a:gd name="T39" fmla="*/ 142 h 498"/>
              <a:gd name="T40" fmla="*/ 221 w 400"/>
              <a:gd name="T41" fmla="*/ 80 h 498"/>
              <a:gd name="T42" fmla="*/ 310 w 400"/>
              <a:gd name="T43" fmla="*/ 71 h 498"/>
              <a:gd name="T44" fmla="*/ 319 w 400"/>
              <a:gd name="T45" fmla="*/ 159 h 4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400" h="498">
                <a:moveTo>
                  <a:pt x="381" y="124"/>
                </a:moveTo>
                <a:lnTo>
                  <a:pt x="381" y="124"/>
                </a:lnTo>
                <a:cubicBezTo>
                  <a:pt x="372" y="44"/>
                  <a:pt x="301" y="0"/>
                  <a:pt x="231" y="9"/>
                </a:cubicBezTo>
                <a:cubicBezTo>
                  <a:pt x="159" y="27"/>
                  <a:pt x="106" y="80"/>
                  <a:pt x="115" y="151"/>
                </a:cubicBezTo>
                <a:cubicBezTo>
                  <a:pt x="115" y="168"/>
                  <a:pt x="124" y="195"/>
                  <a:pt x="133" y="213"/>
                </a:cubicBezTo>
                <a:cubicBezTo>
                  <a:pt x="9" y="407"/>
                  <a:pt x="9" y="407"/>
                  <a:pt x="9" y="407"/>
                </a:cubicBezTo>
                <a:cubicBezTo>
                  <a:pt x="0" y="407"/>
                  <a:pt x="0" y="425"/>
                  <a:pt x="0" y="434"/>
                </a:cubicBezTo>
                <a:cubicBezTo>
                  <a:pt x="9" y="478"/>
                  <a:pt x="9" y="478"/>
                  <a:pt x="9" y="478"/>
                </a:cubicBezTo>
                <a:cubicBezTo>
                  <a:pt x="9" y="487"/>
                  <a:pt x="18" y="497"/>
                  <a:pt x="27" y="497"/>
                </a:cubicBezTo>
                <a:cubicBezTo>
                  <a:pt x="62" y="487"/>
                  <a:pt x="62" y="487"/>
                  <a:pt x="62" y="487"/>
                </a:cubicBezTo>
                <a:cubicBezTo>
                  <a:pt x="71" y="487"/>
                  <a:pt x="80" y="478"/>
                  <a:pt x="89" y="470"/>
                </a:cubicBezTo>
                <a:cubicBezTo>
                  <a:pt x="142" y="390"/>
                  <a:pt x="142" y="390"/>
                  <a:pt x="142" y="390"/>
                </a:cubicBezTo>
                <a:lnTo>
                  <a:pt x="142" y="390"/>
                </a:lnTo>
                <a:cubicBezTo>
                  <a:pt x="177" y="381"/>
                  <a:pt x="177" y="381"/>
                  <a:pt x="177" y="381"/>
                </a:cubicBezTo>
                <a:cubicBezTo>
                  <a:pt x="231" y="284"/>
                  <a:pt x="231" y="284"/>
                  <a:pt x="231" y="284"/>
                </a:cubicBezTo>
                <a:cubicBezTo>
                  <a:pt x="248" y="293"/>
                  <a:pt x="284" y="284"/>
                  <a:pt x="293" y="284"/>
                </a:cubicBezTo>
                <a:cubicBezTo>
                  <a:pt x="363" y="275"/>
                  <a:pt x="399" y="195"/>
                  <a:pt x="381" y="124"/>
                </a:cubicBezTo>
                <a:close/>
                <a:moveTo>
                  <a:pt x="319" y="159"/>
                </a:moveTo>
                <a:lnTo>
                  <a:pt x="319" y="159"/>
                </a:lnTo>
                <a:cubicBezTo>
                  <a:pt x="301" y="187"/>
                  <a:pt x="284" y="168"/>
                  <a:pt x="256" y="142"/>
                </a:cubicBezTo>
                <a:cubicBezTo>
                  <a:pt x="231" y="124"/>
                  <a:pt x="203" y="115"/>
                  <a:pt x="221" y="80"/>
                </a:cubicBezTo>
                <a:cubicBezTo>
                  <a:pt x="240" y="53"/>
                  <a:pt x="284" y="44"/>
                  <a:pt x="310" y="71"/>
                </a:cubicBezTo>
                <a:cubicBezTo>
                  <a:pt x="337" y="89"/>
                  <a:pt x="346" y="133"/>
                  <a:pt x="319" y="15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2" name="文本框 111"/>
          <p:cNvSpPr txBox="1"/>
          <p:nvPr/>
        </p:nvSpPr>
        <p:spPr>
          <a:xfrm>
            <a:off x="1348571" y="4411217"/>
            <a:ext cx="222567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90204" pitchFamily="34" charset="0"/>
              <a:buChar char="•"/>
            </a:pP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确定 Rust 内核路线</a:t>
            </a:r>
          </a:p>
          <a:p>
            <a:pPr marL="285750" indent="-285750" algn="l">
              <a:buFont typeface="Arial" panose="020B0604020202090204" pitchFamily="34" charset="0"/>
              <a:buChar char="•"/>
            </a:pP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建立 Linux ABI 边界</a:t>
            </a:r>
            <a:endParaRPr lang="en-US" altLang="zh-CN" sz="1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 algn="l">
              <a:buFont typeface="Arial" panose="020B0604020202090204" pitchFamily="34" charset="0"/>
              <a:buChar char="•"/>
            </a:pPr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双架构并行推进</a:t>
            </a:r>
            <a:endParaRPr lang="zh-CN" altLang="en-US" sz="1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3" name="文本框 112"/>
          <p:cNvSpPr txBox="1"/>
          <p:nvPr/>
        </p:nvSpPr>
        <p:spPr>
          <a:xfrm>
            <a:off x="3569166" y="4411217"/>
            <a:ext cx="223901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90204" pitchFamily="34" charset="0"/>
              <a:buChar char="•"/>
            </a:pPr>
            <a:r>
              <a:rPr lang="zh-CN" altLang="en-US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进程 / 调度 / VMO</a:t>
            </a:r>
            <a:endParaRPr lang="en-US" altLang="zh-CN" sz="18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l">
              <a:buFont typeface="Arial" panose="020B0604020202090204" pitchFamily="34" charset="0"/>
              <a:buChar char="•"/>
            </a:pPr>
            <a:r>
              <a:rPr lang="zh-CN" altLang="en-US" sz="1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VFS / 设备模型</a:t>
            </a:r>
          </a:p>
          <a:p>
            <a:pPr marL="285750" indent="-285750" algn="l">
              <a:buFont typeface="Arial" panose="020B0604020202090204" pitchFamily="34" charset="0"/>
              <a:buChar char="•"/>
            </a:pPr>
            <a:r>
              <a:rPr lang="zh-CN" altLang="en-US" sz="1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基础用户态运行</a:t>
            </a:r>
            <a:endParaRPr lang="en-US" altLang="zh-CN" sz="18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4" name="Content Placeholder 2"/>
          <p:cNvSpPr txBox="1"/>
          <p:nvPr/>
        </p:nvSpPr>
        <p:spPr>
          <a:xfrm>
            <a:off x="5809445" y="4402327"/>
            <a:ext cx="2350029" cy="120531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Arial" panose="020B0604020202090204" pitchFamily="34" charset="0"/>
              <a:buChar char="•"/>
            </a:pPr>
            <a:r>
              <a:rPr lang="zh-CN" altLang="en-US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初赛测例全部通过</a:t>
            </a:r>
          </a:p>
          <a:p>
            <a:pPr marL="285750" indent="-285750" algn="l">
              <a:buFont typeface="Arial" panose="020B0604020202090204" pitchFamily="34" charset="0"/>
              <a:buChar char="•"/>
            </a:pPr>
            <a:r>
              <a:rPr lang="zh-CN" altLang="en-US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补齐 LTP 语义边界</a:t>
            </a:r>
          </a:p>
          <a:p>
            <a:pPr marL="285750" indent="-285750" algn="l">
              <a:buFont typeface="Arial" panose="020B0604020202090204" pitchFamily="34" charset="0"/>
              <a:buChar char="•"/>
            </a:pPr>
            <a:r>
              <a:rPr lang="zh-CN" altLang="en-US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缓存与挂载路径完善</a:t>
            </a:r>
            <a:endParaRPr lang="en-US" altLang="zh-CN" dirty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l">
              <a:buFont typeface="Arial" panose="020B0604020202090204" pitchFamily="34" charset="0"/>
              <a:buChar char="•"/>
            </a:pPr>
            <a:endParaRPr lang="en-US" altLang="zh-CN" dirty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l">
              <a:buFont typeface="Arial" panose="020B0604020202090204" pitchFamily="34" charset="0"/>
              <a:buChar char="•"/>
            </a:pPr>
            <a:endParaRPr lang="en-US" altLang="zh-CN" dirty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l">
              <a:buFont typeface="Arial" panose="020B0604020202090204" pitchFamily="34" charset="0"/>
              <a:buChar char="•"/>
            </a:pPr>
            <a:endParaRPr lang="en-US" altLang="zh-CN" dirty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l">
              <a:buFont typeface="Arial" panose="020B0604020202090204" pitchFamily="34" charset="0"/>
              <a:buChar char="•"/>
            </a:pPr>
            <a:endParaRPr lang="en-US" altLang="zh-CN" dirty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 algn="l">
              <a:buFont typeface="Arial" panose="020B0604020202090204" pitchFamily="34" charset="0"/>
              <a:buChar char="•"/>
            </a:pPr>
            <a:endParaRPr lang="en-US" altLang="zh-CN" dirty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l">
              <a:buFont typeface="Arial" panose="020B0604020202090204" pitchFamily="34" charset="0"/>
              <a:buChar char="•"/>
            </a:pPr>
            <a:endParaRPr lang="en-US" altLang="zh-CN" dirty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l">
              <a:buFont typeface="Arial" panose="020B0604020202090204" pitchFamily="34" charset="0"/>
              <a:buChar char="•"/>
            </a:pPr>
            <a:endParaRPr lang="en-US" altLang="zh-CN" dirty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5" name="Content Placeholder 2"/>
          <p:cNvSpPr txBox="1"/>
          <p:nvPr/>
        </p:nvSpPr>
        <p:spPr>
          <a:xfrm>
            <a:off x="8046551" y="4402327"/>
            <a:ext cx="2530918" cy="120531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Arial" panose="020B0604020202090204" pitchFamily="34" charset="0"/>
              <a:buChar char="•"/>
            </a:pPr>
            <a:r>
              <a:rPr lang="zh-CN" altLang="en-US" dirty="0">
                <a:solidFill>
                  <a:schemeClr val="accent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网络与作业控制</a:t>
            </a:r>
            <a:endParaRPr lang="en-US" altLang="zh-CN" dirty="0">
              <a:solidFill>
                <a:schemeClr val="accent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 algn="l">
              <a:buFont typeface="Arial" panose="020B0604020202090204" pitchFamily="34" charset="0"/>
              <a:buChar char="•"/>
            </a:pPr>
            <a:r>
              <a:rPr lang="zh-CN" altLang="en-US" dirty="0">
                <a:solidFill>
                  <a:schemeClr val="accent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BuildStorm / Cagent</a:t>
            </a:r>
            <a:endParaRPr lang="en-US" altLang="zh-CN" dirty="0">
              <a:solidFill>
                <a:schemeClr val="accent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 algn="l">
              <a:buFont typeface="Arial" panose="020B0604020202090204" pitchFamily="34" charset="0"/>
              <a:buChar char="•"/>
            </a:pPr>
            <a:r>
              <a:rPr lang="zh-CN" altLang="en-US" dirty="0">
                <a:solidFill>
                  <a:schemeClr val="accent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物理平台适配</a:t>
            </a:r>
            <a:r>
              <a:rPr lang="en-US" altLang="zh-CN" dirty="0">
                <a:solidFill>
                  <a:schemeClr val="accent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/ </a:t>
            </a:r>
            <a:r>
              <a:rPr lang="zh-CN" altLang="en-US" dirty="0">
                <a:solidFill>
                  <a:schemeClr val="accent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驱动开发</a:t>
            </a:r>
          </a:p>
          <a:p>
            <a:pPr marL="285750" indent="-285750" algn="l">
              <a:buFont typeface="Arial" panose="020B0604020202090204" pitchFamily="34" charset="0"/>
              <a:buChar char="•"/>
            </a:pPr>
            <a:r>
              <a:rPr lang="zh-CN" altLang="en-US" dirty="0">
                <a:solidFill>
                  <a:schemeClr val="accent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性能验证与交付</a:t>
            </a:r>
          </a:p>
        </p:txBody>
      </p:sp>
      <p:sp>
        <p:nvSpPr>
          <p:cNvPr id="2" name="Content Placeholder 2"/>
          <p:cNvSpPr txBox="1"/>
          <p:nvPr/>
        </p:nvSpPr>
        <p:spPr>
          <a:xfrm>
            <a:off x="9748173" y="4125310"/>
            <a:ext cx="1982470" cy="215455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altLang="zh-CN" dirty="0">
              <a:solidFill>
                <a:schemeClr val="accent6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algn="l">
              <a:buFont typeface="Arial" panose="020B0604020202090204" pitchFamily="34" charset="0"/>
              <a:buChar char="•"/>
            </a:pPr>
            <a:endParaRPr lang="zh-CN" altLang="en-US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algn="l">
              <a:buFont typeface="Arial" panose="020B0604020202090204" pitchFamily="34" charset="0"/>
              <a:buChar char="•"/>
            </a:pPr>
            <a:endParaRPr lang="zh-CN" altLang="en-US" sz="2000" dirty="0">
              <a:solidFill>
                <a:schemeClr val="accent6"/>
              </a:solidFill>
            </a:endParaRPr>
          </a:p>
          <a:p>
            <a:pPr marL="342900" indent="-342900" algn="l">
              <a:buFont typeface="Arial" panose="020B0604020202090204" pitchFamily="34" charset="0"/>
              <a:buChar char="•"/>
            </a:pPr>
            <a:endParaRPr lang="zh-CN" altLang="en-US" sz="2000" dirty="0">
              <a:solidFill>
                <a:schemeClr val="accent6"/>
              </a:solidFill>
            </a:endParaRPr>
          </a:p>
        </p:txBody>
      </p:sp>
      <p:sp>
        <p:nvSpPr>
          <p:cNvPr id="116" name="NavActive 开发历程"/>
          <p:cNvSpPr/>
          <p:nvPr/>
        </p:nvSpPr>
        <p:spPr>
          <a:xfrm>
            <a:off x="4638083" y="0"/>
            <a:ext cx="1406233" cy="792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cxnSp>
        <p:nvCxnSpPr>
          <p:cNvPr id="117" name="NavDivider 1"/>
          <p:cNvCxnSpPr/>
          <p:nvPr/>
        </p:nvCxnSpPr>
        <p:spPr>
          <a:xfrm>
            <a:off x="4638083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NavDivider 2"/>
          <p:cNvCxnSpPr/>
          <p:nvPr/>
        </p:nvCxnSpPr>
        <p:spPr>
          <a:xfrm>
            <a:off x="6044316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NavDivider 3"/>
          <p:cNvCxnSpPr/>
          <p:nvPr/>
        </p:nvCxnSpPr>
        <p:spPr>
          <a:xfrm>
            <a:off x="74505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NavDivider 4"/>
          <p:cNvCxnSpPr/>
          <p:nvPr/>
        </p:nvCxnSpPr>
        <p:spPr>
          <a:xfrm>
            <a:off x="8856783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NavDivider 5"/>
          <p:cNvCxnSpPr/>
          <p:nvPr/>
        </p:nvCxnSpPr>
        <p:spPr>
          <a:xfrm>
            <a:off x="10263016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NavText 1 完成情况"/>
          <p:cNvSpPr txBox="1"/>
          <p:nvPr/>
        </p:nvSpPr>
        <p:spPr>
          <a:xfrm>
            <a:off x="3231850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完成情况</a:t>
            </a:r>
          </a:p>
        </p:txBody>
      </p:sp>
      <p:sp>
        <p:nvSpPr>
          <p:cNvPr id="123" name="NavText 2 开发历程"/>
          <p:cNvSpPr txBox="1"/>
          <p:nvPr/>
        </p:nvSpPr>
        <p:spPr>
          <a:xfrm>
            <a:off x="4638083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开发历程</a:t>
            </a:r>
          </a:p>
        </p:txBody>
      </p:sp>
      <p:sp>
        <p:nvSpPr>
          <p:cNvPr id="124" name="NavText 3 设计主线"/>
          <p:cNvSpPr txBox="1"/>
          <p:nvPr/>
        </p:nvSpPr>
        <p:spPr>
          <a:xfrm>
            <a:off x="6044316" y="215903"/>
            <a:ext cx="1406234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设计主线</a:t>
            </a:r>
          </a:p>
        </p:txBody>
      </p:sp>
      <p:sp>
        <p:nvSpPr>
          <p:cNvPr id="125" name="NavText 4 核心机制"/>
          <p:cNvSpPr txBox="1"/>
          <p:nvPr/>
        </p:nvSpPr>
        <p:spPr>
          <a:xfrm>
            <a:off x="7450550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核心机制</a:t>
            </a:r>
          </a:p>
        </p:txBody>
      </p:sp>
      <p:sp>
        <p:nvSpPr>
          <p:cNvPr id="126" name="NavText 5 AI使用"/>
          <p:cNvSpPr txBox="1"/>
          <p:nvPr/>
        </p:nvSpPr>
        <p:spPr>
          <a:xfrm>
            <a:off x="8856783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AI使用</a:t>
            </a:r>
          </a:p>
        </p:txBody>
      </p:sp>
      <p:sp>
        <p:nvSpPr>
          <p:cNvPr id="127" name="NavText 6 比赛总结"/>
          <p:cNvSpPr txBox="1"/>
          <p:nvPr/>
        </p:nvSpPr>
        <p:spPr>
          <a:xfrm>
            <a:off x="10263016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比赛总结</a:t>
            </a: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3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-40000"/>
                    </a14:imgEffect>
                    <a14:imgEffect>
                      <a14:colorTemperature colorTemp="5988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373" y="132991"/>
            <a:ext cx="2997105" cy="550154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825032" y="2809186"/>
            <a:ext cx="254193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b="1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设计主线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209765" y="3768183"/>
            <a:ext cx="371157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边界 · 契约 · 所有权</a:t>
            </a:r>
          </a:p>
        </p:txBody>
      </p:sp>
      <p:sp>
        <p:nvSpPr>
          <p:cNvPr id="33" name="NavActive 设计主线"/>
          <p:cNvSpPr/>
          <p:nvPr/>
        </p:nvSpPr>
        <p:spPr>
          <a:xfrm>
            <a:off x="6044316" y="0"/>
            <a:ext cx="1406234" cy="792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cxnSp>
        <p:nvCxnSpPr>
          <p:cNvPr id="34" name="NavDivider 1"/>
          <p:cNvCxnSpPr/>
          <p:nvPr/>
        </p:nvCxnSpPr>
        <p:spPr>
          <a:xfrm>
            <a:off x="4638083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NavDivider 2"/>
          <p:cNvCxnSpPr/>
          <p:nvPr/>
        </p:nvCxnSpPr>
        <p:spPr>
          <a:xfrm>
            <a:off x="6044316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NavDivider 3"/>
          <p:cNvCxnSpPr/>
          <p:nvPr/>
        </p:nvCxnSpPr>
        <p:spPr>
          <a:xfrm>
            <a:off x="74505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NavDivider 4"/>
          <p:cNvCxnSpPr/>
          <p:nvPr/>
        </p:nvCxnSpPr>
        <p:spPr>
          <a:xfrm>
            <a:off x="8856783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NavDivider 5"/>
          <p:cNvCxnSpPr/>
          <p:nvPr/>
        </p:nvCxnSpPr>
        <p:spPr>
          <a:xfrm>
            <a:off x="10263016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NavText 1 完成情况"/>
          <p:cNvSpPr txBox="1"/>
          <p:nvPr/>
        </p:nvSpPr>
        <p:spPr>
          <a:xfrm>
            <a:off x="3231850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完成情况</a:t>
            </a:r>
          </a:p>
        </p:txBody>
      </p:sp>
      <p:sp>
        <p:nvSpPr>
          <p:cNvPr id="40" name="NavText 2 开发历程"/>
          <p:cNvSpPr txBox="1"/>
          <p:nvPr/>
        </p:nvSpPr>
        <p:spPr>
          <a:xfrm>
            <a:off x="4638083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开发历程</a:t>
            </a:r>
          </a:p>
        </p:txBody>
      </p:sp>
      <p:sp>
        <p:nvSpPr>
          <p:cNvPr id="41" name="NavText 3 设计主线"/>
          <p:cNvSpPr txBox="1"/>
          <p:nvPr/>
        </p:nvSpPr>
        <p:spPr>
          <a:xfrm>
            <a:off x="6044316" y="215903"/>
            <a:ext cx="1406234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设计主线</a:t>
            </a:r>
          </a:p>
        </p:txBody>
      </p:sp>
      <p:sp>
        <p:nvSpPr>
          <p:cNvPr id="42" name="NavText 4 核心机制"/>
          <p:cNvSpPr txBox="1"/>
          <p:nvPr/>
        </p:nvSpPr>
        <p:spPr>
          <a:xfrm>
            <a:off x="7450550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核心机制</a:t>
            </a:r>
          </a:p>
        </p:txBody>
      </p:sp>
      <p:sp>
        <p:nvSpPr>
          <p:cNvPr id="43" name="NavText 5 AI使用"/>
          <p:cNvSpPr txBox="1"/>
          <p:nvPr/>
        </p:nvSpPr>
        <p:spPr>
          <a:xfrm>
            <a:off x="8856783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AI使用</a:t>
            </a:r>
          </a:p>
        </p:txBody>
      </p:sp>
      <p:sp>
        <p:nvSpPr>
          <p:cNvPr id="44" name="NavText 6 比赛总结"/>
          <p:cNvSpPr txBox="1"/>
          <p:nvPr/>
        </p:nvSpPr>
        <p:spPr>
          <a:xfrm>
            <a:off x="10263016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比赛总结</a:t>
            </a: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3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-40000"/>
                    </a14:imgEffect>
                    <a14:imgEffect>
                      <a14:colorTemperature colorTemp="5988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373" y="132991"/>
            <a:ext cx="2997105" cy="550154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17292" y="1016779"/>
            <a:ext cx="489902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为什么坚持从零设计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588010" y="1871980"/>
            <a:ext cx="293370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90204" pitchFamily="34" charset="0"/>
              <a:buChar char="•"/>
            </a:pP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兼容对外协议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066800" y="2440940"/>
            <a:ext cx="8641080" cy="10690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lnSpc>
                <a:spcPct val="170000"/>
              </a:lnSpc>
              <a:buFont typeface="Arial" panose="020B0604020202090204" pitchFamily="34" charset="0"/>
              <a:buNone/>
            </a:pPr>
            <a:r>
              <a:rPr lang="zh-CN" sz="20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Linux ABI 兼容停留在 syscall / UAPI 边界；不复制 Linux 内部对象与历史实现结构</a:t>
            </a:r>
            <a:endParaRPr 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>
              <a:lnSpc>
                <a:spcPct val="170000"/>
              </a:lnSpc>
              <a:buFont typeface="Arial" panose="020B0604020202090204" pitchFamily="34" charset="0"/>
              <a:buNone/>
            </a:pPr>
            <a:endParaRPr lang="zh-CN" sz="2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88010" y="4027805"/>
            <a:ext cx="293370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90204" pitchFamily="34" charset="0"/>
              <a:buChar char="•"/>
            </a:pP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重建内部所有权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066799" y="4596765"/>
            <a:ext cx="8936449" cy="10690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lnSpc>
                <a:spcPct val="170000"/>
              </a:lnSpc>
              <a:buFont typeface="Arial" panose="020B0604020202090204" pitchFamily="34" charset="0"/>
              <a:buNone/>
            </a:pPr>
            <a:r>
              <a:rPr lang="zh-CN" sz="20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核心对象围绕 Rust 所有权与单一真相源设计；调试、审查和演进路径更清楚</a:t>
            </a:r>
          </a:p>
          <a:p>
            <a:pPr indent="0">
              <a:lnSpc>
                <a:spcPct val="170000"/>
              </a:lnSpc>
              <a:buFont typeface="Arial" panose="020B0604020202090204" pitchFamily="34" charset="0"/>
              <a:buNone/>
            </a:pPr>
            <a:endParaRPr lang="zh-CN" sz="2000" b="1" dirty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3" name="NavActive 设计主线"/>
          <p:cNvSpPr/>
          <p:nvPr/>
        </p:nvSpPr>
        <p:spPr>
          <a:xfrm>
            <a:off x="6044316" y="0"/>
            <a:ext cx="1406234" cy="792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cxnSp>
        <p:nvCxnSpPr>
          <p:cNvPr id="34" name="NavDivider 1"/>
          <p:cNvCxnSpPr/>
          <p:nvPr/>
        </p:nvCxnSpPr>
        <p:spPr>
          <a:xfrm>
            <a:off x="4638083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NavDivider 2"/>
          <p:cNvCxnSpPr/>
          <p:nvPr/>
        </p:nvCxnSpPr>
        <p:spPr>
          <a:xfrm>
            <a:off x="6044316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NavDivider 3"/>
          <p:cNvCxnSpPr/>
          <p:nvPr/>
        </p:nvCxnSpPr>
        <p:spPr>
          <a:xfrm>
            <a:off x="74505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NavDivider 4"/>
          <p:cNvCxnSpPr/>
          <p:nvPr/>
        </p:nvCxnSpPr>
        <p:spPr>
          <a:xfrm>
            <a:off x="8856783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NavDivider 5"/>
          <p:cNvCxnSpPr/>
          <p:nvPr/>
        </p:nvCxnSpPr>
        <p:spPr>
          <a:xfrm>
            <a:off x="10263016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NavText 1 完成情况"/>
          <p:cNvSpPr txBox="1"/>
          <p:nvPr/>
        </p:nvSpPr>
        <p:spPr>
          <a:xfrm>
            <a:off x="3231850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完成情况</a:t>
            </a:r>
          </a:p>
        </p:txBody>
      </p:sp>
      <p:sp>
        <p:nvSpPr>
          <p:cNvPr id="40" name="NavText 2 开发历程"/>
          <p:cNvSpPr txBox="1"/>
          <p:nvPr/>
        </p:nvSpPr>
        <p:spPr>
          <a:xfrm>
            <a:off x="4638083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开发历程</a:t>
            </a:r>
          </a:p>
        </p:txBody>
      </p:sp>
      <p:sp>
        <p:nvSpPr>
          <p:cNvPr id="41" name="NavText 3 设计主线"/>
          <p:cNvSpPr txBox="1"/>
          <p:nvPr/>
        </p:nvSpPr>
        <p:spPr>
          <a:xfrm>
            <a:off x="6044316" y="215903"/>
            <a:ext cx="1406234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设计主线</a:t>
            </a:r>
          </a:p>
        </p:txBody>
      </p:sp>
      <p:sp>
        <p:nvSpPr>
          <p:cNvPr id="42" name="NavText 4 核心机制"/>
          <p:cNvSpPr txBox="1"/>
          <p:nvPr/>
        </p:nvSpPr>
        <p:spPr>
          <a:xfrm>
            <a:off x="7450550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核心机制</a:t>
            </a:r>
          </a:p>
        </p:txBody>
      </p:sp>
      <p:sp>
        <p:nvSpPr>
          <p:cNvPr id="43" name="NavText 5 AI使用"/>
          <p:cNvSpPr txBox="1"/>
          <p:nvPr/>
        </p:nvSpPr>
        <p:spPr>
          <a:xfrm>
            <a:off x="8856783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AI使用</a:t>
            </a:r>
          </a:p>
        </p:txBody>
      </p:sp>
      <p:sp>
        <p:nvSpPr>
          <p:cNvPr id="44" name="NavText 6 比赛总结"/>
          <p:cNvSpPr txBox="1"/>
          <p:nvPr/>
        </p:nvSpPr>
        <p:spPr>
          <a:xfrm>
            <a:off x="10263016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比赛总结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5" grpId="0"/>
      <p:bldP spid="5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3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-40000"/>
                    </a14:imgEffect>
                    <a14:imgEffect>
                      <a14:colorTemperature colorTemp="5988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373" y="132991"/>
            <a:ext cx="2997105" cy="550154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17475" y="1039495"/>
            <a:ext cx="43287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charset="0"/>
              <a:buChar char=""/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ABI 与内部对象分层</a:t>
            </a:r>
            <a:endParaRPr lang="zh-CN" altLang="en-US" sz="2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26745" y="1809750"/>
            <a:ext cx="293370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完整</a:t>
            </a:r>
            <a:r>
              <a:rPr lang="en-US" altLang="zh-CN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外部协议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3232150" y="1870075"/>
            <a:ext cx="79432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buNone/>
            </a:pPr>
            <a:r>
              <a:rPr lang="zh-CN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syscall / UAPI / errno / flag 定义 Linux 用户态可见语义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626745" y="2619375"/>
            <a:ext cx="105479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内部对象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626744" y="4805903"/>
            <a:ext cx="105479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实现效果</a:t>
            </a:r>
          </a:p>
        </p:txBody>
      </p:sp>
      <p:sp>
        <p:nvSpPr>
          <p:cNvPr id="33" name="NavActive 设计主线"/>
          <p:cNvSpPr/>
          <p:nvPr/>
        </p:nvSpPr>
        <p:spPr>
          <a:xfrm>
            <a:off x="6044316" y="0"/>
            <a:ext cx="1406234" cy="792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cxnSp>
        <p:nvCxnSpPr>
          <p:cNvPr id="34" name="NavDivider 1"/>
          <p:cNvCxnSpPr/>
          <p:nvPr/>
        </p:nvCxnSpPr>
        <p:spPr>
          <a:xfrm>
            <a:off x="4638083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NavDivider 2"/>
          <p:cNvCxnSpPr/>
          <p:nvPr/>
        </p:nvCxnSpPr>
        <p:spPr>
          <a:xfrm>
            <a:off x="6044316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NavDivider 3"/>
          <p:cNvCxnSpPr/>
          <p:nvPr/>
        </p:nvCxnSpPr>
        <p:spPr>
          <a:xfrm>
            <a:off x="74505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NavDivider 4"/>
          <p:cNvCxnSpPr/>
          <p:nvPr/>
        </p:nvCxnSpPr>
        <p:spPr>
          <a:xfrm>
            <a:off x="8856783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NavDivider 5"/>
          <p:cNvCxnSpPr/>
          <p:nvPr/>
        </p:nvCxnSpPr>
        <p:spPr>
          <a:xfrm>
            <a:off x="10263016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NavText 1 完成情况"/>
          <p:cNvSpPr txBox="1"/>
          <p:nvPr/>
        </p:nvSpPr>
        <p:spPr>
          <a:xfrm>
            <a:off x="3231850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完成情况</a:t>
            </a:r>
          </a:p>
        </p:txBody>
      </p:sp>
      <p:sp>
        <p:nvSpPr>
          <p:cNvPr id="40" name="NavText 2 开发历程"/>
          <p:cNvSpPr txBox="1"/>
          <p:nvPr/>
        </p:nvSpPr>
        <p:spPr>
          <a:xfrm>
            <a:off x="4638083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开发历程</a:t>
            </a:r>
          </a:p>
        </p:txBody>
      </p:sp>
      <p:sp>
        <p:nvSpPr>
          <p:cNvPr id="41" name="NavText 3 设计主线"/>
          <p:cNvSpPr txBox="1"/>
          <p:nvPr/>
        </p:nvSpPr>
        <p:spPr>
          <a:xfrm>
            <a:off x="6044316" y="215903"/>
            <a:ext cx="1406234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设计主线</a:t>
            </a:r>
          </a:p>
        </p:txBody>
      </p:sp>
      <p:sp>
        <p:nvSpPr>
          <p:cNvPr id="42" name="NavText 4 核心机制"/>
          <p:cNvSpPr txBox="1"/>
          <p:nvPr/>
        </p:nvSpPr>
        <p:spPr>
          <a:xfrm>
            <a:off x="7450550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核心机制</a:t>
            </a:r>
          </a:p>
        </p:txBody>
      </p:sp>
      <p:sp>
        <p:nvSpPr>
          <p:cNvPr id="43" name="NavText 5 AI使用"/>
          <p:cNvSpPr txBox="1"/>
          <p:nvPr/>
        </p:nvSpPr>
        <p:spPr>
          <a:xfrm>
            <a:off x="8856783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AI使用</a:t>
            </a:r>
          </a:p>
        </p:txBody>
      </p:sp>
      <p:sp>
        <p:nvSpPr>
          <p:cNvPr id="44" name="NavText 6 比赛总结"/>
          <p:cNvSpPr txBox="1"/>
          <p:nvPr/>
        </p:nvSpPr>
        <p:spPr>
          <a:xfrm>
            <a:off x="10263016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比赛总结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3232785" y="2722245"/>
            <a:ext cx="8788400" cy="1630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ClrTx/>
              <a:buSzTx/>
              <a:buFont typeface="Arial" panose="020B0604020202090204" pitchFamily="34" charset="0"/>
              <a:buChar char="•"/>
            </a:pPr>
            <a:r>
              <a:rPr lang="zh-CN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不复刻 Linux 源码结构</a:t>
            </a:r>
          </a:p>
          <a:p>
            <a:pPr marL="342900" indent="-342900" algn="l">
              <a:buClrTx/>
              <a:buSzTx/>
              <a:buFont typeface="Arial" panose="020B0604020202090204" pitchFamily="34" charset="0"/>
              <a:buChar char="•"/>
            </a:pPr>
            <a:endParaRPr lang="zh-CN" sz="20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l">
              <a:buClrTx/>
              <a:buSzTx/>
              <a:buFont typeface="Arial" panose="020B0604020202090204" pitchFamily="34" charset="0"/>
              <a:buChar char="•"/>
            </a:pPr>
            <a:r>
              <a:rPr lang="en-US" altLang="zh-CN" sz="20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进程、文件、地址空间与设备各有明确 owner</a:t>
            </a:r>
          </a:p>
          <a:p>
            <a:pPr marL="342900" indent="-342900" algn="l">
              <a:buClrTx/>
              <a:buSzTx/>
              <a:buFont typeface="Arial" panose="020B0604020202090204" pitchFamily="34" charset="0"/>
              <a:buChar char="•"/>
            </a:pP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algn="l">
              <a:buClrTx/>
              <a:buSzTx/>
              <a:buFont typeface="Arial" panose="020B0604020202090204" pitchFamily="34" charset="0"/>
              <a:buChar char="•"/>
            </a:pPr>
            <a:r>
              <a:rPr lang="en-US" altLang="zh-CN" sz="2000" b="1" dirty="0">
                <a:solidFill>
                  <a:schemeClr val="accent3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兼容逻辑隔离在边界，核心机制保持原生对象</a:t>
            </a:r>
            <a:endParaRPr lang="zh-CN" sz="20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232785" y="4822825"/>
            <a:ext cx="79432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buFont typeface="Arial" panose="020B0604020202090204" pitchFamily="34" charset="0"/>
              <a:buNone/>
            </a:pPr>
            <a:r>
              <a:rPr lang="en-US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ABI 可解释，内部实现可审查、可重构</a:t>
            </a:r>
            <a:endParaRPr lang="zh-CN" sz="20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0" grpId="1"/>
      <p:bldP spid="11" grpId="0"/>
      <p:bldP spid="11" grpId="1"/>
      <p:bldP spid="23" grpId="0"/>
      <p:bldP spid="23" grpId="1"/>
      <p:bldP spid="2" grpId="0"/>
      <p:bldP spid="2" grpId="1"/>
      <p:bldP spid="5" grpId="0"/>
      <p:bldP spid="5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3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-40000"/>
                    </a14:imgEffect>
                    <a14:imgEffect>
                      <a14:colorTemperature colorTemp="5988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373" y="132991"/>
            <a:ext cx="2997105" cy="550154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17292" y="1022494"/>
            <a:ext cx="420243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 algn="l">
              <a:buClrTx/>
              <a:buSzTx/>
              <a:buFont typeface="Wingdings" panose="05000000000000000000" charset="0"/>
              <a:buChar char=""/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兼容逻辑停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留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在边界层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68115" y="1774825"/>
            <a:ext cx="7701280" cy="4574540"/>
          </a:xfrm>
          <a:prstGeom prst="rect">
            <a:avLst/>
          </a:prstGeom>
        </p:spPr>
      </p:pic>
      <p:sp>
        <p:nvSpPr>
          <p:cNvPr id="33" name="NavActive 设计主线"/>
          <p:cNvSpPr/>
          <p:nvPr/>
        </p:nvSpPr>
        <p:spPr>
          <a:xfrm>
            <a:off x="6044316" y="0"/>
            <a:ext cx="1406234" cy="792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cxnSp>
        <p:nvCxnSpPr>
          <p:cNvPr id="34" name="NavDivider 1"/>
          <p:cNvCxnSpPr/>
          <p:nvPr/>
        </p:nvCxnSpPr>
        <p:spPr>
          <a:xfrm>
            <a:off x="4638083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NavDivider 2"/>
          <p:cNvCxnSpPr/>
          <p:nvPr/>
        </p:nvCxnSpPr>
        <p:spPr>
          <a:xfrm>
            <a:off x="6044316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NavDivider 3"/>
          <p:cNvCxnSpPr/>
          <p:nvPr/>
        </p:nvCxnSpPr>
        <p:spPr>
          <a:xfrm>
            <a:off x="74505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NavDivider 4"/>
          <p:cNvCxnSpPr/>
          <p:nvPr/>
        </p:nvCxnSpPr>
        <p:spPr>
          <a:xfrm>
            <a:off x="8856783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NavDivider 5"/>
          <p:cNvCxnSpPr/>
          <p:nvPr/>
        </p:nvCxnSpPr>
        <p:spPr>
          <a:xfrm>
            <a:off x="10263016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NavText 1 完成情况"/>
          <p:cNvSpPr txBox="1"/>
          <p:nvPr/>
        </p:nvSpPr>
        <p:spPr>
          <a:xfrm>
            <a:off x="3231850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完成情况</a:t>
            </a:r>
          </a:p>
        </p:txBody>
      </p:sp>
      <p:sp>
        <p:nvSpPr>
          <p:cNvPr id="40" name="NavText 2 开发历程"/>
          <p:cNvSpPr txBox="1"/>
          <p:nvPr/>
        </p:nvSpPr>
        <p:spPr>
          <a:xfrm>
            <a:off x="4638083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开发历程</a:t>
            </a:r>
          </a:p>
        </p:txBody>
      </p:sp>
      <p:sp>
        <p:nvSpPr>
          <p:cNvPr id="41" name="NavText 3 设计主线"/>
          <p:cNvSpPr txBox="1"/>
          <p:nvPr/>
        </p:nvSpPr>
        <p:spPr>
          <a:xfrm>
            <a:off x="6044316" y="215903"/>
            <a:ext cx="1406234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设计主线</a:t>
            </a:r>
          </a:p>
        </p:txBody>
      </p:sp>
      <p:sp>
        <p:nvSpPr>
          <p:cNvPr id="42" name="NavText 4 核心机制"/>
          <p:cNvSpPr txBox="1"/>
          <p:nvPr/>
        </p:nvSpPr>
        <p:spPr>
          <a:xfrm>
            <a:off x="7450550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核心机制</a:t>
            </a:r>
          </a:p>
        </p:txBody>
      </p:sp>
      <p:sp>
        <p:nvSpPr>
          <p:cNvPr id="43" name="NavText 5 AI使用"/>
          <p:cNvSpPr txBox="1"/>
          <p:nvPr/>
        </p:nvSpPr>
        <p:spPr>
          <a:xfrm>
            <a:off x="8856783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AI使用</a:t>
            </a:r>
          </a:p>
        </p:txBody>
      </p:sp>
      <p:sp>
        <p:nvSpPr>
          <p:cNvPr id="44" name="NavText 6 比赛总结"/>
          <p:cNvSpPr txBox="1"/>
          <p:nvPr/>
        </p:nvSpPr>
        <p:spPr>
          <a:xfrm>
            <a:off x="10263016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比赛总结</a:t>
            </a:r>
          </a:p>
        </p:txBody>
      </p:sp>
      <p:graphicFrame>
        <p:nvGraphicFramePr>
          <p:cNvPr id="2" name="图示 1"/>
          <p:cNvGraphicFramePr/>
          <p:nvPr>
            <p:extLst>
              <p:ext uri="{D42A27DB-BD31-4B8C-83A1-F6EECF244321}">
                <p14:modId xmlns:p14="http://schemas.microsoft.com/office/powerpoint/2010/main" val="4099665092"/>
              </p:ext>
            </p:extLst>
          </p:nvPr>
        </p:nvGraphicFramePr>
        <p:xfrm>
          <a:off x="720090" y="1577340"/>
          <a:ext cx="2997200" cy="48577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3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-40000"/>
                    </a14:imgEffect>
                    <a14:imgEffect>
                      <a14:colorTemperature colorTemp="5988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373" y="132991"/>
            <a:ext cx="2997105" cy="550154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696447" y="3044279"/>
            <a:ext cx="2494795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lang="en-US" altLang="zh-CN" sz="4400" b="1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核心机制</a:t>
            </a:r>
          </a:p>
        </p:txBody>
      </p:sp>
      <p:sp>
        <p:nvSpPr>
          <p:cNvPr id="33" name="NavActive 核心机制"/>
          <p:cNvSpPr/>
          <p:nvPr/>
        </p:nvSpPr>
        <p:spPr>
          <a:xfrm>
            <a:off x="7450550" y="0"/>
            <a:ext cx="1406233" cy="792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cxnSp>
        <p:nvCxnSpPr>
          <p:cNvPr id="34" name="NavDivider 1"/>
          <p:cNvCxnSpPr/>
          <p:nvPr/>
        </p:nvCxnSpPr>
        <p:spPr>
          <a:xfrm>
            <a:off x="4638083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NavDivider 2"/>
          <p:cNvCxnSpPr/>
          <p:nvPr/>
        </p:nvCxnSpPr>
        <p:spPr>
          <a:xfrm>
            <a:off x="6044316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NavDivider 3"/>
          <p:cNvCxnSpPr/>
          <p:nvPr/>
        </p:nvCxnSpPr>
        <p:spPr>
          <a:xfrm>
            <a:off x="74505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NavDivider 4"/>
          <p:cNvCxnSpPr/>
          <p:nvPr/>
        </p:nvCxnSpPr>
        <p:spPr>
          <a:xfrm>
            <a:off x="8856783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NavDivider 5"/>
          <p:cNvCxnSpPr/>
          <p:nvPr/>
        </p:nvCxnSpPr>
        <p:spPr>
          <a:xfrm>
            <a:off x="10263016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NavText 1 完成情况"/>
          <p:cNvSpPr txBox="1"/>
          <p:nvPr/>
        </p:nvSpPr>
        <p:spPr>
          <a:xfrm>
            <a:off x="3231850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完成情况</a:t>
            </a:r>
          </a:p>
        </p:txBody>
      </p:sp>
      <p:sp>
        <p:nvSpPr>
          <p:cNvPr id="40" name="NavText 2 开发历程"/>
          <p:cNvSpPr txBox="1"/>
          <p:nvPr/>
        </p:nvSpPr>
        <p:spPr>
          <a:xfrm>
            <a:off x="4638083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开发历程</a:t>
            </a:r>
          </a:p>
        </p:txBody>
      </p:sp>
      <p:sp>
        <p:nvSpPr>
          <p:cNvPr id="41" name="NavText 3 设计主线"/>
          <p:cNvSpPr txBox="1"/>
          <p:nvPr/>
        </p:nvSpPr>
        <p:spPr>
          <a:xfrm>
            <a:off x="6044316" y="215903"/>
            <a:ext cx="1406234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设计主线</a:t>
            </a:r>
          </a:p>
        </p:txBody>
      </p:sp>
      <p:sp>
        <p:nvSpPr>
          <p:cNvPr id="42" name="NavText 4 核心机制"/>
          <p:cNvSpPr txBox="1"/>
          <p:nvPr/>
        </p:nvSpPr>
        <p:spPr>
          <a:xfrm>
            <a:off x="7450550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核心机制</a:t>
            </a:r>
          </a:p>
        </p:txBody>
      </p:sp>
      <p:sp>
        <p:nvSpPr>
          <p:cNvPr id="43" name="NavText 5 AI使用"/>
          <p:cNvSpPr txBox="1"/>
          <p:nvPr/>
        </p:nvSpPr>
        <p:spPr>
          <a:xfrm>
            <a:off x="8856783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AI使用</a:t>
            </a:r>
          </a:p>
        </p:txBody>
      </p:sp>
      <p:sp>
        <p:nvSpPr>
          <p:cNvPr id="44" name="NavText 6 比赛总结"/>
          <p:cNvSpPr txBox="1"/>
          <p:nvPr/>
        </p:nvSpPr>
        <p:spPr>
          <a:xfrm>
            <a:off x="10263016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比赛总结</a:t>
            </a:r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3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-40000"/>
                    </a14:imgEffect>
                    <a14:imgEffect>
                      <a14:colorTemperature colorTemp="5988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373" y="132991"/>
            <a:ext cx="2997105" cy="550154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05757" y="995184"/>
            <a:ext cx="80187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 algn="l">
              <a:buClrTx/>
              <a:buSzTx/>
              <a:buFont typeface="Wingdings" panose="05000000000000000000" charset="0"/>
              <a:buChar char=""/>
            </a:pPr>
            <a:r>
              <a:rPr lang="en-US" altLang="zh-CN" sz="2800" b="1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Nemophila – 基于WASM的内核动态扩展机制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385949" y="1564124"/>
            <a:ext cx="10978737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0" i="0" dirty="0">
                <a:solidFill>
                  <a:srgbClr val="404040"/>
                </a:solidFill>
                <a:effectLst/>
                <a:latin typeface="quote-cjk-patch"/>
              </a:rPr>
              <a:t>模块热插拔；</a:t>
            </a:r>
            <a:r>
              <a:rPr lang="en-US" altLang="zh-CN" sz="2000" b="0" i="0" dirty="0">
                <a:solidFill>
                  <a:srgbClr val="404040"/>
                </a:solidFill>
                <a:effectLst/>
                <a:latin typeface="quote-cjk-patch"/>
              </a:rPr>
              <a:t>WASM</a:t>
            </a:r>
            <a:r>
              <a:rPr lang="zh-CN" altLang="en-US" sz="2000" b="0" i="0" dirty="0">
                <a:solidFill>
                  <a:srgbClr val="404040"/>
                </a:solidFill>
                <a:effectLst/>
                <a:latin typeface="quote-cjk-patch"/>
              </a:rPr>
              <a:t>天然提供沙箱性质；一次编译，多架构装载；内核</a:t>
            </a:r>
            <a:r>
              <a:rPr lang="en-US" altLang="zh-CN" sz="2000" b="0" i="0" dirty="0">
                <a:solidFill>
                  <a:srgbClr val="404040"/>
                </a:solidFill>
                <a:effectLst/>
                <a:latin typeface="quote-cjk-patch"/>
              </a:rPr>
              <a:t>Hook</a:t>
            </a:r>
          </a:p>
        </p:txBody>
      </p:sp>
      <p:sp>
        <p:nvSpPr>
          <p:cNvPr id="33" name="NavActive 核心机制"/>
          <p:cNvSpPr/>
          <p:nvPr/>
        </p:nvSpPr>
        <p:spPr>
          <a:xfrm>
            <a:off x="7450550" y="0"/>
            <a:ext cx="1406233" cy="792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cxnSp>
        <p:nvCxnSpPr>
          <p:cNvPr id="34" name="NavDivider 1"/>
          <p:cNvCxnSpPr/>
          <p:nvPr/>
        </p:nvCxnSpPr>
        <p:spPr>
          <a:xfrm>
            <a:off x="4638083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NavDivider 2"/>
          <p:cNvCxnSpPr/>
          <p:nvPr/>
        </p:nvCxnSpPr>
        <p:spPr>
          <a:xfrm>
            <a:off x="6044316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NavDivider 3"/>
          <p:cNvCxnSpPr/>
          <p:nvPr/>
        </p:nvCxnSpPr>
        <p:spPr>
          <a:xfrm>
            <a:off x="74505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NavDivider 4"/>
          <p:cNvCxnSpPr/>
          <p:nvPr/>
        </p:nvCxnSpPr>
        <p:spPr>
          <a:xfrm>
            <a:off x="8856783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NavDivider 5"/>
          <p:cNvCxnSpPr/>
          <p:nvPr/>
        </p:nvCxnSpPr>
        <p:spPr>
          <a:xfrm>
            <a:off x="10263016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NavText 1 完成情况"/>
          <p:cNvSpPr txBox="1"/>
          <p:nvPr/>
        </p:nvSpPr>
        <p:spPr>
          <a:xfrm>
            <a:off x="3231850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完成情况</a:t>
            </a:r>
          </a:p>
        </p:txBody>
      </p:sp>
      <p:sp>
        <p:nvSpPr>
          <p:cNvPr id="40" name="NavText 2 开发历程"/>
          <p:cNvSpPr txBox="1"/>
          <p:nvPr/>
        </p:nvSpPr>
        <p:spPr>
          <a:xfrm>
            <a:off x="4638083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开发历程</a:t>
            </a:r>
          </a:p>
        </p:txBody>
      </p:sp>
      <p:sp>
        <p:nvSpPr>
          <p:cNvPr id="41" name="NavText 3 设计主线"/>
          <p:cNvSpPr txBox="1"/>
          <p:nvPr/>
        </p:nvSpPr>
        <p:spPr>
          <a:xfrm>
            <a:off x="6044316" y="215903"/>
            <a:ext cx="1406234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设计主线</a:t>
            </a:r>
          </a:p>
        </p:txBody>
      </p:sp>
      <p:sp>
        <p:nvSpPr>
          <p:cNvPr id="42" name="NavText 4 核心机制"/>
          <p:cNvSpPr txBox="1"/>
          <p:nvPr/>
        </p:nvSpPr>
        <p:spPr>
          <a:xfrm>
            <a:off x="7450550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核心机制</a:t>
            </a:r>
          </a:p>
        </p:txBody>
      </p:sp>
      <p:sp>
        <p:nvSpPr>
          <p:cNvPr id="43" name="NavText 5 AI使用"/>
          <p:cNvSpPr txBox="1"/>
          <p:nvPr/>
        </p:nvSpPr>
        <p:spPr>
          <a:xfrm>
            <a:off x="8856783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AI使用</a:t>
            </a:r>
          </a:p>
        </p:txBody>
      </p:sp>
      <p:sp>
        <p:nvSpPr>
          <p:cNvPr id="44" name="NavText 6 比赛总结"/>
          <p:cNvSpPr txBox="1"/>
          <p:nvPr/>
        </p:nvSpPr>
        <p:spPr>
          <a:xfrm>
            <a:off x="10263016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比赛总结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326" y="2005805"/>
            <a:ext cx="10919360" cy="4719204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3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-40000"/>
                    </a14:imgEffect>
                    <a14:imgEffect>
                      <a14:colorTemperature colorTemp="5988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373" y="132991"/>
            <a:ext cx="2997105" cy="550154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22877" y="1040904"/>
            <a:ext cx="38461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 algn="l">
              <a:buClrTx/>
              <a:buSzTx/>
              <a:buFont typeface="Wingdings" panose="05000000000000000000" charset="0"/>
              <a:buChar char=""/>
            </a:pPr>
            <a:r>
              <a:rPr lang="en-US" altLang="zh-CN" sz="2800" b="1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进程拓扑与作业控制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391795" y="1812925"/>
            <a:ext cx="4689475" cy="3784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en-US" altLang="zh-CN" sz="2400" b="0" i="0" dirty="0">
                <a:solidFill>
                  <a:srgbClr val="404040"/>
                </a:solidFill>
                <a:effectLst/>
                <a:ea typeface="+mn-lt"/>
                <a:cs typeface="+mn-lt"/>
              </a:rPr>
              <a:t>Task</a:t>
            </a:r>
            <a:r>
              <a:rPr lang="zh-CN" altLang="en-US" sz="2400" b="0" i="0" dirty="0">
                <a:solidFill>
                  <a:srgbClr val="404040"/>
                </a:solidFill>
                <a:effectLst/>
                <a:ea typeface="+mn-lt"/>
                <a:cs typeface="+mn-lt"/>
              </a:rPr>
              <a:t>的本地信息存放在</a:t>
            </a:r>
            <a:r>
              <a:rPr lang="en-US" altLang="zh-CN" sz="2400" b="0" i="0" dirty="0">
                <a:solidFill>
                  <a:srgbClr val="404040"/>
                </a:solidFill>
                <a:effectLst/>
                <a:ea typeface="+mn-lt"/>
                <a:cs typeface="+mn-lt"/>
              </a:rPr>
              <a:t>TCB</a:t>
            </a:r>
          </a:p>
          <a:p>
            <a:pPr marL="342900" indent="-342900">
              <a:buFontTx/>
              <a:buChar char="-"/>
            </a:pPr>
            <a:endParaRPr lang="en-US" altLang="zh-CN" sz="2400" dirty="0">
              <a:solidFill>
                <a:srgbClr val="404040"/>
              </a:solidFill>
              <a:ea typeface="+mn-lt"/>
              <a:cs typeface="+mn-lt"/>
            </a:endParaRPr>
          </a:p>
          <a:p>
            <a:pPr marL="342900" indent="-342900">
              <a:buFontTx/>
              <a:buChar char="-"/>
            </a:pPr>
            <a:r>
              <a:rPr lang="zh-CN" altLang="en-US" sz="2400" dirty="0">
                <a:solidFill>
                  <a:srgbClr val="404040"/>
                </a:solidFill>
                <a:ea typeface="+mn-lt"/>
                <a:cs typeface="+mn-lt"/>
              </a:rPr>
              <a:t>关联信息</a:t>
            </a:r>
            <a:r>
              <a:rPr lang="en-US" altLang="zh-CN" sz="2400" dirty="0">
                <a:solidFill>
                  <a:srgbClr val="404040"/>
                </a:solidFill>
                <a:ea typeface="+mn-lt"/>
                <a:cs typeface="+mn-lt"/>
              </a:rPr>
              <a:t>——</a:t>
            </a:r>
            <a:r>
              <a:rPr lang="zh-CN" altLang="en-US" sz="2400" dirty="0">
                <a:solidFill>
                  <a:srgbClr val="404040"/>
                </a:solidFill>
                <a:ea typeface="+mn-lt"/>
                <a:cs typeface="+mn-lt"/>
              </a:rPr>
              <a:t>线程组，进程组，会话关系，则存储在全局拓扑，被一把大锁保护</a:t>
            </a:r>
            <a:endParaRPr lang="en-US" altLang="zh-CN" sz="2400" dirty="0">
              <a:solidFill>
                <a:srgbClr val="404040"/>
              </a:solidFill>
              <a:ea typeface="+mn-lt"/>
              <a:cs typeface="+mn-lt"/>
            </a:endParaRPr>
          </a:p>
          <a:p>
            <a:pPr marL="342900" indent="-342900">
              <a:buFontTx/>
              <a:buChar char="-"/>
            </a:pPr>
            <a:endParaRPr lang="en-US" altLang="zh-CN" sz="2400" b="0" i="0" dirty="0">
              <a:solidFill>
                <a:srgbClr val="404040"/>
              </a:solidFill>
              <a:effectLst/>
              <a:ea typeface="+mn-lt"/>
              <a:cs typeface="+mn-lt"/>
            </a:endParaRPr>
          </a:p>
          <a:p>
            <a:pPr marL="342900" indent="-342900">
              <a:buFontTx/>
              <a:buChar char="-"/>
            </a:pPr>
            <a:r>
              <a:rPr lang="zh-CN" altLang="en-US" sz="2400" b="0" i="0" dirty="0">
                <a:solidFill>
                  <a:srgbClr val="404040"/>
                </a:solidFill>
                <a:effectLst/>
                <a:ea typeface="+mn-lt"/>
                <a:cs typeface="+mn-lt"/>
              </a:rPr>
              <a:t>解决发布窗口期竞态</a:t>
            </a:r>
            <a:endParaRPr lang="en-US" altLang="zh-CN" sz="2400" b="0" i="0" dirty="0">
              <a:solidFill>
                <a:srgbClr val="404040"/>
              </a:solidFill>
              <a:effectLst/>
              <a:ea typeface="+mn-lt"/>
              <a:cs typeface="+mn-lt"/>
            </a:endParaRPr>
          </a:p>
          <a:p>
            <a:pPr marL="342900" indent="-342900">
              <a:buFontTx/>
              <a:buChar char="-"/>
            </a:pPr>
            <a:endParaRPr lang="en-US" altLang="zh-CN" sz="2400" dirty="0">
              <a:solidFill>
                <a:srgbClr val="404040"/>
              </a:solidFill>
              <a:ea typeface="+mn-lt"/>
              <a:cs typeface="+mn-lt"/>
            </a:endParaRPr>
          </a:p>
          <a:p>
            <a:pPr marL="342900" indent="-342900">
              <a:buFontTx/>
              <a:buChar char="-"/>
            </a:pPr>
            <a:r>
              <a:rPr lang="en-US" altLang="zh-CN" sz="2400" b="0" i="0" dirty="0">
                <a:solidFill>
                  <a:srgbClr val="404040"/>
                </a:solidFill>
                <a:effectLst/>
                <a:ea typeface="+mn-lt"/>
                <a:cs typeface="+mn-lt"/>
              </a:rPr>
              <a:t>Unix </a:t>
            </a:r>
            <a:r>
              <a:rPr lang="en-US" altLang="zh-CN" sz="2400" b="0" i="0" dirty="0" err="1">
                <a:solidFill>
                  <a:srgbClr val="404040"/>
                </a:solidFill>
                <a:effectLst/>
                <a:ea typeface="+mn-lt"/>
                <a:cs typeface="+mn-lt"/>
              </a:rPr>
              <a:t>JobCtl</a:t>
            </a:r>
            <a:r>
              <a:rPr lang="zh-CN" altLang="en-US" sz="2400" b="0" i="0" dirty="0">
                <a:solidFill>
                  <a:srgbClr val="404040"/>
                </a:solidFill>
                <a:effectLst/>
                <a:ea typeface="+mn-lt"/>
                <a:cs typeface="+mn-lt"/>
              </a:rPr>
              <a:t>，支持</a:t>
            </a:r>
            <a:r>
              <a:rPr lang="en-US" altLang="zh-CN" sz="2400" b="0" i="0" dirty="0">
                <a:solidFill>
                  <a:srgbClr val="404040"/>
                </a:solidFill>
                <a:effectLst/>
                <a:ea typeface="+mn-lt"/>
                <a:cs typeface="+mn-lt"/>
              </a:rPr>
              <a:t>Shell</a:t>
            </a:r>
            <a:r>
              <a:rPr lang="zh-CN" altLang="en-US" sz="2400" b="0" i="0" dirty="0">
                <a:solidFill>
                  <a:srgbClr val="404040"/>
                </a:solidFill>
                <a:effectLst/>
                <a:ea typeface="+mn-lt"/>
                <a:cs typeface="+mn-lt"/>
              </a:rPr>
              <a:t>的复杂操作</a:t>
            </a:r>
            <a:endParaRPr lang="en-US" altLang="zh-CN" sz="2400" b="0" i="0" dirty="0">
              <a:solidFill>
                <a:srgbClr val="404040"/>
              </a:solidFill>
              <a:effectLst/>
              <a:ea typeface="+mn-lt"/>
              <a:cs typeface="+mn-lt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2566" y="1564124"/>
            <a:ext cx="4882385" cy="3945244"/>
          </a:xfrm>
          <a:prstGeom prst="rect">
            <a:avLst/>
          </a:prstGeom>
        </p:spPr>
      </p:pic>
      <p:sp>
        <p:nvSpPr>
          <p:cNvPr id="33" name="NavActive 核心机制"/>
          <p:cNvSpPr/>
          <p:nvPr/>
        </p:nvSpPr>
        <p:spPr>
          <a:xfrm>
            <a:off x="7450550" y="0"/>
            <a:ext cx="1406233" cy="792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cxnSp>
        <p:nvCxnSpPr>
          <p:cNvPr id="34" name="NavDivider 1"/>
          <p:cNvCxnSpPr/>
          <p:nvPr/>
        </p:nvCxnSpPr>
        <p:spPr>
          <a:xfrm>
            <a:off x="4638083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NavDivider 2"/>
          <p:cNvCxnSpPr/>
          <p:nvPr/>
        </p:nvCxnSpPr>
        <p:spPr>
          <a:xfrm>
            <a:off x="6044316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NavDivider 3"/>
          <p:cNvCxnSpPr/>
          <p:nvPr/>
        </p:nvCxnSpPr>
        <p:spPr>
          <a:xfrm>
            <a:off x="74505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NavDivider 4"/>
          <p:cNvCxnSpPr/>
          <p:nvPr/>
        </p:nvCxnSpPr>
        <p:spPr>
          <a:xfrm>
            <a:off x="8856783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NavDivider 5"/>
          <p:cNvCxnSpPr/>
          <p:nvPr/>
        </p:nvCxnSpPr>
        <p:spPr>
          <a:xfrm>
            <a:off x="10263016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NavText 1 完成情况"/>
          <p:cNvSpPr txBox="1"/>
          <p:nvPr/>
        </p:nvSpPr>
        <p:spPr>
          <a:xfrm>
            <a:off x="3231850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完成情况</a:t>
            </a:r>
          </a:p>
        </p:txBody>
      </p:sp>
      <p:sp>
        <p:nvSpPr>
          <p:cNvPr id="40" name="NavText 2 开发历程"/>
          <p:cNvSpPr txBox="1"/>
          <p:nvPr/>
        </p:nvSpPr>
        <p:spPr>
          <a:xfrm>
            <a:off x="4638083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开发历程</a:t>
            </a:r>
          </a:p>
        </p:txBody>
      </p:sp>
      <p:sp>
        <p:nvSpPr>
          <p:cNvPr id="41" name="NavText 3 设计主线"/>
          <p:cNvSpPr txBox="1"/>
          <p:nvPr/>
        </p:nvSpPr>
        <p:spPr>
          <a:xfrm>
            <a:off x="6044316" y="215903"/>
            <a:ext cx="1406234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设计主线</a:t>
            </a:r>
          </a:p>
        </p:txBody>
      </p:sp>
      <p:sp>
        <p:nvSpPr>
          <p:cNvPr id="42" name="NavText 4 核心机制"/>
          <p:cNvSpPr txBox="1"/>
          <p:nvPr/>
        </p:nvSpPr>
        <p:spPr>
          <a:xfrm>
            <a:off x="7450550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核心机制</a:t>
            </a:r>
          </a:p>
        </p:txBody>
      </p:sp>
      <p:sp>
        <p:nvSpPr>
          <p:cNvPr id="43" name="NavText 5 AI使用"/>
          <p:cNvSpPr txBox="1"/>
          <p:nvPr/>
        </p:nvSpPr>
        <p:spPr>
          <a:xfrm>
            <a:off x="8856783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AI使用</a:t>
            </a:r>
          </a:p>
        </p:txBody>
      </p:sp>
      <p:sp>
        <p:nvSpPr>
          <p:cNvPr id="44" name="NavText 6 比赛总结"/>
          <p:cNvSpPr txBox="1"/>
          <p:nvPr/>
        </p:nvSpPr>
        <p:spPr>
          <a:xfrm>
            <a:off x="10263016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比赛总结</a:t>
            </a:r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4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40000" contrast="-40000"/>
                    </a14:imgEffect>
                    <a14:imgEffect>
                      <a14:colorTemperature colorTemp="5988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373" y="132991"/>
            <a:ext cx="2997105" cy="550154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22877" y="1040904"/>
            <a:ext cx="267652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lvl="0" indent="-457200" algn="l">
              <a:buClrTx/>
              <a:buSzTx/>
              <a:buFont typeface="Wingdings" panose="05000000000000000000" charset="0"/>
              <a:buChar char=""/>
            </a:pPr>
            <a:r>
              <a:rPr lang="en-US" altLang="zh-CN" sz="2800" b="1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动态多调度策略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643255" y="1812925"/>
            <a:ext cx="4986020" cy="3784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/>
                </a:solidFill>
                <a:ea typeface="+mn-lt"/>
                <a:cs typeface="+mn-lt"/>
              </a:rPr>
              <a:t>多种同步原语：</a:t>
            </a:r>
            <a:endParaRPr lang="en-US" altLang="zh-CN" sz="2400" b="1" dirty="0">
              <a:solidFill>
                <a:srgbClr val="404040"/>
              </a:solidFill>
              <a:ea typeface="+mn-lt"/>
              <a:cs typeface="+mn-lt"/>
            </a:endParaRPr>
          </a:p>
          <a:p>
            <a:pPr marL="342900" indent="-342900">
              <a:buFontTx/>
              <a:buChar char="-"/>
            </a:pPr>
            <a:r>
              <a:rPr lang="en-US" altLang="zh-CN" sz="2400" b="0" i="0" dirty="0">
                <a:solidFill>
                  <a:srgbClr val="404040"/>
                </a:solidFill>
                <a:effectLst/>
                <a:ea typeface="+mn-lt"/>
                <a:cs typeface="+mn-lt"/>
              </a:rPr>
              <a:t>Event	</a:t>
            </a:r>
            <a:r>
              <a:rPr lang="zh-CN" altLang="en-US" sz="2400" dirty="0">
                <a:solidFill>
                  <a:srgbClr val="404040"/>
                </a:solidFill>
                <a:ea typeface="+mn-lt"/>
                <a:cs typeface="+mn-lt"/>
              </a:rPr>
              <a:t>等待与发布</a:t>
            </a:r>
            <a:endParaRPr lang="en-US" altLang="zh-CN" sz="2400" b="0" i="0" dirty="0">
              <a:solidFill>
                <a:srgbClr val="404040"/>
              </a:solidFill>
              <a:effectLst/>
              <a:ea typeface="+mn-lt"/>
              <a:cs typeface="+mn-lt"/>
            </a:endParaRPr>
          </a:p>
          <a:p>
            <a:pPr marL="342900" indent="-342900">
              <a:buFontTx/>
              <a:buChar char="-"/>
            </a:pPr>
            <a:r>
              <a:rPr lang="en-US" altLang="zh-CN" sz="2400" dirty="0">
                <a:solidFill>
                  <a:srgbClr val="404040"/>
                </a:solidFill>
                <a:ea typeface="+mn-lt"/>
                <a:cs typeface="+mn-lt"/>
              </a:rPr>
              <a:t>Latch	</a:t>
            </a:r>
            <a:r>
              <a:rPr lang="zh-CN" altLang="en-US" sz="2400" dirty="0">
                <a:solidFill>
                  <a:srgbClr val="404040"/>
                </a:solidFill>
                <a:ea typeface="+mn-lt"/>
                <a:cs typeface="+mn-lt"/>
              </a:rPr>
              <a:t>一次性的等待闸门</a:t>
            </a:r>
            <a:endParaRPr lang="en-US" altLang="zh-CN" sz="2400" dirty="0">
              <a:solidFill>
                <a:srgbClr val="404040"/>
              </a:solidFill>
              <a:ea typeface="+mn-lt"/>
              <a:cs typeface="+mn-lt"/>
            </a:endParaRPr>
          </a:p>
          <a:p>
            <a:pPr marL="342900" indent="-342900">
              <a:buFontTx/>
              <a:buChar char="-"/>
            </a:pPr>
            <a:r>
              <a:rPr lang="en-US" altLang="zh-CN" sz="2400" dirty="0" err="1">
                <a:solidFill>
                  <a:srgbClr val="404040"/>
                </a:solidFill>
                <a:ea typeface="+mn-lt"/>
                <a:cs typeface="+mn-lt"/>
              </a:rPr>
              <a:t>OneShot	</a:t>
            </a:r>
            <a:r>
              <a:rPr lang="zh-CN" altLang="en-US" sz="2400" dirty="0">
                <a:solidFill>
                  <a:srgbClr val="404040"/>
                </a:solidFill>
                <a:ea typeface="+mn-lt"/>
                <a:cs typeface="+mn-lt"/>
              </a:rPr>
              <a:t>一次性的数据通道</a:t>
            </a:r>
            <a:endParaRPr lang="en-US" altLang="zh-CN" sz="2400" dirty="0">
              <a:solidFill>
                <a:srgbClr val="404040"/>
              </a:solidFill>
              <a:ea typeface="+mn-lt"/>
              <a:cs typeface="+mn-lt"/>
            </a:endParaRPr>
          </a:p>
          <a:p>
            <a:pPr marL="342900" indent="-342900">
              <a:buFontTx/>
              <a:buChar char="-"/>
            </a:pPr>
            <a:endParaRPr lang="en-US" altLang="zh-CN" sz="2400" dirty="0">
              <a:solidFill>
                <a:srgbClr val="404040"/>
              </a:solidFill>
              <a:ea typeface="+mn-lt"/>
              <a:cs typeface="+mn-lt"/>
            </a:endParaRPr>
          </a:p>
          <a:p>
            <a:r>
              <a:rPr lang="zh-CN" altLang="en-US" sz="2400" b="1" dirty="0">
                <a:ea typeface="+mn-lt"/>
                <a:cs typeface="+mn-lt"/>
              </a:rPr>
              <a:t>动态调节调度策略：</a:t>
            </a:r>
            <a:endParaRPr lang="en-US" altLang="zh-CN" sz="2400" b="1" dirty="0">
              <a:solidFill>
                <a:srgbClr val="404040"/>
              </a:solidFill>
              <a:ea typeface="+mn-lt"/>
              <a:cs typeface="+mn-lt"/>
            </a:endParaRPr>
          </a:p>
          <a:p>
            <a:pPr marL="342900" indent="-342900">
              <a:buFontTx/>
              <a:buChar char="-"/>
            </a:pPr>
            <a:r>
              <a:rPr lang="zh-CN" altLang="en-US" sz="2400" dirty="0">
                <a:solidFill>
                  <a:srgbClr val="404040"/>
                </a:solidFill>
                <a:ea typeface="+mn-lt"/>
                <a:cs typeface="+mn-lt"/>
              </a:rPr>
              <a:t>公平调度类：</a:t>
            </a:r>
            <a:r>
              <a:rPr lang="en-US" altLang="zh-CN" sz="2400" dirty="0">
                <a:solidFill>
                  <a:srgbClr val="404040"/>
                </a:solidFill>
                <a:ea typeface="+mn-lt"/>
                <a:cs typeface="+mn-lt"/>
              </a:rPr>
              <a:t>EEVDF</a:t>
            </a:r>
            <a:r>
              <a:rPr lang="zh-CN" altLang="en-US" sz="2400" dirty="0">
                <a:solidFill>
                  <a:srgbClr val="404040"/>
                </a:solidFill>
                <a:ea typeface="+mn-lt"/>
                <a:cs typeface="+mn-lt"/>
              </a:rPr>
              <a:t>；</a:t>
            </a:r>
            <a:r>
              <a:rPr lang="en-US" altLang="zh-CN" sz="2400" dirty="0">
                <a:solidFill>
                  <a:srgbClr val="404040"/>
                </a:solidFill>
                <a:ea typeface="+mn-lt"/>
                <a:cs typeface="+mn-lt"/>
              </a:rPr>
              <a:t>Stride</a:t>
            </a:r>
          </a:p>
          <a:p>
            <a:pPr marL="342900" indent="-342900">
              <a:buFontTx/>
              <a:buChar char="-"/>
            </a:pPr>
            <a:r>
              <a:rPr lang="zh-CN" altLang="en-US" sz="2400" dirty="0">
                <a:solidFill>
                  <a:srgbClr val="404040"/>
                </a:solidFill>
                <a:ea typeface="+mn-lt"/>
                <a:cs typeface="+mn-lt"/>
              </a:rPr>
              <a:t>实时调度类：轮转算法；</a:t>
            </a:r>
            <a:r>
              <a:rPr lang="en-US" altLang="zh-CN" sz="2400" dirty="0">
                <a:solidFill>
                  <a:srgbClr val="404040"/>
                </a:solidFill>
                <a:ea typeface="+mn-lt"/>
                <a:cs typeface="+mn-lt"/>
              </a:rPr>
              <a:t>FIFO</a:t>
            </a:r>
          </a:p>
          <a:p>
            <a:pPr marL="342900" indent="-342900">
              <a:buFontTx/>
              <a:buChar char="-"/>
            </a:pPr>
            <a:r>
              <a:rPr lang="en-US" altLang="zh-CN" sz="2400" dirty="0">
                <a:solidFill>
                  <a:srgbClr val="404040"/>
                </a:solidFill>
                <a:ea typeface="+mn-lt"/>
                <a:cs typeface="+mn-lt"/>
              </a:rPr>
              <a:t>Idle</a:t>
            </a:r>
            <a:r>
              <a:rPr lang="zh-CN" altLang="en-US" sz="2400" dirty="0">
                <a:solidFill>
                  <a:srgbClr val="404040"/>
                </a:solidFill>
                <a:ea typeface="+mn-lt"/>
                <a:cs typeface="+mn-lt"/>
              </a:rPr>
              <a:t>调度类</a:t>
            </a:r>
            <a:endParaRPr lang="en-US" altLang="zh-CN" sz="2400" dirty="0">
              <a:solidFill>
                <a:srgbClr val="404040"/>
              </a:solidFill>
              <a:ea typeface="+mn-lt"/>
              <a:cs typeface="+mn-lt"/>
            </a:endParaRPr>
          </a:p>
          <a:p>
            <a:pPr marL="342900" indent="-342900">
              <a:buFontTx/>
              <a:buChar char="-"/>
            </a:pPr>
            <a:endParaRPr lang="en-US" altLang="zh-CN" sz="2400" b="0" i="0" dirty="0">
              <a:solidFill>
                <a:srgbClr val="404040"/>
              </a:solidFill>
              <a:effectLst/>
              <a:ea typeface="+mn-lt"/>
              <a:cs typeface="+mn-lt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2566" y="1564124"/>
            <a:ext cx="4882385" cy="3945244"/>
          </a:xfrm>
          <a:prstGeom prst="rect">
            <a:avLst/>
          </a:prstGeom>
        </p:spPr>
      </p:pic>
      <p:sp>
        <p:nvSpPr>
          <p:cNvPr id="33" name="NavActive 核心机制"/>
          <p:cNvSpPr/>
          <p:nvPr/>
        </p:nvSpPr>
        <p:spPr>
          <a:xfrm>
            <a:off x="7450550" y="0"/>
            <a:ext cx="1406233" cy="792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cxnSp>
        <p:nvCxnSpPr>
          <p:cNvPr id="34" name="NavDivider 1"/>
          <p:cNvCxnSpPr/>
          <p:nvPr/>
        </p:nvCxnSpPr>
        <p:spPr>
          <a:xfrm>
            <a:off x="4638083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NavDivider 2"/>
          <p:cNvCxnSpPr/>
          <p:nvPr/>
        </p:nvCxnSpPr>
        <p:spPr>
          <a:xfrm>
            <a:off x="6044316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NavDivider 3"/>
          <p:cNvCxnSpPr/>
          <p:nvPr/>
        </p:nvCxnSpPr>
        <p:spPr>
          <a:xfrm>
            <a:off x="74505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NavDivider 4"/>
          <p:cNvCxnSpPr/>
          <p:nvPr/>
        </p:nvCxnSpPr>
        <p:spPr>
          <a:xfrm>
            <a:off x="8856783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NavDivider 5"/>
          <p:cNvCxnSpPr/>
          <p:nvPr/>
        </p:nvCxnSpPr>
        <p:spPr>
          <a:xfrm>
            <a:off x="10263016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NavText 1 完成情况"/>
          <p:cNvSpPr txBox="1"/>
          <p:nvPr/>
        </p:nvSpPr>
        <p:spPr>
          <a:xfrm>
            <a:off x="3231850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完成情况</a:t>
            </a:r>
          </a:p>
        </p:txBody>
      </p:sp>
      <p:sp>
        <p:nvSpPr>
          <p:cNvPr id="40" name="NavText 2 开发历程"/>
          <p:cNvSpPr txBox="1"/>
          <p:nvPr/>
        </p:nvSpPr>
        <p:spPr>
          <a:xfrm>
            <a:off x="4638083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开发历程</a:t>
            </a:r>
          </a:p>
        </p:txBody>
      </p:sp>
      <p:sp>
        <p:nvSpPr>
          <p:cNvPr id="41" name="NavText 3 设计主线"/>
          <p:cNvSpPr txBox="1"/>
          <p:nvPr/>
        </p:nvSpPr>
        <p:spPr>
          <a:xfrm>
            <a:off x="6044316" y="215903"/>
            <a:ext cx="1406234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设计主线</a:t>
            </a:r>
          </a:p>
        </p:txBody>
      </p:sp>
      <p:sp>
        <p:nvSpPr>
          <p:cNvPr id="42" name="NavText 4 核心机制"/>
          <p:cNvSpPr txBox="1"/>
          <p:nvPr/>
        </p:nvSpPr>
        <p:spPr>
          <a:xfrm>
            <a:off x="7450550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核心机制</a:t>
            </a:r>
          </a:p>
        </p:txBody>
      </p:sp>
      <p:sp>
        <p:nvSpPr>
          <p:cNvPr id="43" name="NavText 5 AI使用"/>
          <p:cNvSpPr txBox="1"/>
          <p:nvPr/>
        </p:nvSpPr>
        <p:spPr>
          <a:xfrm>
            <a:off x="8856783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AI使用</a:t>
            </a:r>
          </a:p>
        </p:txBody>
      </p:sp>
      <p:sp>
        <p:nvSpPr>
          <p:cNvPr id="44" name="NavText 6 比赛总结"/>
          <p:cNvSpPr txBox="1"/>
          <p:nvPr/>
        </p:nvSpPr>
        <p:spPr>
          <a:xfrm>
            <a:off x="10263016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比赛总结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3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-40000"/>
                    </a14:imgEffect>
                    <a14:imgEffect>
                      <a14:colorTemperature colorTemp="5988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373" y="132991"/>
            <a:ext cx="2997105" cy="550154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22877" y="1040904"/>
            <a:ext cx="590931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lvl="0" indent="-457200" algn="l">
              <a:buClrTx/>
              <a:buSzTx/>
              <a:buFont typeface="Wingdings" panose="05000000000000000000" charset="0"/>
              <a:buChar char=""/>
            </a:pPr>
            <a:r>
              <a:rPr lang="en-US" altLang="zh-CN" sz="2800" b="1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VMO 统一内存对象：源自Zircon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334645" y="1812925"/>
            <a:ext cx="5229860" cy="44780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Tx/>
              <a:buChar char="-"/>
            </a:pPr>
            <a:r>
              <a:rPr lang="zh-CN" altLang="en-US" sz="2400" b="0" i="0" dirty="0">
                <a:solidFill>
                  <a:srgbClr val="404040"/>
                </a:solidFill>
                <a:effectLst/>
                <a:ea typeface="+mn-lt"/>
                <a:cs typeface="+mn-lt"/>
              </a:rPr>
              <a:t>匿名页、文件映射、共享内存与 COW 由 VMO / backing object 组织</a:t>
            </a:r>
            <a:endParaRPr lang="en-US" altLang="zh-CN" sz="2400" b="0" i="0" dirty="0">
              <a:solidFill>
                <a:srgbClr val="404040"/>
              </a:solidFill>
              <a:effectLst/>
              <a:ea typeface="+mn-lt"/>
              <a:cs typeface="+mn-lt"/>
            </a:endParaRPr>
          </a:p>
          <a:p>
            <a:pPr marL="342900" indent="-342900">
              <a:buFontTx/>
              <a:buChar char="-"/>
            </a:pPr>
            <a:r>
              <a:rPr lang="zh-CN" altLang="en-US" sz="2400" dirty="0">
                <a:solidFill>
                  <a:srgbClr val="404040"/>
                </a:solidFill>
                <a:ea typeface="+mn-lt"/>
                <a:cs typeface="+mn-lt"/>
              </a:rPr>
              <a:t>不同地址空间有不同</a:t>
            </a:r>
            <a:r>
              <a:rPr lang="en-US" altLang="zh-CN" sz="2400" dirty="0">
                <a:solidFill>
                  <a:srgbClr val="404040"/>
                </a:solidFill>
                <a:ea typeface="+mn-lt"/>
                <a:cs typeface="+mn-lt"/>
              </a:rPr>
              <a:t>VMA</a:t>
            </a:r>
          </a:p>
          <a:p>
            <a:pPr marL="342900" indent="-342900">
              <a:buFontTx/>
              <a:buChar char="-"/>
            </a:pPr>
            <a:r>
              <a:rPr lang="en-US" altLang="zh-CN" sz="2400" b="0" i="0" dirty="0">
                <a:solidFill>
                  <a:srgbClr val="404040"/>
                </a:solidFill>
                <a:effectLst/>
                <a:ea typeface="+mn-lt"/>
                <a:cs typeface="+mn-lt"/>
              </a:rPr>
              <a:t>VMA</a:t>
            </a:r>
            <a:r>
              <a:rPr lang="zh-CN" altLang="en-US" sz="2400" b="0" i="0" dirty="0">
                <a:solidFill>
                  <a:srgbClr val="404040"/>
                </a:solidFill>
                <a:effectLst/>
                <a:ea typeface="+mn-lt"/>
                <a:cs typeface="+mn-lt"/>
              </a:rPr>
              <a:t>存在对应的</a:t>
            </a:r>
            <a:r>
              <a:rPr lang="en-US" altLang="zh-CN" sz="2400" b="0" i="0" dirty="0">
                <a:solidFill>
                  <a:srgbClr val="404040"/>
                </a:solidFill>
                <a:effectLst/>
                <a:ea typeface="+mn-lt"/>
                <a:cs typeface="+mn-lt"/>
              </a:rPr>
              <a:t>VMO</a:t>
            </a:r>
            <a:r>
              <a:rPr lang="zh-CN" altLang="en-US" sz="2400" b="0" i="0" dirty="0">
                <a:solidFill>
                  <a:srgbClr val="404040"/>
                </a:solidFill>
                <a:effectLst/>
                <a:ea typeface="+mn-lt"/>
                <a:cs typeface="+mn-lt"/>
              </a:rPr>
              <a:t>后端支持</a:t>
            </a:r>
            <a:endParaRPr lang="en-US" altLang="zh-CN" sz="2400" b="0" i="0" dirty="0">
              <a:solidFill>
                <a:srgbClr val="404040"/>
              </a:solidFill>
              <a:effectLst/>
              <a:ea typeface="+mn-lt"/>
              <a:cs typeface="+mn-lt"/>
            </a:endParaRPr>
          </a:p>
          <a:p>
            <a:pPr marL="342900" indent="-342900">
              <a:buFontTx/>
              <a:buChar char="-"/>
            </a:pPr>
            <a:r>
              <a:rPr lang="zh-CN" altLang="en-US" sz="2400" dirty="0">
                <a:solidFill>
                  <a:srgbClr val="404040"/>
                </a:solidFill>
                <a:ea typeface="+mn-lt"/>
                <a:cs typeface="+mn-lt"/>
              </a:rPr>
              <a:t>一个</a:t>
            </a:r>
            <a:r>
              <a:rPr lang="en-US" altLang="zh-CN" sz="2400" dirty="0">
                <a:solidFill>
                  <a:srgbClr val="404040"/>
                </a:solidFill>
                <a:ea typeface="+mn-lt"/>
                <a:cs typeface="+mn-lt"/>
              </a:rPr>
              <a:t>VMO</a:t>
            </a:r>
            <a:r>
              <a:rPr lang="zh-CN" altLang="en-US" sz="2400" dirty="0">
                <a:solidFill>
                  <a:srgbClr val="404040"/>
                </a:solidFill>
                <a:ea typeface="+mn-lt"/>
                <a:cs typeface="+mn-lt"/>
              </a:rPr>
              <a:t>可以支持多个地址空间的不同</a:t>
            </a:r>
            <a:r>
              <a:rPr lang="en-US" altLang="zh-CN" sz="2400" dirty="0">
                <a:solidFill>
                  <a:srgbClr val="404040"/>
                </a:solidFill>
                <a:ea typeface="+mn-lt"/>
                <a:cs typeface="+mn-lt"/>
              </a:rPr>
              <a:t>VMA</a:t>
            </a:r>
            <a:endParaRPr lang="en-US" altLang="zh-CN" sz="2400" b="0" i="0" dirty="0">
              <a:solidFill>
                <a:srgbClr val="404040"/>
              </a:solidFill>
              <a:effectLst/>
              <a:ea typeface="+mn-lt"/>
              <a:cs typeface="+mn-lt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2566" y="1564124"/>
            <a:ext cx="4882385" cy="3945244"/>
          </a:xfrm>
          <a:prstGeom prst="rect">
            <a:avLst/>
          </a:prstGeom>
        </p:spPr>
      </p:pic>
      <p:sp>
        <p:nvSpPr>
          <p:cNvPr id="33" name="NavActive 核心机制"/>
          <p:cNvSpPr/>
          <p:nvPr/>
        </p:nvSpPr>
        <p:spPr>
          <a:xfrm>
            <a:off x="7450550" y="0"/>
            <a:ext cx="1406233" cy="792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cxnSp>
        <p:nvCxnSpPr>
          <p:cNvPr id="34" name="NavDivider 1"/>
          <p:cNvCxnSpPr/>
          <p:nvPr/>
        </p:nvCxnSpPr>
        <p:spPr>
          <a:xfrm>
            <a:off x="4638083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NavDivider 2"/>
          <p:cNvCxnSpPr/>
          <p:nvPr/>
        </p:nvCxnSpPr>
        <p:spPr>
          <a:xfrm>
            <a:off x="6044316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NavDivider 3"/>
          <p:cNvCxnSpPr/>
          <p:nvPr/>
        </p:nvCxnSpPr>
        <p:spPr>
          <a:xfrm>
            <a:off x="74505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NavDivider 4"/>
          <p:cNvCxnSpPr/>
          <p:nvPr/>
        </p:nvCxnSpPr>
        <p:spPr>
          <a:xfrm>
            <a:off x="8856783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NavDivider 5"/>
          <p:cNvCxnSpPr/>
          <p:nvPr/>
        </p:nvCxnSpPr>
        <p:spPr>
          <a:xfrm>
            <a:off x="10263016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NavText 1 完成情况"/>
          <p:cNvSpPr txBox="1"/>
          <p:nvPr/>
        </p:nvSpPr>
        <p:spPr>
          <a:xfrm>
            <a:off x="3231850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完成情况</a:t>
            </a:r>
          </a:p>
        </p:txBody>
      </p:sp>
      <p:sp>
        <p:nvSpPr>
          <p:cNvPr id="40" name="NavText 2 开发历程"/>
          <p:cNvSpPr txBox="1"/>
          <p:nvPr/>
        </p:nvSpPr>
        <p:spPr>
          <a:xfrm>
            <a:off x="4638083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开发历程</a:t>
            </a:r>
          </a:p>
        </p:txBody>
      </p:sp>
      <p:sp>
        <p:nvSpPr>
          <p:cNvPr id="41" name="NavText 3 设计主线"/>
          <p:cNvSpPr txBox="1"/>
          <p:nvPr/>
        </p:nvSpPr>
        <p:spPr>
          <a:xfrm>
            <a:off x="6044316" y="215903"/>
            <a:ext cx="1406234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设计主线</a:t>
            </a:r>
          </a:p>
        </p:txBody>
      </p:sp>
      <p:sp>
        <p:nvSpPr>
          <p:cNvPr id="42" name="NavText 4 核心机制"/>
          <p:cNvSpPr txBox="1"/>
          <p:nvPr/>
        </p:nvSpPr>
        <p:spPr>
          <a:xfrm>
            <a:off x="7450550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核心机制</a:t>
            </a:r>
          </a:p>
        </p:txBody>
      </p:sp>
      <p:sp>
        <p:nvSpPr>
          <p:cNvPr id="43" name="NavText 5 AI使用"/>
          <p:cNvSpPr txBox="1"/>
          <p:nvPr/>
        </p:nvSpPr>
        <p:spPr>
          <a:xfrm>
            <a:off x="8856783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AI使用</a:t>
            </a:r>
          </a:p>
        </p:txBody>
      </p:sp>
      <p:sp>
        <p:nvSpPr>
          <p:cNvPr id="44" name="NavText 6 比赛总结"/>
          <p:cNvSpPr txBox="1"/>
          <p:nvPr/>
        </p:nvSpPr>
        <p:spPr>
          <a:xfrm>
            <a:off x="10263016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比赛总结</a:t>
            </a:r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3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-40000"/>
                    </a14:imgEffect>
                    <a14:imgEffect>
                      <a14:colorTemperature colorTemp="5988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373" y="132991"/>
            <a:ext cx="2997105" cy="550154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57167" y="1040904"/>
            <a:ext cx="627316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lvl="0" indent="-457200" algn="l">
              <a:buClrTx/>
              <a:buSzTx/>
              <a:buFont typeface="Wingdings" panose="05000000000000000000" charset="0"/>
              <a:buChar char=""/>
            </a:pPr>
            <a:r>
              <a:rPr lang="en-US" altLang="zh-CN" sz="2800" b="1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Fork </a:t>
            </a:r>
            <a:r>
              <a:rPr lang="zh-CN" altLang="en-US" sz="2800" b="1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写时复制</a:t>
            </a:r>
            <a:r>
              <a:rPr lang="en-US" altLang="zh-CN" sz="2800" b="1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· Shadow VMO</a:t>
            </a:r>
            <a:r>
              <a:rPr lang="zh-CN" altLang="en-US" sz="2800" b="1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设计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391795" y="1619885"/>
            <a:ext cx="7058025" cy="30460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lvl="0" indent="-342900" algn="l">
              <a:buClrTx/>
              <a:buSzTx/>
              <a:buFontTx/>
              <a:buChar char="-"/>
            </a:pPr>
            <a:r>
              <a:rPr lang="zh-CN" altLang="en-US" sz="2400" dirty="0">
                <a:solidFill>
                  <a:srgbClr val="404040"/>
                </a:solidFill>
                <a:effectLst/>
                <a:ea typeface="+mn-lt"/>
                <a:cs typeface="+mn-lt"/>
                <a:sym typeface="+mn-ea"/>
              </a:rPr>
              <a:t>COW 延迟复制</a:t>
            </a:r>
            <a:r>
              <a:rPr lang="en-US" altLang="zh-CN" sz="2400" dirty="0">
                <a:solidFill>
                  <a:srgbClr val="404040"/>
                </a:solidFill>
                <a:effectLst/>
                <a:ea typeface="+mn-lt"/>
                <a:cs typeface="+mn-lt"/>
                <a:sym typeface="+mn-ea"/>
              </a:rPr>
              <a:t>·</a:t>
            </a:r>
            <a:r>
              <a:rPr lang="zh-CN" altLang="en-US" sz="2400" dirty="0">
                <a:solidFill>
                  <a:srgbClr val="404040"/>
                </a:solidFill>
                <a:effectLst/>
                <a:ea typeface="+mn-lt"/>
                <a:cs typeface="+mn-lt"/>
                <a:sym typeface="+mn-ea"/>
              </a:rPr>
              <a:t>匿名 VMO 可共享全局只读零页</a:t>
            </a:r>
          </a:p>
          <a:p>
            <a:pPr lvl="0" indent="0" algn="l">
              <a:buClrTx/>
              <a:buSzTx/>
              <a:buFontTx/>
              <a:buNone/>
            </a:pPr>
            <a:endParaRPr lang="zh-CN" altLang="en-US" sz="2400" dirty="0">
              <a:solidFill>
                <a:srgbClr val="404040"/>
              </a:solidFill>
              <a:effectLst/>
              <a:ea typeface="+mn-lt"/>
              <a:cs typeface="+mn-lt"/>
              <a:sym typeface="+mn-ea"/>
            </a:endParaRPr>
          </a:p>
          <a:p>
            <a:pPr marL="342900" lvl="0" indent="-342900" algn="l">
              <a:buClrTx/>
              <a:buSzTx/>
              <a:buFontTx/>
              <a:buChar char="-"/>
            </a:pPr>
            <a:r>
              <a:rPr lang="zh-CN" altLang="en-US" sz="2400" dirty="0">
                <a:solidFill>
                  <a:srgbClr val="404040"/>
                </a:solidFill>
                <a:effectLst/>
                <a:ea typeface="+mn-lt"/>
                <a:cs typeface="+mn-lt"/>
                <a:sym typeface="+mn-ea"/>
              </a:rPr>
              <a:t>Fork后，</a:t>
            </a:r>
            <a:r>
              <a:rPr lang="zh-CN" altLang="en-US" sz="2400" b="1" dirty="0">
                <a:solidFill>
                  <a:srgbClr val="404040"/>
                </a:solidFill>
                <a:effectLst/>
                <a:ea typeface="+mn-lt"/>
                <a:cs typeface="+mn-lt"/>
                <a:sym typeface="+mn-ea"/>
              </a:rPr>
              <a:t>一个VMO转变为三个VMO</a:t>
            </a:r>
          </a:p>
          <a:p>
            <a:pPr lvl="0" indent="0" algn="l">
              <a:buClrTx/>
              <a:buSzTx/>
              <a:buFontTx/>
              <a:buNone/>
            </a:pPr>
            <a:endParaRPr lang="zh-CN" altLang="en-US" sz="2400" dirty="0">
              <a:solidFill>
                <a:srgbClr val="404040"/>
              </a:solidFill>
              <a:effectLst/>
              <a:ea typeface="+mn-lt"/>
              <a:cs typeface="+mn-lt"/>
              <a:sym typeface="+mn-ea"/>
            </a:endParaRPr>
          </a:p>
          <a:p>
            <a:pPr marL="342900" lvl="0" indent="-342900" algn="l">
              <a:buClrTx/>
              <a:buSzTx/>
              <a:buFontTx/>
              <a:buChar char="-"/>
            </a:pPr>
            <a:r>
              <a:rPr lang="zh-CN" altLang="en-US" sz="2400" dirty="0">
                <a:solidFill>
                  <a:srgbClr val="404040"/>
                </a:solidFill>
                <a:effectLst/>
                <a:ea typeface="+mn-lt"/>
                <a:cs typeface="+mn-lt"/>
                <a:sym typeface="+mn-ea"/>
              </a:rPr>
              <a:t>Shadow VMO将形成树，</a:t>
            </a:r>
            <a:r>
              <a:rPr lang="zh-CN" altLang="en-US" sz="2400" b="1" dirty="0">
                <a:solidFill>
                  <a:srgbClr val="404040"/>
                </a:solidFill>
                <a:effectLst/>
                <a:ea typeface="+mn-lt"/>
                <a:cs typeface="+mn-lt"/>
                <a:sym typeface="+mn-ea"/>
              </a:rPr>
              <a:t>整个内核所管理的地址空间将是一片森林。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6237" y="2932562"/>
            <a:ext cx="8316098" cy="3925299"/>
          </a:xfrm>
          <a:prstGeom prst="rect">
            <a:avLst/>
          </a:prstGeom>
        </p:spPr>
      </p:pic>
      <p:sp>
        <p:nvSpPr>
          <p:cNvPr id="33" name="NavActive 核心机制"/>
          <p:cNvSpPr/>
          <p:nvPr/>
        </p:nvSpPr>
        <p:spPr>
          <a:xfrm>
            <a:off x="7450550" y="0"/>
            <a:ext cx="1406233" cy="792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cxnSp>
        <p:nvCxnSpPr>
          <p:cNvPr id="34" name="NavDivider 1"/>
          <p:cNvCxnSpPr/>
          <p:nvPr/>
        </p:nvCxnSpPr>
        <p:spPr>
          <a:xfrm>
            <a:off x="4638083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NavDivider 2"/>
          <p:cNvCxnSpPr/>
          <p:nvPr/>
        </p:nvCxnSpPr>
        <p:spPr>
          <a:xfrm>
            <a:off x="6044316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NavDivider 3"/>
          <p:cNvCxnSpPr/>
          <p:nvPr/>
        </p:nvCxnSpPr>
        <p:spPr>
          <a:xfrm>
            <a:off x="74505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NavDivider 4"/>
          <p:cNvCxnSpPr/>
          <p:nvPr/>
        </p:nvCxnSpPr>
        <p:spPr>
          <a:xfrm>
            <a:off x="8856783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NavDivider 5"/>
          <p:cNvCxnSpPr/>
          <p:nvPr/>
        </p:nvCxnSpPr>
        <p:spPr>
          <a:xfrm>
            <a:off x="10263016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NavText 1 完成情况"/>
          <p:cNvSpPr txBox="1"/>
          <p:nvPr/>
        </p:nvSpPr>
        <p:spPr>
          <a:xfrm>
            <a:off x="3231850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完成情况</a:t>
            </a:r>
          </a:p>
        </p:txBody>
      </p:sp>
      <p:sp>
        <p:nvSpPr>
          <p:cNvPr id="40" name="NavText 2 开发历程"/>
          <p:cNvSpPr txBox="1"/>
          <p:nvPr/>
        </p:nvSpPr>
        <p:spPr>
          <a:xfrm>
            <a:off x="4638083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开发历程</a:t>
            </a:r>
          </a:p>
        </p:txBody>
      </p:sp>
      <p:sp>
        <p:nvSpPr>
          <p:cNvPr id="41" name="NavText 3 设计主线"/>
          <p:cNvSpPr txBox="1"/>
          <p:nvPr/>
        </p:nvSpPr>
        <p:spPr>
          <a:xfrm>
            <a:off x="6044316" y="215903"/>
            <a:ext cx="1406234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设计主线</a:t>
            </a:r>
          </a:p>
        </p:txBody>
      </p:sp>
      <p:sp>
        <p:nvSpPr>
          <p:cNvPr id="42" name="NavText 4 核心机制"/>
          <p:cNvSpPr txBox="1"/>
          <p:nvPr/>
        </p:nvSpPr>
        <p:spPr>
          <a:xfrm>
            <a:off x="7450550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核心机制</a:t>
            </a:r>
          </a:p>
        </p:txBody>
      </p:sp>
      <p:sp>
        <p:nvSpPr>
          <p:cNvPr id="43" name="NavText 5 AI使用"/>
          <p:cNvSpPr txBox="1"/>
          <p:nvPr/>
        </p:nvSpPr>
        <p:spPr>
          <a:xfrm>
            <a:off x="8856783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AI使用</a:t>
            </a:r>
          </a:p>
        </p:txBody>
      </p:sp>
      <p:sp>
        <p:nvSpPr>
          <p:cNvPr id="44" name="NavText 6 比赛总结"/>
          <p:cNvSpPr txBox="1"/>
          <p:nvPr/>
        </p:nvSpPr>
        <p:spPr>
          <a:xfrm>
            <a:off x="10263016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比赛总结</a:t>
            </a:r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3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-40000"/>
                    </a14:imgEffect>
                    <a14:imgEffect>
                      <a14:colorTemperature colorTemp="5988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373" y="132991"/>
            <a:ext cx="2997105" cy="550154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22877" y="1040904"/>
            <a:ext cx="280733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lvl="0" indent="-457200" algn="l">
              <a:buClrTx/>
              <a:buSzTx/>
              <a:buFont typeface="Wingdings" panose="05000000000000000000" charset="0"/>
              <a:buChar char=""/>
            </a:pPr>
            <a:r>
              <a:rPr lang="en-US" altLang="zh-CN" sz="2800" b="1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VFS 对象模型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391795" y="1812925"/>
            <a:ext cx="4868545" cy="23069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lvl="0" indent="-342900" algn="l">
              <a:buClrTx/>
              <a:buSzTx/>
              <a:buFontTx/>
              <a:buChar char="-"/>
            </a:pPr>
            <a:r>
              <a:rPr lang="zh-CN" altLang="en-US" sz="2400" dirty="0">
                <a:solidFill>
                  <a:srgbClr val="404040"/>
                </a:solidFill>
                <a:effectLst/>
                <a:ea typeface="+mn-lt"/>
                <a:cs typeface="+mn-lt"/>
                <a:sym typeface="+mn-ea"/>
              </a:rPr>
              <a:t>filesystem</a:t>
            </a:r>
            <a:r>
              <a:rPr lang="en-US" altLang="zh-CN" sz="2400" dirty="0">
                <a:solidFill>
                  <a:srgbClr val="404040"/>
                </a:solidFill>
                <a:effectLst/>
                <a:ea typeface="+mn-lt"/>
                <a:cs typeface="+mn-lt"/>
                <a:sym typeface="+mn-ea"/>
              </a:rPr>
              <a:t>,</a:t>
            </a:r>
            <a:r>
              <a:rPr lang="zh-CN" altLang="en-US" sz="2400" dirty="0">
                <a:solidFill>
                  <a:srgbClr val="404040"/>
                </a:solidFill>
                <a:effectLst/>
                <a:ea typeface="+mn-lt"/>
                <a:cs typeface="+mn-lt"/>
                <a:sym typeface="+mn-ea"/>
              </a:rPr>
              <a:t>superblock</a:t>
            </a:r>
            <a:r>
              <a:rPr lang="en-US" altLang="zh-CN" sz="2400" dirty="0">
                <a:solidFill>
                  <a:srgbClr val="404040"/>
                </a:solidFill>
                <a:effectLst/>
                <a:ea typeface="+mn-lt"/>
                <a:cs typeface="+mn-lt"/>
                <a:sym typeface="+mn-ea"/>
              </a:rPr>
              <a:t>,</a:t>
            </a:r>
            <a:r>
              <a:rPr lang="zh-CN" altLang="en-US" sz="2400" dirty="0">
                <a:solidFill>
                  <a:srgbClr val="404040"/>
                </a:solidFill>
                <a:effectLst/>
                <a:ea typeface="+mn-lt"/>
                <a:cs typeface="+mn-lt"/>
                <a:sym typeface="+mn-ea"/>
              </a:rPr>
              <a:t>inode</a:t>
            </a:r>
            <a:r>
              <a:rPr lang="en-US" altLang="zh-CN" sz="2400" dirty="0">
                <a:solidFill>
                  <a:srgbClr val="404040"/>
                </a:solidFill>
                <a:effectLst/>
                <a:ea typeface="+mn-lt"/>
                <a:cs typeface="+mn-lt"/>
                <a:sym typeface="+mn-ea"/>
              </a:rPr>
              <a:t>,</a:t>
            </a:r>
            <a:r>
              <a:rPr lang="zh-CN" altLang="en-US" sz="2400" dirty="0">
                <a:solidFill>
                  <a:srgbClr val="404040"/>
                </a:solidFill>
                <a:effectLst/>
                <a:ea typeface="+mn-lt"/>
                <a:cs typeface="+mn-lt"/>
                <a:sym typeface="+mn-ea"/>
              </a:rPr>
              <a:t>dentry</a:t>
            </a:r>
            <a:r>
              <a:rPr lang="en-US" altLang="zh-CN" sz="2400" dirty="0">
                <a:solidFill>
                  <a:srgbClr val="404040"/>
                </a:solidFill>
                <a:effectLst/>
                <a:ea typeface="+mn-lt"/>
                <a:cs typeface="+mn-lt"/>
                <a:sym typeface="+mn-ea"/>
              </a:rPr>
              <a:t>,</a:t>
            </a:r>
            <a:r>
              <a:rPr lang="zh-CN" altLang="en-US" sz="2400" dirty="0">
                <a:solidFill>
                  <a:srgbClr val="404040"/>
                </a:solidFill>
                <a:effectLst/>
                <a:ea typeface="+mn-lt"/>
                <a:cs typeface="+mn-lt"/>
                <a:sym typeface="+mn-ea"/>
              </a:rPr>
              <a:t>file 与 path view 分层</a:t>
            </a:r>
          </a:p>
          <a:p>
            <a:pPr lvl="0" indent="0" algn="l">
              <a:buClrTx/>
              <a:buSzTx/>
              <a:buFontTx/>
              <a:buNone/>
            </a:pPr>
            <a:endParaRPr lang="zh-CN" altLang="en-US" sz="2400" dirty="0">
              <a:solidFill>
                <a:srgbClr val="404040"/>
              </a:solidFill>
              <a:effectLst/>
              <a:ea typeface="+mn-lt"/>
              <a:cs typeface="+mn-lt"/>
              <a:sym typeface="+mn-ea"/>
            </a:endParaRPr>
          </a:p>
          <a:p>
            <a:pPr marL="342900" lvl="0" indent="-342900" algn="l">
              <a:buClrTx/>
              <a:buSzTx/>
              <a:buFontTx/>
              <a:buChar char="-"/>
            </a:pPr>
            <a:r>
              <a:rPr lang="zh-CN" altLang="en-US" sz="2400" dirty="0">
                <a:solidFill>
                  <a:srgbClr val="404040"/>
                </a:solidFill>
                <a:effectLst/>
                <a:ea typeface="+mn-lt"/>
                <a:cs typeface="+mn-lt"/>
                <a:sym typeface="+mn-ea"/>
              </a:rPr>
              <a:t>一个SuperBlock可以支持多个属性不同的Mount</a:t>
            </a:r>
          </a:p>
          <a:p>
            <a:pPr lvl="0" indent="0" algn="l">
              <a:buClrTx/>
              <a:buSzTx/>
              <a:buFontTx/>
              <a:buNone/>
            </a:pPr>
            <a:endParaRPr lang="zh-CN" altLang="en-US" sz="2400" dirty="0">
              <a:solidFill>
                <a:srgbClr val="404040"/>
              </a:solidFill>
              <a:effectLst/>
              <a:ea typeface="+mn-lt"/>
              <a:cs typeface="+mn-lt"/>
              <a:sym typeface="+mn-ea"/>
            </a:endParaRPr>
          </a:p>
          <a:p>
            <a:pPr marL="342900" lvl="0" indent="-342900" algn="l">
              <a:buClrTx/>
              <a:buSzTx/>
              <a:buFontTx/>
              <a:buChar char="-"/>
            </a:pPr>
            <a:r>
              <a:rPr lang="zh-CN" altLang="en-US" sz="2400" dirty="0">
                <a:solidFill>
                  <a:srgbClr val="404040"/>
                </a:solidFill>
                <a:effectLst/>
                <a:ea typeface="+mn-lt"/>
                <a:cs typeface="+mn-lt"/>
                <a:sym typeface="+mn-ea"/>
              </a:rPr>
              <a:t>经典的Linux式设计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2776" y="1813028"/>
            <a:ext cx="6796094" cy="3797375"/>
          </a:xfrm>
          <a:prstGeom prst="rect">
            <a:avLst/>
          </a:prstGeom>
        </p:spPr>
      </p:pic>
      <p:sp>
        <p:nvSpPr>
          <p:cNvPr id="33" name="NavActive 核心机制"/>
          <p:cNvSpPr/>
          <p:nvPr/>
        </p:nvSpPr>
        <p:spPr>
          <a:xfrm>
            <a:off x="7450550" y="0"/>
            <a:ext cx="1406233" cy="792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cxnSp>
        <p:nvCxnSpPr>
          <p:cNvPr id="34" name="NavDivider 1"/>
          <p:cNvCxnSpPr/>
          <p:nvPr/>
        </p:nvCxnSpPr>
        <p:spPr>
          <a:xfrm>
            <a:off x="4638083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NavDivider 2"/>
          <p:cNvCxnSpPr/>
          <p:nvPr/>
        </p:nvCxnSpPr>
        <p:spPr>
          <a:xfrm>
            <a:off x="6044316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NavDivider 3"/>
          <p:cNvCxnSpPr/>
          <p:nvPr/>
        </p:nvCxnSpPr>
        <p:spPr>
          <a:xfrm>
            <a:off x="74505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NavDivider 4"/>
          <p:cNvCxnSpPr/>
          <p:nvPr/>
        </p:nvCxnSpPr>
        <p:spPr>
          <a:xfrm>
            <a:off x="8856783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NavDivider 5"/>
          <p:cNvCxnSpPr/>
          <p:nvPr/>
        </p:nvCxnSpPr>
        <p:spPr>
          <a:xfrm>
            <a:off x="10263016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NavText 1 完成情况"/>
          <p:cNvSpPr txBox="1"/>
          <p:nvPr/>
        </p:nvSpPr>
        <p:spPr>
          <a:xfrm>
            <a:off x="3231850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完成情况</a:t>
            </a:r>
          </a:p>
        </p:txBody>
      </p:sp>
      <p:sp>
        <p:nvSpPr>
          <p:cNvPr id="40" name="NavText 2 开发历程"/>
          <p:cNvSpPr txBox="1"/>
          <p:nvPr/>
        </p:nvSpPr>
        <p:spPr>
          <a:xfrm>
            <a:off x="4638083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开发历程</a:t>
            </a:r>
          </a:p>
        </p:txBody>
      </p:sp>
      <p:sp>
        <p:nvSpPr>
          <p:cNvPr id="41" name="NavText 3 设计主线"/>
          <p:cNvSpPr txBox="1"/>
          <p:nvPr/>
        </p:nvSpPr>
        <p:spPr>
          <a:xfrm>
            <a:off x="6044316" y="215903"/>
            <a:ext cx="1406234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设计主线</a:t>
            </a:r>
          </a:p>
        </p:txBody>
      </p:sp>
      <p:sp>
        <p:nvSpPr>
          <p:cNvPr id="42" name="NavText 4 核心机制"/>
          <p:cNvSpPr txBox="1"/>
          <p:nvPr/>
        </p:nvSpPr>
        <p:spPr>
          <a:xfrm>
            <a:off x="7450550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核心机制</a:t>
            </a:r>
          </a:p>
        </p:txBody>
      </p:sp>
      <p:sp>
        <p:nvSpPr>
          <p:cNvPr id="43" name="NavText 5 AI使用"/>
          <p:cNvSpPr txBox="1"/>
          <p:nvPr/>
        </p:nvSpPr>
        <p:spPr>
          <a:xfrm>
            <a:off x="8856783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AI使用</a:t>
            </a:r>
          </a:p>
        </p:txBody>
      </p:sp>
      <p:sp>
        <p:nvSpPr>
          <p:cNvPr id="44" name="NavText 6 比赛总结"/>
          <p:cNvSpPr txBox="1"/>
          <p:nvPr/>
        </p:nvSpPr>
        <p:spPr>
          <a:xfrm>
            <a:off x="10263016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比赛总结</a:t>
            </a:r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3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-40000"/>
                    </a14:imgEffect>
                    <a14:imgEffect>
                      <a14:colorTemperature colorTemp="5988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373" y="132991"/>
            <a:ext cx="2997105" cy="550154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22877" y="1040904"/>
            <a:ext cx="420243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lvl="0" indent="-457200" algn="l">
              <a:buClrTx/>
              <a:buSzTx/>
              <a:buFont typeface="Wingdings" panose="05000000000000000000" charset="0"/>
              <a:buChar char=""/>
            </a:pPr>
            <a:r>
              <a:rPr lang="en-US" altLang="zh-CN" sz="2800" b="1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缓存围绕对象生命周期</a:t>
            </a:r>
          </a:p>
        </p:txBody>
      </p:sp>
      <p:sp>
        <p:nvSpPr>
          <p:cNvPr id="4" name="文本框 3" descr="7b0a202020202262756c6c6574223a20227b5c2263617465676f727949645c223a5c225c222c5c2274656d706c61746549645c223a32303233313731347d220a7d0a"/>
          <p:cNvSpPr txBox="1"/>
          <p:nvPr/>
        </p:nvSpPr>
        <p:spPr>
          <a:xfrm>
            <a:off x="391795" y="1812925"/>
            <a:ext cx="8536940" cy="45231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lvl="0" indent="-342900" algn="l">
              <a:buClrTx/>
              <a:buSzTx/>
              <a:buFontTx/>
              <a:buChar char="-"/>
            </a:pPr>
            <a:r>
              <a:rPr lang="zh-CN" altLang="en-US" sz="2400" dirty="0">
                <a:solidFill>
                  <a:srgbClr val="404040"/>
                </a:solidFill>
                <a:effectLst/>
                <a:ea typeface="+mn-lt"/>
                <a:cs typeface="+mn-lt"/>
                <a:sym typeface="+mn-ea"/>
              </a:rPr>
              <a:t>ICache 稳定 inode 身份</a:t>
            </a:r>
          </a:p>
          <a:p>
            <a:pPr marL="342900" lvl="0" indent="-342900" algn="l">
              <a:buClrTx/>
              <a:buSzTx/>
              <a:buFontTx/>
              <a:buChar char="-"/>
            </a:pPr>
            <a:r>
              <a:rPr lang="zh-CN" altLang="en-US" sz="2400" dirty="0">
                <a:solidFill>
                  <a:srgbClr val="404040"/>
                </a:solidFill>
                <a:effectLst/>
                <a:ea typeface="+mn-lt"/>
                <a:cs typeface="+mn-lt"/>
                <a:sym typeface="+mn-ea"/>
              </a:rPr>
              <a:t>驱逐策略</a:t>
            </a:r>
            <a:r>
              <a:rPr lang="en-US" altLang="zh-CN" sz="2400" dirty="0">
                <a:solidFill>
                  <a:srgbClr val="404040"/>
                </a:solidFill>
                <a:effectLst/>
                <a:ea typeface="+mn-lt"/>
                <a:cs typeface="+mn-lt"/>
                <a:sym typeface="+mn-ea"/>
              </a:rPr>
              <a:t>：</a:t>
            </a:r>
          </a:p>
          <a:p>
            <a:pPr marL="800100" lvl="1" indent="-342900" algn="l">
              <a:buClrTx/>
              <a:buSzTx/>
              <a:buFont typeface="Wingdings" panose="05000000000000000000" charset="0"/>
              <a:buBlip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</a:pPr>
            <a:r>
              <a:rPr lang="zh-CN" altLang="en-US" sz="2400" dirty="0">
                <a:solidFill>
                  <a:srgbClr val="404040"/>
                </a:solidFill>
                <a:effectLst/>
                <a:ea typeface="+mn-lt"/>
                <a:cs typeface="+mn-lt"/>
                <a:sym typeface="+mn-ea"/>
              </a:rPr>
              <a:t>引用计数归零仅仅UnIndex成为Ghost</a:t>
            </a:r>
            <a:r>
              <a:rPr lang="en-US" altLang="zh-CN" sz="2400" dirty="0">
                <a:solidFill>
                  <a:srgbClr val="404040"/>
                </a:solidFill>
                <a:effectLst/>
                <a:ea typeface="+mn-lt"/>
                <a:cs typeface="+mn-lt"/>
                <a:sym typeface="+mn-ea"/>
              </a:rPr>
              <a:t> inode</a:t>
            </a:r>
            <a:r>
              <a:rPr lang="zh-CN" altLang="en-US" sz="2400" dirty="0">
                <a:solidFill>
                  <a:srgbClr val="404040"/>
                </a:solidFill>
                <a:effectLst/>
                <a:ea typeface="+mn-lt"/>
                <a:cs typeface="+mn-lt"/>
                <a:sym typeface="+mn-ea"/>
              </a:rPr>
              <a:t>，并不立即驱逐</a:t>
            </a:r>
          </a:p>
          <a:p>
            <a:pPr marL="800100" lvl="1" indent="-342900" algn="l">
              <a:buClrTx/>
              <a:buSzTx/>
              <a:buFont typeface="Wingdings" panose="05000000000000000000" charset="0"/>
              <a:buBlip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</a:pPr>
            <a:r>
              <a:rPr lang="zh-CN" altLang="en-US" sz="2400" b="1" dirty="0">
                <a:solidFill>
                  <a:srgbClr val="404040"/>
                </a:solidFill>
                <a:effectLst/>
                <a:ea typeface="+mn-lt"/>
                <a:cs typeface="+mn-lt"/>
                <a:sym typeface="+mn-ea"/>
              </a:rPr>
              <a:t>周期性</a:t>
            </a:r>
            <a:r>
              <a:rPr lang="zh-CN" altLang="en-US" sz="2400" dirty="0">
                <a:solidFill>
                  <a:srgbClr val="404040"/>
                </a:solidFill>
                <a:effectLst/>
                <a:ea typeface="+mn-lt"/>
                <a:cs typeface="+mn-lt"/>
                <a:sym typeface="+mn-ea"/>
              </a:rPr>
              <a:t>Inode Shrinker内核线程清理Ghost Inode</a:t>
            </a:r>
          </a:p>
          <a:p>
            <a:pPr marL="342900" lvl="0" indent="-342900" algn="l">
              <a:buClrTx/>
              <a:buSzTx/>
              <a:buFontTx/>
              <a:buChar char="-"/>
            </a:pPr>
            <a:endParaRPr lang="zh-CN" altLang="en-US" sz="2400" dirty="0">
              <a:solidFill>
                <a:srgbClr val="404040"/>
              </a:solidFill>
              <a:effectLst/>
              <a:ea typeface="+mn-lt"/>
              <a:cs typeface="+mn-lt"/>
              <a:sym typeface="+mn-ea"/>
            </a:endParaRPr>
          </a:p>
          <a:p>
            <a:pPr marL="342900" lvl="0" indent="-342900" algn="l">
              <a:buClrTx/>
              <a:buSzTx/>
              <a:buFontTx/>
              <a:buChar char="-"/>
            </a:pPr>
            <a:endParaRPr lang="zh-CN" altLang="en-US" sz="2400" dirty="0">
              <a:solidFill>
                <a:srgbClr val="404040"/>
              </a:solidFill>
              <a:effectLst/>
              <a:ea typeface="+mn-lt"/>
              <a:cs typeface="+mn-lt"/>
              <a:sym typeface="+mn-ea"/>
            </a:endParaRPr>
          </a:p>
          <a:p>
            <a:pPr marL="342900" lvl="0" indent="-342900" algn="l">
              <a:buClrTx/>
              <a:buSzTx/>
              <a:buFontTx/>
              <a:buChar char="-"/>
            </a:pPr>
            <a:endParaRPr lang="zh-CN" altLang="en-US" sz="2400" dirty="0">
              <a:solidFill>
                <a:srgbClr val="404040"/>
              </a:solidFill>
              <a:effectLst/>
              <a:ea typeface="+mn-lt"/>
              <a:cs typeface="+mn-lt"/>
              <a:sym typeface="+mn-ea"/>
            </a:endParaRPr>
          </a:p>
          <a:p>
            <a:pPr marL="342900" lvl="0" indent="-342900" algn="l">
              <a:buClrTx/>
              <a:buSzTx/>
              <a:buFontTx/>
              <a:buChar char="-"/>
            </a:pPr>
            <a:endParaRPr lang="zh-CN" altLang="en-US" sz="2400" dirty="0">
              <a:solidFill>
                <a:srgbClr val="404040"/>
              </a:solidFill>
              <a:effectLst/>
              <a:ea typeface="+mn-lt"/>
              <a:cs typeface="+mn-lt"/>
              <a:sym typeface="+mn-ea"/>
            </a:endParaRPr>
          </a:p>
          <a:p>
            <a:pPr marL="342900" lvl="0" indent="-342900" algn="l">
              <a:buClrTx/>
              <a:buSzTx/>
              <a:buFontTx/>
              <a:buChar char="-"/>
            </a:pPr>
            <a:endParaRPr lang="zh-CN" altLang="en-US" sz="2400" dirty="0">
              <a:solidFill>
                <a:srgbClr val="404040"/>
              </a:solidFill>
              <a:effectLst/>
              <a:ea typeface="+mn-lt"/>
              <a:cs typeface="+mn-lt"/>
              <a:sym typeface="+mn-ea"/>
            </a:endParaRPr>
          </a:p>
          <a:p>
            <a:pPr marL="342900" lvl="0" indent="-342900" algn="l">
              <a:buClrTx/>
              <a:buSzTx/>
              <a:buFontTx/>
              <a:buChar char="-"/>
            </a:pPr>
            <a:endParaRPr lang="zh-CN" altLang="en-US" sz="2400" dirty="0">
              <a:solidFill>
                <a:srgbClr val="404040"/>
              </a:solidFill>
              <a:effectLst/>
              <a:ea typeface="+mn-lt"/>
              <a:cs typeface="+mn-lt"/>
              <a:sym typeface="+mn-ea"/>
            </a:endParaRPr>
          </a:p>
          <a:p>
            <a:pPr marL="342900" lvl="0" indent="-342900" algn="l">
              <a:buClrTx/>
              <a:buSzTx/>
              <a:buFontTx/>
              <a:buChar char="-"/>
            </a:pPr>
            <a:r>
              <a:rPr lang="zh-CN" altLang="en-US" sz="2400" dirty="0">
                <a:solidFill>
                  <a:srgbClr val="404040"/>
                </a:solidFill>
                <a:effectLst/>
                <a:ea typeface="+mn-lt"/>
                <a:cs typeface="+mn-lt"/>
                <a:sym typeface="+mn-ea"/>
              </a:rPr>
              <a:t>通过Page Cache，DEntry Cache</a:t>
            </a:r>
            <a:r>
              <a:rPr lang="zh-CN" altLang="en-US" sz="2400" b="1" dirty="0">
                <a:solidFill>
                  <a:srgbClr val="404040"/>
                </a:solidFill>
                <a:effectLst/>
                <a:ea typeface="+mn-lt"/>
                <a:cs typeface="+mn-lt"/>
                <a:sym typeface="+mn-ea"/>
              </a:rPr>
              <a:t>提高性能</a:t>
            </a:r>
            <a:r>
              <a:rPr lang="en-US" altLang="zh-CN" sz="2400" dirty="0">
                <a:solidFill>
                  <a:srgbClr val="404040"/>
                </a:solidFill>
                <a:effectLst/>
                <a:ea typeface="+mn-lt"/>
                <a:cs typeface="+mn-lt"/>
                <a:sym typeface="+mn-ea"/>
              </a:rPr>
              <a:t>。</a:t>
            </a:r>
            <a:endParaRPr lang="zh-CN" altLang="en-US" sz="2400" dirty="0">
              <a:solidFill>
                <a:srgbClr val="404040"/>
              </a:solidFill>
              <a:effectLst/>
              <a:ea typeface="+mn-lt"/>
              <a:cs typeface="+mn-lt"/>
              <a:sym typeface="+mn-ea"/>
            </a:endParaRPr>
          </a:p>
          <a:p>
            <a:pPr marL="342900" lvl="0" indent="-342900" algn="l">
              <a:buClrTx/>
              <a:buSzTx/>
              <a:buFontTx/>
              <a:buChar char="-"/>
            </a:pPr>
            <a:endParaRPr lang="zh-CN" altLang="en-US" sz="2400" dirty="0">
              <a:solidFill>
                <a:srgbClr val="404040"/>
              </a:solidFill>
              <a:effectLst/>
              <a:ea typeface="+mn-lt"/>
              <a:cs typeface="+mn-lt"/>
              <a:sym typeface="+mn-ea"/>
            </a:endParaRPr>
          </a:p>
          <a:p>
            <a:pPr marL="342900" lvl="0" indent="-342900" algn="l">
              <a:buClrTx/>
              <a:buSzTx/>
              <a:buFontTx/>
              <a:buChar char="-"/>
            </a:pPr>
            <a:endParaRPr lang="zh-CN" altLang="en-US" sz="2400" dirty="0">
              <a:solidFill>
                <a:srgbClr val="404040"/>
              </a:solidFill>
              <a:effectLst/>
              <a:ea typeface="+mn-lt"/>
              <a:cs typeface="+mn-lt"/>
              <a:sym typeface="+mn-ea"/>
            </a:endParaRPr>
          </a:p>
          <a:p>
            <a:pPr marL="342900" lvl="0" indent="-342900" algn="l">
              <a:buClrTx/>
              <a:buSzTx/>
              <a:buFontTx/>
              <a:buChar char="-"/>
            </a:pPr>
            <a:endParaRPr lang="zh-CN" altLang="en-US" sz="2400" dirty="0">
              <a:solidFill>
                <a:srgbClr val="404040"/>
              </a:solidFill>
              <a:effectLst/>
              <a:ea typeface="+mn-lt"/>
              <a:cs typeface="+mn-lt"/>
              <a:sym typeface="+mn-ea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116" y="3539737"/>
            <a:ext cx="10127960" cy="2265218"/>
          </a:xfrm>
          <a:prstGeom prst="rect">
            <a:avLst/>
          </a:prstGeom>
        </p:spPr>
      </p:pic>
      <p:sp>
        <p:nvSpPr>
          <p:cNvPr id="33" name="NavActive 核心机制"/>
          <p:cNvSpPr/>
          <p:nvPr/>
        </p:nvSpPr>
        <p:spPr>
          <a:xfrm>
            <a:off x="7450550" y="0"/>
            <a:ext cx="1406233" cy="792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cxnSp>
        <p:nvCxnSpPr>
          <p:cNvPr id="34" name="NavDivider 1"/>
          <p:cNvCxnSpPr/>
          <p:nvPr/>
        </p:nvCxnSpPr>
        <p:spPr>
          <a:xfrm>
            <a:off x="4638083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NavDivider 2"/>
          <p:cNvCxnSpPr/>
          <p:nvPr/>
        </p:nvCxnSpPr>
        <p:spPr>
          <a:xfrm>
            <a:off x="6044316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NavDivider 3"/>
          <p:cNvCxnSpPr/>
          <p:nvPr/>
        </p:nvCxnSpPr>
        <p:spPr>
          <a:xfrm>
            <a:off x="74505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NavDivider 4"/>
          <p:cNvCxnSpPr/>
          <p:nvPr/>
        </p:nvCxnSpPr>
        <p:spPr>
          <a:xfrm>
            <a:off x="8856783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NavDivider 5"/>
          <p:cNvCxnSpPr/>
          <p:nvPr/>
        </p:nvCxnSpPr>
        <p:spPr>
          <a:xfrm>
            <a:off x="10263016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NavText 1 完成情况"/>
          <p:cNvSpPr txBox="1"/>
          <p:nvPr/>
        </p:nvSpPr>
        <p:spPr>
          <a:xfrm>
            <a:off x="3231850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完成情况</a:t>
            </a:r>
          </a:p>
        </p:txBody>
      </p:sp>
      <p:sp>
        <p:nvSpPr>
          <p:cNvPr id="40" name="NavText 2 开发历程"/>
          <p:cNvSpPr txBox="1"/>
          <p:nvPr/>
        </p:nvSpPr>
        <p:spPr>
          <a:xfrm>
            <a:off x="4638083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开发历程</a:t>
            </a:r>
          </a:p>
        </p:txBody>
      </p:sp>
      <p:sp>
        <p:nvSpPr>
          <p:cNvPr id="41" name="NavText 3 设计主线"/>
          <p:cNvSpPr txBox="1"/>
          <p:nvPr/>
        </p:nvSpPr>
        <p:spPr>
          <a:xfrm>
            <a:off x="6044316" y="215903"/>
            <a:ext cx="1406234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设计主线</a:t>
            </a:r>
          </a:p>
        </p:txBody>
      </p:sp>
      <p:sp>
        <p:nvSpPr>
          <p:cNvPr id="42" name="NavText 4 核心机制"/>
          <p:cNvSpPr txBox="1"/>
          <p:nvPr/>
        </p:nvSpPr>
        <p:spPr>
          <a:xfrm>
            <a:off x="7450550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核心机制</a:t>
            </a:r>
          </a:p>
        </p:txBody>
      </p:sp>
      <p:sp>
        <p:nvSpPr>
          <p:cNvPr id="43" name="NavText 5 AI使用"/>
          <p:cNvSpPr txBox="1"/>
          <p:nvPr/>
        </p:nvSpPr>
        <p:spPr>
          <a:xfrm>
            <a:off x="8856783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AI使用</a:t>
            </a:r>
          </a:p>
        </p:txBody>
      </p:sp>
      <p:sp>
        <p:nvSpPr>
          <p:cNvPr id="44" name="NavText 6 比赛总结"/>
          <p:cNvSpPr txBox="1"/>
          <p:nvPr/>
        </p:nvSpPr>
        <p:spPr>
          <a:xfrm>
            <a:off x="10263016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比赛总结</a:t>
            </a:r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3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-40000"/>
                    </a14:imgEffect>
                    <a14:imgEffect>
                      <a14:colorTemperature colorTemp="5988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373" y="132991"/>
            <a:ext cx="2997105" cy="550154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22877" y="1040904"/>
            <a:ext cx="68630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lvl="0" indent="-457200" algn="l">
              <a:buClrTx/>
              <a:buSzTx/>
              <a:buFont typeface="Wingdings" panose="05000000000000000000" charset="0"/>
              <a:buChar char=""/>
            </a:pPr>
            <a:r>
              <a:rPr lang="en-US" altLang="zh-CN" sz="2800" b="1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Bus + Device + Driver：设备驱动模型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391887" y="1813028"/>
            <a:ext cx="4327062" cy="26765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lvl="0" indent="-342900" algn="l">
              <a:buClrTx/>
              <a:buSzTx/>
              <a:buFontTx/>
              <a:buChar char="-"/>
            </a:pPr>
            <a:r>
              <a:rPr lang="zh-CN" altLang="en-US" sz="2400" dirty="0">
                <a:solidFill>
                  <a:srgbClr val="404040"/>
                </a:solidFill>
                <a:effectLst/>
                <a:ea typeface="+mn-lt"/>
                <a:cs typeface="+mn-lt"/>
                <a:sym typeface="+mn-ea"/>
              </a:rPr>
              <a:t>设备和驱动被挂载到总线上，相互发生匹配</a:t>
            </a:r>
          </a:p>
          <a:p>
            <a:pPr marL="342900" lvl="0" indent="-342900" algn="l">
              <a:buClrTx/>
              <a:buSzTx/>
              <a:buFontTx/>
              <a:buChar char="-"/>
            </a:pPr>
            <a:endParaRPr lang="zh-CN" altLang="en-US" sz="2400" dirty="0">
              <a:solidFill>
                <a:srgbClr val="404040"/>
              </a:solidFill>
              <a:effectLst/>
              <a:ea typeface="+mn-lt"/>
              <a:cs typeface="+mn-lt"/>
              <a:sym typeface="+mn-ea"/>
            </a:endParaRPr>
          </a:p>
          <a:p>
            <a:pPr marL="342900" lvl="0" indent="-342900" algn="l">
              <a:buClrTx/>
              <a:buSzTx/>
              <a:buFontTx/>
              <a:buChar char="-"/>
            </a:pPr>
            <a:r>
              <a:rPr lang="zh-CN" altLang="en-US" sz="2400" dirty="0">
                <a:solidFill>
                  <a:srgbClr val="404040"/>
                </a:solidFill>
                <a:effectLst/>
                <a:ea typeface="+mn-lt"/>
                <a:cs typeface="+mn-lt"/>
                <a:sym typeface="+mn-ea"/>
              </a:rPr>
              <a:t>支持</a:t>
            </a:r>
            <a:r>
              <a:rPr lang="zh-CN" altLang="en-US" sz="2400" b="1" dirty="0">
                <a:solidFill>
                  <a:srgbClr val="0070C0"/>
                </a:solidFill>
                <a:effectLst/>
                <a:ea typeface="+mn-lt"/>
                <a:cs typeface="+mn-lt"/>
                <a:sym typeface="+mn-ea"/>
              </a:rPr>
              <a:t>Platform，VirtIO，PCI，MMC</a:t>
            </a:r>
            <a:r>
              <a:rPr lang="zh-CN" altLang="en-US" sz="2400" dirty="0">
                <a:solidFill>
                  <a:srgbClr val="404040"/>
                </a:solidFill>
                <a:effectLst/>
                <a:ea typeface="+mn-lt"/>
                <a:cs typeface="+mn-lt"/>
                <a:sym typeface="+mn-ea"/>
              </a:rPr>
              <a:t>等多种类型总线</a:t>
            </a:r>
          </a:p>
          <a:p>
            <a:pPr marL="342900" lvl="0" indent="-342900" algn="l">
              <a:buClrTx/>
              <a:buSzTx/>
              <a:buFontTx/>
              <a:buChar char="-"/>
            </a:pPr>
            <a:r>
              <a:rPr lang="zh-CN" altLang="en-US" sz="2400" dirty="0">
                <a:solidFill>
                  <a:srgbClr val="404040"/>
                </a:solidFill>
                <a:effectLst/>
                <a:ea typeface="+mn-lt"/>
                <a:cs typeface="+mn-lt"/>
                <a:sym typeface="+mn-ea"/>
              </a:rPr>
              <a:t>实现完整的</a:t>
            </a:r>
            <a:r>
              <a:rPr lang="en-US" altLang="zh-CN" sz="2400" dirty="0">
                <a:solidFill>
                  <a:srgbClr val="404040"/>
                </a:solidFill>
                <a:effectLst/>
                <a:ea typeface="+mn-lt"/>
                <a:cs typeface="+mn-lt"/>
                <a:sym typeface="+mn-ea"/>
              </a:rPr>
              <a:t>PCIe ECAM</a:t>
            </a:r>
            <a:r>
              <a:rPr lang="zh-CN" altLang="en-US" sz="2400" dirty="0">
                <a:solidFill>
                  <a:srgbClr val="404040"/>
                </a:solidFill>
                <a:effectLst/>
                <a:ea typeface="+mn-lt"/>
                <a:cs typeface="+mn-lt"/>
                <a:sym typeface="+mn-ea"/>
              </a:rPr>
              <a:t>枚举流程</a:t>
            </a:r>
            <a:r>
              <a:rPr lang="en-US" altLang="zh-CN" sz="2400" dirty="0">
                <a:solidFill>
                  <a:srgbClr val="404040"/>
                </a:solidFill>
                <a:effectLst/>
                <a:ea typeface="+mn-lt"/>
                <a:cs typeface="+mn-lt"/>
                <a:sym typeface="+mn-ea"/>
              </a:rPr>
              <a:t>，</a:t>
            </a:r>
            <a:r>
              <a:rPr lang="zh-CN" altLang="en-US" sz="2400" dirty="0">
                <a:solidFill>
                  <a:srgbClr val="404040"/>
                </a:solidFill>
                <a:effectLst/>
                <a:ea typeface="+mn-lt"/>
                <a:cs typeface="+mn-lt"/>
                <a:sym typeface="+mn-ea"/>
              </a:rPr>
              <a:t>支持</a:t>
            </a:r>
            <a:r>
              <a:rPr lang="zh-CN" altLang="en-US" sz="2400" b="1" dirty="0">
                <a:solidFill>
                  <a:srgbClr val="0070C0"/>
                </a:solidFill>
                <a:effectLst/>
                <a:ea typeface="+mn-lt"/>
                <a:cs typeface="+mn-lt"/>
                <a:sym typeface="+mn-ea"/>
              </a:rPr>
              <a:t>多级枚举和动态</a:t>
            </a:r>
            <a:r>
              <a:rPr lang="en-US" altLang="zh-CN" sz="2400" b="1" dirty="0">
                <a:solidFill>
                  <a:srgbClr val="0070C0"/>
                </a:solidFill>
                <a:effectLst/>
                <a:ea typeface="+mn-lt"/>
                <a:cs typeface="+mn-lt"/>
                <a:sym typeface="+mn-ea"/>
              </a:rPr>
              <a:t>BAR</a:t>
            </a:r>
            <a:r>
              <a:rPr lang="zh-CN" altLang="en-US" sz="2400" b="1" dirty="0">
                <a:solidFill>
                  <a:srgbClr val="0070C0"/>
                </a:solidFill>
                <a:effectLst/>
                <a:ea typeface="+mn-lt"/>
                <a:cs typeface="+mn-lt"/>
                <a:sym typeface="+mn-ea"/>
              </a:rPr>
              <a:t>分配</a:t>
            </a:r>
            <a:r>
              <a:rPr lang="en-US" altLang="zh-CN" sz="2400" dirty="0">
                <a:solidFill>
                  <a:srgbClr val="404040"/>
                </a:solidFill>
                <a:effectLst/>
                <a:ea typeface="+mn-lt"/>
                <a:cs typeface="+mn-lt"/>
                <a:sym typeface="+mn-ea"/>
              </a:rPr>
              <a:t>。</a:t>
            </a:r>
            <a:endParaRPr lang="zh-CN" altLang="en-US" sz="2400" dirty="0">
              <a:solidFill>
                <a:srgbClr val="404040"/>
              </a:solidFill>
              <a:effectLst/>
              <a:ea typeface="+mn-lt"/>
              <a:cs typeface="+mn-lt"/>
              <a:sym typeface="+mn-ea"/>
            </a:endParaRPr>
          </a:p>
          <a:p>
            <a:pPr marL="342900" lvl="0" indent="-342900" algn="l">
              <a:buClrTx/>
              <a:buSzTx/>
              <a:buFontTx/>
              <a:buChar char="-"/>
            </a:pPr>
            <a:endParaRPr lang="zh-CN" altLang="en-US" sz="2400" dirty="0">
              <a:solidFill>
                <a:srgbClr val="404040"/>
              </a:solidFill>
              <a:effectLst/>
              <a:ea typeface="+mn-lt"/>
              <a:cs typeface="+mn-lt"/>
              <a:sym typeface="+mn-ea"/>
            </a:endParaRPr>
          </a:p>
          <a:p>
            <a:pPr marL="342900" lvl="0" indent="-342900" algn="l">
              <a:buClrTx/>
              <a:buSzTx/>
              <a:buFontTx/>
              <a:buChar char="-"/>
            </a:pPr>
            <a:r>
              <a:rPr lang="zh-CN" altLang="en-US" sz="2400" dirty="0">
                <a:solidFill>
                  <a:srgbClr val="404040"/>
                </a:solidFill>
                <a:effectLst/>
                <a:ea typeface="+mn-lt"/>
                <a:cs typeface="+mn-lt"/>
                <a:sym typeface="+mn-ea"/>
              </a:rPr>
              <a:t>支持多层级总线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4793" y="1585203"/>
            <a:ext cx="5159872" cy="4780828"/>
          </a:xfrm>
          <a:prstGeom prst="rect">
            <a:avLst/>
          </a:prstGeom>
        </p:spPr>
      </p:pic>
      <p:sp>
        <p:nvSpPr>
          <p:cNvPr id="33" name="NavActive 核心机制"/>
          <p:cNvSpPr/>
          <p:nvPr/>
        </p:nvSpPr>
        <p:spPr>
          <a:xfrm>
            <a:off x="7450550" y="0"/>
            <a:ext cx="1406233" cy="792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cxnSp>
        <p:nvCxnSpPr>
          <p:cNvPr id="34" name="NavDivider 1"/>
          <p:cNvCxnSpPr/>
          <p:nvPr/>
        </p:nvCxnSpPr>
        <p:spPr>
          <a:xfrm>
            <a:off x="4638083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NavDivider 2"/>
          <p:cNvCxnSpPr/>
          <p:nvPr/>
        </p:nvCxnSpPr>
        <p:spPr>
          <a:xfrm>
            <a:off x="6044316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NavDivider 3"/>
          <p:cNvCxnSpPr/>
          <p:nvPr/>
        </p:nvCxnSpPr>
        <p:spPr>
          <a:xfrm>
            <a:off x="74505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NavDivider 4"/>
          <p:cNvCxnSpPr/>
          <p:nvPr/>
        </p:nvCxnSpPr>
        <p:spPr>
          <a:xfrm>
            <a:off x="8856783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NavDivider 5"/>
          <p:cNvCxnSpPr/>
          <p:nvPr/>
        </p:nvCxnSpPr>
        <p:spPr>
          <a:xfrm>
            <a:off x="10263016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NavText 1 完成情况"/>
          <p:cNvSpPr txBox="1"/>
          <p:nvPr/>
        </p:nvSpPr>
        <p:spPr>
          <a:xfrm>
            <a:off x="3231850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完成情况</a:t>
            </a:r>
          </a:p>
        </p:txBody>
      </p:sp>
      <p:sp>
        <p:nvSpPr>
          <p:cNvPr id="40" name="NavText 2 开发历程"/>
          <p:cNvSpPr txBox="1"/>
          <p:nvPr/>
        </p:nvSpPr>
        <p:spPr>
          <a:xfrm>
            <a:off x="4638083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开发历程</a:t>
            </a:r>
          </a:p>
        </p:txBody>
      </p:sp>
      <p:sp>
        <p:nvSpPr>
          <p:cNvPr id="41" name="NavText 3 设计主线"/>
          <p:cNvSpPr txBox="1"/>
          <p:nvPr/>
        </p:nvSpPr>
        <p:spPr>
          <a:xfrm>
            <a:off x="6044316" y="215903"/>
            <a:ext cx="1406234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设计主线</a:t>
            </a:r>
          </a:p>
        </p:txBody>
      </p:sp>
      <p:sp>
        <p:nvSpPr>
          <p:cNvPr id="42" name="NavText 4 核心机制"/>
          <p:cNvSpPr txBox="1"/>
          <p:nvPr/>
        </p:nvSpPr>
        <p:spPr>
          <a:xfrm>
            <a:off x="7450550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核心机制</a:t>
            </a:r>
          </a:p>
        </p:txBody>
      </p:sp>
      <p:sp>
        <p:nvSpPr>
          <p:cNvPr id="43" name="NavText 5 AI使用"/>
          <p:cNvSpPr txBox="1"/>
          <p:nvPr/>
        </p:nvSpPr>
        <p:spPr>
          <a:xfrm>
            <a:off x="8856783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AI使用</a:t>
            </a:r>
          </a:p>
        </p:txBody>
      </p:sp>
      <p:sp>
        <p:nvSpPr>
          <p:cNvPr id="44" name="NavText 6 比赛总结"/>
          <p:cNvSpPr txBox="1"/>
          <p:nvPr/>
        </p:nvSpPr>
        <p:spPr>
          <a:xfrm>
            <a:off x="10263016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比赛总结</a:t>
            </a:r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3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-40000"/>
                    </a14:imgEffect>
                    <a14:imgEffect>
                      <a14:colorTemperature colorTemp="5988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373" y="132991"/>
            <a:ext cx="2997105" cy="550154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117373" y="1298752"/>
            <a:ext cx="527113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lvl="0" indent="-457200" algn="l">
              <a:buClrTx/>
              <a:buSzTx/>
              <a:buFont typeface="Wingdings" panose="05000000000000000000" charset="0"/>
              <a:buChar char=""/>
            </a:pPr>
            <a:r>
              <a:rPr lang="en-US" altLang="zh-CN" sz="2800" b="1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网络能力已经进入真实用户态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412750" y="1931035"/>
            <a:ext cx="11257280" cy="30460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lvl="0" indent="-457200" algn="l">
              <a:buClrTx/>
              <a:buSzTx/>
              <a:buFont typeface="+mj-lt"/>
              <a:buAutoNum type="arabicPeriod"/>
            </a:pPr>
            <a:r>
              <a:rPr lang="zh-CN" altLang="en-US" sz="2400" dirty="0">
                <a:solidFill>
                  <a:srgbClr val="404040"/>
                </a:solidFill>
                <a:effectLst/>
                <a:latin typeface="Consolas" charset="0"/>
                <a:ea typeface="+mn-lt"/>
                <a:cs typeface="Consolas" charset="0"/>
                <a:sym typeface="+mn-ea"/>
              </a:rPr>
              <a:t>ping</a:t>
            </a:r>
            <a:r>
              <a:rPr lang="en-US" altLang="zh-CN" sz="2400" dirty="0">
                <a:solidFill>
                  <a:srgbClr val="404040"/>
                </a:solidFill>
                <a:effectLst/>
                <a:latin typeface="Consolas" charset="0"/>
                <a:ea typeface="+mn-lt"/>
                <a:cs typeface="Consolas" charset="0"/>
                <a:sym typeface="+mn-ea"/>
              </a:rPr>
              <a:t>		</a:t>
            </a:r>
            <a:r>
              <a:rPr lang="zh-CN" altLang="en-US" sz="2400" dirty="0">
                <a:solidFill>
                  <a:srgbClr val="404040"/>
                </a:solidFill>
                <a:effectLst/>
                <a:ea typeface="+mn-lt"/>
                <a:cs typeface="+mn-lt"/>
                <a:sym typeface="+mn-ea"/>
              </a:rPr>
              <a:t>验证 ICMP 与基本 IPv4 路径</a:t>
            </a:r>
          </a:p>
          <a:p>
            <a:pPr marL="457200" lvl="0" indent="-457200" algn="l">
              <a:buClrTx/>
              <a:buSzTx/>
              <a:buFont typeface="+mj-lt"/>
              <a:buAutoNum type="arabicPeriod"/>
            </a:pPr>
            <a:r>
              <a:rPr lang="zh-CN" altLang="en-US" sz="2400" dirty="0">
                <a:solidFill>
                  <a:srgbClr val="404040"/>
                </a:solidFill>
                <a:effectLst/>
                <a:latin typeface="Consolas" charset="0"/>
                <a:ea typeface="+mn-lt"/>
                <a:cs typeface="Consolas" charset="0"/>
                <a:sym typeface="+mn-ea"/>
              </a:rPr>
              <a:t>apt install</a:t>
            </a:r>
            <a:r>
              <a:rPr lang="en-US" altLang="zh-CN" sz="2400" dirty="0">
                <a:solidFill>
                  <a:srgbClr val="404040"/>
                </a:solidFill>
                <a:effectLst/>
                <a:latin typeface="Consolas" charset="0"/>
                <a:ea typeface="+mn-lt"/>
                <a:cs typeface="Consolas" charset="0"/>
                <a:sym typeface="+mn-ea"/>
              </a:rPr>
              <a:t>	</a:t>
            </a:r>
            <a:r>
              <a:rPr lang="zh-CN" altLang="en-US" sz="2400" dirty="0">
                <a:solidFill>
                  <a:srgbClr val="404040"/>
                </a:solidFill>
                <a:effectLst/>
                <a:ea typeface="+mn-lt"/>
                <a:cs typeface="+mn-lt"/>
                <a:sym typeface="+mn-ea"/>
              </a:rPr>
              <a:t>完成软件包下载与安装</a:t>
            </a:r>
          </a:p>
          <a:p>
            <a:pPr marL="457200" lvl="0" indent="-457200" algn="l">
              <a:buClrTx/>
              <a:buSzTx/>
              <a:buFont typeface="+mj-lt"/>
              <a:buAutoNum type="arabicPeriod"/>
            </a:pPr>
            <a:r>
              <a:rPr lang="zh-CN" altLang="en-US" sz="2400" dirty="0">
                <a:solidFill>
                  <a:srgbClr val="404040"/>
                </a:solidFill>
                <a:effectLst/>
                <a:latin typeface="Consolas" charset="0"/>
                <a:ea typeface="+mn-lt"/>
                <a:cs typeface="Consolas" charset="0"/>
                <a:sym typeface="+mn-ea"/>
              </a:rPr>
              <a:t>git clone</a:t>
            </a:r>
            <a:r>
              <a:rPr lang="en-US" altLang="zh-CN" sz="2400" dirty="0">
                <a:solidFill>
                  <a:srgbClr val="404040"/>
                </a:solidFill>
                <a:effectLst/>
                <a:latin typeface="Consolas" charset="0"/>
                <a:ea typeface="+mn-lt"/>
                <a:cs typeface="Consolas" charset="0"/>
                <a:sym typeface="+mn-ea"/>
              </a:rPr>
              <a:t>		</a:t>
            </a:r>
            <a:r>
              <a:rPr lang="zh-CN" altLang="en-US" sz="2400" dirty="0">
                <a:solidFill>
                  <a:srgbClr val="404040"/>
                </a:solidFill>
                <a:effectLst/>
                <a:ea typeface="+mn-lt"/>
                <a:cs typeface="+mn-lt"/>
                <a:sym typeface="+mn-ea"/>
              </a:rPr>
              <a:t>完成 TLS 上的真实数据传输</a:t>
            </a:r>
          </a:p>
          <a:p>
            <a:pPr marL="457200" lvl="0" indent="-457200" algn="l">
              <a:buClrTx/>
              <a:buSzTx/>
              <a:buFont typeface="+mj-lt"/>
              <a:buAutoNum type="arabicPeriod"/>
            </a:pPr>
            <a:r>
              <a:rPr lang="zh-CN" altLang="en-US" sz="2400" dirty="0">
                <a:solidFill>
                  <a:srgbClr val="404040"/>
                </a:solidFill>
                <a:effectLst/>
                <a:latin typeface="Consolas" charset="0"/>
                <a:ea typeface="+mn-lt"/>
                <a:cs typeface="Consolas" charset="0"/>
                <a:sym typeface="+mn-ea"/>
              </a:rPr>
              <a:t>ip link</a:t>
            </a:r>
            <a:r>
              <a:rPr lang="en-US" altLang="zh-CN" sz="2400" dirty="0">
                <a:solidFill>
                  <a:srgbClr val="404040"/>
                </a:solidFill>
                <a:effectLst/>
                <a:latin typeface="Consolas" charset="0"/>
                <a:ea typeface="+mn-lt"/>
                <a:cs typeface="Consolas" charset="0"/>
                <a:sym typeface="+mn-ea"/>
              </a:rPr>
              <a:t>, </a:t>
            </a:r>
            <a:r>
              <a:rPr lang="zh-CN" altLang="en-US" sz="2400" dirty="0">
                <a:solidFill>
                  <a:srgbClr val="404040"/>
                </a:solidFill>
                <a:effectLst/>
                <a:latin typeface="Consolas" charset="0"/>
                <a:ea typeface="+mn-lt"/>
                <a:cs typeface="Consolas" charset="0"/>
                <a:sym typeface="+mn-ea"/>
              </a:rPr>
              <a:t>address</a:t>
            </a:r>
            <a:r>
              <a:rPr lang="en-US" altLang="zh-CN" sz="2400" dirty="0">
                <a:solidFill>
                  <a:srgbClr val="404040"/>
                </a:solidFill>
                <a:effectLst/>
                <a:latin typeface="Consolas" charset="0"/>
                <a:ea typeface="+mn-lt"/>
                <a:cs typeface="Consolas" charset="0"/>
                <a:sym typeface="+mn-ea"/>
              </a:rPr>
              <a:t>,</a:t>
            </a:r>
            <a:r>
              <a:rPr lang="zh-CN" altLang="en-US" sz="2400" dirty="0">
                <a:solidFill>
                  <a:srgbClr val="404040"/>
                </a:solidFill>
                <a:effectLst/>
                <a:latin typeface="Consolas" charset="0"/>
                <a:ea typeface="+mn-lt"/>
                <a:cs typeface="Consolas" charset="0"/>
                <a:sym typeface="+mn-ea"/>
              </a:rPr>
              <a:t>route show</a:t>
            </a:r>
            <a:r>
              <a:rPr lang="en-US" altLang="zh-CN" sz="2400" dirty="0">
                <a:solidFill>
                  <a:srgbClr val="404040"/>
                </a:solidFill>
                <a:effectLst/>
                <a:latin typeface="Consolas" charset="0"/>
                <a:ea typeface="+mn-lt"/>
                <a:cs typeface="Consolas" charset="0"/>
                <a:sym typeface="+mn-ea"/>
              </a:rPr>
              <a:t>	</a:t>
            </a:r>
            <a:r>
              <a:rPr lang="zh-CN" altLang="en-US" sz="2400" dirty="0">
                <a:solidFill>
                  <a:srgbClr val="404040"/>
                </a:solidFill>
                <a:effectLst/>
                <a:ea typeface="+mn-lt"/>
                <a:cs typeface="+mn-lt"/>
                <a:sym typeface="+mn-ea"/>
              </a:rPr>
              <a:t>查看接口与路由</a:t>
            </a:r>
          </a:p>
          <a:p>
            <a:pPr marL="457200" lvl="0" indent="-457200" algn="l">
              <a:buClrTx/>
              <a:buSzTx/>
              <a:buFont typeface="+mj-lt"/>
              <a:buAutoNum type="arabicPeriod"/>
            </a:pPr>
            <a:r>
              <a:rPr lang="zh-CN" altLang="en-US" sz="2400" dirty="0">
                <a:solidFill>
                  <a:srgbClr val="404040"/>
                </a:solidFill>
                <a:effectLst/>
                <a:latin typeface="Consolas" charset="0"/>
                <a:ea typeface="+mn-lt"/>
                <a:cs typeface="Consolas" charset="0"/>
                <a:sym typeface="+mn-ea"/>
              </a:rPr>
              <a:t>ss -tan</a:t>
            </a:r>
            <a:r>
              <a:rPr lang="en-US" altLang="zh-CN" sz="2400" dirty="0">
                <a:solidFill>
                  <a:srgbClr val="404040"/>
                </a:solidFill>
                <a:effectLst/>
                <a:latin typeface="Consolas" charset="0"/>
                <a:ea typeface="+mn-lt"/>
                <a:cs typeface="Consolas" charset="0"/>
                <a:sym typeface="+mn-ea"/>
              </a:rPr>
              <a:t>		</a:t>
            </a:r>
            <a:r>
              <a:rPr lang="zh-CN" altLang="en-US" sz="2400" dirty="0">
                <a:solidFill>
                  <a:srgbClr val="404040"/>
                </a:solidFill>
                <a:effectLst/>
                <a:ea typeface="+mn-lt"/>
                <a:cs typeface="+mn-lt"/>
                <a:sym typeface="+mn-ea"/>
              </a:rPr>
              <a:t>查看 TCP 连接与监听状态</a:t>
            </a:r>
          </a:p>
          <a:p>
            <a:pPr marL="457200" lvl="0" indent="-457200" algn="l">
              <a:buClrTx/>
              <a:buSzTx/>
              <a:buFont typeface="+mj-lt"/>
              <a:buAutoNum type="arabicPeriod"/>
            </a:pPr>
            <a:r>
              <a:rPr lang="zh-CN" altLang="en-US" sz="2400" dirty="0">
                <a:solidFill>
                  <a:srgbClr val="404040"/>
                </a:solidFill>
                <a:effectLst/>
                <a:latin typeface="Consolas" charset="0"/>
                <a:ea typeface="+mn-lt"/>
                <a:cs typeface="Consolas" charset="0"/>
                <a:sym typeface="+mn-ea"/>
              </a:rPr>
              <a:t>nginx</a:t>
            </a:r>
            <a:r>
              <a:rPr lang="en-US" altLang="zh-CN" sz="2400" dirty="0">
                <a:solidFill>
                  <a:srgbClr val="404040"/>
                </a:solidFill>
                <a:effectLst/>
                <a:ea typeface="+mn-lt"/>
                <a:cs typeface="+mn-lt"/>
                <a:sym typeface="+mn-ea"/>
              </a:rPr>
              <a:t>		</a:t>
            </a:r>
            <a:r>
              <a:rPr lang="zh-CN" altLang="en-US" sz="2400" dirty="0">
                <a:solidFill>
                  <a:srgbClr val="404040"/>
                </a:solidFill>
                <a:effectLst/>
                <a:ea typeface="+mn-lt"/>
                <a:cs typeface="+mn-lt"/>
                <a:sym typeface="+mn-ea"/>
              </a:rPr>
              <a:t>支持部署完整网络服务器并通过</a:t>
            </a:r>
            <a:r>
              <a:rPr lang="en-US" altLang="zh-CN" sz="2400" dirty="0">
                <a:solidFill>
                  <a:srgbClr val="404040"/>
                </a:solidFill>
                <a:effectLst/>
                <a:ea typeface="+mn-lt"/>
                <a:cs typeface="+mn-lt"/>
                <a:sym typeface="+mn-ea"/>
              </a:rPr>
              <a:t>SSL</a:t>
            </a:r>
            <a:r>
              <a:rPr lang="zh-CN" altLang="en-US" sz="2400" dirty="0">
                <a:solidFill>
                  <a:srgbClr val="404040"/>
                </a:solidFill>
                <a:effectLst/>
                <a:ea typeface="+mn-lt"/>
                <a:cs typeface="+mn-lt"/>
                <a:sym typeface="+mn-ea"/>
              </a:rPr>
              <a:t>进行安全数据传输</a:t>
            </a:r>
            <a:r>
              <a:rPr lang="en-US" altLang="zh-CN" sz="2400" dirty="0">
                <a:solidFill>
                  <a:srgbClr val="404040"/>
                </a:solidFill>
                <a:effectLst/>
                <a:ea typeface="+mn-lt"/>
                <a:cs typeface="+mn-lt"/>
                <a:sym typeface="+mn-ea"/>
              </a:rPr>
              <a:t>。</a:t>
            </a:r>
          </a:p>
          <a:p>
            <a:pPr marL="457200" lvl="0" indent="-457200" algn="l">
              <a:buClrTx/>
              <a:buSzTx/>
              <a:buFont typeface="+mj-lt"/>
              <a:buAutoNum type="arabicPeriod"/>
            </a:pPr>
            <a:r>
              <a:rPr lang="zh-CN" altLang="en-US" sz="2400" dirty="0">
                <a:solidFill>
                  <a:srgbClr val="404040"/>
                </a:solidFill>
                <a:effectLst/>
                <a:latin typeface="Consolas" charset="0"/>
                <a:ea typeface="+mn-lt"/>
                <a:cs typeface="Consolas" charset="0"/>
                <a:sym typeface="+mn-ea"/>
              </a:rPr>
              <a:t>ssh,sshd</a:t>
            </a:r>
            <a:r>
              <a:rPr lang="en-US" altLang="zh-CN" sz="2400" dirty="0">
                <a:solidFill>
                  <a:srgbClr val="404040"/>
                </a:solidFill>
                <a:effectLst/>
                <a:ea typeface="+mn-lt"/>
                <a:cs typeface="+mn-lt"/>
                <a:sym typeface="+mn-ea"/>
              </a:rPr>
              <a:t>		</a:t>
            </a:r>
            <a:r>
              <a:rPr lang="zh-CN" altLang="en-US" sz="2400" dirty="0">
                <a:solidFill>
                  <a:srgbClr val="404040"/>
                </a:solidFill>
                <a:effectLst/>
                <a:ea typeface="+mn-lt"/>
                <a:cs typeface="+mn-lt"/>
                <a:sym typeface="+mn-ea"/>
              </a:rPr>
              <a:t>支持</a:t>
            </a:r>
            <a:r>
              <a:rPr lang="en-US" altLang="zh-CN" sz="2400" dirty="0">
                <a:solidFill>
                  <a:srgbClr val="404040"/>
                </a:solidFill>
                <a:effectLst/>
                <a:ea typeface="+mn-lt"/>
                <a:cs typeface="+mn-lt"/>
                <a:sym typeface="+mn-ea"/>
              </a:rPr>
              <a:t> SSH </a:t>
            </a:r>
            <a:r>
              <a:rPr lang="zh-CN" altLang="en-US" sz="2400" dirty="0">
                <a:solidFill>
                  <a:srgbClr val="404040"/>
                </a:solidFill>
                <a:effectLst/>
                <a:ea typeface="+mn-lt"/>
                <a:cs typeface="+mn-lt"/>
                <a:sym typeface="+mn-ea"/>
              </a:rPr>
              <a:t>远程连接</a:t>
            </a:r>
            <a:r>
              <a:rPr lang="en-US" altLang="zh-CN" sz="2400" dirty="0">
                <a:solidFill>
                  <a:srgbClr val="404040"/>
                </a:solidFill>
                <a:effectLst/>
                <a:ea typeface="+mn-lt"/>
                <a:cs typeface="+mn-lt"/>
                <a:sym typeface="+mn-ea"/>
              </a:rPr>
              <a:t>。</a:t>
            </a:r>
            <a:endParaRPr lang="zh-CN" altLang="en-US" sz="2400" dirty="0">
              <a:solidFill>
                <a:srgbClr val="404040"/>
              </a:solidFill>
              <a:effectLst/>
              <a:ea typeface="+mn-lt"/>
              <a:cs typeface="+mn-lt"/>
              <a:sym typeface="+mn-ea"/>
            </a:endParaRPr>
          </a:p>
          <a:p>
            <a:pPr marL="457200" lvl="0" indent="-457200" algn="l">
              <a:buClrTx/>
              <a:buSzTx/>
              <a:buFont typeface="+mj-lt"/>
              <a:buAutoNum type="arabicPeriod"/>
            </a:pPr>
            <a:endParaRPr lang="zh-CN" altLang="en-US" sz="2400" dirty="0">
              <a:solidFill>
                <a:srgbClr val="404040"/>
              </a:solidFill>
              <a:effectLst/>
              <a:ea typeface="+mn-lt"/>
              <a:cs typeface="+mn-lt"/>
              <a:sym typeface="+mn-ea"/>
            </a:endParaRPr>
          </a:p>
          <a:p>
            <a:pPr marL="457200" lvl="0" indent="-457200" algn="l">
              <a:buClrTx/>
              <a:buSzTx/>
              <a:buFont typeface="+mj-lt"/>
              <a:buAutoNum type="arabicPeriod"/>
            </a:pPr>
            <a:endParaRPr lang="zh-CN" altLang="en-US" sz="2400" dirty="0">
              <a:solidFill>
                <a:srgbClr val="404040"/>
              </a:solidFill>
              <a:effectLst/>
              <a:ea typeface="+mn-lt"/>
              <a:cs typeface="+mn-lt"/>
              <a:sym typeface="+mn-ea"/>
            </a:endParaRPr>
          </a:p>
          <a:p>
            <a:pPr marL="342900" lvl="0" indent="-342900" algn="l">
              <a:buClrTx/>
              <a:buSzTx/>
              <a:buFontTx/>
              <a:buChar char="-"/>
            </a:pPr>
            <a:endParaRPr lang="zh-CN" altLang="en-US" sz="2400" dirty="0">
              <a:solidFill>
                <a:srgbClr val="404040"/>
              </a:solidFill>
              <a:effectLst/>
              <a:ea typeface="+mn-lt"/>
              <a:cs typeface="+mn-lt"/>
              <a:sym typeface="+mn-ea"/>
            </a:endParaRPr>
          </a:p>
        </p:txBody>
      </p:sp>
      <p:sp>
        <p:nvSpPr>
          <p:cNvPr id="33" name="NavActive 核心机制"/>
          <p:cNvSpPr/>
          <p:nvPr/>
        </p:nvSpPr>
        <p:spPr>
          <a:xfrm>
            <a:off x="7450550" y="0"/>
            <a:ext cx="1406233" cy="792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cxnSp>
        <p:nvCxnSpPr>
          <p:cNvPr id="34" name="NavDivider 1"/>
          <p:cNvCxnSpPr/>
          <p:nvPr/>
        </p:nvCxnSpPr>
        <p:spPr>
          <a:xfrm>
            <a:off x="4638083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NavDivider 2"/>
          <p:cNvCxnSpPr/>
          <p:nvPr/>
        </p:nvCxnSpPr>
        <p:spPr>
          <a:xfrm>
            <a:off x="6044316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NavDivider 3"/>
          <p:cNvCxnSpPr/>
          <p:nvPr/>
        </p:nvCxnSpPr>
        <p:spPr>
          <a:xfrm>
            <a:off x="74505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NavDivider 4"/>
          <p:cNvCxnSpPr/>
          <p:nvPr/>
        </p:nvCxnSpPr>
        <p:spPr>
          <a:xfrm>
            <a:off x="8856783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NavDivider 5"/>
          <p:cNvCxnSpPr/>
          <p:nvPr/>
        </p:nvCxnSpPr>
        <p:spPr>
          <a:xfrm>
            <a:off x="10263016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NavText 1 完成情况"/>
          <p:cNvSpPr txBox="1"/>
          <p:nvPr/>
        </p:nvSpPr>
        <p:spPr>
          <a:xfrm>
            <a:off x="3231850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完成情况</a:t>
            </a:r>
          </a:p>
        </p:txBody>
      </p:sp>
      <p:sp>
        <p:nvSpPr>
          <p:cNvPr id="40" name="NavText 2 开发历程"/>
          <p:cNvSpPr txBox="1"/>
          <p:nvPr/>
        </p:nvSpPr>
        <p:spPr>
          <a:xfrm>
            <a:off x="4638083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开发历程</a:t>
            </a:r>
          </a:p>
        </p:txBody>
      </p:sp>
      <p:sp>
        <p:nvSpPr>
          <p:cNvPr id="41" name="NavText 3 设计主线"/>
          <p:cNvSpPr txBox="1"/>
          <p:nvPr/>
        </p:nvSpPr>
        <p:spPr>
          <a:xfrm>
            <a:off x="6044316" y="215903"/>
            <a:ext cx="1406234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设计主线</a:t>
            </a:r>
          </a:p>
        </p:txBody>
      </p:sp>
      <p:sp>
        <p:nvSpPr>
          <p:cNvPr id="42" name="NavText 4 核心机制"/>
          <p:cNvSpPr txBox="1"/>
          <p:nvPr/>
        </p:nvSpPr>
        <p:spPr>
          <a:xfrm>
            <a:off x="7450550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核心机制</a:t>
            </a:r>
          </a:p>
        </p:txBody>
      </p:sp>
      <p:sp>
        <p:nvSpPr>
          <p:cNvPr id="43" name="NavText 5 AI使用"/>
          <p:cNvSpPr txBox="1"/>
          <p:nvPr/>
        </p:nvSpPr>
        <p:spPr>
          <a:xfrm>
            <a:off x="8856783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AI使用</a:t>
            </a:r>
          </a:p>
        </p:txBody>
      </p:sp>
      <p:sp>
        <p:nvSpPr>
          <p:cNvPr id="44" name="NavText 6 比赛总结"/>
          <p:cNvSpPr txBox="1"/>
          <p:nvPr/>
        </p:nvSpPr>
        <p:spPr>
          <a:xfrm>
            <a:off x="10263016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比赛总结</a:t>
            </a:r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3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-40000"/>
                    </a14:imgEffect>
                    <a14:imgEffect>
                      <a14:colorTemperature colorTemp="5988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373" y="132991"/>
            <a:ext cx="2997105" cy="550154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22877" y="1040904"/>
            <a:ext cx="27774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lvl="0" indent="-457200" algn="l">
              <a:buClrTx/>
              <a:buSzTx/>
              <a:buFont typeface="Wingdings" panose="05000000000000000000" charset="0"/>
              <a:buChar char=""/>
            </a:pPr>
            <a:r>
              <a:rPr lang="en-US" altLang="zh-CN" sz="2800" b="1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四层网络架构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391795" y="1812925"/>
            <a:ext cx="4794885" cy="41541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lvl="0" indent="-342900" algn="l">
              <a:buClrTx/>
              <a:buSzTx/>
              <a:buFontTx/>
              <a:buChar char="-"/>
            </a:pPr>
            <a:r>
              <a:rPr lang="zh-CN" altLang="en-US" sz="2400" dirty="0">
                <a:solidFill>
                  <a:srgbClr val="404040"/>
                </a:solidFill>
                <a:effectLst/>
                <a:ea typeface="+mn-lt"/>
                <a:cs typeface="+mn-lt"/>
                <a:sym typeface="+mn-ea"/>
              </a:rPr>
              <a:t>内核 Socket、Net API、协议栈 owner 与 smoltcp 后端各自拥有状态</a:t>
            </a:r>
          </a:p>
          <a:p>
            <a:pPr marL="342900" lvl="0" indent="-342900" algn="l">
              <a:buClrTx/>
              <a:buSzTx/>
              <a:buFontTx/>
              <a:buChar char="-"/>
            </a:pPr>
            <a:r>
              <a:rPr lang="zh-CN" altLang="en-US" sz="2400" dirty="0">
                <a:solidFill>
                  <a:srgbClr val="404040"/>
                </a:solidFill>
                <a:effectLst/>
                <a:ea typeface="+mn-lt"/>
                <a:cs typeface="+mn-lt"/>
                <a:sym typeface="+mn-ea"/>
              </a:rPr>
              <a:t>内核处理Linux语义，阻塞与同步，Socket状态维护</a:t>
            </a:r>
          </a:p>
          <a:p>
            <a:pPr marL="342900" lvl="0" indent="-342900" algn="l">
              <a:buClrTx/>
              <a:buSzTx/>
              <a:buFontTx/>
              <a:buChar char="-"/>
            </a:pPr>
            <a:r>
              <a:rPr lang="zh-CN" altLang="en-US" sz="2400" dirty="0">
                <a:solidFill>
                  <a:srgbClr val="404040"/>
                </a:solidFill>
                <a:effectLst/>
                <a:ea typeface="+mn-lt"/>
                <a:cs typeface="+mn-lt"/>
                <a:sym typeface="+mn-ea"/>
              </a:rPr>
              <a:t>Net-API 负责语义和能力的确认，可以理解为网络栈的抽象层，屏蔽后端语义，允许此后扩展和切换</a:t>
            </a:r>
          </a:p>
          <a:p>
            <a:pPr marL="342900" lvl="0" indent="-342900" algn="l">
              <a:buClrTx/>
              <a:buSzTx/>
              <a:buFontTx/>
              <a:buChar char="-"/>
            </a:pPr>
            <a:r>
              <a:rPr lang="zh-CN" altLang="en-US" sz="2400" dirty="0">
                <a:solidFill>
                  <a:srgbClr val="404040"/>
                </a:solidFill>
                <a:effectLst/>
                <a:ea typeface="+mn-lt"/>
                <a:cs typeface="+mn-lt"/>
                <a:sym typeface="+mn-ea"/>
              </a:rPr>
              <a:t>Smoltcp-stack是smoltcp的后端适配。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9408" y="1302514"/>
            <a:ext cx="6220705" cy="5026682"/>
          </a:xfrm>
          <a:prstGeom prst="rect">
            <a:avLst/>
          </a:prstGeom>
        </p:spPr>
      </p:pic>
      <p:sp>
        <p:nvSpPr>
          <p:cNvPr id="33" name="NavActive 核心机制"/>
          <p:cNvSpPr/>
          <p:nvPr/>
        </p:nvSpPr>
        <p:spPr>
          <a:xfrm>
            <a:off x="7450550" y="0"/>
            <a:ext cx="1406233" cy="792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cxnSp>
        <p:nvCxnSpPr>
          <p:cNvPr id="34" name="NavDivider 1"/>
          <p:cNvCxnSpPr/>
          <p:nvPr/>
        </p:nvCxnSpPr>
        <p:spPr>
          <a:xfrm>
            <a:off x="4638083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NavDivider 2"/>
          <p:cNvCxnSpPr/>
          <p:nvPr/>
        </p:nvCxnSpPr>
        <p:spPr>
          <a:xfrm>
            <a:off x="6044316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NavDivider 3"/>
          <p:cNvCxnSpPr/>
          <p:nvPr/>
        </p:nvCxnSpPr>
        <p:spPr>
          <a:xfrm>
            <a:off x="74505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NavDivider 4"/>
          <p:cNvCxnSpPr/>
          <p:nvPr/>
        </p:nvCxnSpPr>
        <p:spPr>
          <a:xfrm>
            <a:off x="8856783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NavDivider 5"/>
          <p:cNvCxnSpPr/>
          <p:nvPr/>
        </p:nvCxnSpPr>
        <p:spPr>
          <a:xfrm>
            <a:off x="10263016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NavText 1 完成情况"/>
          <p:cNvSpPr txBox="1"/>
          <p:nvPr/>
        </p:nvSpPr>
        <p:spPr>
          <a:xfrm>
            <a:off x="3231850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完成情况</a:t>
            </a:r>
          </a:p>
        </p:txBody>
      </p:sp>
      <p:sp>
        <p:nvSpPr>
          <p:cNvPr id="40" name="NavText 2 开发历程"/>
          <p:cNvSpPr txBox="1"/>
          <p:nvPr/>
        </p:nvSpPr>
        <p:spPr>
          <a:xfrm>
            <a:off x="4638083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开发历程</a:t>
            </a:r>
          </a:p>
        </p:txBody>
      </p:sp>
      <p:sp>
        <p:nvSpPr>
          <p:cNvPr id="41" name="NavText 3 设计主线"/>
          <p:cNvSpPr txBox="1"/>
          <p:nvPr/>
        </p:nvSpPr>
        <p:spPr>
          <a:xfrm>
            <a:off x="6044316" y="215903"/>
            <a:ext cx="1406234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设计主线</a:t>
            </a:r>
          </a:p>
        </p:txBody>
      </p:sp>
      <p:sp>
        <p:nvSpPr>
          <p:cNvPr id="42" name="NavText 4 核心机制"/>
          <p:cNvSpPr txBox="1"/>
          <p:nvPr/>
        </p:nvSpPr>
        <p:spPr>
          <a:xfrm>
            <a:off x="7450550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核心机制</a:t>
            </a:r>
          </a:p>
        </p:txBody>
      </p:sp>
      <p:sp>
        <p:nvSpPr>
          <p:cNvPr id="43" name="NavText 5 AI使用"/>
          <p:cNvSpPr txBox="1"/>
          <p:nvPr/>
        </p:nvSpPr>
        <p:spPr>
          <a:xfrm>
            <a:off x="8856783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AI使用</a:t>
            </a:r>
          </a:p>
        </p:txBody>
      </p:sp>
      <p:sp>
        <p:nvSpPr>
          <p:cNvPr id="44" name="NavText 6 比赛总结"/>
          <p:cNvSpPr txBox="1"/>
          <p:nvPr/>
        </p:nvSpPr>
        <p:spPr>
          <a:xfrm>
            <a:off x="10263016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比赛总结</a:t>
            </a:r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3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-40000"/>
                    </a14:imgEffect>
                    <a14:imgEffect>
                      <a14:colorTemperature colorTemp="5988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373" y="132991"/>
            <a:ext cx="2997105" cy="550154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85872" y="1016779"/>
            <a:ext cx="568261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lvl="0" indent="-457200" algn="l">
              <a:buClrTx/>
              <a:buSzTx/>
              <a:buFont typeface="Wingdings" panose="05000000000000000000" charset="0"/>
              <a:buChar char=""/>
            </a:pPr>
            <a:r>
              <a:rPr lang="en-US" altLang="zh-CN" sz="2800" b="1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Command / Event / Snapshot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588010" y="1871980"/>
            <a:ext cx="293370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90204" pitchFamily="34" charset="0"/>
              <a:buChar char="•"/>
            </a:pP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Command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066800" y="2440940"/>
            <a:ext cx="8641080" cy="10690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lnSpc>
                <a:spcPct val="170000"/>
              </a:lnSpc>
              <a:buFont typeface="Arial" panose="020B0604020202090204" pitchFamily="34" charset="0"/>
              <a:buNone/>
            </a:pPr>
            <a:r>
              <a:rPr lang="zh-CN" sz="20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请求一次有界、非阻塞的协议操作；调用不会把等待责任下沉到协议栈</a:t>
            </a:r>
            <a:endParaRPr 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>
              <a:lnSpc>
                <a:spcPct val="170000"/>
              </a:lnSpc>
              <a:buFont typeface="Arial" panose="020B0604020202090204" pitchFamily="34" charset="0"/>
              <a:buNone/>
            </a:pPr>
            <a:endParaRPr lang="zh-CN" sz="2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88010" y="3233296"/>
            <a:ext cx="3764296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90204" pitchFamily="34" charset="0"/>
              <a:buChar char="•"/>
            </a:pP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Event 与 Snapshot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066799" y="3802256"/>
            <a:ext cx="8936449" cy="10690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lnSpc>
                <a:spcPct val="170000"/>
              </a:lnSpc>
              <a:buFont typeface="Arial" panose="020B0604020202090204" pitchFamily="34" charset="0"/>
              <a:buNone/>
            </a:pPr>
            <a:r>
              <a:rPr lang="zh-CN" sz="20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Event 只提示重新检查，不代表 readiness；Snapshot 是读取时刻的协议事实</a:t>
            </a:r>
          </a:p>
          <a:p>
            <a:pPr indent="0">
              <a:lnSpc>
                <a:spcPct val="170000"/>
              </a:lnSpc>
              <a:buFont typeface="Arial" panose="020B0604020202090204" pitchFamily="34" charset="0"/>
              <a:buNone/>
            </a:pPr>
            <a:endParaRPr lang="zh-CN" sz="2000" b="1" dirty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3" name="NavActive 核心机制"/>
          <p:cNvSpPr/>
          <p:nvPr/>
        </p:nvSpPr>
        <p:spPr>
          <a:xfrm>
            <a:off x="7450550" y="0"/>
            <a:ext cx="1406234" cy="792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cxnSp>
        <p:nvCxnSpPr>
          <p:cNvPr id="34" name="NavDivider 1"/>
          <p:cNvCxnSpPr/>
          <p:nvPr/>
        </p:nvCxnSpPr>
        <p:spPr>
          <a:xfrm>
            <a:off x="4638083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NavDivider 2"/>
          <p:cNvCxnSpPr/>
          <p:nvPr/>
        </p:nvCxnSpPr>
        <p:spPr>
          <a:xfrm>
            <a:off x="6044316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NavDivider 3"/>
          <p:cNvCxnSpPr/>
          <p:nvPr/>
        </p:nvCxnSpPr>
        <p:spPr>
          <a:xfrm>
            <a:off x="74505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NavDivider 4"/>
          <p:cNvCxnSpPr/>
          <p:nvPr/>
        </p:nvCxnSpPr>
        <p:spPr>
          <a:xfrm>
            <a:off x="8856783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NavDivider 5"/>
          <p:cNvCxnSpPr/>
          <p:nvPr/>
        </p:nvCxnSpPr>
        <p:spPr>
          <a:xfrm>
            <a:off x="10263016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NavText 1 完成情况"/>
          <p:cNvSpPr txBox="1"/>
          <p:nvPr/>
        </p:nvSpPr>
        <p:spPr>
          <a:xfrm>
            <a:off x="3231850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完成情况</a:t>
            </a:r>
          </a:p>
        </p:txBody>
      </p:sp>
      <p:sp>
        <p:nvSpPr>
          <p:cNvPr id="40" name="NavText 2 开发历程"/>
          <p:cNvSpPr txBox="1"/>
          <p:nvPr/>
        </p:nvSpPr>
        <p:spPr>
          <a:xfrm>
            <a:off x="4638083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开发历程</a:t>
            </a:r>
          </a:p>
        </p:txBody>
      </p:sp>
      <p:sp>
        <p:nvSpPr>
          <p:cNvPr id="41" name="NavText 3 设计主线"/>
          <p:cNvSpPr txBox="1"/>
          <p:nvPr/>
        </p:nvSpPr>
        <p:spPr>
          <a:xfrm>
            <a:off x="6044316" y="215903"/>
            <a:ext cx="1406234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设计主线</a:t>
            </a:r>
          </a:p>
        </p:txBody>
      </p:sp>
      <p:sp>
        <p:nvSpPr>
          <p:cNvPr id="42" name="NavText 4 核心机制"/>
          <p:cNvSpPr txBox="1"/>
          <p:nvPr/>
        </p:nvSpPr>
        <p:spPr>
          <a:xfrm>
            <a:off x="7450550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核心机制</a:t>
            </a:r>
          </a:p>
        </p:txBody>
      </p:sp>
      <p:sp>
        <p:nvSpPr>
          <p:cNvPr id="43" name="NavText 5 AI使用"/>
          <p:cNvSpPr txBox="1"/>
          <p:nvPr/>
        </p:nvSpPr>
        <p:spPr>
          <a:xfrm>
            <a:off x="8856783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AI使用</a:t>
            </a:r>
          </a:p>
        </p:txBody>
      </p:sp>
      <p:sp>
        <p:nvSpPr>
          <p:cNvPr id="44" name="NavText 6 比赛总结"/>
          <p:cNvSpPr txBox="1"/>
          <p:nvPr/>
        </p:nvSpPr>
        <p:spPr>
          <a:xfrm>
            <a:off x="10263016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比赛总结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2080408" y="5284519"/>
            <a:ext cx="92272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——</a:t>
            </a:r>
            <a:r>
              <a:rPr lang="zh-CN" altLang="en-US" sz="2400" dirty="0"/>
              <a:t>定义非阻塞原语，内核进而自由组合，实现非阻塞</a:t>
            </a:r>
            <a:r>
              <a:rPr lang="en-US" altLang="zh-CN" sz="2400" dirty="0"/>
              <a:t>/</a:t>
            </a:r>
            <a:r>
              <a:rPr lang="zh-CN" altLang="en-US" sz="2400" dirty="0"/>
              <a:t>阻塞语义。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5" grpId="0"/>
      <p:bldP spid="5" grpId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3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-40000"/>
                    </a14:imgEffect>
                    <a14:imgEffect>
                      <a14:colorTemperature colorTemp="5988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373" y="132991"/>
            <a:ext cx="2997105" cy="550154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40152" y="1016779"/>
            <a:ext cx="435864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lvl="0" indent="-457200" algn="l">
              <a:buClrTx/>
              <a:buSzTx/>
              <a:buFont typeface="Wingdings" panose="05000000000000000000" charset="0"/>
              <a:buChar char=""/>
            </a:pPr>
            <a:r>
              <a:rPr lang="en-US" altLang="zh-CN" sz="2800" b="1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Agentic Coding工作流</a:t>
            </a:r>
          </a:p>
        </p:txBody>
      </p:sp>
      <p:sp>
        <p:nvSpPr>
          <p:cNvPr id="33" name="NavActive AI使用"/>
          <p:cNvSpPr/>
          <p:nvPr/>
        </p:nvSpPr>
        <p:spPr>
          <a:xfrm>
            <a:off x="8856783" y="0"/>
            <a:ext cx="1406233" cy="792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cxnSp>
        <p:nvCxnSpPr>
          <p:cNvPr id="34" name="NavDivider 1"/>
          <p:cNvCxnSpPr/>
          <p:nvPr/>
        </p:nvCxnSpPr>
        <p:spPr>
          <a:xfrm>
            <a:off x="4638083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NavDivider 2"/>
          <p:cNvCxnSpPr/>
          <p:nvPr/>
        </p:nvCxnSpPr>
        <p:spPr>
          <a:xfrm>
            <a:off x="6044316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NavDivider 3"/>
          <p:cNvCxnSpPr/>
          <p:nvPr/>
        </p:nvCxnSpPr>
        <p:spPr>
          <a:xfrm>
            <a:off x="74505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NavDivider 4"/>
          <p:cNvCxnSpPr/>
          <p:nvPr/>
        </p:nvCxnSpPr>
        <p:spPr>
          <a:xfrm>
            <a:off x="8856783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NavDivider 5"/>
          <p:cNvCxnSpPr/>
          <p:nvPr/>
        </p:nvCxnSpPr>
        <p:spPr>
          <a:xfrm>
            <a:off x="10263016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NavText 1 完成情况"/>
          <p:cNvSpPr txBox="1"/>
          <p:nvPr/>
        </p:nvSpPr>
        <p:spPr>
          <a:xfrm>
            <a:off x="3231850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完成情况</a:t>
            </a:r>
          </a:p>
        </p:txBody>
      </p:sp>
      <p:sp>
        <p:nvSpPr>
          <p:cNvPr id="40" name="NavText 2 开发历程"/>
          <p:cNvSpPr txBox="1"/>
          <p:nvPr/>
        </p:nvSpPr>
        <p:spPr>
          <a:xfrm>
            <a:off x="4638083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开发历程</a:t>
            </a:r>
          </a:p>
        </p:txBody>
      </p:sp>
      <p:sp>
        <p:nvSpPr>
          <p:cNvPr id="41" name="NavText 3 设计主线"/>
          <p:cNvSpPr txBox="1"/>
          <p:nvPr/>
        </p:nvSpPr>
        <p:spPr>
          <a:xfrm>
            <a:off x="6044316" y="215903"/>
            <a:ext cx="1406234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设计主线</a:t>
            </a:r>
          </a:p>
        </p:txBody>
      </p:sp>
      <p:sp>
        <p:nvSpPr>
          <p:cNvPr id="42" name="NavText 4 核心机制"/>
          <p:cNvSpPr txBox="1"/>
          <p:nvPr/>
        </p:nvSpPr>
        <p:spPr>
          <a:xfrm>
            <a:off x="7450550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核心机制</a:t>
            </a:r>
          </a:p>
        </p:txBody>
      </p:sp>
      <p:sp>
        <p:nvSpPr>
          <p:cNvPr id="43" name="NavText 5 AI使用"/>
          <p:cNvSpPr txBox="1"/>
          <p:nvPr/>
        </p:nvSpPr>
        <p:spPr>
          <a:xfrm>
            <a:off x="8856783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AI使用</a:t>
            </a:r>
          </a:p>
        </p:txBody>
      </p:sp>
      <p:sp>
        <p:nvSpPr>
          <p:cNvPr id="44" name="NavText 6 比赛总结"/>
          <p:cNvSpPr txBox="1"/>
          <p:nvPr/>
        </p:nvSpPr>
        <p:spPr>
          <a:xfrm>
            <a:off x="10263016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比赛总结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677545" y="1818640"/>
            <a:ext cx="11077575" cy="71088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lvl="0" indent="-342900" algn="l">
              <a:buClrTx/>
              <a:buSzTx/>
              <a:buFontTx/>
              <a:buChar char="-"/>
            </a:pPr>
            <a:r>
              <a:rPr lang="zh-CN" altLang="en-US" sz="2400" dirty="0">
                <a:solidFill>
                  <a:srgbClr val="404040"/>
                </a:solidFill>
                <a:effectLst/>
                <a:ea typeface="+mn-lt"/>
                <a:cs typeface="+mn-lt"/>
                <a:sym typeface="+mn-ea"/>
              </a:rPr>
              <a:t>初赛前三个月，我们完全古法编程</a:t>
            </a:r>
          </a:p>
          <a:p>
            <a:pPr marL="342900" lvl="0" indent="-342900" algn="l">
              <a:buClrTx/>
              <a:buSzTx/>
              <a:buFontTx/>
              <a:buChar char="-"/>
            </a:pPr>
            <a:r>
              <a:rPr lang="zh-CN" altLang="en-US" sz="2400" dirty="0">
                <a:solidFill>
                  <a:srgbClr val="404040"/>
                </a:solidFill>
                <a:effectLst/>
                <a:ea typeface="+mn-lt"/>
                <a:cs typeface="+mn-lt"/>
                <a:sym typeface="+mn-ea"/>
              </a:rPr>
              <a:t>初赛的最后一个月，为了追赶进度，我们开始逐步使用LLM辅助开发。</a:t>
            </a:r>
          </a:p>
          <a:p>
            <a:pPr marL="342900" lvl="0" indent="-342900" algn="l">
              <a:buClrTx/>
              <a:buSzTx/>
              <a:buFontTx/>
              <a:buChar char="-"/>
            </a:pPr>
            <a:r>
              <a:rPr lang="zh-CN" altLang="en-US" sz="2400" dirty="0">
                <a:solidFill>
                  <a:srgbClr val="404040"/>
                </a:solidFill>
                <a:effectLst/>
                <a:ea typeface="+mn-lt"/>
                <a:cs typeface="+mn-lt"/>
                <a:sym typeface="+mn-ea"/>
              </a:rPr>
              <a:t>到了决赛，我们大量使用AI辅助开发。</a:t>
            </a:r>
          </a:p>
          <a:p>
            <a:pPr marL="342900" lvl="0" indent="-342900" algn="l">
              <a:buClrTx/>
              <a:buSzTx/>
              <a:buFontTx/>
              <a:buChar char="-"/>
            </a:pPr>
            <a:endParaRPr lang="zh-CN" altLang="en-US" sz="2400" dirty="0">
              <a:solidFill>
                <a:srgbClr val="404040"/>
              </a:solidFill>
              <a:effectLst/>
              <a:ea typeface="+mn-lt"/>
              <a:cs typeface="+mn-lt"/>
              <a:sym typeface="+mn-ea"/>
            </a:endParaRPr>
          </a:p>
          <a:p>
            <a:pPr lvl="0" indent="0" algn="l"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0070C0"/>
                </a:solidFill>
                <a:effectLst/>
                <a:ea typeface="+mn-lt"/>
                <a:cs typeface="+mn-lt"/>
                <a:sym typeface="+mn-ea"/>
              </a:rPr>
              <a:t>AI 生成内容本身不等于低质量；真正决定质量的是我们是否能给出清楚的上下文、是否能识别错误方向、是否能把输出放回源码和测试中验证。以及，是否能建立完备的Harness。在这过程中，开发者始终把握架构设计与大方向。</a:t>
            </a:r>
            <a:endParaRPr lang="zh-CN" altLang="en-US" sz="2400" dirty="0">
              <a:solidFill>
                <a:srgbClr val="404040"/>
              </a:solidFill>
              <a:effectLst/>
              <a:ea typeface="+mn-lt"/>
              <a:cs typeface="+mn-lt"/>
              <a:sym typeface="+mn-ea"/>
            </a:endParaRPr>
          </a:p>
          <a:p>
            <a:pPr marL="342900" lvl="0" indent="-342900" algn="l">
              <a:buClrTx/>
              <a:buSzTx/>
              <a:buFontTx/>
              <a:buChar char="-"/>
            </a:pPr>
            <a:endParaRPr lang="zh-CN" altLang="en-US" sz="2400" dirty="0">
              <a:solidFill>
                <a:srgbClr val="404040"/>
              </a:solidFill>
              <a:effectLst/>
              <a:ea typeface="+mn-lt"/>
              <a:cs typeface="+mn-lt"/>
              <a:sym typeface="+mn-ea"/>
            </a:endParaRPr>
          </a:p>
          <a:p>
            <a:pPr marL="342900" lvl="0" indent="-342900" algn="l">
              <a:buClrTx/>
              <a:buSzTx/>
              <a:buFont typeface="Wingdings" panose="05000000000000000000" charset="0"/>
              <a:buChar char=""/>
            </a:pPr>
            <a:r>
              <a:rPr lang="en-US" altLang="zh-CN" sz="2400" b="1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三种工作流</a:t>
            </a:r>
          </a:p>
          <a:p>
            <a:pPr marL="342900" lvl="0" indent="-342900" algn="l">
              <a:buClrTx/>
              <a:buSzTx/>
              <a:buFont typeface="Wingdings" panose="05000000000000000000" charset="0"/>
              <a:buChar char=""/>
            </a:pPr>
            <a:endParaRPr lang="zh-CN" altLang="en-US" sz="2400" dirty="0">
              <a:solidFill>
                <a:srgbClr val="404040"/>
              </a:solidFill>
              <a:effectLst/>
              <a:ea typeface="+mn-lt"/>
              <a:cs typeface="+mn-lt"/>
              <a:sym typeface="+mn-ea"/>
            </a:endParaRPr>
          </a:p>
          <a:p>
            <a:pPr marL="342900" lvl="0" indent="-342900" algn="l">
              <a:buClrTx/>
              <a:buSzTx/>
              <a:buFontTx/>
              <a:buChar char="-"/>
            </a:pPr>
            <a:r>
              <a:rPr lang="zh-CN" altLang="en-US" sz="2400" dirty="0">
                <a:solidFill>
                  <a:srgbClr val="404040"/>
                </a:solidFill>
                <a:effectLst/>
                <a:ea typeface="+mn-lt"/>
                <a:cs typeface="+mn-lt"/>
                <a:sym typeface="+mn-ea"/>
              </a:rPr>
              <a:t>Patch——最小化的代码迭代，不引入新的系统不变量变更</a:t>
            </a:r>
          </a:p>
          <a:p>
            <a:pPr marL="342900" lvl="0" indent="-342900" algn="l">
              <a:buClrTx/>
              <a:buSzTx/>
              <a:buFontTx/>
              <a:buChar char="-"/>
            </a:pPr>
            <a:r>
              <a:rPr lang="zh-CN" altLang="en-US" sz="2400" dirty="0">
                <a:solidFill>
                  <a:srgbClr val="404040"/>
                </a:solidFill>
                <a:effectLst/>
                <a:ea typeface="+mn-lt"/>
                <a:cs typeface="+mn-lt"/>
                <a:sym typeface="+mn-ea"/>
              </a:rPr>
              <a:t>小迭代——引入或改变系统不变量，但处于一个子系统内部</a:t>
            </a:r>
          </a:p>
          <a:p>
            <a:pPr marL="342900" lvl="0" indent="-342900" algn="l">
              <a:buClrTx/>
              <a:buSzTx/>
              <a:buFontTx/>
              <a:buChar char="-"/>
            </a:pPr>
            <a:r>
              <a:rPr lang="zh-CN" altLang="en-US" sz="2400" dirty="0">
                <a:solidFill>
                  <a:srgbClr val="404040"/>
                </a:solidFill>
                <a:effectLst/>
                <a:ea typeface="+mn-lt"/>
                <a:cs typeface="+mn-lt"/>
                <a:sym typeface="+mn-ea"/>
              </a:rPr>
              <a:t>RFC——系统不变量的新增或更改，且横跨多个子系统</a:t>
            </a:r>
          </a:p>
          <a:p>
            <a:pPr marL="342900" lvl="0" indent="-342900" algn="l">
              <a:buClrTx/>
              <a:buSzTx/>
              <a:buFontTx/>
              <a:buChar char="-"/>
            </a:pPr>
            <a:endParaRPr lang="zh-CN" altLang="en-US" sz="2400" dirty="0">
              <a:solidFill>
                <a:srgbClr val="404040"/>
              </a:solidFill>
              <a:effectLst/>
              <a:ea typeface="+mn-lt"/>
              <a:cs typeface="+mn-lt"/>
              <a:sym typeface="+mn-ea"/>
            </a:endParaRPr>
          </a:p>
        </p:txBody>
      </p:sp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3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-40000"/>
                    </a14:imgEffect>
                    <a14:imgEffect>
                      <a14:colorTemperature colorTemp="5988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373" y="132991"/>
            <a:ext cx="2997105" cy="550154"/>
          </a:xfrm>
          <a:prstGeom prst="rect">
            <a:avLst/>
          </a:prstGeom>
        </p:spPr>
      </p:pic>
      <p:sp>
        <p:nvSpPr>
          <p:cNvPr id="62" name="文本框 61"/>
          <p:cNvSpPr txBox="1"/>
          <p:nvPr/>
        </p:nvSpPr>
        <p:spPr>
          <a:xfrm>
            <a:off x="117373" y="1084103"/>
            <a:ext cx="206502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lvl="0" indent="-457200" algn="l">
              <a:buClrTx/>
              <a:buSzTx/>
              <a:buFont typeface="Wingdings" panose="05000000000000000000" charset="0"/>
              <a:buChar char=""/>
            </a:pPr>
            <a:r>
              <a:rPr lang="en-US" altLang="zh-CN" sz="2800" b="1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工程闭环</a:t>
            </a:r>
          </a:p>
        </p:txBody>
      </p:sp>
      <p:sp>
        <p:nvSpPr>
          <p:cNvPr id="69" name="Freeform 793"/>
          <p:cNvSpPr/>
          <p:nvPr/>
        </p:nvSpPr>
        <p:spPr bwMode="auto">
          <a:xfrm>
            <a:off x="9426652" y="1819640"/>
            <a:ext cx="2095769" cy="596529"/>
          </a:xfrm>
          <a:custGeom>
            <a:avLst/>
            <a:gdLst>
              <a:gd name="connsiteX0" fmla="*/ 9566 w 10000"/>
              <a:gd name="connsiteY0" fmla="*/ 10000 h 10000"/>
              <a:gd name="connsiteX1" fmla="*/ 4788 w 10000"/>
              <a:gd name="connsiteY1" fmla="*/ 10000 h 10000"/>
              <a:gd name="connsiteX2" fmla="*/ 0 w 10000"/>
              <a:gd name="connsiteY2" fmla="*/ 10000 h 10000"/>
              <a:gd name="connsiteX3" fmla="*/ 434 w 10000"/>
              <a:gd name="connsiteY3" fmla="*/ 4954 h 10000"/>
              <a:gd name="connsiteX4" fmla="*/ 0 w 10000"/>
              <a:gd name="connsiteY4" fmla="*/ 0 h 10000"/>
              <a:gd name="connsiteX5" fmla="*/ 4788 w 10000"/>
              <a:gd name="connsiteY5" fmla="*/ 0 h 10000"/>
              <a:gd name="connsiteX6" fmla="*/ 8990 w 10000"/>
              <a:gd name="connsiteY6" fmla="*/ 0 h 10000"/>
              <a:gd name="connsiteX7" fmla="*/ 10000 w 10000"/>
              <a:gd name="connsiteY7" fmla="*/ 4954 h 10000"/>
              <a:gd name="connsiteX8" fmla="*/ 9566 w 10000"/>
              <a:gd name="connsiteY8" fmla="*/ 10000 h 10000"/>
              <a:gd name="connsiteX0-1" fmla="*/ 8960 w 10000"/>
              <a:gd name="connsiteY0-2" fmla="*/ 10000 h 10000"/>
              <a:gd name="connsiteX1-3" fmla="*/ 4788 w 10000"/>
              <a:gd name="connsiteY1-4" fmla="*/ 10000 h 10000"/>
              <a:gd name="connsiteX2-5" fmla="*/ 0 w 10000"/>
              <a:gd name="connsiteY2-6" fmla="*/ 10000 h 10000"/>
              <a:gd name="connsiteX3-7" fmla="*/ 434 w 10000"/>
              <a:gd name="connsiteY3-8" fmla="*/ 4954 h 10000"/>
              <a:gd name="connsiteX4-9" fmla="*/ 0 w 10000"/>
              <a:gd name="connsiteY4-10" fmla="*/ 0 h 10000"/>
              <a:gd name="connsiteX5-11" fmla="*/ 4788 w 10000"/>
              <a:gd name="connsiteY5-12" fmla="*/ 0 h 10000"/>
              <a:gd name="connsiteX6-13" fmla="*/ 8990 w 10000"/>
              <a:gd name="connsiteY6-14" fmla="*/ 0 h 10000"/>
              <a:gd name="connsiteX7-15" fmla="*/ 10000 w 10000"/>
              <a:gd name="connsiteY7-16" fmla="*/ 4954 h 10000"/>
              <a:gd name="connsiteX8-17" fmla="*/ 8960 w 10000"/>
              <a:gd name="connsiteY8-18" fmla="*/ 10000 h 10000"/>
              <a:gd name="connsiteX0-19" fmla="*/ 8960 w 10000"/>
              <a:gd name="connsiteY0-20" fmla="*/ 10000 h 10000"/>
              <a:gd name="connsiteX1-21" fmla="*/ 4788 w 10000"/>
              <a:gd name="connsiteY1-22" fmla="*/ 10000 h 10000"/>
              <a:gd name="connsiteX2-23" fmla="*/ 0 w 10000"/>
              <a:gd name="connsiteY2-24" fmla="*/ 10000 h 10000"/>
              <a:gd name="connsiteX3-25" fmla="*/ 434 w 10000"/>
              <a:gd name="connsiteY3-26" fmla="*/ 4954 h 10000"/>
              <a:gd name="connsiteX4-27" fmla="*/ 0 w 10000"/>
              <a:gd name="connsiteY4-28" fmla="*/ 0 h 10000"/>
              <a:gd name="connsiteX5-29" fmla="*/ 4788 w 10000"/>
              <a:gd name="connsiteY5-30" fmla="*/ 0 h 10000"/>
              <a:gd name="connsiteX6-31" fmla="*/ 8990 w 10000"/>
              <a:gd name="connsiteY6-32" fmla="*/ 0 h 10000"/>
              <a:gd name="connsiteX7-33" fmla="*/ 10000 w 10000"/>
              <a:gd name="connsiteY7-34" fmla="*/ 4954 h 10000"/>
              <a:gd name="connsiteX8-35" fmla="*/ 8960 w 10000"/>
              <a:gd name="connsiteY8-36" fmla="*/ 10000 h 10000"/>
              <a:gd name="connsiteX0-37" fmla="*/ 8960 w 10000"/>
              <a:gd name="connsiteY0-38" fmla="*/ 10000 h 10000"/>
              <a:gd name="connsiteX1-39" fmla="*/ 4788 w 10000"/>
              <a:gd name="connsiteY1-40" fmla="*/ 10000 h 10000"/>
              <a:gd name="connsiteX2-41" fmla="*/ 0 w 10000"/>
              <a:gd name="connsiteY2-42" fmla="*/ 10000 h 10000"/>
              <a:gd name="connsiteX3-43" fmla="*/ 434 w 10000"/>
              <a:gd name="connsiteY3-44" fmla="*/ 4954 h 10000"/>
              <a:gd name="connsiteX4-45" fmla="*/ 0 w 10000"/>
              <a:gd name="connsiteY4-46" fmla="*/ 0 h 10000"/>
              <a:gd name="connsiteX5-47" fmla="*/ 4788 w 10000"/>
              <a:gd name="connsiteY5-48" fmla="*/ 0 h 10000"/>
              <a:gd name="connsiteX6-49" fmla="*/ 8990 w 10000"/>
              <a:gd name="connsiteY6-50" fmla="*/ 0 h 10000"/>
              <a:gd name="connsiteX7-51" fmla="*/ 10000 w 10000"/>
              <a:gd name="connsiteY7-52" fmla="*/ 4954 h 10000"/>
              <a:gd name="connsiteX8-53" fmla="*/ 8960 w 10000"/>
              <a:gd name="connsiteY8-54" fmla="*/ 10000 h 10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0000" h="10000">
                <a:moveTo>
                  <a:pt x="8960" y="10000"/>
                </a:moveTo>
                <a:lnTo>
                  <a:pt x="4788" y="10000"/>
                </a:lnTo>
                <a:lnTo>
                  <a:pt x="0" y="10000"/>
                </a:lnTo>
                <a:cubicBezTo>
                  <a:pt x="145" y="8318"/>
                  <a:pt x="289" y="6636"/>
                  <a:pt x="434" y="4954"/>
                </a:cubicBezTo>
                <a:cubicBezTo>
                  <a:pt x="289" y="3303"/>
                  <a:pt x="145" y="1651"/>
                  <a:pt x="0" y="0"/>
                </a:cubicBezTo>
                <a:lnTo>
                  <a:pt x="4788" y="0"/>
                </a:lnTo>
                <a:lnTo>
                  <a:pt x="8990" y="0"/>
                </a:lnTo>
                <a:lnTo>
                  <a:pt x="10000" y="4954"/>
                </a:lnTo>
                <a:cubicBezTo>
                  <a:pt x="9643" y="6636"/>
                  <a:pt x="9135" y="9010"/>
                  <a:pt x="8960" y="10000"/>
                </a:cubicBezTo>
                <a:close/>
              </a:path>
            </a:pathLst>
          </a:custGeom>
          <a:solidFill>
            <a:schemeClr val="accent6"/>
          </a:solidFill>
          <a:ln w="9525">
            <a:noFill/>
            <a:round/>
          </a:ln>
        </p:spPr>
        <p:txBody>
          <a:bodyPr vert="horz" wrap="square" lIns="121920" tIns="60960" rIns="121920" bIns="60960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Freeform 790"/>
          <p:cNvSpPr/>
          <p:nvPr/>
        </p:nvSpPr>
        <p:spPr bwMode="auto">
          <a:xfrm>
            <a:off x="467401" y="1819641"/>
            <a:ext cx="2373003" cy="596529"/>
          </a:xfrm>
          <a:custGeom>
            <a:avLst/>
            <a:gdLst>
              <a:gd name="connsiteX0" fmla="*/ 9568 w 10000"/>
              <a:gd name="connsiteY0" fmla="*/ 10000 h 10000"/>
              <a:gd name="connsiteX1" fmla="*/ 4793 w 10000"/>
              <a:gd name="connsiteY1" fmla="*/ 10000 h 10000"/>
              <a:gd name="connsiteX2" fmla="*/ 0 w 10000"/>
              <a:gd name="connsiteY2" fmla="*/ 10000 h 10000"/>
              <a:gd name="connsiteX3" fmla="*/ 1362 w 10000"/>
              <a:gd name="connsiteY3" fmla="*/ 4954 h 10000"/>
              <a:gd name="connsiteX4" fmla="*/ 0 w 10000"/>
              <a:gd name="connsiteY4" fmla="*/ 0 h 10000"/>
              <a:gd name="connsiteX5" fmla="*/ 4793 w 10000"/>
              <a:gd name="connsiteY5" fmla="*/ 0 h 10000"/>
              <a:gd name="connsiteX6" fmla="*/ 9568 w 10000"/>
              <a:gd name="connsiteY6" fmla="*/ 0 h 10000"/>
              <a:gd name="connsiteX7" fmla="*/ 10000 w 10000"/>
              <a:gd name="connsiteY7" fmla="*/ 4954 h 10000"/>
              <a:gd name="connsiteX8" fmla="*/ 9568 w 10000"/>
              <a:gd name="connsiteY8" fmla="*/ 100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000" h="10000">
                <a:moveTo>
                  <a:pt x="9568" y="10000"/>
                </a:moveTo>
                <a:lnTo>
                  <a:pt x="4793" y="10000"/>
                </a:lnTo>
                <a:lnTo>
                  <a:pt x="0" y="10000"/>
                </a:lnTo>
                <a:lnTo>
                  <a:pt x="1362" y="4954"/>
                </a:lnTo>
                <a:lnTo>
                  <a:pt x="0" y="0"/>
                </a:lnTo>
                <a:lnTo>
                  <a:pt x="4793" y="0"/>
                </a:lnTo>
                <a:lnTo>
                  <a:pt x="9568" y="0"/>
                </a:lnTo>
                <a:lnTo>
                  <a:pt x="10000" y="4954"/>
                </a:lnTo>
                <a:lnTo>
                  <a:pt x="9568" y="10000"/>
                </a:lnTo>
                <a:close/>
              </a:path>
            </a:pathLst>
          </a:custGeom>
          <a:solidFill>
            <a:schemeClr val="accent1"/>
          </a:solidFill>
          <a:ln w="9525">
            <a:noFill/>
            <a:round/>
          </a:ln>
        </p:spPr>
        <p:txBody>
          <a:bodyPr vert="horz" wrap="square" lIns="121920" tIns="60960" rIns="121920" bIns="60960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Freeform 791"/>
          <p:cNvSpPr/>
          <p:nvPr/>
        </p:nvSpPr>
        <p:spPr bwMode="auto">
          <a:xfrm>
            <a:off x="2692901" y="1819641"/>
            <a:ext cx="2384821" cy="596529"/>
          </a:xfrm>
          <a:custGeom>
            <a:avLst/>
            <a:gdLst/>
            <a:ahLst/>
            <a:cxnLst>
              <a:cxn ang="0">
                <a:pos x="996" y="109"/>
              </a:cxn>
              <a:cxn ang="0">
                <a:pos x="499" y="109"/>
              </a:cxn>
              <a:cxn ang="0">
                <a:pos x="0" y="109"/>
              </a:cxn>
              <a:cxn ang="0">
                <a:pos x="45" y="54"/>
              </a:cxn>
              <a:cxn ang="0">
                <a:pos x="0" y="0"/>
              </a:cxn>
              <a:cxn ang="0">
                <a:pos x="499" y="0"/>
              </a:cxn>
              <a:cxn ang="0">
                <a:pos x="996" y="0"/>
              </a:cxn>
              <a:cxn ang="0">
                <a:pos x="1041" y="54"/>
              </a:cxn>
              <a:cxn ang="0">
                <a:pos x="996" y="109"/>
              </a:cxn>
            </a:cxnLst>
            <a:rect l="0" t="0" r="r" b="b"/>
            <a:pathLst>
              <a:path w="1041" h="109">
                <a:moveTo>
                  <a:pt x="996" y="109"/>
                </a:moveTo>
                <a:lnTo>
                  <a:pt x="499" y="109"/>
                </a:lnTo>
                <a:lnTo>
                  <a:pt x="0" y="109"/>
                </a:lnTo>
                <a:lnTo>
                  <a:pt x="45" y="54"/>
                </a:lnTo>
                <a:lnTo>
                  <a:pt x="0" y="0"/>
                </a:lnTo>
                <a:lnTo>
                  <a:pt x="499" y="0"/>
                </a:lnTo>
                <a:lnTo>
                  <a:pt x="996" y="0"/>
                </a:lnTo>
                <a:lnTo>
                  <a:pt x="1041" y="54"/>
                </a:lnTo>
                <a:lnTo>
                  <a:pt x="996" y="109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</a:ln>
        </p:spPr>
        <p:txBody>
          <a:bodyPr vert="horz" wrap="square" lIns="121920" tIns="60960" rIns="121920" bIns="60960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Freeform 792"/>
          <p:cNvSpPr/>
          <p:nvPr/>
        </p:nvSpPr>
        <p:spPr bwMode="auto">
          <a:xfrm>
            <a:off x="4928101" y="1819641"/>
            <a:ext cx="2384821" cy="596529"/>
          </a:xfrm>
          <a:custGeom>
            <a:avLst/>
            <a:gdLst/>
            <a:ahLst/>
            <a:cxnLst>
              <a:cxn ang="0">
                <a:pos x="996" y="109"/>
              </a:cxn>
              <a:cxn ang="0">
                <a:pos x="497" y="109"/>
              </a:cxn>
              <a:cxn ang="0">
                <a:pos x="0" y="109"/>
              </a:cxn>
              <a:cxn ang="0">
                <a:pos x="45" y="54"/>
              </a:cxn>
              <a:cxn ang="0">
                <a:pos x="0" y="0"/>
              </a:cxn>
              <a:cxn ang="0">
                <a:pos x="497" y="0"/>
              </a:cxn>
              <a:cxn ang="0">
                <a:pos x="996" y="0"/>
              </a:cxn>
              <a:cxn ang="0">
                <a:pos x="1041" y="54"/>
              </a:cxn>
              <a:cxn ang="0">
                <a:pos x="996" y="109"/>
              </a:cxn>
            </a:cxnLst>
            <a:rect l="0" t="0" r="r" b="b"/>
            <a:pathLst>
              <a:path w="1041" h="109">
                <a:moveTo>
                  <a:pt x="996" y="109"/>
                </a:moveTo>
                <a:lnTo>
                  <a:pt x="497" y="109"/>
                </a:lnTo>
                <a:lnTo>
                  <a:pt x="0" y="109"/>
                </a:lnTo>
                <a:lnTo>
                  <a:pt x="45" y="54"/>
                </a:lnTo>
                <a:lnTo>
                  <a:pt x="0" y="0"/>
                </a:lnTo>
                <a:lnTo>
                  <a:pt x="497" y="0"/>
                </a:lnTo>
                <a:lnTo>
                  <a:pt x="996" y="0"/>
                </a:lnTo>
                <a:lnTo>
                  <a:pt x="1041" y="54"/>
                </a:lnTo>
                <a:lnTo>
                  <a:pt x="996" y="109"/>
                </a:lnTo>
                <a:close/>
              </a:path>
            </a:pathLst>
          </a:custGeom>
          <a:solidFill>
            <a:schemeClr val="accent3"/>
          </a:solidFill>
          <a:ln w="9525">
            <a:noFill/>
            <a:round/>
          </a:ln>
        </p:spPr>
        <p:txBody>
          <a:bodyPr vert="horz" wrap="square" lIns="121920" tIns="60960" rIns="121920" bIns="60960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Freeform 793"/>
          <p:cNvSpPr/>
          <p:nvPr/>
        </p:nvSpPr>
        <p:spPr bwMode="auto">
          <a:xfrm>
            <a:off x="7165415" y="1819641"/>
            <a:ext cx="2377947" cy="596529"/>
          </a:xfrm>
          <a:custGeom>
            <a:avLst/>
            <a:gdLst/>
            <a:ahLst/>
            <a:cxnLst>
              <a:cxn ang="0">
                <a:pos x="993" y="109"/>
              </a:cxn>
              <a:cxn ang="0">
                <a:pos x="497" y="109"/>
              </a:cxn>
              <a:cxn ang="0">
                <a:pos x="0" y="109"/>
              </a:cxn>
              <a:cxn ang="0">
                <a:pos x="45" y="54"/>
              </a:cxn>
              <a:cxn ang="0">
                <a:pos x="0" y="0"/>
              </a:cxn>
              <a:cxn ang="0">
                <a:pos x="497" y="0"/>
              </a:cxn>
              <a:cxn ang="0">
                <a:pos x="993" y="0"/>
              </a:cxn>
              <a:cxn ang="0">
                <a:pos x="1038" y="54"/>
              </a:cxn>
              <a:cxn ang="0">
                <a:pos x="993" y="109"/>
              </a:cxn>
            </a:cxnLst>
            <a:rect l="0" t="0" r="r" b="b"/>
            <a:pathLst>
              <a:path w="1038" h="109">
                <a:moveTo>
                  <a:pt x="993" y="109"/>
                </a:moveTo>
                <a:lnTo>
                  <a:pt x="497" y="109"/>
                </a:lnTo>
                <a:lnTo>
                  <a:pt x="0" y="109"/>
                </a:lnTo>
                <a:lnTo>
                  <a:pt x="45" y="54"/>
                </a:lnTo>
                <a:lnTo>
                  <a:pt x="0" y="0"/>
                </a:lnTo>
                <a:lnTo>
                  <a:pt x="497" y="0"/>
                </a:lnTo>
                <a:lnTo>
                  <a:pt x="993" y="0"/>
                </a:lnTo>
                <a:lnTo>
                  <a:pt x="1038" y="54"/>
                </a:lnTo>
                <a:lnTo>
                  <a:pt x="993" y="109"/>
                </a:lnTo>
                <a:close/>
              </a:path>
            </a:pathLst>
          </a:custGeom>
          <a:solidFill>
            <a:schemeClr val="accent4"/>
          </a:solidFill>
          <a:ln w="9525">
            <a:noFill/>
            <a:round/>
          </a:ln>
        </p:spPr>
        <p:txBody>
          <a:bodyPr vert="horz" wrap="square" lIns="121920" tIns="60960" rIns="121920" bIns="60960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Content Placeholder 2"/>
          <p:cNvSpPr txBox="1"/>
          <p:nvPr/>
        </p:nvSpPr>
        <p:spPr>
          <a:xfrm>
            <a:off x="541448" y="3971968"/>
            <a:ext cx="2055002" cy="4586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90204" pitchFamily="34" charset="0"/>
              <a:buNone/>
            </a:pPr>
            <a:r>
              <a:rPr lang="zh-CN" altLang="en-US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回写</a:t>
            </a:r>
          </a:p>
        </p:txBody>
      </p:sp>
      <p:cxnSp>
        <p:nvCxnSpPr>
          <p:cNvPr id="75" name="Straight Connector 9"/>
          <p:cNvCxnSpPr/>
          <p:nvPr/>
        </p:nvCxnSpPr>
        <p:spPr>
          <a:xfrm>
            <a:off x="1568949" y="2547557"/>
            <a:ext cx="0" cy="40015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10"/>
          <p:cNvCxnSpPr/>
          <p:nvPr/>
        </p:nvCxnSpPr>
        <p:spPr>
          <a:xfrm>
            <a:off x="3723427" y="2547557"/>
            <a:ext cx="0" cy="40015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11"/>
          <p:cNvCxnSpPr/>
          <p:nvPr/>
        </p:nvCxnSpPr>
        <p:spPr>
          <a:xfrm>
            <a:off x="5989926" y="2547557"/>
            <a:ext cx="0" cy="40015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12"/>
          <p:cNvCxnSpPr/>
          <p:nvPr/>
        </p:nvCxnSpPr>
        <p:spPr>
          <a:xfrm>
            <a:off x="8213484" y="2547557"/>
            <a:ext cx="0" cy="40015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13"/>
          <p:cNvCxnSpPr/>
          <p:nvPr/>
        </p:nvCxnSpPr>
        <p:spPr>
          <a:xfrm>
            <a:off x="10532917" y="2547557"/>
            <a:ext cx="0" cy="40015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Oval 14"/>
          <p:cNvSpPr/>
          <p:nvPr/>
        </p:nvSpPr>
        <p:spPr>
          <a:xfrm>
            <a:off x="1157469" y="3078316"/>
            <a:ext cx="822960" cy="822960"/>
          </a:xfrm>
          <a:prstGeom prst="ellipse">
            <a:avLst/>
          </a:prstGeom>
          <a:noFill/>
          <a:ln w="793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2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1" name="Arc 15"/>
          <p:cNvSpPr/>
          <p:nvPr/>
        </p:nvSpPr>
        <p:spPr>
          <a:xfrm>
            <a:off x="1157469" y="3078316"/>
            <a:ext cx="822960" cy="822960"/>
          </a:xfrm>
          <a:prstGeom prst="arc">
            <a:avLst>
              <a:gd name="adj1" fmla="val 13167232"/>
              <a:gd name="adj2" fmla="val 16466928"/>
            </a:avLst>
          </a:prstGeom>
          <a:ln w="79375">
            <a:solidFill>
              <a:schemeClr val="accent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vi-VN" sz="2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2" name="Oval 16"/>
          <p:cNvSpPr/>
          <p:nvPr/>
        </p:nvSpPr>
        <p:spPr>
          <a:xfrm>
            <a:off x="3311947" y="3078316"/>
            <a:ext cx="822960" cy="822960"/>
          </a:xfrm>
          <a:prstGeom prst="ellipse">
            <a:avLst/>
          </a:prstGeom>
          <a:noFill/>
          <a:ln w="793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2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3" name="Arc 17"/>
          <p:cNvSpPr/>
          <p:nvPr/>
        </p:nvSpPr>
        <p:spPr>
          <a:xfrm>
            <a:off x="3311947" y="3078316"/>
            <a:ext cx="822960" cy="822960"/>
          </a:xfrm>
          <a:prstGeom prst="arc">
            <a:avLst>
              <a:gd name="adj1" fmla="val 9206565"/>
              <a:gd name="adj2" fmla="val 16045990"/>
            </a:avLst>
          </a:prstGeom>
          <a:ln w="79375">
            <a:solidFill>
              <a:schemeClr val="accent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vi-VN" sz="2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4" name="Oval 18"/>
          <p:cNvSpPr/>
          <p:nvPr/>
        </p:nvSpPr>
        <p:spPr>
          <a:xfrm>
            <a:off x="5578446" y="3078316"/>
            <a:ext cx="822960" cy="822960"/>
          </a:xfrm>
          <a:prstGeom prst="ellipse">
            <a:avLst/>
          </a:prstGeom>
          <a:noFill/>
          <a:ln w="793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2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5" name="Arc 19"/>
          <p:cNvSpPr/>
          <p:nvPr/>
        </p:nvSpPr>
        <p:spPr>
          <a:xfrm>
            <a:off x="5578446" y="3078316"/>
            <a:ext cx="822960" cy="822960"/>
          </a:xfrm>
          <a:prstGeom prst="arc">
            <a:avLst>
              <a:gd name="adj1" fmla="val 5584046"/>
              <a:gd name="adj2" fmla="val 16355650"/>
            </a:avLst>
          </a:prstGeom>
          <a:ln w="79375">
            <a:solidFill>
              <a:schemeClr val="accent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vi-VN" sz="2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6" name="Oval 20"/>
          <p:cNvSpPr/>
          <p:nvPr/>
        </p:nvSpPr>
        <p:spPr>
          <a:xfrm>
            <a:off x="7792823" y="3052141"/>
            <a:ext cx="822960" cy="822960"/>
          </a:xfrm>
          <a:prstGeom prst="ellipse">
            <a:avLst/>
          </a:prstGeom>
          <a:noFill/>
          <a:ln w="793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2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7" name="Arc 21"/>
          <p:cNvSpPr/>
          <p:nvPr/>
        </p:nvSpPr>
        <p:spPr>
          <a:xfrm>
            <a:off x="7787743" y="3052141"/>
            <a:ext cx="822960" cy="822960"/>
          </a:xfrm>
          <a:prstGeom prst="arc">
            <a:avLst>
              <a:gd name="adj1" fmla="val 867854"/>
              <a:gd name="adj2" fmla="val 16404494"/>
            </a:avLst>
          </a:prstGeom>
          <a:ln w="79375">
            <a:solidFill>
              <a:schemeClr val="accent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vi-VN" sz="2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8" name="Group 22"/>
          <p:cNvGrpSpPr/>
          <p:nvPr/>
        </p:nvGrpSpPr>
        <p:grpSpPr>
          <a:xfrm>
            <a:off x="10121437" y="3052141"/>
            <a:ext cx="822960" cy="822960"/>
            <a:chOff x="10157621" y="3837155"/>
            <a:chExt cx="822960" cy="822960"/>
          </a:xfrm>
        </p:grpSpPr>
        <p:sp>
          <p:nvSpPr>
            <p:cNvPr id="110" name="Oval 23"/>
            <p:cNvSpPr/>
            <p:nvPr/>
          </p:nvSpPr>
          <p:spPr>
            <a:xfrm>
              <a:off x="10157621" y="3837155"/>
              <a:ext cx="822960" cy="822960"/>
            </a:xfrm>
            <a:prstGeom prst="ellipse">
              <a:avLst/>
            </a:prstGeom>
            <a:noFill/>
            <a:ln w="793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20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1" name="Arc 24"/>
            <p:cNvSpPr/>
            <p:nvPr/>
          </p:nvSpPr>
          <p:spPr>
            <a:xfrm>
              <a:off x="10157621" y="3837155"/>
              <a:ext cx="822960" cy="822960"/>
            </a:xfrm>
            <a:prstGeom prst="arc">
              <a:avLst>
                <a:gd name="adj1" fmla="val 19532749"/>
                <a:gd name="adj2" fmla="val 16375526"/>
              </a:avLst>
            </a:prstGeom>
            <a:ln w="79375">
              <a:solidFill>
                <a:schemeClr val="accent6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vi-VN" sz="20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91" name="TextBox 27"/>
          <p:cNvSpPr txBox="1"/>
          <p:nvPr/>
        </p:nvSpPr>
        <p:spPr>
          <a:xfrm>
            <a:off x="467401" y="1918604"/>
            <a:ext cx="2373003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需求</a:t>
            </a:r>
          </a:p>
        </p:txBody>
      </p:sp>
      <p:sp>
        <p:nvSpPr>
          <p:cNvPr id="92" name="TextBox 28"/>
          <p:cNvSpPr txBox="1"/>
          <p:nvPr/>
        </p:nvSpPr>
        <p:spPr>
          <a:xfrm>
            <a:off x="2688456" y="1918604"/>
            <a:ext cx="2299833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设计</a:t>
            </a:r>
          </a:p>
        </p:txBody>
      </p:sp>
      <p:sp>
        <p:nvSpPr>
          <p:cNvPr id="93" name="TextBox 29"/>
          <p:cNvSpPr txBox="1"/>
          <p:nvPr/>
        </p:nvSpPr>
        <p:spPr>
          <a:xfrm>
            <a:off x="4902062" y="1919239"/>
            <a:ext cx="2290137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实现</a:t>
            </a:r>
          </a:p>
        </p:txBody>
      </p:sp>
      <p:sp>
        <p:nvSpPr>
          <p:cNvPr id="94" name="TextBox 30"/>
          <p:cNvSpPr txBox="1"/>
          <p:nvPr/>
        </p:nvSpPr>
        <p:spPr>
          <a:xfrm>
            <a:off x="7152717" y="1919239"/>
            <a:ext cx="2273302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验证</a:t>
            </a:r>
            <a:endParaRPr 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5" name="TextBox 31"/>
          <p:cNvSpPr txBox="1"/>
          <p:nvPr/>
        </p:nvSpPr>
        <p:spPr>
          <a:xfrm>
            <a:off x="9396173" y="1919239"/>
            <a:ext cx="2125794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7" name="Content Placeholder 2"/>
          <p:cNvSpPr txBox="1"/>
          <p:nvPr/>
        </p:nvSpPr>
        <p:spPr>
          <a:xfrm>
            <a:off x="3042961" y="3971969"/>
            <a:ext cx="1368815" cy="4586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90204" pitchFamily="34" charset="0"/>
              <a:buNone/>
            </a:pP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</a:t>
            </a:r>
          </a:p>
        </p:txBody>
      </p:sp>
      <p:sp>
        <p:nvSpPr>
          <p:cNvPr id="99" name="Content Placeholder 2"/>
          <p:cNvSpPr txBox="1"/>
          <p:nvPr/>
        </p:nvSpPr>
        <p:spPr>
          <a:xfrm>
            <a:off x="5281155" y="3971970"/>
            <a:ext cx="1368815" cy="4586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90204" pitchFamily="34" charset="0"/>
              <a:buNone/>
            </a:pPr>
            <a:r>
              <a:rPr lang="zh-CN" altLang="en-US" sz="2000" b="1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</a:t>
            </a:r>
          </a:p>
        </p:txBody>
      </p:sp>
      <p:sp>
        <p:nvSpPr>
          <p:cNvPr id="101" name="Content Placeholder 2"/>
          <p:cNvSpPr txBox="1"/>
          <p:nvPr/>
        </p:nvSpPr>
        <p:spPr>
          <a:xfrm>
            <a:off x="7514664" y="3971970"/>
            <a:ext cx="1368815" cy="4586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90204" pitchFamily="34" charset="0"/>
              <a:buNone/>
            </a:pPr>
            <a:r>
              <a:rPr lang="zh-CN" altLang="en-US" sz="2000" b="1" dirty="0">
                <a:solidFill>
                  <a:schemeClr val="accent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验证</a:t>
            </a:r>
            <a:endParaRPr lang="en-US" sz="2000" b="1" dirty="0">
              <a:solidFill>
                <a:schemeClr val="accent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Content Placeholder 2"/>
          <p:cNvSpPr txBox="1"/>
          <p:nvPr/>
        </p:nvSpPr>
        <p:spPr>
          <a:xfrm>
            <a:off x="9862365" y="3971970"/>
            <a:ext cx="1368815" cy="4586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90204" pitchFamily="34" charset="0"/>
              <a:buNone/>
            </a:pPr>
            <a:endParaRPr/>
          </a:p>
        </p:txBody>
      </p:sp>
      <p:sp>
        <p:nvSpPr>
          <p:cNvPr id="105" name="Freeform 6"/>
          <p:cNvSpPr>
            <a:spLocks noChangeArrowheads="1"/>
          </p:cNvSpPr>
          <p:nvPr/>
        </p:nvSpPr>
        <p:spPr bwMode="auto">
          <a:xfrm>
            <a:off x="5780732" y="3333003"/>
            <a:ext cx="365760" cy="365760"/>
          </a:xfrm>
          <a:custGeom>
            <a:avLst/>
            <a:gdLst>
              <a:gd name="T0" fmla="*/ 425 w 444"/>
              <a:gd name="T1" fmla="*/ 17 h 435"/>
              <a:gd name="T2" fmla="*/ 425 w 444"/>
              <a:gd name="T3" fmla="*/ 17 h 435"/>
              <a:gd name="T4" fmla="*/ 345 w 444"/>
              <a:gd name="T5" fmla="*/ 35 h 435"/>
              <a:gd name="T6" fmla="*/ 0 w 444"/>
              <a:gd name="T7" fmla="*/ 222 h 435"/>
              <a:gd name="T8" fmla="*/ 195 w 444"/>
              <a:gd name="T9" fmla="*/ 248 h 435"/>
              <a:gd name="T10" fmla="*/ 221 w 444"/>
              <a:gd name="T11" fmla="*/ 434 h 435"/>
              <a:gd name="T12" fmla="*/ 399 w 444"/>
              <a:gd name="T13" fmla="*/ 89 h 435"/>
              <a:gd name="T14" fmla="*/ 425 w 444"/>
              <a:gd name="T15" fmla="*/ 17 h 435"/>
              <a:gd name="T16" fmla="*/ 381 w 444"/>
              <a:gd name="T17" fmla="*/ 62 h 435"/>
              <a:gd name="T18" fmla="*/ 381 w 444"/>
              <a:gd name="T19" fmla="*/ 62 h 435"/>
              <a:gd name="T20" fmla="*/ 239 w 444"/>
              <a:gd name="T21" fmla="*/ 319 h 435"/>
              <a:gd name="T22" fmla="*/ 230 w 444"/>
              <a:gd name="T23" fmla="*/ 204 h 435"/>
              <a:gd name="T24" fmla="*/ 381 w 444"/>
              <a:gd name="T25" fmla="*/ 62 h 4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44" h="435">
                <a:moveTo>
                  <a:pt x="425" y="17"/>
                </a:moveTo>
                <a:lnTo>
                  <a:pt x="425" y="17"/>
                </a:lnTo>
                <a:cubicBezTo>
                  <a:pt x="408" y="0"/>
                  <a:pt x="399" y="17"/>
                  <a:pt x="345" y="35"/>
                </a:cubicBezTo>
                <a:cubicBezTo>
                  <a:pt x="221" y="97"/>
                  <a:pt x="0" y="222"/>
                  <a:pt x="0" y="222"/>
                </a:cubicBezTo>
                <a:cubicBezTo>
                  <a:pt x="195" y="248"/>
                  <a:pt x="195" y="248"/>
                  <a:pt x="195" y="248"/>
                </a:cubicBezTo>
                <a:cubicBezTo>
                  <a:pt x="221" y="434"/>
                  <a:pt x="221" y="434"/>
                  <a:pt x="221" y="434"/>
                </a:cubicBezTo>
                <a:cubicBezTo>
                  <a:pt x="221" y="434"/>
                  <a:pt x="345" y="222"/>
                  <a:pt x="399" y="89"/>
                </a:cubicBezTo>
                <a:cubicBezTo>
                  <a:pt x="425" y="44"/>
                  <a:pt x="443" y="26"/>
                  <a:pt x="425" y="17"/>
                </a:cubicBezTo>
                <a:close/>
                <a:moveTo>
                  <a:pt x="381" y="62"/>
                </a:moveTo>
                <a:lnTo>
                  <a:pt x="381" y="62"/>
                </a:lnTo>
                <a:cubicBezTo>
                  <a:pt x="239" y="319"/>
                  <a:pt x="239" y="319"/>
                  <a:pt x="239" y="319"/>
                </a:cubicBezTo>
                <a:cubicBezTo>
                  <a:pt x="230" y="204"/>
                  <a:pt x="230" y="204"/>
                  <a:pt x="230" y="204"/>
                </a:cubicBezTo>
                <a:lnTo>
                  <a:pt x="381" y="62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6" name="Freeform 25"/>
          <p:cNvSpPr>
            <a:spLocks noChangeArrowheads="1"/>
          </p:cNvSpPr>
          <p:nvPr/>
        </p:nvSpPr>
        <p:spPr bwMode="auto">
          <a:xfrm>
            <a:off x="8025193" y="3255723"/>
            <a:ext cx="365760" cy="365760"/>
          </a:xfrm>
          <a:custGeom>
            <a:avLst/>
            <a:gdLst>
              <a:gd name="T0" fmla="*/ 195 w 346"/>
              <a:gd name="T1" fmla="*/ 0 h 479"/>
              <a:gd name="T2" fmla="*/ 195 w 346"/>
              <a:gd name="T3" fmla="*/ 0 h 479"/>
              <a:gd name="T4" fmla="*/ 160 w 346"/>
              <a:gd name="T5" fmla="*/ 0 h 479"/>
              <a:gd name="T6" fmla="*/ 160 w 346"/>
              <a:gd name="T7" fmla="*/ 328 h 479"/>
              <a:gd name="T8" fmla="*/ 80 w 346"/>
              <a:gd name="T9" fmla="*/ 328 h 479"/>
              <a:gd name="T10" fmla="*/ 10 w 346"/>
              <a:gd name="T11" fmla="*/ 425 h 479"/>
              <a:gd name="T12" fmla="*/ 124 w 346"/>
              <a:gd name="T13" fmla="*/ 461 h 479"/>
              <a:gd name="T14" fmla="*/ 195 w 346"/>
              <a:gd name="T15" fmla="*/ 372 h 479"/>
              <a:gd name="T16" fmla="*/ 195 w 346"/>
              <a:gd name="T17" fmla="*/ 106 h 479"/>
              <a:gd name="T18" fmla="*/ 257 w 346"/>
              <a:gd name="T19" fmla="*/ 230 h 479"/>
              <a:gd name="T20" fmla="*/ 275 w 346"/>
              <a:gd name="T21" fmla="*/ 230 h 479"/>
              <a:gd name="T22" fmla="*/ 195 w 346"/>
              <a:gd name="T23" fmla="*/ 0 h 4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346" h="479">
                <a:moveTo>
                  <a:pt x="195" y="0"/>
                </a:moveTo>
                <a:lnTo>
                  <a:pt x="195" y="0"/>
                </a:lnTo>
                <a:cubicBezTo>
                  <a:pt x="160" y="0"/>
                  <a:pt x="160" y="0"/>
                  <a:pt x="160" y="0"/>
                </a:cubicBezTo>
                <a:cubicBezTo>
                  <a:pt x="160" y="328"/>
                  <a:pt x="160" y="328"/>
                  <a:pt x="160" y="328"/>
                </a:cubicBezTo>
                <a:cubicBezTo>
                  <a:pt x="133" y="319"/>
                  <a:pt x="107" y="319"/>
                  <a:pt x="80" y="328"/>
                </a:cubicBezTo>
                <a:cubicBezTo>
                  <a:pt x="26" y="346"/>
                  <a:pt x="0" y="390"/>
                  <a:pt x="10" y="425"/>
                </a:cubicBezTo>
                <a:cubicBezTo>
                  <a:pt x="26" y="461"/>
                  <a:pt x="71" y="478"/>
                  <a:pt x="124" y="461"/>
                </a:cubicBezTo>
                <a:cubicBezTo>
                  <a:pt x="169" y="443"/>
                  <a:pt x="195" y="408"/>
                  <a:pt x="195" y="372"/>
                </a:cubicBezTo>
                <a:cubicBezTo>
                  <a:pt x="195" y="106"/>
                  <a:pt x="195" y="106"/>
                  <a:pt x="195" y="106"/>
                </a:cubicBezTo>
                <a:cubicBezTo>
                  <a:pt x="266" y="124"/>
                  <a:pt x="266" y="212"/>
                  <a:pt x="257" y="230"/>
                </a:cubicBezTo>
                <a:cubicBezTo>
                  <a:pt x="257" y="239"/>
                  <a:pt x="266" y="248"/>
                  <a:pt x="275" y="230"/>
                </a:cubicBezTo>
                <a:cubicBezTo>
                  <a:pt x="345" y="115"/>
                  <a:pt x="195" y="62"/>
                  <a:pt x="195" y="0"/>
                </a:cubicBezTo>
              </a:path>
            </a:pathLst>
          </a:custGeom>
          <a:solidFill>
            <a:schemeClr val="accent4"/>
          </a:solidFill>
          <a:ln>
            <a:noFill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7" name="Freeform 28"/>
          <p:cNvSpPr>
            <a:spLocks noChangeArrowheads="1"/>
          </p:cNvSpPr>
          <p:nvPr/>
        </p:nvSpPr>
        <p:spPr bwMode="auto">
          <a:xfrm>
            <a:off x="10363892" y="3281027"/>
            <a:ext cx="365760" cy="365760"/>
          </a:xfrm>
          <a:custGeom>
            <a:avLst/>
            <a:gdLst>
              <a:gd name="T0" fmla="*/ 124 w 498"/>
              <a:gd name="T1" fmla="*/ 81 h 418"/>
              <a:gd name="T2" fmla="*/ 124 w 498"/>
              <a:gd name="T3" fmla="*/ 81 h 418"/>
              <a:gd name="T4" fmla="*/ 36 w 498"/>
              <a:gd name="T5" fmla="*/ 258 h 418"/>
              <a:gd name="T6" fmla="*/ 346 w 498"/>
              <a:gd name="T7" fmla="*/ 116 h 418"/>
              <a:gd name="T8" fmla="*/ 9 w 498"/>
              <a:gd name="T9" fmla="*/ 382 h 418"/>
              <a:gd name="T10" fmla="*/ 44 w 498"/>
              <a:gd name="T11" fmla="*/ 400 h 418"/>
              <a:gd name="T12" fmla="*/ 97 w 498"/>
              <a:gd name="T13" fmla="*/ 311 h 418"/>
              <a:gd name="T14" fmla="*/ 293 w 498"/>
              <a:gd name="T15" fmla="*/ 311 h 418"/>
              <a:gd name="T16" fmla="*/ 469 w 498"/>
              <a:gd name="T17" fmla="*/ 72 h 418"/>
              <a:gd name="T18" fmla="*/ 124 w 498"/>
              <a:gd name="T19" fmla="*/ 81 h 4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498" h="418">
                <a:moveTo>
                  <a:pt x="124" y="81"/>
                </a:moveTo>
                <a:lnTo>
                  <a:pt x="124" y="81"/>
                </a:lnTo>
                <a:cubicBezTo>
                  <a:pt x="27" y="134"/>
                  <a:pt x="36" y="222"/>
                  <a:pt x="36" y="258"/>
                </a:cubicBezTo>
                <a:cubicBezTo>
                  <a:pt x="159" y="107"/>
                  <a:pt x="346" y="116"/>
                  <a:pt x="346" y="116"/>
                </a:cubicBezTo>
                <a:cubicBezTo>
                  <a:pt x="346" y="116"/>
                  <a:pt x="80" y="204"/>
                  <a:pt x="9" y="382"/>
                </a:cubicBezTo>
                <a:cubicBezTo>
                  <a:pt x="0" y="400"/>
                  <a:pt x="36" y="417"/>
                  <a:pt x="44" y="400"/>
                </a:cubicBezTo>
                <a:cubicBezTo>
                  <a:pt x="62" y="355"/>
                  <a:pt x="97" y="311"/>
                  <a:pt x="97" y="311"/>
                </a:cubicBezTo>
                <a:cubicBezTo>
                  <a:pt x="151" y="329"/>
                  <a:pt x="230" y="355"/>
                  <a:pt x="293" y="311"/>
                </a:cubicBezTo>
                <a:cubicBezTo>
                  <a:pt x="363" y="258"/>
                  <a:pt x="363" y="134"/>
                  <a:pt x="469" y="72"/>
                </a:cubicBezTo>
                <a:cubicBezTo>
                  <a:pt x="497" y="63"/>
                  <a:pt x="249" y="0"/>
                  <a:pt x="124" y="81"/>
                </a:cubicBezTo>
              </a:path>
            </a:pathLst>
          </a:custGeom>
          <a:solidFill>
            <a:schemeClr val="accent6"/>
          </a:solidFill>
          <a:ln>
            <a:noFill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8" name="Freeform 106"/>
          <p:cNvSpPr>
            <a:spLocks noChangeArrowheads="1"/>
          </p:cNvSpPr>
          <p:nvPr/>
        </p:nvSpPr>
        <p:spPr bwMode="auto">
          <a:xfrm>
            <a:off x="3575051" y="3311976"/>
            <a:ext cx="365760" cy="365760"/>
          </a:xfrm>
          <a:custGeom>
            <a:avLst/>
            <a:gdLst>
              <a:gd name="T0" fmla="*/ 35 w 355"/>
              <a:gd name="T1" fmla="*/ 497 h 506"/>
              <a:gd name="T2" fmla="*/ 35 w 355"/>
              <a:gd name="T3" fmla="*/ 497 h 506"/>
              <a:gd name="T4" fmla="*/ 70 w 355"/>
              <a:gd name="T5" fmla="*/ 381 h 506"/>
              <a:gd name="T6" fmla="*/ 203 w 355"/>
              <a:gd name="T7" fmla="*/ 310 h 506"/>
              <a:gd name="T8" fmla="*/ 132 w 355"/>
              <a:gd name="T9" fmla="*/ 284 h 506"/>
              <a:gd name="T10" fmla="*/ 292 w 355"/>
              <a:gd name="T11" fmla="*/ 194 h 506"/>
              <a:gd name="T12" fmla="*/ 194 w 355"/>
              <a:gd name="T13" fmla="*/ 168 h 506"/>
              <a:gd name="T14" fmla="*/ 327 w 355"/>
              <a:gd name="T15" fmla="*/ 133 h 506"/>
              <a:gd name="T16" fmla="*/ 345 w 355"/>
              <a:gd name="T17" fmla="*/ 44 h 506"/>
              <a:gd name="T18" fmla="*/ 248 w 355"/>
              <a:gd name="T19" fmla="*/ 0 h 506"/>
              <a:gd name="T20" fmla="*/ 159 w 355"/>
              <a:gd name="T21" fmla="*/ 124 h 506"/>
              <a:gd name="T22" fmla="*/ 168 w 355"/>
              <a:gd name="T23" fmla="*/ 18 h 506"/>
              <a:gd name="T24" fmla="*/ 70 w 355"/>
              <a:gd name="T25" fmla="*/ 106 h 506"/>
              <a:gd name="T26" fmla="*/ 61 w 355"/>
              <a:gd name="T27" fmla="*/ 301 h 506"/>
              <a:gd name="T28" fmla="*/ 8 w 355"/>
              <a:gd name="T29" fmla="*/ 213 h 506"/>
              <a:gd name="T30" fmla="*/ 35 w 355"/>
              <a:gd name="T31" fmla="*/ 363 h 506"/>
              <a:gd name="T32" fmla="*/ 8 w 355"/>
              <a:gd name="T33" fmla="*/ 478 h 506"/>
              <a:gd name="T34" fmla="*/ 35 w 355"/>
              <a:gd name="T35" fmla="*/ 497 h 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355" h="506">
                <a:moveTo>
                  <a:pt x="35" y="497"/>
                </a:moveTo>
                <a:lnTo>
                  <a:pt x="35" y="497"/>
                </a:lnTo>
                <a:cubicBezTo>
                  <a:pt x="44" y="469"/>
                  <a:pt x="53" y="434"/>
                  <a:pt x="70" y="381"/>
                </a:cubicBezTo>
                <a:cubicBezTo>
                  <a:pt x="132" y="372"/>
                  <a:pt x="168" y="390"/>
                  <a:pt x="203" y="310"/>
                </a:cubicBezTo>
                <a:cubicBezTo>
                  <a:pt x="168" y="328"/>
                  <a:pt x="132" y="292"/>
                  <a:pt x="132" y="284"/>
                </a:cubicBezTo>
                <a:cubicBezTo>
                  <a:pt x="132" y="266"/>
                  <a:pt x="229" y="292"/>
                  <a:pt x="292" y="194"/>
                </a:cubicBezTo>
                <a:cubicBezTo>
                  <a:pt x="212" y="213"/>
                  <a:pt x="185" y="178"/>
                  <a:pt x="194" y="168"/>
                </a:cubicBezTo>
                <a:cubicBezTo>
                  <a:pt x="221" y="159"/>
                  <a:pt x="292" y="168"/>
                  <a:pt x="327" y="133"/>
                </a:cubicBezTo>
                <a:cubicBezTo>
                  <a:pt x="345" y="115"/>
                  <a:pt x="354" y="62"/>
                  <a:pt x="345" y="44"/>
                </a:cubicBezTo>
                <a:cubicBezTo>
                  <a:pt x="336" y="27"/>
                  <a:pt x="283" y="0"/>
                  <a:pt x="248" y="0"/>
                </a:cubicBezTo>
                <a:cubicBezTo>
                  <a:pt x="221" y="9"/>
                  <a:pt x="168" y="124"/>
                  <a:pt x="159" y="124"/>
                </a:cubicBezTo>
                <a:cubicBezTo>
                  <a:pt x="141" y="124"/>
                  <a:pt x="141" y="71"/>
                  <a:pt x="168" y="18"/>
                </a:cubicBezTo>
                <a:cubicBezTo>
                  <a:pt x="132" y="35"/>
                  <a:pt x="88" y="71"/>
                  <a:pt x="70" y="106"/>
                </a:cubicBezTo>
                <a:cubicBezTo>
                  <a:pt x="44" y="159"/>
                  <a:pt x="79" y="301"/>
                  <a:pt x="61" y="301"/>
                </a:cubicBezTo>
                <a:cubicBezTo>
                  <a:pt x="53" y="310"/>
                  <a:pt x="17" y="239"/>
                  <a:pt x="8" y="213"/>
                </a:cubicBezTo>
                <a:cubicBezTo>
                  <a:pt x="0" y="257"/>
                  <a:pt x="0" y="301"/>
                  <a:pt x="35" y="363"/>
                </a:cubicBezTo>
                <a:cubicBezTo>
                  <a:pt x="26" y="407"/>
                  <a:pt x="17" y="452"/>
                  <a:pt x="8" y="478"/>
                </a:cubicBezTo>
                <a:cubicBezTo>
                  <a:pt x="8" y="497"/>
                  <a:pt x="35" y="505"/>
                  <a:pt x="35" y="497"/>
                </a:cubicBezTo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9" name="Freeform 115"/>
          <p:cNvSpPr>
            <a:spLocks noChangeArrowheads="1"/>
          </p:cNvSpPr>
          <p:nvPr/>
        </p:nvSpPr>
        <p:spPr bwMode="auto">
          <a:xfrm>
            <a:off x="1395169" y="3273339"/>
            <a:ext cx="365760" cy="432913"/>
          </a:xfrm>
          <a:custGeom>
            <a:avLst/>
            <a:gdLst>
              <a:gd name="T0" fmla="*/ 381 w 400"/>
              <a:gd name="T1" fmla="*/ 124 h 498"/>
              <a:gd name="T2" fmla="*/ 381 w 400"/>
              <a:gd name="T3" fmla="*/ 124 h 498"/>
              <a:gd name="T4" fmla="*/ 231 w 400"/>
              <a:gd name="T5" fmla="*/ 9 h 498"/>
              <a:gd name="T6" fmla="*/ 115 w 400"/>
              <a:gd name="T7" fmla="*/ 151 h 498"/>
              <a:gd name="T8" fmla="*/ 133 w 400"/>
              <a:gd name="T9" fmla="*/ 213 h 498"/>
              <a:gd name="T10" fmla="*/ 9 w 400"/>
              <a:gd name="T11" fmla="*/ 407 h 498"/>
              <a:gd name="T12" fmla="*/ 0 w 400"/>
              <a:gd name="T13" fmla="*/ 434 h 498"/>
              <a:gd name="T14" fmla="*/ 9 w 400"/>
              <a:gd name="T15" fmla="*/ 478 h 498"/>
              <a:gd name="T16" fmla="*/ 27 w 400"/>
              <a:gd name="T17" fmla="*/ 497 h 498"/>
              <a:gd name="T18" fmla="*/ 62 w 400"/>
              <a:gd name="T19" fmla="*/ 487 h 498"/>
              <a:gd name="T20" fmla="*/ 89 w 400"/>
              <a:gd name="T21" fmla="*/ 470 h 498"/>
              <a:gd name="T22" fmla="*/ 142 w 400"/>
              <a:gd name="T23" fmla="*/ 390 h 498"/>
              <a:gd name="T24" fmla="*/ 142 w 400"/>
              <a:gd name="T25" fmla="*/ 390 h 498"/>
              <a:gd name="T26" fmla="*/ 177 w 400"/>
              <a:gd name="T27" fmla="*/ 381 h 498"/>
              <a:gd name="T28" fmla="*/ 231 w 400"/>
              <a:gd name="T29" fmla="*/ 284 h 498"/>
              <a:gd name="T30" fmla="*/ 293 w 400"/>
              <a:gd name="T31" fmla="*/ 284 h 498"/>
              <a:gd name="T32" fmla="*/ 381 w 400"/>
              <a:gd name="T33" fmla="*/ 124 h 498"/>
              <a:gd name="T34" fmla="*/ 319 w 400"/>
              <a:gd name="T35" fmla="*/ 159 h 498"/>
              <a:gd name="T36" fmla="*/ 319 w 400"/>
              <a:gd name="T37" fmla="*/ 159 h 498"/>
              <a:gd name="T38" fmla="*/ 256 w 400"/>
              <a:gd name="T39" fmla="*/ 142 h 498"/>
              <a:gd name="T40" fmla="*/ 221 w 400"/>
              <a:gd name="T41" fmla="*/ 80 h 498"/>
              <a:gd name="T42" fmla="*/ 310 w 400"/>
              <a:gd name="T43" fmla="*/ 71 h 498"/>
              <a:gd name="T44" fmla="*/ 319 w 400"/>
              <a:gd name="T45" fmla="*/ 159 h 4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400" h="498">
                <a:moveTo>
                  <a:pt x="381" y="124"/>
                </a:moveTo>
                <a:lnTo>
                  <a:pt x="381" y="124"/>
                </a:lnTo>
                <a:cubicBezTo>
                  <a:pt x="372" y="44"/>
                  <a:pt x="301" y="0"/>
                  <a:pt x="231" y="9"/>
                </a:cubicBezTo>
                <a:cubicBezTo>
                  <a:pt x="159" y="27"/>
                  <a:pt x="106" y="80"/>
                  <a:pt x="115" y="151"/>
                </a:cubicBezTo>
                <a:cubicBezTo>
                  <a:pt x="115" y="168"/>
                  <a:pt x="124" y="195"/>
                  <a:pt x="133" y="213"/>
                </a:cubicBezTo>
                <a:cubicBezTo>
                  <a:pt x="9" y="407"/>
                  <a:pt x="9" y="407"/>
                  <a:pt x="9" y="407"/>
                </a:cubicBezTo>
                <a:cubicBezTo>
                  <a:pt x="0" y="407"/>
                  <a:pt x="0" y="425"/>
                  <a:pt x="0" y="434"/>
                </a:cubicBezTo>
                <a:cubicBezTo>
                  <a:pt x="9" y="478"/>
                  <a:pt x="9" y="478"/>
                  <a:pt x="9" y="478"/>
                </a:cubicBezTo>
                <a:cubicBezTo>
                  <a:pt x="9" y="487"/>
                  <a:pt x="18" y="497"/>
                  <a:pt x="27" y="497"/>
                </a:cubicBezTo>
                <a:cubicBezTo>
                  <a:pt x="62" y="487"/>
                  <a:pt x="62" y="487"/>
                  <a:pt x="62" y="487"/>
                </a:cubicBezTo>
                <a:cubicBezTo>
                  <a:pt x="71" y="487"/>
                  <a:pt x="80" y="478"/>
                  <a:pt x="89" y="470"/>
                </a:cubicBezTo>
                <a:cubicBezTo>
                  <a:pt x="142" y="390"/>
                  <a:pt x="142" y="390"/>
                  <a:pt x="142" y="390"/>
                </a:cubicBezTo>
                <a:lnTo>
                  <a:pt x="142" y="390"/>
                </a:lnTo>
                <a:cubicBezTo>
                  <a:pt x="177" y="381"/>
                  <a:pt x="177" y="381"/>
                  <a:pt x="177" y="381"/>
                </a:cubicBezTo>
                <a:cubicBezTo>
                  <a:pt x="231" y="284"/>
                  <a:pt x="231" y="284"/>
                  <a:pt x="231" y="284"/>
                </a:cubicBezTo>
                <a:cubicBezTo>
                  <a:pt x="248" y="293"/>
                  <a:pt x="284" y="284"/>
                  <a:pt x="293" y="284"/>
                </a:cubicBezTo>
                <a:cubicBezTo>
                  <a:pt x="363" y="275"/>
                  <a:pt x="399" y="195"/>
                  <a:pt x="381" y="124"/>
                </a:cubicBezTo>
                <a:close/>
                <a:moveTo>
                  <a:pt x="319" y="159"/>
                </a:moveTo>
                <a:lnTo>
                  <a:pt x="319" y="159"/>
                </a:lnTo>
                <a:cubicBezTo>
                  <a:pt x="301" y="187"/>
                  <a:pt x="284" y="168"/>
                  <a:pt x="256" y="142"/>
                </a:cubicBezTo>
                <a:cubicBezTo>
                  <a:pt x="231" y="124"/>
                  <a:pt x="203" y="115"/>
                  <a:pt x="221" y="80"/>
                </a:cubicBezTo>
                <a:cubicBezTo>
                  <a:pt x="240" y="53"/>
                  <a:pt x="284" y="44"/>
                  <a:pt x="310" y="71"/>
                </a:cubicBezTo>
                <a:cubicBezTo>
                  <a:pt x="337" y="89"/>
                  <a:pt x="346" y="133"/>
                  <a:pt x="319" y="15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2" name="文本框 111"/>
          <p:cNvSpPr txBox="1"/>
          <p:nvPr/>
        </p:nvSpPr>
        <p:spPr>
          <a:xfrm>
            <a:off x="467995" y="4430395"/>
            <a:ext cx="222567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90204" pitchFamily="34" charset="0"/>
              <a:buChar char="•"/>
            </a:pPr>
            <a:r>
              <a:rPr lang="en-US" altLang="zh-CN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Linux 语义</a:t>
            </a:r>
            <a:endParaRPr lang="zh-CN" altLang="en-US" sz="1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 algn="l">
              <a:buFont typeface="Arial" panose="020B0604020202090204" pitchFamily="34" charset="0"/>
              <a:buChar char="•"/>
            </a:pPr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性能目标
真实负载</a:t>
            </a:r>
          </a:p>
        </p:txBody>
      </p:sp>
      <p:sp>
        <p:nvSpPr>
          <p:cNvPr id="113" name="文本框 112"/>
          <p:cNvSpPr txBox="1"/>
          <p:nvPr/>
        </p:nvSpPr>
        <p:spPr>
          <a:xfrm>
            <a:off x="2688590" y="4430395"/>
            <a:ext cx="223901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90204" pitchFamily="34" charset="0"/>
              <a:buChar char="•"/>
            </a:pPr>
            <a:r>
              <a:rPr lang="zh-CN" altLang="en-US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边界与 owner</a:t>
            </a:r>
            <a:endParaRPr lang="en-US" altLang="zh-CN" sz="18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l">
              <a:buFont typeface="Arial" panose="020B0604020202090204" pitchFamily="34" charset="0"/>
              <a:buChar char="•"/>
            </a:pPr>
            <a:r>
              <a:rPr lang="zh-CN" altLang="en-US" sz="1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ABI / contract</a:t>
            </a:r>
          </a:p>
          <a:p>
            <a:pPr marL="285750" indent="-285750" algn="l">
              <a:buFont typeface="Arial" panose="020B0604020202090204" pitchFamily="34" charset="0"/>
              <a:buChar char="•"/>
            </a:pPr>
            <a:r>
              <a:rPr lang="zh-CN" altLang="en-US" sz="1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验证计划</a:t>
            </a:r>
            <a:endParaRPr lang="en-US" altLang="zh-CN" sz="18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l">
              <a:buFont typeface="Arial" panose="020B0604020202090204" pitchFamily="34" charset="0"/>
              <a:buChar char="•"/>
            </a:pPr>
            <a:endParaRPr lang="en-US" altLang="zh-CN" sz="18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4" name="Content Placeholder 2"/>
          <p:cNvSpPr txBox="1"/>
          <p:nvPr/>
        </p:nvSpPr>
        <p:spPr>
          <a:xfrm>
            <a:off x="4928869" y="4421505"/>
            <a:ext cx="2350029" cy="12003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Arial" panose="020B0604020202090204" pitchFamily="34" charset="0"/>
              <a:buChar char="•"/>
            </a:pPr>
            <a:r>
              <a:rPr lang="zh-CN" altLang="en-US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最小闭环实现</a:t>
            </a:r>
            <a:endParaRPr lang="en-US" altLang="zh-CN" dirty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l">
              <a:buFont typeface="Arial" panose="020B0604020202090204" pitchFamily="34" charset="0"/>
              <a:buChar char="•"/>
            </a:pPr>
            <a:r>
              <a:rPr lang="zh-CN" altLang="en-US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代码审查</a:t>
            </a:r>
          </a:p>
          <a:p>
            <a:pPr marL="285750" indent="-285750" algn="l">
              <a:buFont typeface="Arial" panose="020B0604020202090204" pitchFamily="34" charset="0"/>
              <a:buChar char="•"/>
            </a:pPr>
            <a:r>
              <a:rPr lang="zh-CN" altLang="en-US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阶段化合入</a:t>
            </a:r>
            <a:endParaRPr lang="en-US" altLang="zh-CN" dirty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 algn="l">
              <a:buFont typeface="Arial" panose="020B0604020202090204" pitchFamily="34" charset="0"/>
              <a:buChar char="•"/>
            </a:pPr>
            <a:endParaRPr lang="en-US" altLang="zh-CN" dirty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 algn="l">
              <a:buFont typeface="Arial" panose="020B0604020202090204" pitchFamily="34" charset="0"/>
              <a:buChar char="•"/>
            </a:pPr>
            <a:endParaRPr lang="en-US" altLang="zh-CN" dirty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l">
              <a:buFont typeface="Arial" panose="020B0604020202090204" pitchFamily="34" charset="0"/>
              <a:buChar char="•"/>
            </a:pPr>
            <a:endParaRPr lang="en-US" altLang="zh-CN" dirty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l">
              <a:buFont typeface="Arial" panose="020B0604020202090204" pitchFamily="34" charset="0"/>
              <a:buChar char="•"/>
            </a:pPr>
            <a:endParaRPr lang="en-US" altLang="zh-CN" dirty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5" name="Content Placeholder 2"/>
          <p:cNvSpPr txBox="1"/>
          <p:nvPr/>
        </p:nvSpPr>
        <p:spPr>
          <a:xfrm>
            <a:off x="7165975" y="4421506"/>
            <a:ext cx="2530918" cy="10093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Arial" panose="020B0604020202090204" pitchFamily="34" charset="0"/>
              <a:buChar char="•"/>
            </a:pPr>
            <a:r>
              <a:rPr lang="zh-CN" altLang="en-US" dirty="0">
                <a:solidFill>
                  <a:schemeClr val="accent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构建 / 日志 / 测例</a:t>
            </a:r>
            <a:endParaRPr lang="en-US" altLang="zh-CN" dirty="0">
              <a:solidFill>
                <a:schemeClr val="accent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 algn="l">
              <a:buFont typeface="Arial" panose="020B0604020202090204" pitchFamily="34" charset="0"/>
              <a:buChar char="•"/>
            </a:pPr>
            <a:r>
              <a:rPr lang="zh-CN" altLang="en-US" dirty="0">
                <a:solidFill>
                  <a:schemeClr val="accent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失败归因</a:t>
            </a:r>
          </a:p>
          <a:p>
            <a:pPr marL="285750" indent="-285750" algn="l">
              <a:buFont typeface="Arial" panose="020B0604020202090204" pitchFamily="34" charset="0"/>
              <a:buChar char="•"/>
            </a:pPr>
            <a:r>
              <a:rPr lang="zh-CN" altLang="en-US" dirty="0">
                <a:solidFill>
                  <a:schemeClr val="accent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双架构验证</a:t>
            </a:r>
          </a:p>
          <a:p>
            <a:pPr marL="342900" indent="-342900" algn="l">
              <a:buFont typeface="Arial" panose="020B0604020202090204" pitchFamily="34" charset="0"/>
              <a:buChar char="•"/>
            </a:pPr>
            <a:endParaRPr lang="zh-CN" altLang="en-US" sz="2000" dirty="0">
              <a:solidFill>
                <a:schemeClr val="accent4"/>
              </a:solidFill>
            </a:endParaRPr>
          </a:p>
          <a:p>
            <a:pPr marL="342900" indent="-342900" algn="l">
              <a:buFont typeface="Arial" panose="020B0604020202090204" pitchFamily="34" charset="0"/>
              <a:buChar char="•"/>
            </a:pPr>
            <a:endParaRPr lang="zh-CN" altLang="en-US" sz="2000" dirty="0">
              <a:solidFill>
                <a:schemeClr val="accent4"/>
              </a:solidFill>
            </a:endParaRPr>
          </a:p>
        </p:txBody>
      </p:sp>
      <p:sp>
        <p:nvSpPr>
          <p:cNvPr id="2" name="Content Placeholder 2"/>
          <p:cNvSpPr txBox="1"/>
          <p:nvPr/>
        </p:nvSpPr>
        <p:spPr>
          <a:xfrm>
            <a:off x="9748173" y="4125310"/>
            <a:ext cx="1982470" cy="215455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CN" altLang="en-US" dirty="0">
              <a:solidFill>
                <a:schemeClr val="accent6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zh-CN" altLang="en-US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回写证据、限制与下一轮目标</a:t>
            </a:r>
            <a:endParaRPr lang="en-US" altLang="zh-CN" dirty="0">
              <a:solidFill>
                <a:schemeClr val="accent6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algn="l">
              <a:buFont typeface="Arial" panose="020B0604020202090204" pitchFamily="34" charset="0"/>
              <a:buChar char="•"/>
            </a:pPr>
            <a:endParaRPr lang="zh-CN" altLang="en-US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algn="l">
              <a:buFont typeface="Arial" panose="020B0604020202090204" pitchFamily="34" charset="0"/>
              <a:buChar char="•"/>
            </a:pPr>
            <a:endParaRPr lang="zh-CN" altLang="en-US" sz="2000" dirty="0">
              <a:solidFill>
                <a:schemeClr val="accent6"/>
              </a:solidFill>
            </a:endParaRPr>
          </a:p>
          <a:p>
            <a:pPr marL="342900" indent="-342900" algn="l">
              <a:buFont typeface="Arial" panose="020B0604020202090204" pitchFamily="34" charset="0"/>
              <a:buChar char="•"/>
            </a:pPr>
            <a:endParaRPr lang="zh-CN" altLang="en-US" sz="2000" dirty="0">
              <a:solidFill>
                <a:schemeClr val="accent6"/>
              </a:solidFill>
            </a:endParaRPr>
          </a:p>
        </p:txBody>
      </p:sp>
      <p:sp>
        <p:nvSpPr>
          <p:cNvPr id="116" name="NavActive 比赛总结"/>
          <p:cNvSpPr/>
          <p:nvPr/>
        </p:nvSpPr>
        <p:spPr>
          <a:xfrm>
            <a:off x="10263016" y="0"/>
            <a:ext cx="1406233" cy="792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cxnSp>
        <p:nvCxnSpPr>
          <p:cNvPr id="117" name="NavDivider 1"/>
          <p:cNvCxnSpPr/>
          <p:nvPr/>
        </p:nvCxnSpPr>
        <p:spPr>
          <a:xfrm>
            <a:off x="4638083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NavDivider 2"/>
          <p:cNvCxnSpPr/>
          <p:nvPr/>
        </p:nvCxnSpPr>
        <p:spPr>
          <a:xfrm>
            <a:off x="6044316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NavDivider 3"/>
          <p:cNvCxnSpPr/>
          <p:nvPr/>
        </p:nvCxnSpPr>
        <p:spPr>
          <a:xfrm>
            <a:off x="74505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NavDivider 4"/>
          <p:cNvCxnSpPr/>
          <p:nvPr/>
        </p:nvCxnSpPr>
        <p:spPr>
          <a:xfrm>
            <a:off x="8856783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NavDivider 5"/>
          <p:cNvCxnSpPr/>
          <p:nvPr/>
        </p:nvCxnSpPr>
        <p:spPr>
          <a:xfrm>
            <a:off x="10263016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NavText 1 完成情况"/>
          <p:cNvSpPr txBox="1"/>
          <p:nvPr/>
        </p:nvSpPr>
        <p:spPr>
          <a:xfrm>
            <a:off x="3231850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完成情况</a:t>
            </a:r>
          </a:p>
        </p:txBody>
      </p:sp>
      <p:sp>
        <p:nvSpPr>
          <p:cNvPr id="123" name="NavText 2 开发历程"/>
          <p:cNvSpPr txBox="1"/>
          <p:nvPr/>
        </p:nvSpPr>
        <p:spPr>
          <a:xfrm>
            <a:off x="4638083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开发历程</a:t>
            </a:r>
          </a:p>
        </p:txBody>
      </p:sp>
      <p:sp>
        <p:nvSpPr>
          <p:cNvPr id="124" name="NavText 3 设计主线"/>
          <p:cNvSpPr txBox="1"/>
          <p:nvPr/>
        </p:nvSpPr>
        <p:spPr>
          <a:xfrm>
            <a:off x="6044316" y="215903"/>
            <a:ext cx="1406234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设计主线</a:t>
            </a:r>
          </a:p>
        </p:txBody>
      </p:sp>
      <p:sp>
        <p:nvSpPr>
          <p:cNvPr id="125" name="NavText 4 核心机制"/>
          <p:cNvSpPr txBox="1"/>
          <p:nvPr/>
        </p:nvSpPr>
        <p:spPr>
          <a:xfrm>
            <a:off x="7450550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核心机制</a:t>
            </a:r>
          </a:p>
        </p:txBody>
      </p:sp>
      <p:sp>
        <p:nvSpPr>
          <p:cNvPr id="126" name="NavText 5 AI使用"/>
          <p:cNvSpPr txBox="1"/>
          <p:nvPr/>
        </p:nvSpPr>
        <p:spPr>
          <a:xfrm>
            <a:off x="8856783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AI使用</a:t>
            </a:r>
          </a:p>
        </p:txBody>
      </p:sp>
      <p:sp>
        <p:nvSpPr>
          <p:cNvPr id="127" name="NavText 6 比赛总结"/>
          <p:cNvSpPr txBox="1"/>
          <p:nvPr/>
        </p:nvSpPr>
        <p:spPr>
          <a:xfrm>
            <a:off x="10263016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比赛总结</a:t>
            </a:r>
          </a:p>
        </p:txBody>
      </p:sp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3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-40000"/>
                    </a14:imgEffect>
                    <a14:imgEffect>
                      <a14:colorTemperature colorTemp="5988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373" y="132991"/>
            <a:ext cx="2997105" cy="550154"/>
          </a:xfrm>
          <a:prstGeom prst="rect">
            <a:avLst/>
          </a:prstGeom>
        </p:spPr>
      </p:pic>
      <p:sp>
        <p:nvSpPr>
          <p:cNvPr id="62" name="文本框 61"/>
          <p:cNvSpPr txBox="1"/>
          <p:nvPr/>
        </p:nvSpPr>
        <p:spPr>
          <a:xfrm>
            <a:off x="437413" y="1084103"/>
            <a:ext cx="20826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lvl="0" indent="-457200" algn="l">
              <a:buClrTx/>
              <a:buSzTx/>
              <a:buFont typeface="Wingdings" panose="05000000000000000000" charset="0"/>
              <a:buChar char=""/>
            </a:pPr>
            <a:r>
              <a:rPr lang="en-US" altLang="zh-CN" sz="2800" b="1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参考内核</a:t>
            </a:r>
            <a:endParaRPr lang="en-US" altLang="zh-CN" sz="28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16" name="NavActive 比赛总结"/>
          <p:cNvSpPr/>
          <p:nvPr/>
        </p:nvSpPr>
        <p:spPr>
          <a:xfrm>
            <a:off x="10263016" y="0"/>
            <a:ext cx="1406233" cy="792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cxnSp>
        <p:nvCxnSpPr>
          <p:cNvPr id="117" name="NavDivider 1"/>
          <p:cNvCxnSpPr/>
          <p:nvPr/>
        </p:nvCxnSpPr>
        <p:spPr>
          <a:xfrm>
            <a:off x="4638083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NavDivider 2"/>
          <p:cNvCxnSpPr/>
          <p:nvPr/>
        </p:nvCxnSpPr>
        <p:spPr>
          <a:xfrm>
            <a:off x="6044316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NavDivider 3"/>
          <p:cNvCxnSpPr/>
          <p:nvPr/>
        </p:nvCxnSpPr>
        <p:spPr>
          <a:xfrm>
            <a:off x="74505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NavDivider 4"/>
          <p:cNvCxnSpPr/>
          <p:nvPr/>
        </p:nvCxnSpPr>
        <p:spPr>
          <a:xfrm>
            <a:off x="8856783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NavDivider 5"/>
          <p:cNvCxnSpPr/>
          <p:nvPr/>
        </p:nvCxnSpPr>
        <p:spPr>
          <a:xfrm>
            <a:off x="10263016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NavText 1 完成情况"/>
          <p:cNvSpPr txBox="1"/>
          <p:nvPr/>
        </p:nvSpPr>
        <p:spPr>
          <a:xfrm>
            <a:off x="3231850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完成情况</a:t>
            </a:r>
          </a:p>
        </p:txBody>
      </p:sp>
      <p:sp>
        <p:nvSpPr>
          <p:cNvPr id="123" name="NavText 2 开发历程"/>
          <p:cNvSpPr txBox="1"/>
          <p:nvPr/>
        </p:nvSpPr>
        <p:spPr>
          <a:xfrm>
            <a:off x="4638083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开发历程</a:t>
            </a:r>
          </a:p>
        </p:txBody>
      </p:sp>
      <p:sp>
        <p:nvSpPr>
          <p:cNvPr id="124" name="NavText 3 设计主线"/>
          <p:cNvSpPr txBox="1"/>
          <p:nvPr/>
        </p:nvSpPr>
        <p:spPr>
          <a:xfrm>
            <a:off x="6044316" y="215903"/>
            <a:ext cx="1406234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设计主线</a:t>
            </a:r>
          </a:p>
        </p:txBody>
      </p:sp>
      <p:sp>
        <p:nvSpPr>
          <p:cNvPr id="125" name="NavText 4 核心机制"/>
          <p:cNvSpPr txBox="1"/>
          <p:nvPr/>
        </p:nvSpPr>
        <p:spPr>
          <a:xfrm>
            <a:off x="7450550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核心机制</a:t>
            </a:r>
          </a:p>
        </p:txBody>
      </p:sp>
      <p:sp>
        <p:nvSpPr>
          <p:cNvPr id="126" name="NavText 5 AI使用"/>
          <p:cNvSpPr txBox="1"/>
          <p:nvPr/>
        </p:nvSpPr>
        <p:spPr>
          <a:xfrm>
            <a:off x="8856783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AI使用</a:t>
            </a:r>
          </a:p>
        </p:txBody>
      </p:sp>
      <p:sp>
        <p:nvSpPr>
          <p:cNvPr id="127" name="NavText 6 比赛总结"/>
          <p:cNvSpPr txBox="1"/>
          <p:nvPr/>
        </p:nvSpPr>
        <p:spPr>
          <a:xfrm>
            <a:off x="10263016" y="215903"/>
            <a:ext cx="1406233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比赛总结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98765" y="1665057"/>
            <a:ext cx="699456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zh-CN" altLang="zh-CN" sz="2000" dirty="0"/>
              <a:t>Linux 6.6。Linux UAPI、进程与信号语义、VFS、设备驱动、网络、调度与各架构实现的主要参考。</a:t>
            </a:r>
            <a:endParaRPr lang="en-US" altLang="zh-CN" sz="2000" dirty="0"/>
          </a:p>
          <a:p>
            <a:pPr marL="285750" indent="-285750">
              <a:buFontTx/>
              <a:buChar char="-"/>
            </a:pPr>
            <a:r>
              <a:rPr lang="zh-CN" altLang="zh-CN" sz="2000" dirty="0"/>
              <a:t>Zircon。VMO、地址空间 backing object 与写时复制设计。</a:t>
            </a:r>
            <a:endParaRPr lang="en-US" altLang="zh-CN" sz="2000" dirty="0"/>
          </a:p>
          <a:p>
            <a:pPr marL="285750" indent="-285750">
              <a:buFontTx/>
              <a:buChar char="-"/>
            </a:pPr>
            <a:r>
              <a:rPr lang="en-US" altLang="zh-CN" sz="2000" dirty="0"/>
              <a:t>Chronix</a:t>
            </a:r>
            <a:r>
              <a:rPr lang="zh-CN" altLang="en-US" sz="2000" dirty="0"/>
              <a:t>。用户态最初的环境建立。</a:t>
            </a:r>
            <a:endParaRPr lang="zh-CN" altLang="zh-CN" sz="20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9E03417-02ED-5A56-CACF-B9C8B5805C89}"/>
              </a:ext>
            </a:extLst>
          </p:cNvPr>
          <p:cNvSpPr txBox="1"/>
          <p:nvPr/>
        </p:nvSpPr>
        <p:spPr>
          <a:xfrm>
            <a:off x="498765" y="3452013"/>
            <a:ext cx="20826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lvl="0" indent="-457200" algn="l">
              <a:buClrTx/>
              <a:buSzTx/>
              <a:buFont typeface="Wingdings" panose="05000000000000000000" charset="0"/>
              <a:buChar char=""/>
            </a:pPr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增量创新</a:t>
            </a:r>
            <a:endParaRPr lang="en-US" altLang="zh-CN" sz="28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F6F6A2F-4E7D-6A55-6C56-5488D0A358AC}"/>
              </a:ext>
            </a:extLst>
          </p:cNvPr>
          <p:cNvSpPr txBox="1"/>
          <p:nvPr/>
        </p:nvSpPr>
        <p:spPr>
          <a:xfrm>
            <a:off x="498765" y="3975233"/>
            <a:ext cx="699456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zh-CN" altLang="en-US" sz="2000" dirty="0"/>
              <a:t>如前所述，内核设计上，我们没有参考往届队伍的架构，完全从零设计。</a:t>
            </a:r>
            <a:endParaRPr lang="en-US" altLang="zh-CN" sz="2000" dirty="0"/>
          </a:p>
          <a:p>
            <a:pPr marL="285750" indent="-285750">
              <a:buFontTx/>
              <a:buChar char="-"/>
            </a:pPr>
            <a:r>
              <a:rPr lang="zh-CN" altLang="en-US" sz="2000" dirty="0"/>
              <a:t>相较于工业化的内核（</a:t>
            </a:r>
            <a:r>
              <a:rPr lang="en-US" altLang="zh-CN" sz="2000" dirty="0"/>
              <a:t>Linux/Zircon</a:t>
            </a:r>
            <a:r>
              <a:rPr lang="zh-CN" altLang="en-US" sz="2000" dirty="0"/>
              <a:t>），我们没有完全照搬，而是博采众长。</a:t>
            </a:r>
            <a:endParaRPr lang="en-US" altLang="zh-CN" sz="2000" dirty="0"/>
          </a:p>
          <a:p>
            <a:pPr marL="285750" indent="-285750">
              <a:buFontTx/>
              <a:buChar char="-"/>
            </a:pPr>
            <a:r>
              <a:rPr lang="zh-CN" altLang="en-US" sz="2000" dirty="0"/>
              <a:t>设计实现了</a:t>
            </a:r>
            <a:r>
              <a:rPr lang="en-US" altLang="zh-CN" sz="2000" dirty="0"/>
              <a:t>Nemophila</a:t>
            </a:r>
            <a:r>
              <a:rPr lang="zh-CN" altLang="en-US" sz="2000" dirty="0"/>
              <a:t>，基于沙箱化</a:t>
            </a:r>
            <a:r>
              <a:rPr lang="en-US" altLang="zh-CN" sz="2000" dirty="0" err="1"/>
              <a:t>WebAssembly</a:t>
            </a:r>
            <a:r>
              <a:rPr lang="zh-CN" altLang="en-US" sz="2000" dirty="0"/>
              <a:t>的内核扩展机制。</a:t>
            </a:r>
            <a:endParaRPr lang="zh-CN" altLang="zh-CN" sz="2000" dirty="0"/>
          </a:p>
        </p:txBody>
      </p:sp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MH_Other_8"/>
          <p:cNvPicPr/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887"/>
          <a:stretch>
            <a:fillRect/>
          </a:stretch>
        </p:blipFill>
        <p:spPr bwMode="auto">
          <a:xfrm rot="5400000" flipH="1">
            <a:off x="6024000" y="-3032194"/>
            <a:ext cx="144000" cy="104502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MH_Other_8"/>
          <p:cNvPicPr/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887"/>
          <a:stretch>
            <a:fillRect/>
          </a:stretch>
        </p:blipFill>
        <p:spPr bwMode="auto">
          <a:xfrm rot="16200000" flipH="1" flipV="1">
            <a:off x="6024001" y="-127232"/>
            <a:ext cx="144000" cy="104502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7"/>
          <p:cNvSpPr/>
          <p:nvPr/>
        </p:nvSpPr>
        <p:spPr>
          <a:xfrm>
            <a:off x="0" y="2204967"/>
            <a:ext cx="12192000" cy="286136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664708" y="3127835"/>
            <a:ext cx="10862821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感谢聆听</a:t>
            </a:r>
            <a:endParaRPr lang="en-US" sz="3600" b="1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 descr="hitsz-logo"/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789555" y="603250"/>
            <a:ext cx="6612255" cy="121856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121191650"/>
  <p:tag name="MH_LIBRARY" val="GRAPHIC"/>
  <p:tag name="MH_TYPE" val="Other"/>
  <p:tag name="MH_ORDER" val="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121191650"/>
  <p:tag name="MH_LIBRARY" val="GRAPHIC"/>
  <p:tag name="MH_TYPE" val="Other"/>
  <p:tag name="MH_ORDER" val="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121191650"/>
  <p:tag name="MH_LIBRARY" val="GRAPHIC"/>
  <p:tag name="MH_TYPE" val="Other"/>
  <p:tag name="MH_ORDER" val="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121191650"/>
  <p:tag name="MH_LIBRARY" val="GRAPHIC"/>
  <p:tag name="MH_TYPE" val="Other"/>
  <p:tag name="MH_ORDER" val="8"/>
</p:tagLst>
</file>

<file path=ppt/theme/theme1.xml><?xml version="1.0" encoding="utf-8"?>
<a:theme xmlns:a="http://schemas.openxmlformats.org/drawingml/2006/main" name="Office 主题​​">
  <a:themeElements>
    <a:clrScheme name="蓝绿色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蓝绿色">
    <a:dk1>
      <a:sysClr val="windowText" lastClr="000000"/>
    </a:dk1>
    <a:lt1>
      <a:sysClr val="window" lastClr="FFFFFF"/>
    </a:lt1>
    <a:dk2>
      <a:srgbClr val="373545"/>
    </a:dk2>
    <a:lt2>
      <a:srgbClr val="CEDBE6"/>
    </a:lt2>
    <a:accent1>
      <a:srgbClr val="3494BA"/>
    </a:accent1>
    <a:accent2>
      <a:srgbClr val="58B6C0"/>
    </a:accent2>
    <a:accent3>
      <a:srgbClr val="75BDA7"/>
    </a:accent3>
    <a:accent4>
      <a:srgbClr val="7A8C8E"/>
    </a:accent4>
    <a:accent5>
      <a:srgbClr val="84ACB6"/>
    </a:accent5>
    <a:accent6>
      <a:srgbClr val="2683C6"/>
    </a:accent6>
    <a:hlink>
      <a:srgbClr val="6B9F25"/>
    </a:hlink>
    <a:folHlink>
      <a:srgbClr val="9F6715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3200</Words>
  <Application>Microsoft Office PowerPoint</Application>
  <PresentationFormat>宽屏</PresentationFormat>
  <Paragraphs>372</Paragraphs>
  <Slides>28</Slides>
  <Notes>28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7" baseType="lpstr">
      <vt:lpstr>quote-cjk-patch</vt:lpstr>
      <vt:lpstr>等线</vt:lpstr>
      <vt:lpstr>等线 Light</vt:lpstr>
      <vt:lpstr>微软雅黑</vt:lpstr>
      <vt:lpstr>Arial</vt:lpstr>
      <vt:lpstr>Calibri</vt:lpstr>
      <vt:lpstr>Consolas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答辩-19</dc:title>
  <dc:creator>LP</dc:creator>
  <cp:lastModifiedBy>Doruche 朵露切</cp:lastModifiedBy>
  <cp:revision>758</cp:revision>
  <dcterms:created xsi:type="dcterms:W3CDTF">2026-08-17T04:51:50Z</dcterms:created>
  <dcterms:modified xsi:type="dcterms:W3CDTF">2026-08-17T05:15:14Z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2052-12.1.26046.26046</vt:lpwstr>
  </property>
  <property fmtid="{D5CDD505-2E9C-101B-9397-08002B2CF9AE}" pid="3" name="ICV">
    <vt:lpwstr/>
  </property>
</Properties>
</file>