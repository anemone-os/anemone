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3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7"/>
  </p:notesMasterIdLst>
  <p:handoutMasterIdLst>
    <p:handoutMasterId r:id="rId38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45">
          <p15:clr>
            <a:srgbClr val="A4A3A4"/>
          </p15:clr>
        </p15:guide>
        <p15:guide id="2" pos="389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7F7F"/>
    <a:srgbClr val="949494"/>
    <a:srgbClr val="F2F2F2"/>
    <a:srgbClr val="9CC5FD"/>
    <a:srgbClr val="3A6695"/>
    <a:srgbClr val="134263"/>
    <a:srgbClr val="1E2B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4" autoAdjust="0"/>
    <p:restoredTop sz="93906" autoAdjust="0"/>
  </p:normalViewPr>
  <p:slideViewPr>
    <p:cSldViewPr snapToGrid="0">
      <p:cViewPr varScale="1">
        <p:scale>
          <a:sx n="104" d="100"/>
          <a:sy n="104" d="100"/>
        </p:scale>
        <p:origin x="72" y="164"/>
      </p:cViewPr>
      <p:guideLst>
        <p:guide orient="horz" pos="2245"/>
        <p:guide pos="389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ruche 朵露切" userId="9a6adaf45846e188" providerId="LiveId" clId="{2E959310-8A68-41BB-999F-5861D18FACC3}"/>
    <pc:docChg chg="undo redo custSel addSld delSld modSld sldOrd">
      <pc:chgData name="Doruche 朵露切" userId="9a6adaf45846e188" providerId="LiveId" clId="{2E959310-8A68-41BB-999F-5861D18FACC3}" dt="2026-08-12T15:29:27.487" v="3229" actId="1076"/>
      <pc:docMkLst>
        <pc:docMk/>
      </pc:docMkLst>
      <pc:sldChg chg="addSp delSp modSp mod">
        <pc:chgData name="Doruche 朵露切" userId="9a6adaf45846e188" providerId="LiveId" clId="{2E959310-8A68-41BB-999F-5861D18FACC3}" dt="2026-08-12T13:46:45.843" v="3222" actId="20577"/>
        <pc:sldMkLst>
          <pc:docMk/>
          <pc:sldMk cId="0" sldId="257"/>
        </pc:sldMkLst>
        <pc:spChg chg="mod">
          <ac:chgData name="Doruche 朵露切" userId="9a6adaf45846e188" providerId="LiveId" clId="{2E959310-8A68-41BB-999F-5861D18FACC3}" dt="2026-08-12T13:46:45.843" v="3222" actId="20577"/>
          <ac:spMkLst>
            <pc:docMk/>
            <pc:sldMk cId="0" sldId="257"/>
            <ac:spMk id="2" creationId="{00000000-0000-0000-0000-000000000000}"/>
          </ac:spMkLst>
        </pc:spChg>
      </pc:sldChg>
      <pc:sldChg chg="modSp mod">
        <pc:chgData name="Doruche 朵露切" userId="9a6adaf45846e188" providerId="LiveId" clId="{2E959310-8A68-41BB-999F-5861D18FACC3}" dt="2026-08-12T15:29:27.487" v="3229" actId="1076"/>
        <pc:sldMkLst>
          <pc:docMk/>
          <pc:sldMk cId="1748049677" sldId="286"/>
        </pc:sldMkLst>
        <pc:picChg chg="mod">
          <ac:chgData name="Doruche 朵露切" userId="9a6adaf45846e188" providerId="LiveId" clId="{2E959310-8A68-41BB-999F-5861D18FACC3}" dt="2026-08-12T15:29:27.487" v="3229" actId="1076"/>
          <ac:picMkLst>
            <pc:docMk/>
            <pc:sldMk cId="1748049677" sldId="286"/>
            <ac:picMk id="5" creationId="{6B3804B8-7F28-DA6A-1E1E-9A9CF98A50B6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1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CE4261-0CDD-45A3-84C2-311859DE5B03}" type="datetime1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711DA-82CB-44C8-99EC-9CE596A896F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我们是 Anemone 团队。Anemone 是一个面向 Linux ABI 兼容、使用 Rust 从零构建的多架构多核宏内核。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先看最终结果。Anemone 已通过所有决赛测例，BuildStorm 与 Cagent 测例也全部通过。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除了全部决赛测例，两个决赛专项工作负载也闭合了。Cagent 的十项任务全部通过，BuildStorm 在两个架构上都完成构建并生成了有效产物。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这不是在现有内核上补功能，而是八个月从零完成的系统。当前内核代码十四万四千一百八十行，共一千一百一十六次提交。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从整体上看，Linux ABI 是面向用户态的边界，边界之下是 Anemone 自己的核心对象、子系统和双架构平台层。接下来所有机制都沿着这个分层展开。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这张表不是功能清单的堆砌，而是六个共同闭合的能力域。进程、内存、文件、设备、网络、时间、构建与双架构互相支撑，最终共同承受决赛测例和真实负载。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决赛阶段的变化不是简单增加 syscall 数量。我们把网络、交互作业控制、时间与真实负载补成系统路径，并把构建和性能工作接入工程闭环。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八个月的开发可以分为四段。前两个月确定路线和边界，三到五月构建核心对象，六月用初赛测例闭合语义，七到八月把系统推向网络、交互和真实负载。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把七到八月放大看，决赛工作经历了四次推进：先完成网络基础，再闭合作业控制与时间，随后用真实负载暴露系统问题，最后完成双架构验证和交付。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结果之后，我们进入设计主线。Anemone 的核心判断可以归纳为三个词：边界、契约和所有权。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从零设计不意味着拒绝兼容。我们兼容 Linux 对外协议，但不复制 Linux 内部对象，这让核心机制可以围绕 Rust 的所有权和单一真相源组织。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ABI 是外部协议，不是内部实现模板。syscall 编号、UAPI 结构、错误码和标志由边界层解释，进程、文件、地址空间和设备的状态仍由 Anemone 对象拥有。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这条路径可以读成四层：Linux 用户态进入 syscall 适配，适配层把外部协议转换为核心对象操作，最后由 HAL 和平台实现承接架构差异。兼容逻辑不会继续向内扩散。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接下来选择几个最能体现设计主线的核心机制。共同原则是状态只由一个 owner 推进，边界只暴露真正需要的能力。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进程模型不只是一棵父子树。Task、线程组、进程组和会话分别承担不同身份与生命周期，决赛阶段在这套拓扑上补齐了交互式作业控制主路径。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调度与等待必须共同理解。调度状态机决定谁运行，Event 和 Latch 提供可中断等待能力，多核唤醒把状态变化可靠地送到目标 CPU。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VMO 是内存子系统的统一对象边界。匿名页、文件映射、共享内存与写时复制都通过 VMO 和 backing object 组织，而不是各自维护一套页状态。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fork 后并不立即复制全部页面。父子地址空间先共享 backing，只有写入发生时才复制；匿名 VMO 还可以共享全局只读零页。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页分配器本身不能依赖尚未建立的内核堆。我们的 buddy-system 把元数据放在被管理内存中，因此打断 page allocator 到 heap 的反向依赖。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VFS 不是一组系统调用的集合，而是一套对象模型。filesystem、superblock、inode、dentry、file 和 path view 分别拥有稳定职责。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路径不是字符串拼接。一次打开操作需要同时处理 dentry 查找、挂载点穿越、进程 root 和当前工作目录边界。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缓存首先要回答对象身份由谁稳定。ICache 避免重复构造 inode，回收则围绕 inode、VMO 和页的生命周期进行，而不是散落在具体读写路径里。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Anemone 的 HAL 由使用方定义需求。分页、调度、trap 和 signal 等子系统分别声明窄能力，RISC-V64 与 LoongArch64 在架构层实现这些能力。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设备模型通过 Bus、Device 和 Driver 分离发现、身份与控制。总线负责枚举和匹配，设备保存稳定身份，驱动拥有私有控制面。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在这些基础机制之上，决赛阶段最重要的新能力是可用网络栈。它不只是通过几个 socket 测例，而是已经进入真实用户态工具路径。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网络能力已经被真实用户态程序使用。系统可以运行 ping、通过 apt 安装软件、使用 HTTPS 克隆代码，并能用 ip 和 ss 查看网络状态。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网络状态分布在四个清晰边界中。内核拥有 Linux ABI 和 fd 可见语义，Net API 交换规范化操作，协议栈 owner 推进端点状态，smoltcp 只作为协议引擎后端。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跨层协议只传递三类信息。Command 是有界非阻塞操作，Event 只表示应该重新检查，Snapshot 则记录读取时刻的协议事实；Event 本身从不等于 readiness。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协议栈知道 TCP 是否有数据、是否可发送，但它不拥有 Linux fd 的等待语义。内核 Socket owner 根据 Snapshot 投影 poll 和 epoll readiness，并统一 errno 与唤醒。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BuildStorm 的价值不是单独测某个子系统。离线 Rust 工具链会同时放大进程、线程、虚拟内存、文件系统、调度和链接负载，因此能够检验完整系统路径。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最终 BuildStorm 在两个架构上都完成了完整构建。RISC-V64 用时一千七百八十八秒，LoongArch64 用时一千一百五十三秒，两者都生成了有效产物。右侧图展示的是独立优化项的验证结果，不把这些局部比例相加成总加速比。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AI 在项目里是加速器，不是驾驶员。它帮助检索、生成候选、审查和整理文档，但设计判断、代码修改、验证结果和最终解释始终由队员负责。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项目按需求、设计、实现、验证和回写循环推进。真实负载和失败证据会回到下一轮边界与实现，而不是停留在一次性的补丁或日志中。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最后回到我们完成了什么。Anemone 已通过所有决赛测例，也通过了 BuildStorm 与 Cagent；更重要的是，这些结果建立在双架构、真实负载和可解释的内部设计之上。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以上是 Anemone 的决赛汇报，感谢各位老师聆听。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4536CA-A6C4-4358-AF93-5CCBD70D248C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2.jpe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microsoft.com/office/2007/relationships/hdphoto" Target="../media/hdphoto1.wd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microsoft.com/office/2007/relationships/hdphoto" Target="../media/hdphoto1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microsoft.com/office/2007/relationships/hdphoto" Target="../media/hdphoto1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microsoft.com/office/2007/relationships/hdphoto" Target="../media/hdphoto1.wdp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microsoft.com/office/2007/relationships/hdphoto" Target="../media/hdphoto1.wd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microsoft.com/office/2007/relationships/hdphoto" Target="../media/hdphoto1.wdp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microsoft.com/office/2007/relationships/hdphoto" Target="../media/hdphoto1.wdp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2.jpe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MH_Other_8"/>
          <p:cNvPicPr/>
          <p:nvPr>
            <p:custDataLst>
              <p:tags r:id="rId1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887"/>
          <a:stretch>
            <a:fillRect/>
          </a:stretch>
        </p:blipFill>
        <p:spPr bwMode="auto">
          <a:xfrm rot="5400000" flipH="1">
            <a:off x="6024000" y="-3032194"/>
            <a:ext cx="144000" cy="104502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MH_Other_8"/>
          <p:cNvPicPr/>
          <p:nvPr>
            <p:custDataLst>
              <p:tags r:id="rId2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887"/>
          <a:stretch>
            <a:fillRect/>
          </a:stretch>
        </p:blipFill>
        <p:spPr bwMode="auto">
          <a:xfrm rot="16200000" flipH="1" flipV="1">
            <a:off x="6024001" y="-127232"/>
            <a:ext cx="144000" cy="104502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 7"/>
          <p:cNvSpPr/>
          <p:nvPr/>
        </p:nvSpPr>
        <p:spPr>
          <a:xfrm>
            <a:off x="0" y="2204967"/>
            <a:ext cx="12192000" cy="286136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744718" y="2789380"/>
            <a:ext cx="1086282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b="1" dirty="0" err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Anemone</a:t>
            </a:r>
            <a:endParaRPr lang="en-US" altLang="zh-CN" sz="6000" b="1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36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面向 Linux ABI 兼容的 Rust 多架构多核宏内核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3179403" y="5388570"/>
            <a:ext cx="53754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3A6695"/>
                </a:solidFill>
              </a:rPr>
              <a:t>队员：张正翰、陈函申      指导老师：夏文、仇洁婷</a:t>
            </a:r>
            <a:endParaRPr lang="en-US" altLang="zh-CN" b="1" dirty="0">
              <a:solidFill>
                <a:srgbClr val="3A6695"/>
              </a:solidFill>
            </a:endParaRPr>
          </a:p>
          <a:p>
            <a:endParaRPr lang="en-US" altLang="zh-CN" b="1" dirty="0">
              <a:solidFill>
                <a:srgbClr val="3A6695"/>
              </a:solidFill>
            </a:endParaRPr>
          </a:p>
        </p:txBody>
      </p:sp>
      <p:pic>
        <p:nvPicPr>
          <p:cNvPr id="3" name="图片 2" descr="hitsz-logo"/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89555" y="603250"/>
            <a:ext cx="6612255" cy="121856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dirty="0"/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17373" y="1043359"/>
            <a:ext cx="66800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400" b="1" dirty="0"/>
              <a:t>全部决赛测例通过</a:t>
            </a:r>
            <a:endParaRPr lang="en-US" altLang="zh-CN" sz="2400" dirty="0">
              <a:solidFill>
                <a:srgbClr val="FF0000"/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C9EBB5A-F35E-462F-A3EF-B68610754F7F}"/>
              </a:ext>
            </a:extLst>
          </p:cNvPr>
          <p:cNvSpPr txBox="1"/>
          <p:nvPr/>
        </p:nvSpPr>
        <p:spPr>
          <a:xfrm>
            <a:off x="457661" y="4949449"/>
            <a:ext cx="110731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2400" dirty="0"/>
              <a:t>Anemone 已通过所有决赛测例
BuildStorm 与 Cagent 测例全部通过</a:t>
            </a:r>
          </a:p>
        </p:txBody>
      </p:sp>
      <p:sp>
        <p:nvSpPr>
          <p:cNvPr id="40" name="NavActive 完成情况"/>
          <p:cNvSpPr/>
          <p:nvPr/>
        </p:nvSpPr>
        <p:spPr>
          <a:xfrm>
            <a:off x="32318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41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7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8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9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50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51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3C56D5C-421A-DEFB-E15D-8DC82B649F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661" y="1801840"/>
            <a:ext cx="11573639" cy="2368602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4" name="矩形 23"/>
          <p:cNvSpPr/>
          <p:nvPr/>
        </p:nvSpPr>
        <p:spPr>
          <a:xfrm>
            <a:off x="10020935" y="-8890"/>
            <a:ext cx="1682115" cy="80073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22877" y="1040904"/>
            <a:ext cx="43090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决赛工作负载全部闭合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444409" y="1810538"/>
            <a:ext cx="11258641" cy="3674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Cagent：十项测例全部通过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BuildStorm：RISC-V64 完整构建成功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BuildStorm：LoongArch64 完整构建成功</a:t>
            </a: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交付结果：两个架构均生成有效目标产物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3" name="NavActive 完成情况"/>
          <p:cNvSpPr/>
          <p:nvPr/>
        </p:nvSpPr>
        <p:spPr>
          <a:xfrm>
            <a:off x="32318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3FF3B-D198-690B-93D6-8AF66808A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F20E8A92-B4A8-4551-9A38-1C0D4D496CE3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429C696B-791C-1C99-E06C-3EFF26405EF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814B6020-A98E-A14C-7309-F479508ECD9F}"/>
              </a:ext>
            </a:extLst>
          </p:cNvPr>
          <p:cNvSpPr txBox="1"/>
          <p:nvPr/>
        </p:nvSpPr>
        <p:spPr>
          <a:xfrm>
            <a:off x="117373" y="1043359"/>
            <a:ext cx="3105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400" b="1" dirty="0"/>
              <a:t>八个月，从零构建完整内核</a:t>
            </a:r>
            <a:endParaRPr lang="en-US" altLang="zh-CN" sz="2400" dirty="0">
              <a:solidFill>
                <a:srgbClr val="FF0000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F010E8D-C9D5-1D47-6BCF-5BB6E46BC88A}"/>
              </a:ext>
            </a:extLst>
          </p:cNvPr>
          <p:cNvSpPr txBox="1"/>
          <p:nvPr/>
        </p:nvSpPr>
        <p:spPr>
          <a:xfrm>
            <a:off x="516577" y="2048494"/>
            <a:ext cx="287129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zh-CN" altLang="en-US" dirty="0"/>
              <a:t>内核代码量：144,180 行</a:t>
            </a:r>
            <a:endParaRPr lang="en-US" altLang="zh-CN" dirty="0"/>
          </a:p>
          <a:p>
            <a:r>
              <a:rPr lang="zh-CN" altLang="en-US" dirty="0"/>
              <a:t>工程时间：8 个月</a:t>
            </a:r>
            <a:endParaRPr lang="en-US" altLang="zh-CN" dirty="0"/>
          </a:p>
          <a:p>
            <a:pPr marL="285750" indent="-285750">
              <a:buFontTx/>
              <a:buChar char="-"/>
            </a:pPr>
            <a:r>
              <a:rPr lang="zh-CN" altLang="en-US" dirty="0"/>
              <a:t>Commit 数目：1116</a:t>
            </a:r>
            <a:endParaRPr lang="en-US" altLang="zh-CN" dirty="0"/>
          </a:p>
          <a:p>
            <a:pPr marL="285750" indent="-285750">
              <a:buFontTx/>
              <a:buChar char="-"/>
            </a:pPr>
            <a:endParaRPr lang="en-US" altLang="zh-CN" dirty="0"/>
          </a:p>
          <a:p>
            <a:pPr marL="285750" indent="-285750">
              <a:buFontTx/>
              <a:buChar char="-"/>
            </a:pPr>
            <a:endParaRPr lang="en-US" altLang="zh-CN" dirty="0"/>
          </a:p>
        </p:txBody>
      </p:sp>
      <p:sp>
        <p:nvSpPr>
          <p:cNvPr id="40" name="NavActive 完成情况"/>
          <p:cNvSpPr/>
          <p:nvPr/>
        </p:nvSpPr>
        <p:spPr>
          <a:xfrm>
            <a:off x="32318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41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7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8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9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50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51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8D63372-8D1F-954A-EDFF-3FA87B8C20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8083" y="4691135"/>
            <a:ext cx="6503512" cy="2102428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57F85F21-BD57-0595-7377-6C5FABAB35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082" y="861189"/>
            <a:ext cx="5624933" cy="3733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81935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02DAC-D75F-B21C-B0E3-8EC15588E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EF648B84-970C-2A12-F26D-19A1DFC497C0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C1C5E088-7AEE-DFFE-49AE-5E6761F951E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9965C60A-01E6-989F-E510-977759408221}"/>
              </a:ext>
            </a:extLst>
          </p:cNvPr>
          <p:cNvSpPr txBox="1"/>
          <p:nvPr/>
        </p:nvSpPr>
        <p:spPr>
          <a:xfrm>
            <a:off x="117373" y="1043359"/>
            <a:ext cx="34131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400" b="1" dirty="0"/>
              <a:t>Anemone 的整体架构</a:t>
            </a:r>
            <a:endParaRPr lang="en-US" altLang="zh-CN" sz="2400" dirty="0">
              <a:solidFill>
                <a:srgbClr val="FF0000"/>
              </a:solidFill>
            </a:endParaRPr>
          </a:p>
        </p:txBody>
      </p:sp>
      <p:sp>
        <p:nvSpPr>
          <p:cNvPr id="40" name="NavActive 完成情况"/>
          <p:cNvSpPr/>
          <p:nvPr/>
        </p:nvSpPr>
        <p:spPr>
          <a:xfrm>
            <a:off x="32318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41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7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8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9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50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51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2470358-5E07-F606-EBFB-538A4E4952C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055" y="1682824"/>
            <a:ext cx="8893345" cy="480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278453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17292" y="1017414"/>
            <a:ext cx="53335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Anemone 核心能力全景</a:t>
            </a:r>
            <a:endParaRPr lang="zh-CN" altLang="en-US" sz="28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3" name="表格 2"/>
          <p:cNvGraphicFramePr/>
          <p:nvPr>
            <p:extLst>
              <p:ext uri="{D42A27DB-BD31-4B8C-83A1-F6EECF244321}">
                <p14:modId xmlns:p14="http://schemas.microsoft.com/office/powerpoint/2010/main" val="1060112444"/>
              </p:ext>
            </p:extLst>
          </p:nvPr>
        </p:nvGraphicFramePr>
        <p:xfrm>
          <a:off x="619827" y="1766048"/>
          <a:ext cx="10906323" cy="46541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6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0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39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25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核心能力</a:t>
                      </a:r>
                      <a:endParaRPr lang="en-US" altLang="zh-CN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实现功能</a:t>
                      </a:r>
                      <a:endParaRPr lang="en-US" altLang="zh-CN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93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进程与调度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fork / exec / wait；SMP 调度；作业控制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93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内存与 IPC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VMO / COW / SysV shm；signal / pipe / eventfd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93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VFS 与缓存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多重挂载 / Bind Mount；ICache / Page Cache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1592214"/>
                  </a:ext>
                </a:extLst>
              </a:tr>
              <a:tr h="66693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设备与网络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Bus + Driver + Device；IPv4 / Socket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693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时间与可观测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timerfd / itimer；procfs；poll / epoll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693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双架构与构建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RISC-V64 / LoongArch64；BuildStorm / Cagent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0" name="NavActive 完成情况"/>
          <p:cNvSpPr/>
          <p:nvPr/>
        </p:nvSpPr>
        <p:spPr>
          <a:xfrm>
            <a:off x="32318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41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7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8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9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50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51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4" name="矩形 23"/>
          <p:cNvSpPr/>
          <p:nvPr/>
        </p:nvSpPr>
        <p:spPr>
          <a:xfrm>
            <a:off x="10020935" y="-8890"/>
            <a:ext cx="1682115" cy="80073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22877" y="1040904"/>
            <a:ext cx="43090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从初赛能力域到决赛完整系统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444409" y="1810538"/>
            <a:ext cx="11258641" cy="3674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网络：设备、IPv4、Socket 与用户态工具闭合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交互：会话 / 进程组 / TTY 作业控制闭合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负载：全部决赛测例、Cagent、BuildStorm 全部通过</a:t>
            </a: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工程：双架构构建、性能验证与交付证据闭合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3" name="NavActive 完成情况"/>
          <p:cNvSpPr/>
          <p:nvPr/>
        </p:nvSpPr>
        <p:spPr>
          <a:xfrm>
            <a:off x="32318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117373" y="1084103"/>
            <a:ext cx="38972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Anemone 开发历程</a:t>
            </a:r>
            <a:endParaRPr lang="zh-CN" altLang="en-US" sz="28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0" name="Freeform 790"/>
          <p:cNvSpPr/>
          <p:nvPr/>
        </p:nvSpPr>
        <p:spPr bwMode="auto">
          <a:xfrm>
            <a:off x="1347977" y="1800463"/>
            <a:ext cx="2373003" cy="596529"/>
          </a:xfrm>
          <a:custGeom>
            <a:avLst/>
            <a:gdLst>
              <a:gd name="connsiteX0" fmla="*/ 9568 w 10000"/>
              <a:gd name="connsiteY0" fmla="*/ 10000 h 10000"/>
              <a:gd name="connsiteX1" fmla="*/ 4793 w 10000"/>
              <a:gd name="connsiteY1" fmla="*/ 10000 h 10000"/>
              <a:gd name="connsiteX2" fmla="*/ 0 w 10000"/>
              <a:gd name="connsiteY2" fmla="*/ 10000 h 10000"/>
              <a:gd name="connsiteX3" fmla="*/ 1362 w 10000"/>
              <a:gd name="connsiteY3" fmla="*/ 4954 h 10000"/>
              <a:gd name="connsiteX4" fmla="*/ 0 w 10000"/>
              <a:gd name="connsiteY4" fmla="*/ 0 h 10000"/>
              <a:gd name="connsiteX5" fmla="*/ 4793 w 10000"/>
              <a:gd name="connsiteY5" fmla="*/ 0 h 10000"/>
              <a:gd name="connsiteX6" fmla="*/ 9568 w 10000"/>
              <a:gd name="connsiteY6" fmla="*/ 0 h 10000"/>
              <a:gd name="connsiteX7" fmla="*/ 10000 w 10000"/>
              <a:gd name="connsiteY7" fmla="*/ 4954 h 10000"/>
              <a:gd name="connsiteX8" fmla="*/ 9568 w 10000"/>
              <a:gd name="connsiteY8" fmla="*/ 100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000" h="10000">
                <a:moveTo>
                  <a:pt x="9568" y="10000"/>
                </a:moveTo>
                <a:lnTo>
                  <a:pt x="4793" y="10000"/>
                </a:lnTo>
                <a:lnTo>
                  <a:pt x="0" y="10000"/>
                </a:lnTo>
                <a:lnTo>
                  <a:pt x="1362" y="4954"/>
                </a:lnTo>
                <a:lnTo>
                  <a:pt x="0" y="0"/>
                </a:lnTo>
                <a:lnTo>
                  <a:pt x="4793" y="0"/>
                </a:lnTo>
                <a:lnTo>
                  <a:pt x="9568" y="0"/>
                </a:lnTo>
                <a:lnTo>
                  <a:pt x="10000" y="4954"/>
                </a:lnTo>
                <a:lnTo>
                  <a:pt x="9568" y="10000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Freeform 791"/>
          <p:cNvSpPr/>
          <p:nvPr/>
        </p:nvSpPr>
        <p:spPr bwMode="auto">
          <a:xfrm>
            <a:off x="3573477" y="1800463"/>
            <a:ext cx="2384821" cy="596529"/>
          </a:xfrm>
          <a:custGeom>
            <a:avLst/>
            <a:gdLst/>
            <a:ahLst/>
            <a:cxnLst>
              <a:cxn ang="0">
                <a:pos x="996" y="109"/>
              </a:cxn>
              <a:cxn ang="0">
                <a:pos x="499" y="109"/>
              </a:cxn>
              <a:cxn ang="0">
                <a:pos x="0" y="109"/>
              </a:cxn>
              <a:cxn ang="0">
                <a:pos x="45" y="54"/>
              </a:cxn>
              <a:cxn ang="0">
                <a:pos x="0" y="0"/>
              </a:cxn>
              <a:cxn ang="0">
                <a:pos x="499" y="0"/>
              </a:cxn>
              <a:cxn ang="0">
                <a:pos x="996" y="0"/>
              </a:cxn>
              <a:cxn ang="0">
                <a:pos x="1041" y="54"/>
              </a:cxn>
              <a:cxn ang="0">
                <a:pos x="996" y="109"/>
              </a:cxn>
            </a:cxnLst>
            <a:rect l="0" t="0" r="r" b="b"/>
            <a:pathLst>
              <a:path w="1041" h="109">
                <a:moveTo>
                  <a:pt x="996" y="109"/>
                </a:moveTo>
                <a:lnTo>
                  <a:pt x="499" y="109"/>
                </a:lnTo>
                <a:lnTo>
                  <a:pt x="0" y="109"/>
                </a:lnTo>
                <a:lnTo>
                  <a:pt x="45" y="54"/>
                </a:lnTo>
                <a:lnTo>
                  <a:pt x="0" y="0"/>
                </a:lnTo>
                <a:lnTo>
                  <a:pt x="499" y="0"/>
                </a:lnTo>
                <a:lnTo>
                  <a:pt x="996" y="0"/>
                </a:lnTo>
                <a:lnTo>
                  <a:pt x="1041" y="54"/>
                </a:lnTo>
                <a:lnTo>
                  <a:pt x="996" y="109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Freeform 792"/>
          <p:cNvSpPr/>
          <p:nvPr/>
        </p:nvSpPr>
        <p:spPr bwMode="auto">
          <a:xfrm>
            <a:off x="5808677" y="1800463"/>
            <a:ext cx="2384821" cy="596529"/>
          </a:xfrm>
          <a:custGeom>
            <a:avLst/>
            <a:gdLst/>
            <a:ahLst/>
            <a:cxnLst>
              <a:cxn ang="0">
                <a:pos x="996" y="109"/>
              </a:cxn>
              <a:cxn ang="0">
                <a:pos x="497" y="109"/>
              </a:cxn>
              <a:cxn ang="0">
                <a:pos x="0" y="109"/>
              </a:cxn>
              <a:cxn ang="0">
                <a:pos x="45" y="54"/>
              </a:cxn>
              <a:cxn ang="0">
                <a:pos x="0" y="0"/>
              </a:cxn>
              <a:cxn ang="0">
                <a:pos x="497" y="0"/>
              </a:cxn>
              <a:cxn ang="0">
                <a:pos x="996" y="0"/>
              </a:cxn>
              <a:cxn ang="0">
                <a:pos x="1041" y="54"/>
              </a:cxn>
              <a:cxn ang="0">
                <a:pos x="996" y="109"/>
              </a:cxn>
            </a:cxnLst>
            <a:rect l="0" t="0" r="r" b="b"/>
            <a:pathLst>
              <a:path w="1041" h="109">
                <a:moveTo>
                  <a:pt x="996" y="109"/>
                </a:moveTo>
                <a:lnTo>
                  <a:pt x="497" y="109"/>
                </a:lnTo>
                <a:lnTo>
                  <a:pt x="0" y="109"/>
                </a:lnTo>
                <a:lnTo>
                  <a:pt x="45" y="54"/>
                </a:lnTo>
                <a:lnTo>
                  <a:pt x="0" y="0"/>
                </a:lnTo>
                <a:lnTo>
                  <a:pt x="497" y="0"/>
                </a:lnTo>
                <a:lnTo>
                  <a:pt x="996" y="0"/>
                </a:lnTo>
                <a:lnTo>
                  <a:pt x="1041" y="54"/>
                </a:lnTo>
                <a:lnTo>
                  <a:pt x="996" y="109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Freeform 793"/>
          <p:cNvSpPr/>
          <p:nvPr/>
        </p:nvSpPr>
        <p:spPr bwMode="auto">
          <a:xfrm>
            <a:off x="8045991" y="1800463"/>
            <a:ext cx="2377947" cy="596529"/>
          </a:xfrm>
          <a:custGeom>
            <a:avLst/>
            <a:gdLst/>
            <a:ahLst/>
            <a:cxnLst>
              <a:cxn ang="0">
                <a:pos x="993" y="109"/>
              </a:cxn>
              <a:cxn ang="0">
                <a:pos x="497" y="109"/>
              </a:cxn>
              <a:cxn ang="0">
                <a:pos x="0" y="109"/>
              </a:cxn>
              <a:cxn ang="0">
                <a:pos x="45" y="54"/>
              </a:cxn>
              <a:cxn ang="0">
                <a:pos x="0" y="0"/>
              </a:cxn>
              <a:cxn ang="0">
                <a:pos x="497" y="0"/>
              </a:cxn>
              <a:cxn ang="0">
                <a:pos x="993" y="0"/>
              </a:cxn>
              <a:cxn ang="0">
                <a:pos x="1038" y="54"/>
              </a:cxn>
              <a:cxn ang="0">
                <a:pos x="993" y="109"/>
              </a:cxn>
            </a:cxnLst>
            <a:rect l="0" t="0" r="r" b="b"/>
            <a:pathLst>
              <a:path w="1038" h="109">
                <a:moveTo>
                  <a:pt x="993" y="109"/>
                </a:moveTo>
                <a:lnTo>
                  <a:pt x="497" y="109"/>
                </a:lnTo>
                <a:lnTo>
                  <a:pt x="0" y="109"/>
                </a:lnTo>
                <a:lnTo>
                  <a:pt x="45" y="54"/>
                </a:lnTo>
                <a:lnTo>
                  <a:pt x="0" y="0"/>
                </a:lnTo>
                <a:lnTo>
                  <a:pt x="497" y="0"/>
                </a:lnTo>
                <a:lnTo>
                  <a:pt x="993" y="0"/>
                </a:lnTo>
                <a:lnTo>
                  <a:pt x="1038" y="54"/>
                </a:lnTo>
                <a:lnTo>
                  <a:pt x="993" y="109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Content Placeholder 2"/>
          <p:cNvSpPr txBox="1"/>
          <p:nvPr/>
        </p:nvSpPr>
        <p:spPr>
          <a:xfrm>
            <a:off x="1422024" y="3952790"/>
            <a:ext cx="2055002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边界</a:t>
            </a:r>
          </a:p>
        </p:txBody>
      </p:sp>
      <p:cxnSp>
        <p:nvCxnSpPr>
          <p:cNvPr id="75" name="Straight Connector 9"/>
          <p:cNvCxnSpPr/>
          <p:nvPr/>
        </p:nvCxnSpPr>
        <p:spPr>
          <a:xfrm>
            <a:off x="2449525" y="2528379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10"/>
          <p:cNvCxnSpPr/>
          <p:nvPr/>
        </p:nvCxnSpPr>
        <p:spPr>
          <a:xfrm>
            <a:off x="4604003" y="2528379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11"/>
          <p:cNvCxnSpPr/>
          <p:nvPr/>
        </p:nvCxnSpPr>
        <p:spPr>
          <a:xfrm>
            <a:off x="6870502" y="2528379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12"/>
          <p:cNvCxnSpPr/>
          <p:nvPr/>
        </p:nvCxnSpPr>
        <p:spPr>
          <a:xfrm>
            <a:off x="9094060" y="2528379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Oval 14"/>
          <p:cNvSpPr/>
          <p:nvPr/>
        </p:nvSpPr>
        <p:spPr>
          <a:xfrm>
            <a:off x="2038045" y="3059138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Arc 15"/>
          <p:cNvSpPr/>
          <p:nvPr/>
        </p:nvSpPr>
        <p:spPr>
          <a:xfrm>
            <a:off x="2038045" y="3059138"/>
            <a:ext cx="822960" cy="822960"/>
          </a:xfrm>
          <a:prstGeom prst="arc">
            <a:avLst>
              <a:gd name="adj1" fmla="val 13167232"/>
              <a:gd name="adj2" fmla="val 16466928"/>
            </a:avLst>
          </a:prstGeom>
          <a:ln w="79375">
            <a:solidFill>
              <a:schemeClr val="accent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Oval 16"/>
          <p:cNvSpPr/>
          <p:nvPr/>
        </p:nvSpPr>
        <p:spPr>
          <a:xfrm>
            <a:off x="4192523" y="3059138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Arc 17"/>
          <p:cNvSpPr/>
          <p:nvPr/>
        </p:nvSpPr>
        <p:spPr>
          <a:xfrm>
            <a:off x="4192523" y="3059138"/>
            <a:ext cx="822960" cy="822960"/>
          </a:xfrm>
          <a:prstGeom prst="arc">
            <a:avLst>
              <a:gd name="adj1" fmla="val 9206565"/>
              <a:gd name="adj2" fmla="val 16045990"/>
            </a:avLst>
          </a:prstGeom>
          <a:ln w="79375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Oval 18"/>
          <p:cNvSpPr/>
          <p:nvPr/>
        </p:nvSpPr>
        <p:spPr>
          <a:xfrm>
            <a:off x="6459022" y="3059138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Arc 19"/>
          <p:cNvSpPr/>
          <p:nvPr/>
        </p:nvSpPr>
        <p:spPr>
          <a:xfrm>
            <a:off x="6459022" y="3059138"/>
            <a:ext cx="822960" cy="822960"/>
          </a:xfrm>
          <a:prstGeom prst="arc">
            <a:avLst>
              <a:gd name="adj1" fmla="val 5584046"/>
              <a:gd name="adj2" fmla="val 16355650"/>
            </a:avLst>
          </a:prstGeom>
          <a:ln w="79375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6" name="Oval 20"/>
          <p:cNvSpPr/>
          <p:nvPr/>
        </p:nvSpPr>
        <p:spPr>
          <a:xfrm>
            <a:off x="8673399" y="3032963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Arc 21"/>
          <p:cNvSpPr/>
          <p:nvPr/>
        </p:nvSpPr>
        <p:spPr>
          <a:xfrm>
            <a:off x="8668319" y="3032963"/>
            <a:ext cx="822960" cy="822960"/>
          </a:xfrm>
          <a:prstGeom prst="arc">
            <a:avLst>
              <a:gd name="adj1" fmla="val 867854"/>
              <a:gd name="adj2" fmla="val 16404494"/>
            </a:avLst>
          </a:prstGeom>
          <a:ln w="79375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" name="TextBox 27"/>
          <p:cNvSpPr txBox="1"/>
          <p:nvPr/>
        </p:nvSpPr>
        <p:spPr>
          <a:xfrm>
            <a:off x="1347977" y="1899426"/>
            <a:ext cx="2373003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1–2 月</a:t>
            </a:r>
          </a:p>
        </p:txBody>
      </p:sp>
      <p:sp>
        <p:nvSpPr>
          <p:cNvPr id="92" name="TextBox 28"/>
          <p:cNvSpPr txBox="1"/>
          <p:nvPr/>
        </p:nvSpPr>
        <p:spPr>
          <a:xfrm>
            <a:off x="3569032" y="1899426"/>
            <a:ext cx="2299833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3–5 月</a:t>
            </a:r>
          </a:p>
        </p:txBody>
      </p:sp>
      <p:sp>
        <p:nvSpPr>
          <p:cNvPr id="93" name="TextBox 29"/>
          <p:cNvSpPr txBox="1"/>
          <p:nvPr/>
        </p:nvSpPr>
        <p:spPr>
          <a:xfrm>
            <a:off x="5782638" y="1900061"/>
            <a:ext cx="2290137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6 月</a:t>
            </a:r>
          </a:p>
        </p:txBody>
      </p:sp>
      <p:sp>
        <p:nvSpPr>
          <p:cNvPr id="94" name="TextBox 30"/>
          <p:cNvSpPr txBox="1"/>
          <p:nvPr/>
        </p:nvSpPr>
        <p:spPr>
          <a:xfrm>
            <a:off x="8033293" y="1900061"/>
            <a:ext cx="2273302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7–8 月</a:t>
            </a:r>
          </a:p>
        </p:txBody>
      </p:sp>
      <p:sp>
        <p:nvSpPr>
          <p:cNvPr id="97" name="Content Placeholder 2"/>
          <p:cNvSpPr txBox="1"/>
          <p:nvPr/>
        </p:nvSpPr>
        <p:spPr>
          <a:xfrm>
            <a:off x="3923537" y="3952791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</a:t>
            </a:r>
          </a:p>
        </p:txBody>
      </p:sp>
      <p:sp>
        <p:nvSpPr>
          <p:cNvPr id="99" name="Content Placeholder 2"/>
          <p:cNvSpPr txBox="1"/>
          <p:nvPr/>
        </p:nvSpPr>
        <p:spPr>
          <a:xfrm>
            <a:off x="6161731" y="3952792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验证</a:t>
            </a:r>
          </a:p>
        </p:txBody>
      </p:sp>
      <p:sp>
        <p:nvSpPr>
          <p:cNvPr id="101" name="Content Placeholder 2"/>
          <p:cNvSpPr txBox="1"/>
          <p:nvPr/>
        </p:nvSpPr>
        <p:spPr>
          <a:xfrm>
            <a:off x="8395240" y="3952792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决赛</a:t>
            </a:r>
            <a:endParaRPr lang="en-US" sz="2000" b="1" dirty="0">
              <a:solidFill>
                <a:schemeClr val="accent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3" name="Content Placeholder 2"/>
          <p:cNvSpPr txBox="1"/>
          <p:nvPr/>
        </p:nvSpPr>
        <p:spPr>
          <a:xfrm>
            <a:off x="9862365" y="3971970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/>
          </a:p>
        </p:txBody>
      </p:sp>
      <p:sp>
        <p:nvSpPr>
          <p:cNvPr id="105" name="Freeform 6"/>
          <p:cNvSpPr>
            <a:spLocks noChangeArrowheads="1"/>
          </p:cNvSpPr>
          <p:nvPr/>
        </p:nvSpPr>
        <p:spPr bwMode="auto">
          <a:xfrm>
            <a:off x="6661308" y="3313825"/>
            <a:ext cx="365760" cy="365760"/>
          </a:xfrm>
          <a:custGeom>
            <a:avLst/>
            <a:gdLst>
              <a:gd name="T0" fmla="*/ 425 w 444"/>
              <a:gd name="T1" fmla="*/ 17 h 435"/>
              <a:gd name="T2" fmla="*/ 425 w 444"/>
              <a:gd name="T3" fmla="*/ 17 h 435"/>
              <a:gd name="T4" fmla="*/ 345 w 444"/>
              <a:gd name="T5" fmla="*/ 35 h 435"/>
              <a:gd name="T6" fmla="*/ 0 w 444"/>
              <a:gd name="T7" fmla="*/ 222 h 435"/>
              <a:gd name="T8" fmla="*/ 195 w 444"/>
              <a:gd name="T9" fmla="*/ 248 h 435"/>
              <a:gd name="T10" fmla="*/ 221 w 444"/>
              <a:gd name="T11" fmla="*/ 434 h 435"/>
              <a:gd name="T12" fmla="*/ 399 w 444"/>
              <a:gd name="T13" fmla="*/ 89 h 435"/>
              <a:gd name="T14" fmla="*/ 425 w 444"/>
              <a:gd name="T15" fmla="*/ 17 h 435"/>
              <a:gd name="T16" fmla="*/ 381 w 444"/>
              <a:gd name="T17" fmla="*/ 62 h 435"/>
              <a:gd name="T18" fmla="*/ 381 w 444"/>
              <a:gd name="T19" fmla="*/ 62 h 435"/>
              <a:gd name="T20" fmla="*/ 239 w 444"/>
              <a:gd name="T21" fmla="*/ 319 h 435"/>
              <a:gd name="T22" fmla="*/ 230 w 444"/>
              <a:gd name="T23" fmla="*/ 204 h 435"/>
              <a:gd name="T24" fmla="*/ 381 w 444"/>
              <a:gd name="T25" fmla="*/ 62 h 4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444" h="435">
                <a:moveTo>
                  <a:pt x="425" y="17"/>
                </a:moveTo>
                <a:lnTo>
                  <a:pt x="425" y="17"/>
                </a:lnTo>
                <a:cubicBezTo>
                  <a:pt x="408" y="0"/>
                  <a:pt x="399" y="17"/>
                  <a:pt x="345" y="35"/>
                </a:cubicBezTo>
                <a:cubicBezTo>
                  <a:pt x="221" y="97"/>
                  <a:pt x="0" y="222"/>
                  <a:pt x="0" y="222"/>
                </a:cubicBezTo>
                <a:cubicBezTo>
                  <a:pt x="195" y="248"/>
                  <a:pt x="195" y="248"/>
                  <a:pt x="195" y="248"/>
                </a:cubicBezTo>
                <a:cubicBezTo>
                  <a:pt x="221" y="434"/>
                  <a:pt x="221" y="434"/>
                  <a:pt x="221" y="434"/>
                </a:cubicBezTo>
                <a:cubicBezTo>
                  <a:pt x="221" y="434"/>
                  <a:pt x="345" y="222"/>
                  <a:pt x="399" y="89"/>
                </a:cubicBezTo>
                <a:cubicBezTo>
                  <a:pt x="425" y="44"/>
                  <a:pt x="443" y="26"/>
                  <a:pt x="425" y="17"/>
                </a:cubicBezTo>
                <a:close/>
                <a:moveTo>
                  <a:pt x="381" y="62"/>
                </a:moveTo>
                <a:lnTo>
                  <a:pt x="381" y="62"/>
                </a:lnTo>
                <a:cubicBezTo>
                  <a:pt x="239" y="319"/>
                  <a:pt x="239" y="319"/>
                  <a:pt x="239" y="319"/>
                </a:cubicBezTo>
                <a:cubicBezTo>
                  <a:pt x="230" y="204"/>
                  <a:pt x="230" y="204"/>
                  <a:pt x="230" y="204"/>
                </a:cubicBezTo>
                <a:lnTo>
                  <a:pt x="381" y="62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Freeform 25"/>
          <p:cNvSpPr>
            <a:spLocks noChangeArrowheads="1"/>
          </p:cNvSpPr>
          <p:nvPr/>
        </p:nvSpPr>
        <p:spPr bwMode="auto">
          <a:xfrm>
            <a:off x="8905769" y="3236545"/>
            <a:ext cx="365760" cy="365760"/>
          </a:xfrm>
          <a:custGeom>
            <a:avLst/>
            <a:gdLst>
              <a:gd name="T0" fmla="*/ 195 w 346"/>
              <a:gd name="T1" fmla="*/ 0 h 479"/>
              <a:gd name="T2" fmla="*/ 195 w 346"/>
              <a:gd name="T3" fmla="*/ 0 h 479"/>
              <a:gd name="T4" fmla="*/ 160 w 346"/>
              <a:gd name="T5" fmla="*/ 0 h 479"/>
              <a:gd name="T6" fmla="*/ 160 w 346"/>
              <a:gd name="T7" fmla="*/ 328 h 479"/>
              <a:gd name="T8" fmla="*/ 80 w 346"/>
              <a:gd name="T9" fmla="*/ 328 h 479"/>
              <a:gd name="T10" fmla="*/ 10 w 346"/>
              <a:gd name="T11" fmla="*/ 425 h 479"/>
              <a:gd name="T12" fmla="*/ 124 w 346"/>
              <a:gd name="T13" fmla="*/ 461 h 479"/>
              <a:gd name="T14" fmla="*/ 195 w 346"/>
              <a:gd name="T15" fmla="*/ 372 h 479"/>
              <a:gd name="T16" fmla="*/ 195 w 346"/>
              <a:gd name="T17" fmla="*/ 106 h 479"/>
              <a:gd name="T18" fmla="*/ 257 w 346"/>
              <a:gd name="T19" fmla="*/ 230 h 479"/>
              <a:gd name="T20" fmla="*/ 275 w 346"/>
              <a:gd name="T21" fmla="*/ 230 h 479"/>
              <a:gd name="T22" fmla="*/ 195 w 346"/>
              <a:gd name="T23" fmla="*/ 0 h 4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346" h="479">
                <a:moveTo>
                  <a:pt x="195" y="0"/>
                </a:moveTo>
                <a:lnTo>
                  <a:pt x="195" y="0"/>
                </a:lnTo>
                <a:cubicBezTo>
                  <a:pt x="160" y="0"/>
                  <a:pt x="160" y="0"/>
                  <a:pt x="160" y="0"/>
                </a:cubicBezTo>
                <a:cubicBezTo>
                  <a:pt x="160" y="328"/>
                  <a:pt x="160" y="328"/>
                  <a:pt x="160" y="328"/>
                </a:cubicBezTo>
                <a:cubicBezTo>
                  <a:pt x="133" y="319"/>
                  <a:pt x="107" y="319"/>
                  <a:pt x="80" y="328"/>
                </a:cubicBezTo>
                <a:cubicBezTo>
                  <a:pt x="26" y="346"/>
                  <a:pt x="0" y="390"/>
                  <a:pt x="10" y="425"/>
                </a:cubicBezTo>
                <a:cubicBezTo>
                  <a:pt x="26" y="461"/>
                  <a:pt x="71" y="478"/>
                  <a:pt x="124" y="461"/>
                </a:cubicBezTo>
                <a:cubicBezTo>
                  <a:pt x="169" y="443"/>
                  <a:pt x="195" y="408"/>
                  <a:pt x="195" y="372"/>
                </a:cubicBezTo>
                <a:cubicBezTo>
                  <a:pt x="195" y="106"/>
                  <a:pt x="195" y="106"/>
                  <a:pt x="195" y="106"/>
                </a:cubicBezTo>
                <a:cubicBezTo>
                  <a:pt x="266" y="124"/>
                  <a:pt x="266" y="212"/>
                  <a:pt x="257" y="230"/>
                </a:cubicBezTo>
                <a:cubicBezTo>
                  <a:pt x="257" y="239"/>
                  <a:pt x="266" y="248"/>
                  <a:pt x="275" y="230"/>
                </a:cubicBezTo>
                <a:cubicBezTo>
                  <a:pt x="345" y="115"/>
                  <a:pt x="195" y="62"/>
                  <a:pt x="195" y="0"/>
                </a:cubicBezTo>
              </a:path>
            </a:pathLst>
          </a:cu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Freeform 106"/>
          <p:cNvSpPr>
            <a:spLocks noChangeArrowheads="1"/>
          </p:cNvSpPr>
          <p:nvPr/>
        </p:nvSpPr>
        <p:spPr bwMode="auto">
          <a:xfrm>
            <a:off x="4455627" y="3292798"/>
            <a:ext cx="365760" cy="365760"/>
          </a:xfrm>
          <a:custGeom>
            <a:avLst/>
            <a:gdLst>
              <a:gd name="T0" fmla="*/ 35 w 355"/>
              <a:gd name="T1" fmla="*/ 497 h 506"/>
              <a:gd name="T2" fmla="*/ 35 w 355"/>
              <a:gd name="T3" fmla="*/ 497 h 506"/>
              <a:gd name="T4" fmla="*/ 70 w 355"/>
              <a:gd name="T5" fmla="*/ 381 h 506"/>
              <a:gd name="T6" fmla="*/ 203 w 355"/>
              <a:gd name="T7" fmla="*/ 310 h 506"/>
              <a:gd name="T8" fmla="*/ 132 w 355"/>
              <a:gd name="T9" fmla="*/ 284 h 506"/>
              <a:gd name="T10" fmla="*/ 292 w 355"/>
              <a:gd name="T11" fmla="*/ 194 h 506"/>
              <a:gd name="T12" fmla="*/ 194 w 355"/>
              <a:gd name="T13" fmla="*/ 168 h 506"/>
              <a:gd name="T14" fmla="*/ 327 w 355"/>
              <a:gd name="T15" fmla="*/ 133 h 506"/>
              <a:gd name="T16" fmla="*/ 345 w 355"/>
              <a:gd name="T17" fmla="*/ 44 h 506"/>
              <a:gd name="T18" fmla="*/ 248 w 355"/>
              <a:gd name="T19" fmla="*/ 0 h 506"/>
              <a:gd name="T20" fmla="*/ 159 w 355"/>
              <a:gd name="T21" fmla="*/ 124 h 506"/>
              <a:gd name="T22" fmla="*/ 168 w 355"/>
              <a:gd name="T23" fmla="*/ 18 h 506"/>
              <a:gd name="T24" fmla="*/ 70 w 355"/>
              <a:gd name="T25" fmla="*/ 106 h 506"/>
              <a:gd name="T26" fmla="*/ 61 w 355"/>
              <a:gd name="T27" fmla="*/ 301 h 506"/>
              <a:gd name="T28" fmla="*/ 8 w 355"/>
              <a:gd name="T29" fmla="*/ 213 h 506"/>
              <a:gd name="T30" fmla="*/ 35 w 355"/>
              <a:gd name="T31" fmla="*/ 363 h 506"/>
              <a:gd name="T32" fmla="*/ 8 w 355"/>
              <a:gd name="T33" fmla="*/ 478 h 506"/>
              <a:gd name="T34" fmla="*/ 35 w 355"/>
              <a:gd name="T35" fmla="*/ 497 h 5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355" h="506">
                <a:moveTo>
                  <a:pt x="35" y="497"/>
                </a:moveTo>
                <a:lnTo>
                  <a:pt x="35" y="497"/>
                </a:lnTo>
                <a:cubicBezTo>
                  <a:pt x="44" y="469"/>
                  <a:pt x="53" y="434"/>
                  <a:pt x="70" y="381"/>
                </a:cubicBezTo>
                <a:cubicBezTo>
                  <a:pt x="132" y="372"/>
                  <a:pt x="168" y="390"/>
                  <a:pt x="203" y="310"/>
                </a:cubicBezTo>
                <a:cubicBezTo>
                  <a:pt x="168" y="328"/>
                  <a:pt x="132" y="292"/>
                  <a:pt x="132" y="284"/>
                </a:cubicBezTo>
                <a:cubicBezTo>
                  <a:pt x="132" y="266"/>
                  <a:pt x="229" y="292"/>
                  <a:pt x="292" y="194"/>
                </a:cubicBezTo>
                <a:cubicBezTo>
                  <a:pt x="212" y="213"/>
                  <a:pt x="185" y="178"/>
                  <a:pt x="194" y="168"/>
                </a:cubicBezTo>
                <a:cubicBezTo>
                  <a:pt x="221" y="159"/>
                  <a:pt x="292" y="168"/>
                  <a:pt x="327" y="133"/>
                </a:cubicBezTo>
                <a:cubicBezTo>
                  <a:pt x="345" y="115"/>
                  <a:pt x="354" y="62"/>
                  <a:pt x="345" y="44"/>
                </a:cubicBezTo>
                <a:cubicBezTo>
                  <a:pt x="336" y="27"/>
                  <a:pt x="283" y="0"/>
                  <a:pt x="248" y="0"/>
                </a:cubicBezTo>
                <a:cubicBezTo>
                  <a:pt x="221" y="9"/>
                  <a:pt x="168" y="124"/>
                  <a:pt x="159" y="124"/>
                </a:cubicBezTo>
                <a:cubicBezTo>
                  <a:pt x="141" y="124"/>
                  <a:pt x="141" y="71"/>
                  <a:pt x="168" y="18"/>
                </a:cubicBezTo>
                <a:cubicBezTo>
                  <a:pt x="132" y="35"/>
                  <a:pt x="88" y="71"/>
                  <a:pt x="70" y="106"/>
                </a:cubicBezTo>
                <a:cubicBezTo>
                  <a:pt x="44" y="159"/>
                  <a:pt x="79" y="301"/>
                  <a:pt x="61" y="301"/>
                </a:cubicBezTo>
                <a:cubicBezTo>
                  <a:pt x="53" y="310"/>
                  <a:pt x="17" y="239"/>
                  <a:pt x="8" y="213"/>
                </a:cubicBezTo>
                <a:cubicBezTo>
                  <a:pt x="0" y="257"/>
                  <a:pt x="0" y="301"/>
                  <a:pt x="35" y="363"/>
                </a:cubicBezTo>
                <a:cubicBezTo>
                  <a:pt x="26" y="407"/>
                  <a:pt x="17" y="452"/>
                  <a:pt x="8" y="478"/>
                </a:cubicBezTo>
                <a:cubicBezTo>
                  <a:pt x="8" y="497"/>
                  <a:pt x="35" y="505"/>
                  <a:pt x="35" y="497"/>
                </a:cubicBez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9" name="Freeform 115"/>
          <p:cNvSpPr>
            <a:spLocks noChangeArrowheads="1"/>
          </p:cNvSpPr>
          <p:nvPr/>
        </p:nvSpPr>
        <p:spPr bwMode="auto">
          <a:xfrm>
            <a:off x="2275745" y="3254161"/>
            <a:ext cx="365760" cy="432913"/>
          </a:xfrm>
          <a:custGeom>
            <a:avLst/>
            <a:gdLst>
              <a:gd name="T0" fmla="*/ 381 w 400"/>
              <a:gd name="T1" fmla="*/ 124 h 498"/>
              <a:gd name="T2" fmla="*/ 381 w 400"/>
              <a:gd name="T3" fmla="*/ 124 h 498"/>
              <a:gd name="T4" fmla="*/ 231 w 400"/>
              <a:gd name="T5" fmla="*/ 9 h 498"/>
              <a:gd name="T6" fmla="*/ 115 w 400"/>
              <a:gd name="T7" fmla="*/ 151 h 498"/>
              <a:gd name="T8" fmla="*/ 133 w 400"/>
              <a:gd name="T9" fmla="*/ 213 h 498"/>
              <a:gd name="T10" fmla="*/ 9 w 400"/>
              <a:gd name="T11" fmla="*/ 407 h 498"/>
              <a:gd name="T12" fmla="*/ 0 w 400"/>
              <a:gd name="T13" fmla="*/ 434 h 498"/>
              <a:gd name="T14" fmla="*/ 9 w 400"/>
              <a:gd name="T15" fmla="*/ 478 h 498"/>
              <a:gd name="T16" fmla="*/ 27 w 400"/>
              <a:gd name="T17" fmla="*/ 497 h 498"/>
              <a:gd name="T18" fmla="*/ 62 w 400"/>
              <a:gd name="T19" fmla="*/ 487 h 498"/>
              <a:gd name="T20" fmla="*/ 89 w 400"/>
              <a:gd name="T21" fmla="*/ 470 h 498"/>
              <a:gd name="T22" fmla="*/ 142 w 400"/>
              <a:gd name="T23" fmla="*/ 390 h 498"/>
              <a:gd name="T24" fmla="*/ 142 w 400"/>
              <a:gd name="T25" fmla="*/ 390 h 498"/>
              <a:gd name="T26" fmla="*/ 177 w 400"/>
              <a:gd name="T27" fmla="*/ 381 h 498"/>
              <a:gd name="T28" fmla="*/ 231 w 400"/>
              <a:gd name="T29" fmla="*/ 284 h 498"/>
              <a:gd name="T30" fmla="*/ 293 w 400"/>
              <a:gd name="T31" fmla="*/ 284 h 498"/>
              <a:gd name="T32" fmla="*/ 381 w 400"/>
              <a:gd name="T33" fmla="*/ 124 h 498"/>
              <a:gd name="T34" fmla="*/ 319 w 400"/>
              <a:gd name="T35" fmla="*/ 159 h 498"/>
              <a:gd name="T36" fmla="*/ 319 w 400"/>
              <a:gd name="T37" fmla="*/ 159 h 498"/>
              <a:gd name="T38" fmla="*/ 256 w 400"/>
              <a:gd name="T39" fmla="*/ 142 h 498"/>
              <a:gd name="T40" fmla="*/ 221 w 400"/>
              <a:gd name="T41" fmla="*/ 80 h 498"/>
              <a:gd name="T42" fmla="*/ 310 w 400"/>
              <a:gd name="T43" fmla="*/ 71 h 498"/>
              <a:gd name="T44" fmla="*/ 319 w 400"/>
              <a:gd name="T45" fmla="*/ 159 h 4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00" h="498">
                <a:moveTo>
                  <a:pt x="381" y="124"/>
                </a:moveTo>
                <a:lnTo>
                  <a:pt x="381" y="124"/>
                </a:lnTo>
                <a:cubicBezTo>
                  <a:pt x="372" y="44"/>
                  <a:pt x="301" y="0"/>
                  <a:pt x="231" y="9"/>
                </a:cubicBezTo>
                <a:cubicBezTo>
                  <a:pt x="159" y="27"/>
                  <a:pt x="106" y="80"/>
                  <a:pt x="115" y="151"/>
                </a:cubicBezTo>
                <a:cubicBezTo>
                  <a:pt x="115" y="168"/>
                  <a:pt x="124" y="195"/>
                  <a:pt x="133" y="213"/>
                </a:cubicBezTo>
                <a:cubicBezTo>
                  <a:pt x="9" y="407"/>
                  <a:pt x="9" y="407"/>
                  <a:pt x="9" y="407"/>
                </a:cubicBezTo>
                <a:cubicBezTo>
                  <a:pt x="0" y="407"/>
                  <a:pt x="0" y="425"/>
                  <a:pt x="0" y="434"/>
                </a:cubicBezTo>
                <a:cubicBezTo>
                  <a:pt x="9" y="478"/>
                  <a:pt x="9" y="478"/>
                  <a:pt x="9" y="478"/>
                </a:cubicBezTo>
                <a:cubicBezTo>
                  <a:pt x="9" y="487"/>
                  <a:pt x="18" y="497"/>
                  <a:pt x="27" y="497"/>
                </a:cubicBezTo>
                <a:cubicBezTo>
                  <a:pt x="62" y="487"/>
                  <a:pt x="62" y="487"/>
                  <a:pt x="62" y="487"/>
                </a:cubicBezTo>
                <a:cubicBezTo>
                  <a:pt x="71" y="487"/>
                  <a:pt x="80" y="478"/>
                  <a:pt x="89" y="470"/>
                </a:cubicBezTo>
                <a:cubicBezTo>
                  <a:pt x="142" y="390"/>
                  <a:pt x="142" y="390"/>
                  <a:pt x="142" y="390"/>
                </a:cubicBezTo>
                <a:lnTo>
                  <a:pt x="142" y="390"/>
                </a:lnTo>
                <a:cubicBezTo>
                  <a:pt x="177" y="381"/>
                  <a:pt x="177" y="381"/>
                  <a:pt x="177" y="381"/>
                </a:cubicBezTo>
                <a:cubicBezTo>
                  <a:pt x="231" y="284"/>
                  <a:pt x="231" y="284"/>
                  <a:pt x="231" y="284"/>
                </a:cubicBezTo>
                <a:cubicBezTo>
                  <a:pt x="248" y="293"/>
                  <a:pt x="284" y="284"/>
                  <a:pt x="293" y="284"/>
                </a:cubicBezTo>
                <a:cubicBezTo>
                  <a:pt x="363" y="275"/>
                  <a:pt x="399" y="195"/>
                  <a:pt x="381" y="124"/>
                </a:cubicBezTo>
                <a:close/>
                <a:moveTo>
                  <a:pt x="319" y="159"/>
                </a:moveTo>
                <a:lnTo>
                  <a:pt x="319" y="159"/>
                </a:lnTo>
                <a:cubicBezTo>
                  <a:pt x="301" y="187"/>
                  <a:pt x="284" y="168"/>
                  <a:pt x="256" y="142"/>
                </a:cubicBezTo>
                <a:cubicBezTo>
                  <a:pt x="231" y="124"/>
                  <a:pt x="203" y="115"/>
                  <a:pt x="221" y="80"/>
                </a:cubicBezTo>
                <a:cubicBezTo>
                  <a:pt x="240" y="53"/>
                  <a:pt x="284" y="44"/>
                  <a:pt x="310" y="71"/>
                </a:cubicBezTo>
                <a:cubicBezTo>
                  <a:pt x="337" y="89"/>
                  <a:pt x="346" y="133"/>
                  <a:pt x="319" y="15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1348571" y="4411217"/>
            <a:ext cx="22256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确定 Rust 内核路线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建立 Linux ABI 边界</a:t>
            </a:r>
            <a:endParaRPr lang="en-US" altLang="zh-CN" sz="18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双架构并行推进</a:t>
            </a:r>
            <a:endParaRPr lang="zh-CN" altLang="en-US" sz="18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3569166" y="4411217"/>
            <a:ext cx="223901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进程 / 调度 / VMO</a:t>
            </a:r>
            <a:endParaRPr lang="en-US" altLang="zh-CN" sz="1800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VFS / 设备模型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基础用户态运行</a:t>
            </a:r>
            <a:endParaRPr lang="en-US" altLang="zh-CN" sz="1800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4" name="Content Placeholder 2"/>
          <p:cNvSpPr txBox="1"/>
          <p:nvPr/>
        </p:nvSpPr>
        <p:spPr>
          <a:xfrm>
            <a:off x="5809445" y="4402327"/>
            <a:ext cx="2350029" cy="1205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初赛测例全部通过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补齐 LTP 语义边界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缓存与挂载路径完善</a:t>
            </a: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Content Placeholder 2"/>
          <p:cNvSpPr txBox="1"/>
          <p:nvPr/>
        </p:nvSpPr>
        <p:spPr>
          <a:xfrm>
            <a:off x="8046551" y="4402327"/>
            <a:ext cx="2530918" cy="1205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网络与作业控制</a:t>
            </a:r>
            <a:endParaRPr lang="en-US" altLang="zh-CN" dirty="0">
              <a:solidFill>
                <a:schemeClr val="accent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BuildStorm / Cagent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性能验证与交付</a:t>
            </a:r>
          </a:p>
        </p:txBody>
      </p:sp>
      <p:sp>
        <p:nvSpPr>
          <p:cNvPr id="2" name="Content Placeholder 2"/>
          <p:cNvSpPr txBox="1"/>
          <p:nvPr/>
        </p:nvSpPr>
        <p:spPr>
          <a:xfrm>
            <a:off x="9748173" y="4125310"/>
            <a:ext cx="1982470" cy="2154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altLang="zh-CN" dirty="0">
              <a:solidFill>
                <a:schemeClr val="accent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dirty="0">
              <a:solidFill>
                <a:schemeClr val="accent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000" dirty="0">
              <a:solidFill>
                <a:schemeClr val="accent6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000" dirty="0">
              <a:solidFill>
                <a:schemeClr val="accent6"/>
              </a:solidFill>
            </a:endParaRPr>
          </a:p>
        </p:txBody>
      </p:sp>
      <p:sp>
        <p:nvSpPr>
          <p:cNvPr id="116" name="NavActive 开发历程"/>
          <p:cNvSpPr/>
          <p:nvPr/>
        </p:nvSpPr>
        <p:spPr>
          <a:xfrm>
            <a:off x="4638083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117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123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124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125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126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127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117373" y="1084103"/>
            <a:ext cx="38972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决赛阶段：从测例到真实负载</a:t>
            </a:r>
            <a:endParaRPr lang="zh-CN" altLang="en-US" sz="28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0" name="Freeform 790"/>
          <p:cNvSpPr/>
          <p:nvPr/>
        </p:nvSpPr>
        <p:spPr bwMode="auto">
          <a:xfrm>
            <a:off x="1347977" y="1800463"/>
            <a:ext cx="2373003" cy="596529"/>
          </a:xfrm>
          <a:custGeom>
            <a:avLst/>
            <a:gdLst>
              <a:gd name="connsiteX0" fmla="*/ 9568 w 10000"/>
              <a:gd name="connsiteY0" fmla="*/ 10000 h 10000"/>
              <a:gd name="connsiteX1" fmla="*/ 4793 w 10000"/>
              <a:gd name="connsiteY1" fmla="*/ 10000 h 10000"/>
              <a:gd name="connsiteX2" fmla="*/ 0 w 10000"/>
              <a:gd name="connsiteY2" fmla="*/ 10000 h 10000"/>
              <a:gd name="connsiteX3" fmla="*/ 1362 w 10000"/>
              <a:gd name="connsiteY3" fmla="*/ 4954 h 10000"/>
              <a:gd name="connsiteX4" fmla="*/ 0 w 10000"/>
              <a:gd name="connsiteY4" fmla="*/ 0 h 10000"/>
              <a:gd name="connsiteX5" fmla="*/ 4793 w 10000"/>
              <a:gd name="connsiteY5" fmla="*/ 0 h 10000"/>
              <a:gd name="connsiteX6" fmla="*/ 9568 w 10000"/>
              <a:gd name="connsiteY6" fmla="*/ 0 h 10000"/>
              <a:gd name="connsiteX7" fmla="*/ 10000 w 10000"/>
              <a:gd name="connsiteY7" fmla="*/ 4954 h 10000"/>
              <a:gd name="connsiteX8" fmla="*/ 9568 w 10000"/>
              <a:gd name="connsiteY8" fmla="*/ 100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000" h="10000">
                <a:moveTo>
                  <a:pt x="9568" y="10000"/>
                </a:moveTo>
                <a:lnTo>
                  <a:pt x="4793" y="10000"/>
                </a:lnTo>
                <a:lnTo>
                  <a:pt x="0" y="10000"/>
                </a:lnTo>
                <a:lnTo>
                  <a:pt x="1362" y="4954"/>
                </a:lnTo>
                <a:lnTo>
                  <a:pt x="0" y="0"/>
                </a:lnTo>
                <a:lnTo>
                  <a:pt x="4793" y="0"/>
                </a:lnTo>
                <a:lnTo>
                  <a:pt x="9568" y="0"/>
                </a:lnTo>
                <a:lnTo>
                  <a:pt x="10000" y="4954"/>
                </a:lnTo>
                <a:lnTo>
                  <a:pt x="9568" y="10000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Freeform 791"/>
          <p:cNvSpPr/>
          <p:nvPr/>
        </p:nvSpPr>
        <p:spPr bwMode="auto">
          <a:xfrm>
            <a:off x="3573477" y="1800463"/>
            <a:ext cx="2384821" cy="596529"/>
          </a:xfrm>
          <a:custGeom>
            <a:avLst/>
            <a:gdLst/>
            <a:ahLst/>
            <a:cxnLst>
              <a:cxn ang="0">
                <a:pos x="996" y="109"/>
              </a:cxn>
              <a:cxn ang="0">
                <a:pos x="499" y="109"/>
              </a:cxn>
              <a:cxn ang="0">
                <a:pos x="0" y="109"/>
              </a:cxn>
              <a:cxn ang="0">
                <a:pos x="45" y="54"/>
              </a:cxn>
              <a:cxn ang="0">
                <a:pos x="0" y="0"/>
              </a:cxn>
              <a:cxn ang="0">
                <a:pos x="499" y="0"/>
              </a:cxn>
              <a:cxn ang="0">
                <a:pos x="996" y="0"/>
              </a:cxn>
              <a:cxn ang="0">
                <a:pos x="1041" y="54"/>
              </a:cxn>
              <a:cxn ang="0">
                <a:pos x="996" y="109"/>
              </a:cxn>
            </a:cxnLst>
            <a:rect l="0" t="0" r="r" b="b"/>
            <a:pathLst>
              <a:path w="1041" h="109">
                <a:moveTo>
                  <a:pt x="996" y="109"/>
                </a:moveTo>
                <a:lnTo>
                  <a:pt x="499" y="109"/>
                </a:lnTo>
                <a:lnTo>
                  <a:pt x="0" y="109"/>
                </a:lnTo>
                <a:lnTo>
                  <a:pt x="45" y="54"/>
                </a:lnTo>
                <a:lnTo>
                  <a:pt x="0" y="0"/>
                </a:lnTo>
                <a:lnTo>
                  <a:pt x="499" y="0"/>
                </a:lnTo>
                <a:lnTo>
                  <a:pt x="996" y="0"/>
                </a:lnTo>
                <a:lnTo>
                  <a:pt x="1041" y="54"/>
                </a:lnTo>
                <a:lnTo>
                  <a:pt x="996" y="109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Freeform 792"/>
          <p:cNvSpPr/>
          <p:nvPr/>
        </p:nvSpPr>
        <p:spPr bwMode="auto">
          <a:xfrm>
            <a:off x="5808677" y="1800463"/>
            <a:ext cx="2384821" cy="596529"/>
          </a:xfrm>
          <a:custGeom>
            <a:avLst/>
            <a:gdLst/>
            <a:ahLst/>
            <a:cxnLst>
              <a:cxn ang="0">
                <a:pos x="996" y="109"/>
              </a:cxn>
              <a:cxn ang="0">
                <a:pos x="497" y="109"/>
              </a:cxn>
              <a:cxn ang="0">
                <a:pos x="0" y="109"/>
              </a:cxn>
              <a:cxn ang="0">
                <a:pos x="45" y="54"/>
              </a:cxn>
              <a:cxn ang="0">
                <a:pos x="0" y="0"/>
              </a:cxn>
              <a:cxn ang="0">
                <a:pos x="497" y="0"/>
              </a:cxn>
              <a:cxn ang="0">
                <a:pos x="996" y="0"/>
              </a:cxn>
              <a:cxn ang="0">
                <a:pos x="1041" y="54"/>
              </a:cxn>
              <a:cxn ang="0">
                <a:pos x="996" y="109"/>
              </a:cxn>
            </a:cxnLst>
            <a:rect l="0" t="0" r="r" b="b"/>
            <a:pathLst>
              <a:path w="1041" h="109">
                <a:moveTo>
                  <a:pt x="996" y="109"/>
                </a:moveTo>
                <a:lnTo>
                  <a:pt x="497" y="109"/>
                </a:lnTo>
                <a:lnTo>
                  <a:pt x="0" y="109"/>
                </a:lnTo>
                <a:lnTo>
                  <a:pt x="45" y="54"/>
                </a:lnTo>
                <a:lnTo>
                  <a:pt x="0" y="0"/>
                </a:lnTo>
                <a:lnTo>
                  <a:pt x="497" y="0"/>
                </a:lnTo>
                <a:lnTo>
                  <a:pt x="996" y="0"/>
                </a:lnTo>
                <a:lnTo>
                  <a:pt x="1041" y="54"/>
                </a:lnTo>
                <a:lnTo>
                  <a:pt x="996" y="109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Freeform 793"/>
          <p:cNvSpPr/>
          <p:nvPr/>
        </p:nvSpPr>
        <p:spPr bwMode="auto">
          <a:xfrm>
            <a:off x="8045991" y="1800463"/>
            <a:ext cx="2377947" cy="596529"/>
          </a:xfrm>
          <a:custGeom>
            <a:avLst/>
            <a:gdLst/>
            <a:ahLst/>
            <a:cxnLst>
              <a:cxn ang="0">
                <a:pos x="993" y="109"/>
              </a:cxn>
              <a:cxn ang="0">
                <a:pos x="497" y="109"/>
              </a:cxn>
              <a:cxn ang="0">
                <a:pos x="0" y="109"/>
              </a:cxn>
              <a:cxn ang="0">
                <a:pos x="45" y="54"/>
              </a:cxn>
              <a:cxn ang="0">
                <a:pos x="0" y="0"/>
              </a:cxn>
              <a:cxn ang="0">
                <a:pos x="497" y="0"/>
              </a:cxn>
              <a:cxn ang="0">
                <a:pos x="993" y="0"/>
              </a:cxn>
              <a:cxn ang="0">
                <a:pos x="1038" y="54"/>
              </a:cxn>
              <a:cxn ang="0">
                <a:pos x="993" y="109"/>
              </a:cxn>
            </a:cxnLst>
            <a:rect l="0" t="0" r="r" b="b"/>
            <a:pathLst>
              <a:path w="1038" h="109">
                <a:moveTo>
                  <a:pt x="993" y="109"/>
                </a:moveTo>
                <a:lnTo>
                  <a:pt x="497" y="109"/>
                </a:lnTo>
                <a:lnTo>
                  <a:pt x="0" y="109"/>
                </a:lnTo>
                <a:lnTo>
                  <a:pt x="45" y="54"/>
                </a:lnTo>
                <a:lnTo>
                  <a:pt x="0" y="0"/>
                </a:lnTo>
                <a:lnTo>
                  <a:pt x="497" y="0"/>
                </a:lnTo>
                <a:lnTo>
                  <a:pt x="993" y="0"/>
                </a:lnTo>
                <a:lnTo>
                  <a:pt x="1038" y="54"/>
                </a:lnTo>
                <a:lnTo>
                  <a:pt x="993" y="109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Content Placeholder 2"/>
          <p:cNvSpPr txBox="1"/>
          <p:nvPr/>
        </p:nvSpPr>
        <p:spPr>
          <a:xfrm>
            <a:off x="1422024" y="3952790"/>
            <a:ext cx="2055002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网络</a:t>
            </a:r>
          </a:p>
        </p:txBody>
      </p:sp>
      <p:cxnSp>
        <p:nvCxnSpPr>
          <p:cNvPr id="75" name="Straight Connector 9"/>
          <p:cNvCxnSpPr/>
          <p:nvPr/>
        </p:nvCxnSpPr>
        <p:spPr>
          <a:xfrm>
            <a:off x="2449525" y="2528379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10"/>
          <p:cNvCxnSpPr/>
          <p:nvPr/>
        </p:nvCxnSpPr>
        <p:spPr>
          <a:xfrm>
            <a:off x="4604003" y="2528379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11"/>
          <p:cNvCxnSpPr/>
          <p:nvPr/>
        </p:nvCxnSpPr>
        <p:spPr>
          <a:xfrm>
            <a:off x="6870502" y="2528379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12"/>
          <p:cNvCxnSpPr/>
          <p:nvPr/>
        </p:nvCxnSpPr>
        <p:spPr>
          <a:xfrm>
            <a:off x="9094060" y="2528379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Oval 14"/>
          <p:cNvSpPr/>
          <p:nvPr/>
        </p:nvSpPr>
        <p:spPr>
          <a:xfrm>
            <a:off x="2038045" y="3059138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Arc 15"/>
          <p:cNvSpPr/>
          <p:nvPr/>
        </p:nvSpPr>
        <p:spPr>
          <a:xfrm>
            <a:off x="2038045" y="3059138"/>
            <a:ext cx="822960" cy="822960"/>
          </a:xfrm>
          <a:prstGeom prst="arc">
            <a:avLst>
              <a:gd name="adj1" fmla="val 13167232"/>
              <a:gd name="adj2" fmla="val 16466928"/>
            </a:avLst>
          </a:prstGeom>
          <a:ln w="79375">
            <a:solidFill>
              <a:schemeClr val="accent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Oval 16"/>
          <p:cNvSpPr/>
          <p:nvPr/>
        </p:nvSpPr>
        <p:spPr>
          <a:xfrm>
            <a:off x="4192523" y="3059138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Arc 17"/>
          <p:cNvSpPr/>
          <p:nvPr/>
        </p:nvSpPr>
        <p:spPr>
          <a:xfrm>
            <a:off x="4192523" y="3059138"/>
            <a:ext cx="822960" cy="822960"/>
          </a:xfrm>
          <a:prstGeom prst="arc">
            <a:avLst>
              <a:gd name="adj1" fmla="val 9206565"/>
              <a:gd name="adj2" fmla="val 16045990"/>
            </a:avLst>
          </a:prstGeom>
          <a:ln w="79375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Oval 18"/>
          <p:cNvSpPr/>
          <p:nvPr/>
        </p:nvSpPr>
        <p:spPr>
          <a:xfrm>
            <a:off x="6459022" y="3059138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Arc 19"/>
          <p:cNvSpPr/>
          <p:nvPr/>
        </p:nvSpPr>
        <p:spPr>
          <a:xfrm>
            <a:off x="6459022" y="3059138"/>
            <a:ext cx="822960" cy="822960"/>
          </a:xfrm>
          <a:prstGeom prst="arc">
            <a:avLst>
              <a:gd name="adj1" fmla="val 5584046"/>
              <a:gd name="adj2" fmla="val 16355650"/>
            </a:avLst>
          </a:prstGeom>
          <a:ln w="79375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6" name="Oval 20"/>
          <p:cNvSpPr/>
          <p:nvPr/>
        </p:nvSpPr>
        <p:spPr>
          <a:xfrm>
            <a:off x="8673399" y="3032963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Arc 21"/>
          <p:cNvSpPr/>
          <p:nvPr/>
        </p:nvSpPr>
        <p:spPr>
          <a:xfrm>
            <a:off x="8668319" y="3032963"/>
            <a:ext cx="822960" cy="822960"/>
          </a:xfrm>
          <a:prstGeom prst="arc">
            <a:avLst>
              <a:gd name="adj1" fmla="val 867854"/>
              <a:gd name="adj2" fmla="val 16404494"/>
            </a:avLst>
          </a:prstGeom>
          <a:ln w="79375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" name="TextBox 27"/>
          <p:cNvSpPr txBox="1"/>
          <p:nvPr/>
        </p:nvSpPr>
        <p:spPr>
          <a:xfrm>
            <a:off x="1347977" y="1899426"/>
            <a:ext cx="2373003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7 月上旬</a:t>
            </a:r>
          </a:p>
        </p:txBody>
      </p:sp>
      <p:sp>
        <p:nvSpPr>
          <p:cNvPr id="92" name="TextBox 28"/>
          <p:cNvSpPr txBox="1"/>
          <p:nvPr/>
        </p:nvSpPr>
        <p:spPr>
          <a:xfrm>
            <a:off x="3569032" y="1899426"/>
            <a:ext cx="2299833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7 月中旬</a:t>
            </a:r>
          </a:p>
        </p:txBody>
      </p:sp>
      <p:sp>
        <p:nvSpPr>
          <p:cNvPr id="93" name="TextBox 29"/>
          <p:cNvSpPr txBox="1"/>
          <p:nvPr/>
        </p:nvSpPr>
        <p:spPr>
          <a:xfrm>
            <a:off x="5782638" y="1900061"/>
            <a:ext cx="2290137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7 月下旬</a:t>
            </a:r>
          </a:p>
        </p:txBody>
      </p:sp>
      <p:sp>
        <p:nvSpPr>
          <p:cNvPr id="94" name="TextBox 30"/>
          <p:cNvSpPr txBox="1"/>
          <p:nvPr/>
        </p:nvSpPr>
        <p:spPr>
          <a:xfrm>
            <a:off x="8033293" y="1900061"/>
            <a:ext cx="2273302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8 月决赛</a:t>
            </a:r>
          </a:p>
        </p:txBody>
      </p:sp>
      <p:sp>
        <p:nvSpPr>
          <p:cNvPr id="97" name="Content Placeholder 2"/>
          <p:cNvSpPr txBox="1"/>
          <p:nvPr/>
        </p:nvSpPr>
        <p:spPr>
          <a:xfrm>
            <a:off x="3923537" y="3952791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交互</a:t>
            </a:r>
          </a:p>
        </p:txBody>
      </p:sp>
      <p:sp>
        <p:nvSpPr>
          <p:cNvPr id="99" name="Content Placeholder 2"/>
          <p:cNvSpPr txBox="1"/>
          <p:nvPr/>
        </p:nvSpPr>
        <p:spPr>
          <a:xfrm>
            <a:off x="6161731" y="3952792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负载</a:t>
            </a:r>
          </a:p>
        </p:txBody>
      </p:sp>
      <p:sp>
        <p:nvSpPr>
          <p:cNvPr id="101" name="Content Placeholder 2"/>
          <p:cNvSpPr txBox="1"/>
          <p:nvPr/>
        </p:nvSpPr>
        <p:spPr>
          <a:xfrm>
            <a:off x="8395240" y="3952792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交付</a:t>
            </a:r>
            <a:endParaRPr lang="en-US" sz="2000" b="1" dirty="0">
              <a:solidFill>
                <a:schemeClr val="accent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3" name="Content Placeholder 2"/>
          <p:cNvSpPr txBox="1"/>
          <p:nvPr/>
        </p:nvSpPr>
        <p:spPr>
          <a:xfrm>
            <a:off x="9862365" y="3971970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/>
          </a:p>
        </p:txBody>
      </p:sp>
      <p:sp>
        <p:nvSpPr>
          <p:cNvPr id="105" name="Freeform 6"/>
          <p:cNvSpPr>
            <a:spLocks noChangeArrowheads="1"/>
          </p:cNvSpPr>
          <p:nvPr/>
        </p:nvSpPr>
        <p:spPr bwMode="auto">
          <a:xfrm>
            <a:off x="6661308" y="3313825"/>
            <a:ext cx="365760" cy="365760"/>
          </a:xfrm>
          <a:custGeom>
            <a:avLst/>
            <a:gdLst>
              <a:gd name="T0" fmla="*/ 425 w 444"/>
              <a:gd name="T1" fmla="*/ 17 h 435"/>
              <a:gd name="T2" fmla="*/ 425 w 444"/>
              <a:gd name="T3" fmla="*/ 17 h 435"/>
              <a:gd name="T4" fmla="*/ 345 w 444"/>
              <a:gd name="T5" fmla="*/ 35 h 435"/>
              <a:gd name="T6" fmla="*/ 0 w 444"/>
              <a:gd name="T7" fmla="*/ 222 h 435"/>
              <a:gd name="T8" fmla="*/ 195 w 444"/>
              <a:gd name="T9" fmla="*/ 248 h 435"/>
              <a:gd name="T10" fmla="*/ 221 w 444"/>
              <a:gd name="T11" fmla="*/ 434 h 435"/>
              <a:gd name="T12" fmla="*/ 399 w 444"/>
              <a:gd name="T13" fmla="*/ 89 h 435"/>
              <a:gd name="T14" fmla="*/ 425 w 444"/>
              <a:gd name="T15" fmla="*/ 17 h 435"/>
              <a:gd name="T16" fmla="*/ 381 w 444"/>
              <a:gd name="T17" fmla="*/ 62 h 435"/>
              <a:gd name="T18" fmla="*/ 381 w 444"/>
              <a:gd name="T19" fmla="*/ 62 h 435"/>
              <a:gd name="T20" fmla="*/ 239 w 444"/>
              <a:gd name="T21" fmla="*/ 319 h 435"/>
              <a:gd name="T22" fmla="*/ 230 w 444"/>
              <a:gd name="T23" fmla="*/ 204 h 435"/>
              <a:gd name="T24" fmla="*/ 381 w 444"/>
              <a:gd name="T25" fmla="*/ 62 h 4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444" h="435">
                <a:moveTo>
                  <a:pt x="425" y="17"/>
                </a:moveTo>
                <a:lnTo>
                  <a:pt x="425" y="17"/>
                </a:lnTo>
                <a:cubicBezTo>
                  <a:pt x="408" y="0"/>
                  <a:pt x="399" y="17"/>
                  <a:pt x="345" y="35"/>
                </a:cubicBezTo>
                <a:cubicBezTo>
                  <a:pt x="221" y="97"/>
                  <a:pt x="0" y="222"/>
                  <a:pt x="0" y="222"/>
                </a:cubicBezTo>
                <a:cubicBezTo>
                  <a:pt x="195" y="248"/>
                  <a:pt x="195" y="248"/>
                  <a:pt x="195" y="248"/>
                </a:cubicBezTo>
                <a:cubicBezTo>
                  <a:pt x="221" y="434"/>
                  <a:pt x="221" y="434"/>
                  <a:pt x="221" y="434"/>
                </a:cubicBezTo>
                <a:cubicBezTo>
                  <a:pt x="221" y="434"/>
                  <a:pt x="345" y="222"/>
                  <a:pt x="399" y="89"/>
                </a:cubicBezTo>
                <a:cubicBezTo>
                  <a:pt x="425" y="44"/>
                  <a:pt x="443" y="26"/>
                  <a:pt x="425" y="17"/>
                </a:cubicBezTo>
                <a:close/>
                <a:moveTo>
                  <a:pt x="381" y="62"/>
                </a:moveTo>
                <a:lnTo>
                  <a:pt x="381" y="62"/>
                </a:lnTo>
                <a:cubicBezTo>
                  <a:pt x="239" y="319"/>
                  <a:pt x="239" y="319"/>
                  <a:pt x="239" y="319"/>
                </a:cubicBezTo>
                <a:cubicBezTo>
                  <a:pt x="230" y="204"/>
                  <a:pt x="230" y="204"/>
                  <a:pt x="230" y="204"/>
                </a:cubicBezTo>
                <a:lnTo>
                  <a:pt x="381" y="62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Freeform 25"/>
          <p:cNvSpPr>
            <a:spLocks noChangeArrowheads="1"/>
          </p:cNvSpPr>
          <p:nvPr/>
        </p:nvSpPr>
        <p:spPr bwMode="auto">
          <a:xfrm>
            <a:off x="8905769" y="3236545"/>
            <a:ext cx="365760" cy="365760"/>
          </a:xfrm>
          <a:custGeom>
            <a:avLst/>
            <a:gdLst>
              <a:gd name="T0" fmla="*/ 195 w 346"/>
              <a:gd name="T1" fmla="*/ 0 h 479"/>
              <a:gd name="T2" fmla="*/ 195 w 346"/>
              <a:gd name="T3" fmla="*/ 0 h 479"/>
              <a:gd name="T4" fmla="*/ 160 w 346"/>
              <a:gd name="T5" fmla="*/ 0 h 479"/>
              <a:gd name="T6" fmla="*/ 160 w 346"/>
              <a:gd name="T7" fmla="*/ 328 h 479"/>
              <a:gd name="T8" fmla="*/ 80 w 346"/>
              <a:gd name="T9" fmla="*/ 328 h 479"/>
              <a:gd name="T10" fmla="*/ 10 w 346"/>
              <a:gd name="T11" fmla="*/ 425 h 479"/>
              <a:gd name="T12" fmla="*/ 124 w 346"/>
              <a:gd name="T13" fmla="*/ 461 h 479"/>
              <a:gd name="T14" fmla="*/ 195 w 346"/>
              <a:gd name="T15" fmla="*/ 372 h 479"/>
              <a:gd name="T16" fmla="*/ 195 w 346"/>
              <a:gd name="T17" fmla="*/ 106 h 479"/>
              <a:gd name="T18" fmla="*/ 257 w 346"/>
              <a:gd name="T19" fmla="*/ 230 h 479"/>
              <a:gd name="T20" fmla="*/ 275 w 346"/>
              <a:gd name="T21" fmla="*/ 230 h 479"/>
              <a:gd name="T22" fmla="*/ 195 w 346"/>
              <a:gd name="T23" fmla="*/ 0 h 4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346" h="479">
                <a:moveTo>
                  <a:pt x="195" y="0"/>
                </a:moveTo>
                <a:lnTo>
                  <a:pt x="195" y="0"/>
                </a:lnTo>
                <a:cubicBezTo>
                  <a:pt x="160" y="0"/>
                  <a:pt x="160" y="0"/>
                  <a:pt x="160" y="0"/>
                </a:cubicBezTo>
                <a:cubicBezTo>
                  <a:pt x="160" y="328"/>
                  <a:pt x="160" y="328"/>
                  <a:pt x="160" y="328"/>
                </a:cubicBezTo>
                <a:cubicBezTo>
                  <a:pt x="133" y="319"/>
                  <a:pt x="107" y="319"/>
                  <a:pt x="80" y="328"/>
                </a:cubicBezTo>
                <a:cubicBezTo>
                  <a:pt x="26" y="346"/>
                  <a:pt x="0" y="390"/>
                  <a:pt x="10" y="425"/>
                </a:cubicBezTo>
                <a:cubicBezTo>
                  <a:pt x="26" y="461"/>
                  <a:pt x="71" y="478"/>
                  <a:pt x="124" y="461"/>
                </a:cubicBezTo>
                <a:cubicBezTo>
                  <a:pt x="169" y="443"/>
                  <a:pt x="195" y="408"/>
                  <a:pt x="195" y="372"/>
                </a:cubicBezTo>
                <a:cubicBezTo>
                  <a:pt x="195" y="106"/>
                  <a:pt x="195" y="106"/>
                  <a:pt x="195" y="106"/>
                </a:cubicBezTo>
                <a:cubicBezTo>
                  <a:pt x="266" y="124"/>
                  <a:pt x="266" y="212"/>
                  <a:pt x="257" y="230"/>
                </a:cubicBezTo>
                <a:cubicBezTo>
                  <a:pt x="257" y="239"/>
                  <a:pt x="266" y="248"/>
                  <a:pt x="275" y="230"/>
                </a:cubicBezTo>
                <a:cubicBezTo>
                  <a:pt x="345" y="115"/>
                  <a:pt x="195" y="62"/>
                  <a:pt x="195" y="0"/>
                </a:cubicBezTo>
              </a:path>
            </a:pathLst>
          </a:cu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Freeform 106"/>
          <p:cNvSpPr>
            <a:spLocks noChangeArrowheads="1"/>
          </p:cNvSpPr>
          <p:nvPr/>
        </p:nvSpPr>
        <p:spPr bwMode="auto">
          <a:xfrm>
            <a:off x="4455627" y="3292798"/>
            <a:ext cx="365760" cy="365760"/>
          </a:xfrm>
          <a:custGeom>
            <a:avLst/>
            <a:gdLst>
              <a:gd name="T0" fmla="*/ 35 w 355"/>
              <a:gd name="T1" fmla="*/ 497 h 506"/>
              <a:gd name="T2" fmla="*/ 35 w 355"/>
              <a:gd name="T3" fmla="*/ 497 h 506"/>
              <a:gd name="T4" fmla="*/ 70 w 355"/>
              <a:gd name="T5" fmla="*/ 381 h 506"/>
              <a:gd name="T6" fmla="*/ 203 w 355"/>
              <a:gd name="T7" fmla="*/ 310 h 506"/>
              <a:gd name="T8" fmla="*/ 132 w 355"/>
              <a:gd name="T9" fmla="*/ 284 h 506"/>
              <a:gd name="T10" fmla="*/ 292 w 355"/>
              <a:gd name="T11" fmla="*/ 194 h 506"/>
              <a:gd name="T12" fmla="*/ 194 w 355"/>
              <a:gd name="T13" fmla="*/ 168 h 506"/>
              <a:gd name="T14" fmla="*/ 327 w 355"/>
              <a:gd name="T15" fmla="*/ 133 h 506"/>
              <a:gd name="T16" fmla="*/ 345 w 355"/>
              <a:gd name="T17" fmla="*/ 44 h 506"/>
              <a:gd name="T18" fmla="*/ 248 w 355"/>
              <a:gd name="T19" fmla="*/ 0 h 506"/>
              <a:gd name="T20" fmla="*/ 159 w 355"/>
              <a:gd name="T21" fmla="*/ 124 h 506"/>
              <a:gd name="T22" fmla="*/ 168 w 355"/>
              <a:gd name="T23" fmla="*/ 18 h 506"/>
              <a:gd name="T24" fmla="*/ 70 w 355"/>
              <a:gd name="T25" fmla="*/ 106 h 506"/>
              <a:gd name="T26" fmla="*/ 61 w 355"/>
              <a:gd name="T27" fmla="*/ 301 h 506"/>
              <a:gd name="T28" fmla="*/ 8 w 355"/>
              <a:gd name="T29" fmla="*/ 213 h 506"/>
              <a:gd name="T30" fmla="*/ 35 w 355"/>
              <a:gd name="T31" fmla="*/ 363 h 506"/>
              <a:gd name="T32" fmla="*/ 8 w 355"/>
              <a:gd name="T33" fmla="*/ 478 h 506"/>
              <a:gd name="T34" fmla="*/ 35 w 355"/>
              <a:gd name="T35" fmla="*/ 497 h 5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355" h="506">
                <a:moveTo>
                  <a:pt x="35" y="497"/>
                </a:moveTo>
                <a:lnTo>
                  <a:pt x="35" y="497"/>
                </a:lnTo>
                <a:cubicBezTo>
                  <a:pt x="44" y="469"/>
                  <a:pt x="53" y="434"/>
                  <a:pt x="70" y="381"/>
                </a:cubicBezTo>
                <a:cubicBezTo>
                  <a:pt x="132" y="372"/>
                  <a:pt x="168" y="390"/>
                  <a:pt x="203" y="310"/>
                </a:cubicBezTo>
                <a:cubicBezTo>
                  <a:pt x="168" y="328"/>
                  <a:pt x="132" y="292"/>
                  <a:pt x="132" y="284"/>
                </a:cubicBezTo>
                <a:cubicBezTo>
                  <a:pt x="132" y="266"/>
                  <a:pt x="229" y="292"/>
                  <a:pt x="292" y="194"/>
                </a:cubicBezTo>
                <a:cubicBezTo>
                  <a:pt x="212" y="213"/>
                  <a:pt x="185" y="178"/>
                  <a:pt x="194" y="168"/>
                </a:cubicBezTo>
                <a:cubicBezTo>
                  <a:pt x="221" y="159"/>
                  <a:pt x="292" y="168"/>
                  <a:pt x="327" y="133"/>
                </a:cubicBezTo>
                <a:cubicBezTo>
                  <a:pt x="345" y="115"/>
                  <a:pt x="354" y="62"/>
                  <a:pt x="345" y="44"/>
                </a:cubicBezTo>
                <a:cubicBezTo>
                  <a:pt x="336" y="27"/>
                  <a:pt x="283" y="0"/>
                  <a:pt x="248" y="0"/>
                </a:cubicBezTo>
                <a:cubicBezTo>
                  <a:pt x="221" y="9"/>
                  <a:pt x="168" y="124"/>
                  <a:pt x="159" y="124"/>
                </a:cubicBezTo>
                <a:cubicBezTo>
                  <a:pt x="141" y="124"/>
                  <a:pt x="141" y="71"/>
                  <a:pt x="168" y="18"/>
                </a:cubicBezTo>
                <a:cubicBezTo>
                  <a:pt x="132" y="35"/>
                  <a:pt x="88" y="71"/>
                  <a:pt x="70" y="106"/>
                </a:cubicBezTo>
                <a:cubicBezTo>
                  <a:pt x="44" y="159"/>
                  <a:pt x="79" y="301"/>
                  <a:pt x="61" y="301"/>
                </a:cubicBezTo>
                <a:cubicBezTo>
                  <a:pt x="53" y="310"/>
                  <a:pt x="17" y="239"/>
                  <a:pt x="8" y="213"/>
                </a:cubicBezTo>
                <a:cubicBezTo>
                  <a:pt x="0" y="257"/>
                  <a:pt x="0" y="301"/>
                  <a:pt x="35" y="363"/>
                </a:cubicBezTo>
                <a:cubicBezTo>
                  <a:pt x="26" y="407"/>
                  <a:pt x="17" y="452"/>
                  <a:pt x="8" y="478"/>
                </a:cubicBezTo>
                <a:cubicBezTo>
                  <a:pt x="8" y="497"/>
                  <a:pt x="35" y="505"/>
                  <a:pt x="35" y="497"/>
                </a:cubicBez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9" name="Freeform 115"/>
          <p:cNvSpPr>
            <a:spLocks noChangeArrowheads="1"/>
          </p:cNvSpPr>
          <p:nvPr/>
        </p:nvSpPr>
        <p:spPr bwMode="auto">
          <a:xfrm>
            <a:off x="2275745" y="3254161"/>
            <a:ext cx="365760" cy="432913"/>
          </a:xfrm>
          <a:custGeom>
            <a:avLst/>
            <a:gdLst>
              <a:gd name="T0" fmla="*/ 381 w 400"/>
              <a:gd name="T1" fmla="*/ 124 h 498"/>
              <a:gd name="T2" fmla="*/ 381 w 400"/>
              <a:gd name="T3" fmla="*/ 124 h 498"/>
              <a:gd name="T4" fmla="*/ 231 w 400"/>
              <a:gd name="T5" fmla="*/ 9 h 498"/>
              <a:gd name="T6" fmla="*/ 115 w 400"/>
              <a:gd name="T7" fmla="*/ 151 h 498"/>
              <a:gd name="T8" fmla="*/ 133 w 400"/>
              <a:gd name="T9" fmla="*/ 213 h 498"/>
              <a:gd name="T10" fmla="*/ 9 w 400"/>
              <a:gd name="T11" fmla="*/ 407 h 498"/>
              <a:gd name="T12" fmla="*/ 0 w 400"/>
              <a:gd name="T13" fmla="*/ 434 h 498"/>
              <a:gd name="T14" fmla="*/ 9 w 400"/>
              <a:gd name="T15" fmla="*/ 478 h 498"/>
              <a:gd name="T16" fmla="*/ 27 w 400"/>
              <a:gd name="T17" fmla="*/ 497 h 498"/>
              <a:gd name="T18" fmla="*/ 62 w 400"/>
              <a:gd name="T19" fmla="*/ 487 h 498"/>
              <a:gd name="T20" fmla="*/ 89 w 400"/>
              <a:gd name="T21" fmla="*/ 470 h 498"/>
              <a:gd name="T22" fmla="*/ 142 w 400"/>
              <a:gd name="T23" fmla="*/ 390 h 498"/>
              <a:gd name="T24" fmla="*/ 142 w 400"/>
              <a:gd name="T25" fmla="*/ 390 h 498"/>
              <a:gd name="T26" fmla="*/ 177 w 400"/>
              <a:gd name="T27" fmla="*/ 381 h 498"/>
              <a:gd name="T28" fmla="*/ 231 w 400"/>
              <a:gd name="T29" fmla="*/ 284 h 498"/>
              <a:gd name="T30" fmla="*/ 293 w 400"/>
              <a:gd name="T31" fmla="*/ 284 h 498"/>
              <a:gd name="T32" fmla="*/ 381 w 400"/>
              <a:gd name="T33" fmla="*/ 124 h 498"/>
              <a:gd name="T34" fmla="*/ 319 w 400"/>
              <a:gd name="T35" fmla="*/ 159 h 498"/>
              <a:gd name="T36" fmla="*/ 319 w 400"/>
              <a:gd name="T37" fmla="*/ 159 h 498"/>
              <a:gd name="T38" fmla="*/ 256 w 400"/>
              <a:gd name="T39" fmla="*/ 142 h 498"/>
              <a:gd name="T40" fmla="*/ 221 w 400"/>
              <a:gd name="T41" fmla="*/ 80 h 498"/>
              <a:gd name="T42" fmla="*/ 310 w 400"/>
              <a:gd name="T43" fmla="*/ 71 h 498"/>
              <a:gd name="T44" fmla="*/ 319 w 400"/>
              <a:gd name="T45" fmla="*/ 159 h 4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00" h="498">
                <a:moveTo>
                  <a:pt x="381" y="124"/>
                </a:moveTo>
                <a:lnTo>
                  <a:pt x="381" y="124"/>
                </a:lnTo>
                <a:cubicBezTo>
                  <a:pt x="372" y="44"/>
                  <a:pt x="301" y="0"/>
                  <a:pt x="231" y="9"/>
                </a:cubicBezTo>
                <a:cubicBezTo>
                  <a:pt x="159" y="27"/>
                  <a:pt x="106" y="80"/>
                  <a:pt x="115" y="151"/>
                </a:cubicBezTo>
                <a:cubicBezTo>
                  <a:pt x="115" y="168"/>
                  <a:pt x="124" y="195"/>
                  <a:pt x="133" y="213"/>
                </a:cubicBezTo>
                <a:cubicBezTo>
                  <a:pt x="9" y="407"/>
                  <a:pt x="9" y="407"/>
                  <a:pt x="9" y="407"/>
                </a:cubicBezTo>
                <a:cubicBezTo>
                  <a:pt x="0" y="407"/>
                  <a:pt x="0" y="425"/>
                  <a:pt x="0" y="434"/>
                </a:cubicBezTo>
                <a:cubicBezTo>
                  <a:pt x="9" y="478"/>
                  <a:pt x="9" y="478"/>
                  <a:pt x="9" y="478"/>
                </a:cubicBezTo>
                <a:cubicBezTo>
                  <a:pt x="9" y="487"/>
                  <a:pt x="18" y="497"/>
                  <a:pt x="27" y="497"/>
                </a:cubicBezTo>
                <a:cubicBezTo>
                  <a:pt x="62" y="487"/>
                  <a:pt x="62" y="487"/>
                  <a:pt x="62" y="487"/>
                </a:cubicBezTo>
                <a:cubicBezTo>
                  <a:pt x="71" y="487"/>
                  <a:pt x="80" y="478"/>
                  <a:pt x="89" y="470"/>
                </a:cubicBezTo>
                <a:cubicBezTo>
                  <a:pt x="142" y="390"/>
                  <a:pt x="142" y="390"/>
                  <a:pt x="142" y="390"/>
                </a:cubicBezTo>
                <a:lnTo>
                  <a:pt x="142" y="390"/>
                </a:lnTo>
                <a:cubicBezTo>
                  <a:pt x="177" y="381"/>
                  <a:pt x="177" y="381"/>
                  <a:pt x="177" y="381"/>
                </a:cubicBezTo>
                <a:cubicBezTo>
                  <a:pt x="231" y="284"/>
                  <a:pt x="231" y="284"/>
                  <a:pt x="231" y="284"/>
                </a:cubicBezTo>
                <a:cubicBezTo>
                  <a:pt x="248" y="293"/>
                  <a:pt x="284" y="284"/>
                  <a:pt x="293" y="284"/>
                </a:cubicBezTo>
                <a:cubicBezTo>
                  <a:pt x="363" y="275"/>
                  <a:pt x="399" y="195"/>
                  <a:pt x="381" y="124"/>
                </a:cubicBezTo>
                <a:close/>
                <a:moveTo>
                  <a:pt x="319" y="159"/>
                </a:moveTo>
                <a:lnTo>
                  <a:pt x="319" y="159"/>
                </a:lnTo>
                <a:cubicBezTo>
                  <a:pt x="301" y="187"/>
                  <a:pt x="284" y="168"/>
                  <a:pt x="256" y="142"/>
                </a:cubicBezTo>
                <a:cubicBezTo>
                  <a:pt x="231" y="124"/>
                  <a:pt x="203" y="115"/>
                  <a:pt x="221" y="80"/>
                </a:cubicBezTo>
                <a:cubicBezTo>
                  <a:pt x="240" y="53"/>
                  <a:pt x="284" y="44"/>
                  <a:pt x="310" y="71"/>
                </a:cubicBezTo>
                <a:cubicBezTo>
                  <a:pt x="337" y="89"/>
                  <a:pt x="346" y="133"/>
                  <a:pt x="319" y="15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1348571" y="4411217"/>
            <a:ext cx="22256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网卡与接口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IPv4 与 Socket</a:t>
            </a:r>
            <a:endParaRPr lang="en-US" altLang="zh-CN" sz="18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诊断控制面</a:t>
            </a:r>
            <a:endParaRPr lang="zh-CN" altLang="en-US" sz="18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3569166" y="4411217"/>
            <a:ext cx="223901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会话 / 进程组</a:t>
            </a:r>
            <a:endParaRPr lang="en-US" altLang="zh-CN" sz="1800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TTY 作业控制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时间与等待语义</a:t>
            </a:r>
            <a:endParaRPr lang="en-US" altLang="zh-CN" sz="1800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4" name="Content Placeholder 2"/>
          <p:cNvSpPr txBox="1"/>
          <p:nvPr/>
        </p:nvSpPr>
        <p:spPr>
          <a:xfrm>
            <a:off x="5809445" y="4402327"/>
            <a:ext cx="2350029" cy="1205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Cagent 十项通过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BuildStorm 双架构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热点定位与优化</a:t>
            </a: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Content Placeholder 2"/>
          <p:cNvSpPr txBox="1"/>
          <p:nvPr/>
        </p:nvSpPr>
        <p:spPr>
          <a:xfrm>
            <a:off x="8046551" y="4402327"/>
            <a:ext cx="2530918" cy="1205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全部决赛测例通过</a:t>
            </a:r>
            <a:endParaRPr lang="en-US" altLang="zh-CN" dirty="0">
              <a:solidFill>
                <a:schemeClr val="accent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证据与报告收束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决赛答辩交付</a:t>
            </a:r>
          </a:p>
        </p:txBody>
      </p:sp>
      <p:sp>
        <p:nvSpPr>
          <p:cNvPr id="2" name="Content Placeholder 2"/>
          <p:cNvSpPr txBox="1"/>
          <p:nvPr/>
        </p:nvSpPr>
        <p:spPr>
          <a:xfrm>
            <a:off x="9748173" y="4125310"/>
            <a:ext cx="1982470" cy="2154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altLang="zh-CN" dirty="0">
              <a:solidFill>
                <a:schemeClr val="accent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dirty="0">
              <a:solidFill>
                <a:schemeClr val="accent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000" dirty="0">
              <a:solidFill>
                <a:schemeClr val="accent6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000" dirty="0">
              <a:solidFill>
                <a:schemeClr val="accent6"/>
              </a:solidFill>
            </a:endParaRPr>
          </a:p>
        </p:txBody>
      </p:sp>
      <p:sp>
        <p:nvSpPr>
          <p:cNvPr id="116" name="NavActive 开发历程"/>
          <p:cNvSpPr/>
          <p:nvPr/>
        </p:nvSpPr>
        <p:spPr>
          <a:xfrm>
            <a:off x="4638083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117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123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124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125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126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127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825032" y="2809186"/>
            <a:ext cx="254193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400" b="1" dirty="0" err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设计主线</a:t>
            </a:r>
            <a:endParaRPr lang="en-US" altLang="zh-CN" sz="4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FB8D0C5-94E8-532F-79E3-8CB1235A6FAB}"/>
              </a:ext>
            </a:extLst>
          </p:cNvPr>
          <p:cNvSpPr txBox="1"/>
          <p:nvPr/>
        </p:nvSpPr>
        <p:spPr>
          <a:xfrm>
            <a:off x="4129755" y="3768183"/>
            <a:ext cx="39324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dirty="0" err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边界 / 契约 / 所有权</a:t>
            </a:r>
            <a:endParaRPr lang="zh-CN" altLang="en-US" sz="3200" dirty="0"/>
          </a:p>
        </p:txBody>
      </p:sp>
      <p:sp>
        <p:nvSpPr>
          <p:cNvPr id="33" name="NavActive 设计主线"/>
          <p:cNvSpPr/>
          <p:nvPr/>
        </p:nvSpPr>
        <p:spPr>
          <a:xfrm>
            <a:off x="6044316" y="0"/>
            <a:ext cx="1406234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17292" y="1016779"/>
            <a:ext cx="4899025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为什么坚持从零设计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588010" y="1871980"/>
            <a:ext cx="29337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兼容对外协议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1066800" y="2440940"/>
            <a:ext cx="8641080" cy="1069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r>
              <a:rPr lang="zh-CN" sz="20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Linux ABI 兼容停留在 syscall / UAPI 边界；不复制 Linux 内部对象与历史实现结构</a:t>
            </a:r>
            <a:endParaRPr lang="zh-CN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endParaRPr lang="zh-CN" sz="20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88010" y="4027805"/>
            <a:ext cx="29337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重建内部所有权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1066799" y="4596765"/>
            <a:ext cx="8936449" cy="1069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r>
              <a:rPr lang="zh-CN" sz="20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核心对象围绕 Rust 所有权与单一真相源设计；调试、审查和演进路径更清楚</a:t>
            </a:r>
          </a:p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endParaRPr lang="zh-CN" sz="2000" b="1" dirty="0">
              <a:solidFill>
                <a:schemeClr val="accent6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3" name="NavActive 设计主线"/>
          <p:cNvSpPr/>
          <p:nvPr/>
        </p:nvSpPr>
        <p:spPr>
          <a:xfrm>
            <a:off x="6044316" y="0"/>
            <a:ext cx="1406234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5" grpId="0"/>
      <p:bldP spid="5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17292" y="1022494"/>
            <a:ext cx="38699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ABI 与内部对象分层</a:t>
            </a:r>
            <a:endParaRPr lang="zh-CN" altLang="en-US" sz="28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26745" y="1809750"/>
            <a:ext cx="29337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2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外部协议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3266817" y="1745247"/>
            <a:ext cx="54546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None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syscall / UAPI / errno / flag 定义 Linux 用户态可见语义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626745" y="2619375"/>
            <a:ext cx="1054798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内部对象不复刻 Linux 源码结构</a:t>
            </a: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26745" y="3438465"/>
            <a:ext cx="105479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20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进程、文件、地址空间与设备各有明确 owner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632682" y="4342529"/>
            <a:ext cx="105479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20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兼容逻辑隔离在边界，核心机制保持原生对象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E713BA4C-4DFA-409F-B130-D711ED3CFEE9}"/>
              </a:ext>
            </a:extLst>
          </p:cNvPr>
          <p:cNvSpPr txBox="1"/>
          <p:nvPr/>
        </p:nvSpPr>
        <p:spPr>
          <a:xfrm>
            <a:off x="626744" y="5246593"/>
            <a:ext cx="105479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20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结果：ABI 可解释，内部实现可审查、可重构</a:t>
            </a:r>
          </a:p>
        </p:txBody>
      </p:sp>
      <p:sp>
        <p:nvSpPr>
          <p:cNvPr id="33" name="NavActive 设计主线"/>
          <p:cNvSpPr/>
          <p:nvPr/>
        </p:nvSpPr>
        <p:spPr>
          <a:xfrm>
            <a:off x="6044316" y="0"/>
            <a:ext cx="1406234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54866369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11" grpId="0"/>
      <p:bldP spid="11" grpId="1"/>
      <p:bldP spid="14" grpId="0"/>
      <p:bldP spid="14" grpId="1"/>
      <p:bldP spid="15" grpId="0"/>
      <p:bldP spid="15" grpId="1"/>
      <p:bldP spid="23" grpId="0"/>
      <p:bldP spid="23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BD296-19DE-B2E5-3F49-F3AD2389D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3E65660F-EDA8-926A-4F4E-8BABD7E9D048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A029BECF-78B1-F552-4642-475409AED9D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9BE7ACD-E9D6-8465-4935-0FA0B6A51B31}"/>
              </a:ext>
            </a:extLst>
          </p:cNvPr>
          <p:cNvSpPr txBox="1"/>
          <p:nvPr/>
        </p:nvSpPr>
        <p:spPr>
          <a:xfrm>
            <a:off x="117292" y="1022494"/>
            <a:ext cx="38699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兼容逻辑停在边界层</a:t>
            </a:r>
            <a:endParaRPr lang="zh-CN" altLang="en-US" sz="28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0D78F0-C65E-0D0F-F92B-2489437601D1}"/>
              </a:ext>
            </a:extLst>
          </p:cNvPr>
          <p:cNvSpPr txBox="1"/>
          <p:nvPr/>
        </p:nvSpPr>
        <p:spPr>
          <a:xfrm>
            <a:off x="535492" y="1776208"/>
            <a:ext cx="279553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None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Linux 用户态 → syscall 适配 → Anemone 核心对象 → HAL / 平台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627F1C6A-DEBA-55C2-1C18-3A6CABF7D8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556" y="1725917"/>
            <a:ext cx="7485319" cy="4446279"/>
          </a:xfrm>
          <a:prstGeom prst="rect">
            <a:avLst/>
          </a:prstGeom>
        </p:spPr>
      </p:pic>
      <p:sp>
        <p:nvSpPr>
          <p:cNvPr id="33" name="NavActive 设计主线"/>
          <p:cNvSpPr/>
          <p:nvPr/>
        </p:nvSpPr>
        <p:spPr>
          <a:xfrm>
            <a:off x="6044316" y="0"/>
            <a:ext cx="1406234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289879641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696447" y="3044279"/>
            <a:ext cx="249479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400" b="1" dirty="0" err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核心机制</a:t>
            </a:r>
            <a:endParaRPr lang="en-US" altLang="zh-CN" sz="4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F1CBA-40A3-D6DB-E438-34BC7EF7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BD815769-A0FA-7787-6D8D-663EB336BE13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4D1D1517-90ED-B911-CA05-08CCFCC8487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9079AB5A-BB4F-686C-72F2-49F09E4DEFE8}"/>
              </a:ext>
            </a:extLst>
          </p:cNvPr>
          <p:cNvSpPr txBox="1"/>
          <p:nvPr/>
        </p:nvSpPr>
        <p:spPr>
          <a:xfrm>
            <a:off x="222877" y="104090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进程拓扑与作业控制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5944B6-67D0-C0D2-98AD-384FAD7D67A5}"/>
              </a:ext>
            </a:extLst>
          </p:cNvPr>
          <p:cNvSpPr txBox="1"/>
          <p:nvPr/>
        </p:nvSpPr>
        <p:spPr>
          <a:xfrm>
            <a:off x="391887" y="1813028"/>
            <a:ext cx="41147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Task、线程组、进程组与会话分层；决赛补齐交互式作业控制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B3804B8-7F28-DA6A-1E1E-9A9CF98A50B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2566" y="1564124"/>
            <a:ext cx="4882385" cy="3945244"/>
          </a:xfrm>
          <a:prstGeom prst="rect">
            <a:avLst/>
          </a:prstGeom>
        </p:spPr>
      </p:pic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1748049677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F1CBA-40A3-D6DB-E438-34BC7EF7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BD815769-A0FA-7787-6D8D-663EB336BE13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4D1D1517-90ED-B911-CA05-08CCFCC8487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9079AB5A-BB4F-686C-72F2-49F09E4DEFE8}"/>
              </a:ext>
            </a:extLst>
          </p:cNvPr>
          <p:cNvSpPr txBox="1"/>
          <p:nvPr/>
        </p:nvSpPr>
        <p:spPr>
          <a:xfrm>
            <a:off x="222877" y="104090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调度与等待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5944B6-67D0-C0D2-98AD-384FAD7D67A5}"/>
              </a:ext>
            </a:extLst>
          </p:cNvPr>
          <p:cNvSpPr txBox="1"/>
          <p:nvPr/>
        </p:nvSpPr>
        <p:spPr>
          <a:xfrm>
            <a:off x="391887" y="1813028"/>
            <a:ext cx="41147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调度状态机、Event / Latch 与多核唤醒共同支撑可中断等待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B3804B8-7F28-DA6A-1E1E-9A9CF98A50B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2566" y="1564124"/>
            <a:ext cx="4882385" cy="3945244"/>
          </a:xfrm>
          <a:prstGeom prst="rect">
            <a:avLst/>
          </a:prstGeom>
        </p:spPr>
      </p:pic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1748049677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F1CBA-40A3-D6DB-E438-34BC7EF7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BD815769-A0FA-7787-6D8D-663EB336BE13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4D1D1517-90ED-B911-CA05-08CCFCC8487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9079AB5A-BB4F-686C-72F2-49F09E4DEFE8}"/>
              </a:ext>
            </a:extLst>
          </p:cNvPr>
          <p:cNvSpPr txBox="1"/>
          <p:nvPr/>
        </p:nvSpPr>
        <p:spPr>
          <a:xfrm>
            <a:off x="222877" y="104090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VMO 统一内存对象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5944B6-67D0-C0D2-98AD-384FAD7D67A5}"/>
              </a:ext>
            </a:extLst>
          </p:cNvPr>
          <p:cNvSpPr txBox="1"/>
          <p:nvPr/>
        </p:nvSpPr>
        <p:spPr>
          <a:xfrm>
            <a:off x="391887" y="1813028"/>
            <a:ext cx="41147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匿名页、文件映射、共享内存与 COW 由 VMO / backing object 组织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B3804B8-7F28-DA6A-1E1E-9A9CF98A50B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2566" y="1564124"/>
            <a:ext cx="4882385" cy="3945244"/>
          </a:xfrm>
          <a:prstGeom prst="rect">
            <a:avLst/>
          </a:prstGeom>
        </p:spPr>
      </p:pic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1748049677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22877" y="104090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Fork 只在写入时复制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6BFD58-5BD1-4D0F-9AC7-D682BB058420}"/>
              </a:ext>
            </a:extLst>
          </p:cNvPr>
          <p:cNvSpPr txBox="1"/>
          <p:nvPr/>
        </p:nvSpPr>
        <p:spPr>
          <a:xfrm>
            <a:off x="391887" y="1813028"/>
            <a:ext cx="415636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COW 延迟复制；匿名 VMO 可共享全局只读零页</a:t>
            </a:r>
          </a:p>
          <a:p>
            <a:endParaRPr lang="zh-CN" altLang="en-US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3D94482F-5C1E-93D9-0FE2-D3B733A537C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500" y="1941026"/>
            <a:ext cx="8316098" cy="3925299"/>
          </a:xfrm>
          <a:prstGeom prst="rect">
            <a:avLst/>
          </a:prstGeom>
        </p:spPr>
      </p:pic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22877" y="104090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侵入式伙伴分配器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6BFD58-5BD1-4D0F-9AC7-D682BB058420}"/>
              </a:ext>
            </a:extLst>
          </p:cNvPr>
          <p:cNvSpPr txBox="1"/>
          <p:nvPr/>
        </p:nvSpPr>
        <p:spPr>
          <a:xfrm>
            <a:off x="391887" y="1813028"/>
            <a:ext cx="11350170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自研 buddy-system 同时服务页分配与内核堆扩展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pPr algn="l"/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pPr algn="l"/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endParaRPr lang="zh-CN" altLang="en-US" dirty="0"/>
          </a:p>
        </p:txBody>
      </p:sp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22877" y="104090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VFS 对象模型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6BFD58-5BD1-4D0F-9AC7-D682BB058420}"/>
              </a:ext>
            </a:extLst>
          </p:cNvPr>
          <p:cNvSpPr txBox="1"/>
          <p:nvPr/>
        </p:nvSpPr>
        <p:spPr>
          <a:xfrm>
            <a:off x="391887" y="1813028"/>
            <a:ext cx="38951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filesystem、superblock、inode、dentry、file 与 path view 分层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FA3FB2A-C745-7390-63D9-14F7090F3A6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7616" y="1813028"/>
            <a:ext cx="6796094" cy="3797375"/>
          </a:xfrm>
          <a:prstGeom prst="rect">
            <a:avLst/>
          </a:prstGeom>
        </p:spPr>
      </p:pic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3B9FE-22D3-22E4-356F-7F7D5283C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83D37A91-DF11-70BF-347A-D4287A4C8AA6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A7158D72-23A8-E6AA-3836-14FB67086E4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8934AF2E-FFC8-6B23-7E1F-37CA3F7F9245}"/>
              </a:ext>
            </a:extLst>
          </p:cNvPr>
          <p:cNvSpPr txBox="1"/>
          <p:nvPr/>
        </p:nvSpPr>
        <p:spPr>
          <a:xfrm>
            <a:off x="222877" y="104090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路径不是字符串拼接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4BA6834-BEF4-5BF9-8F13-13E1C2963267}"/>
              </a:ext>
            </a:extLst>
          </p:cNvPr>
          <p:cNvSpPr txBox="1"/>
          <p:nvPr/>
        </p:nvSpPr>
        <p:spPr>
          <a:xfrm>
            <a:off x="391887" y="1813028"/>
            <a:ext cx="41029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打开路径同时处理 dentry、挂载穿越、root 与 cwd 边界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015FEF1-4560-EA7E-0CC3-2BA91BDFAE8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8749" y="1683087"/>
            <a:ext cx="4921396" cy="4772262"/>
          </a:xfrm>
          <a:prstGeom prst="rect">
            <a:avLst/>
          </a:prstGeom>
        </p:spPr>
      </p:pic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1498400202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22877" y="104090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缓存围绕对象生命周期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6BFD58-5BD1-4D0F-9AC7-D682BB058420}"/>
              </a:ext>
            </a:extLst>
          </p:cNvPr>
          <p:cNvSpPr txBox="1"/>
          <p:nvPr/>
        </p:nvSpPr>
        <p:spPr>
          <a:xfrm>
            <a:off x="391887" y="1813028"/>
            <a:ext cx="1135017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ICache 稳定 inode 身份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pPr algn="l"/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pPr algn="l"/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endParaRPr lang="zh-CN" altLang="en-US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28C3E5D-DC8A-79E7-BC9F-ADC000434B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23" y="3429000"/>
            <a:ext cx="10127960" cy="2265218"/>
          </a:xfrm>
          <a:prstGeom prst="rect">
            <a:avLst/>
          </a:prstGeom>
        </p:spPr>
      </p:pic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22877" y="104090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使用方定义 HAL 能力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6BFD58-5BD1-4D0F-9AC7-D682BB058420}"/>
              </a:ext>
            </a:extLst>
          </p:cNvPr>
          <p:cNvSpPr txBox="1"/>
          <p:nvPr/>
        </p:nvSpPr>
        <p:spPr>
          <a:xfrm>
            <a:off x="391887" y="1813028"/>
            <a:ext cx="368728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子系统分别定义窄 trait</a:t>
            </a:r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架构层实现 trap、context、timer 与 interrupt 差异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5E42BE8-35B8-8785-8EEC-50C7F4078F0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6014" y="1630357"/>
            <a:ext cx="7244448" cy="4034882"/>
          </a:xfrm>
          <a:prstGeom prst="rect">
            <a:avLst/>
          </a:prstGeom>
        </p:spPr>
      </p:pic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22877" y="104090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Bus + Device + Driver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6BFD58-5BD1-4D0F-9AC7-D682BB058420}"/>
              </a:ext>
            </a:extLst>
          </p:cNvPr>
          <p:cNvSpPr txBox="1"/>
          <p:nvPr/>
        </p:nvSpPr>
        <p:spPr>
          <a:xfrm>
            <a:off x="391887" y="1813028"/>
            <a:ext cx="432706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Bus 负责枚举、匹配与 probe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97D1447-47B0-C392-6613-A72C2011E3A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4793" y="1516623"/>
            <a:ext cx="5159872" cy="4780828"/>
          </a:xfrm>
          <a:prstGeom prst="rect">
            <a:avLst/>
          </a:prstGeom>
        </p:spPr>
      </p:pic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996000" y="3044279"/>
            <a:ext cx="6200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400" b="1" dirty="0" err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决赛新增：可用网络栈</a:t>
            </a:r>
            <a:endParaRPr lang="en-US" altLang="zh-CN" sz="4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19" name="文本框 18"/>
          <p:cNvSpPr txBox="1"/>
          <p:nvPr/>
        </p:nvSpPr>
        <p:spPr>
          <a:xfrm>
            <a:off x="117373" y="1298752"/>
            <a:ext cx="37433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网络能力已经进入真实用户态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40714E8-FC79-452A-8C71-10E62FCD323D}"/>
              </a:ext>
            </a:extLst>
          </p:cNvPr>
          <p:cNvSpPr txBox="1"/>
          <p:nvPr/>
        </p:nvSpPr>
        <p:spPr>
          <a:xfrm>
            <a:off x="413010" y="1930827"/>
            <a:ext cx="7872095" cy="373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ping：验证 ICMP 与基本 IPv4 路径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apt install：完成软件包下载与安装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HTTPS git clone：完成 TLS 上的真实数据传输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ip link / address / route show：查看接口与路由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ss -tan：查看 TCP 连接与监听状态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3288375906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F1CBA-40A3-D6DB-E438-34BC7EF7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BD815769-A0FA-7787-6D8D-663EB336BE13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4D1D1517-90ED-B911-CA05-08CCFCC8487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9079AB5A-BB4F-686C-72F2-49F09E4DEFE8}"/>
              </a:ext>
            </a:extLst>
          </p:cNvPr>
          <p:cNvSpPr txBox="1"/>
          <p:nvPr/>
        </p:nvSpPr>
        <p:spPr>
          <a:xfrm>
            <a:off x="222877" y="104090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四层网络架构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5944B6-67D0-C0D2-98AD-384FAD7D67A5}"/>
              </a:ext>
            </a:extLst>
          </p:cNvPr>
          <p:cNvSpPr txBox="1"/>
          <p:nvPr/>
        </p:nvSpPr>
        <p:spPr>
          <a:xfrm>
            <a:off x="391887" y="1813028"/>
            <a:ext cx="41147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内核 Socket、Net API、协议栈 owner 与 smoltcp 后端各自拥有状态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B3804B8-7F28-DA6A-1E1E-9A9CF98A50B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2566" y="1564124"/>
            <a:ext cx="4882385" cy="3945244"/>
          </a:xfrm>
          <a:prstGeom prst="rect">
            <a:avLst/>
          </a:prstGeom>
        </p:spPr>
      </p:pic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1748049677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17292" y="1016779"/>
            <a:ext cx="545000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Command / Event / Snapshot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588010" y="1871980"/>
            <a:ext cx="29337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Command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1066800" y="2440940"/>
            <a:ext cx="8641080" cy="1069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r>
              <a:rPr lang="zh-CN" sz="20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请求一次有界、非阻塞的协议操作；调用不会把等待责任下沉到协议栈</a:t>
            </a:r>
            <a:endParaRPr lang="zh-CN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endParaRPr lang="zh-CN" sz="20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88010" y="4027805"/>
            <a:ext cx="29337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Event 与 Snapshot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1066799" y="4596765"/>
            <a:ext cx="8936449" cy="1069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r>
              <a:rPr lang="zh-CN" sz="20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Event 只提示重新检查，不代表 readiness；Snapshot 是读取时刻的协议事实</a:t>
            </a:r>
          </a:p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endParaRPr lang="zh-CN" sz="2000" b="1" dirty="0">
              <a:solidFill>
                <a:schemeClr val="accent6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3" name="NavActive 核心机制"/>
          <p:cNvSpPr/>
          <p:nvPr/>
        </p:nvSpPr>
        <p:spPr>
          <a:xfrm>
            <a:off x="7450550" y="0"/>
            <a:ext cx="1406234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5" grpId="0"/>
      <p:bldP spid="5" grpId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17292" y="102249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Linux readiness 由内核投影</a:t>
            </a:r>
            <a:endParaRPr lang="zh-CN" altLang="en-US" sz="28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26745" y="1809750"/>
            <a:ext cx="29337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2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协议事实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3266817" y="1745247"/>
            <a:ext cx="54546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None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协议栈保存 Endpoint 状态，并提供瞬时 Snapshot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626745" y="2619375"/>
            <a:ext cx="1054798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Event 只触发重查</a:t>
            </a: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26745" y="3438465"/>
            <a:ext cx="105479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20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事件到达后，内核重新读取协议事实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632682" y="4342529"/>
            <a:ext cx="105479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20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Socket owner 投影 poll / epoll、errno 与等待语义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E713BA4C-4DFA-409F-B130-D711ED3CFEE9}"/>
              </a:ext>
            </a:extLst>
          </p:cNvPr>
          <p:cNvSpPr txBox="1"/>
          <p:nvPr/>
        </p:nvSpPr>
        <p:spPr>
          <a:xfrm>
            <a:off x="626744" y="5246593"/>
            <a:ext cx="105479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20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结果：fd 可见状态始终只有一个 owner</a:t>
            </a:r>
          </a:p>
        </p:txBody>
      </p:sp>
      <p:sp>
        <p:nvSpPr>
          <p:cNvPr id="33" name="NavActive 核心机制"/>
          <p:cNvSpPr/>
          <p:nvPr/>
        </p:nvSpPr>
        <p:spPr>
          <a:xfrm>
            <a:off x="7450550" y="0"/>
            <a:ext cx="1406234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54866369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11" grpId="0"/>
      <p:bldP spid="11" grpId="1"/>
      <p:bldP spid="14" grpId="0"/>
      <p:bldP spid="14" grpId="1"/>
      <p:bldP spid="15" grpId="0"/>
      <p:bldP spid="15" grpId="1"/>
      <p:bldP spid="23" grpId="0"/>
      <p:bldP spid="23" grpId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19" name="文本框 18"/>
          <p:cNvSpPr txBox="1"/>
          <p:nvPr/>
        </p:nvSpPr>
        <p:spPr>
          <a:xfrm>
            <a:off x="117373" y="1298752"/>
            <a:ext cx="37433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BuildStorm 检验完整系统路径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40714E8-FC79-452A-8C71-10E62FCD323D}"/>
              </a:ext>
            </a:extLst>
          </p:cNvPr>
          <p:cNvSpPr txBox="1"/>
          <p:nvPr/>
        </p:nvSpPr>
        <p:spPr>
          <a:xfrm>
            <a:off x="413010" y="1930827"/>
            <a:ext cx="7872095" cy="373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进程 / 线程：高频创建、同步与退出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虚拟内存：大规模映射、缺页与 COW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文件系统：源码、依赖与中间产物密集访问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调度：多核并发编译与长时间运行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链接与交付：最终生成可验证目标产物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NavActive 比赛总结"/>
          <p:cNvSpPr/>
          <p:nvPr/>
        </p:nvSpPr>
        <p:spPr>
          <a:xfrm>
            <a:off x="10263016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3288375906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F1CBA-40A3-D6DB-E438-34BC7EF7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BD815769-A0FA-7787-6D8D-663EB336BE13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4D1D1517-90ED-B911-CA05-08CCFCC8487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9079AB5A-BB4F-686C-72F2-49F09E4DEFE8}"/>
              </a:ext>
            </a:extLst>
          </p:cNvPr>
          <p:cNvSpPr txBox="1"/>
          <p:nvPr/>
        </p:nvSpPr>
        <p:spPr>
          <a:xfrm>
            <a:off x="222877" y="104090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双架构完成 BuildStorm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5944B6-67D0-C0D2-98AD-384FAD7D67A5}"/>
              </a:ext>
            </a:extLst>
          </p:cNvPr>
          <p:cNvSpPr txBox="1"/>
          <p:nvPr/>
        </p:nvSpPr>
        <p:spPr>
          <a:xfrm>
            <a:off x="391887" y="1813028"/>
            <a:ext cx="41147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RV64：1788.00 s / 1,681,000 B
LA64：1153.00 s / 1,714,568 B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B3804B8-7F28-DA6A-1E1E-9A9CF98A50B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083" y="1392522"/>
            <a:ext cx="6619537" cy="4072956"/>
          </a:xfrm>
          <a:prstGeom prst="rect">
            <a:avLst/>
          </a:prstGeom>
        </p:spPr>
      </p:pic>
      <p:sp>
        <p:nvSpPr>
          <p:cNvPr id="33" name="NavActive 比赛总结"/>
          <p:cNvSpPr/>
          <p:nvPr/>
        </p:nvSpPr>
        <p:spPr>
          <a:xfrm>
            <a:off x="10263016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1748049677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17292" y="1016779"/>
            <a:ext cx="4899025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AI 是加速器，不是驾驶员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588010" y="1871980"/>
            <a:ext cx="29337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AI 参与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1066800" y="2440940"/>
            <a:ext cx="8641080" cy="545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r>
              <a:rPr lang="zh-CN" sz="20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检索资料、生成候选、分析日志、辅助代码审查与文档表达</a:t>
            </a:r>
            <a:endParaRPr lang="zh-CN" sz="20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88010" y="3572971"/>
            <a:ext cx="29337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人工拥有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1031517" y="4033346"/>
            <a:ext cx="8936449" cy="21154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70000"/>
              </a:lnSpc>
              <a:buFontTx/>
              <a:buChar char="-"/>
            </a:pPr>
            <a:r>
              <a:rPr lang="zh-CN" sz="20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设计决策、代码修改、验证结果与答辩解释</a:t>
            </a:r>
            <a:endParaRPr lang="en-US" altLang="zh-CN" sz="2000" b="1" dirty="0">
              <a:solidFill>
                <a:schemeClr val="accent6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>
              <a:lnSpc>
                <a:spcPct val="170000"/>
              </a:lnSpc>
              <a:buFontTx/>
              <a:buChar char="-"/>
            </a:pPr>
            <a:r>
              <a:rPr lang="zh-CN" altLang="en-US" sz="20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所有结论回写到代码、记录和可复现证据</a:t>
            </a:r>
            <a:endParaRPr lang="zh-CN" sz="2000" b="1" dirty="0">
              <a:solidFill>
                <a:schemeClr val="accent6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endParaRPr lang="zh-CN" sz="2000" b="1" dirty="0">
              <a:solidFill>
                <a:schemeClr val="accent6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3" name="NavActive AI使用"/>
          <p:cNvSpPr/>
          <p:nvPr/>
        </p:nvSpPr>
        <p:spPr>
          <a:xfrm>
            <a:off x="8856783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5" grpId="0"/>
      <p:bldP spid="5" grpId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117373" y="1084103"/>
            <a:ext cx="35909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工程闭环</a:t>
            </a:r>
            <a:endParaRPr lang="zh-CN" altLang="en-US" sz="28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9" name="Freeform 793"/>
          <p:cNvSpPr/>
          <p:nvPr/>
        </p:nvSpPr>
        <p:spPr bwMode="auto">
          <a:xfrm>
            <a:off x="9426652" y="1819640"/>
            <a:ext cx="2095769" cy="596529"/>
          </a:xfrm>
          <a:custGeom>
            <a:avLst/>
            <a:gdLst>
              <a:gd name="connsiteX0" fmla="*/ 9566 w 10000"/>
              <a:gd name="connsiteY0" fmla="*/ 10000 h 10000"/>
              <a:gd name="connsiteX1" fmla="*/ 4788 w 10000"/>
              <a:gd name="connsiteY1" fmla="*/ 10000 h 10000"/>
              <a:gd name="connsiteX2" fmla="*/ 0 w 10000"/>
              <a:gd name="connsiteY2" fmla="*/ 10000 h 10000"/>
              <a:gd name="connsiteX3" fmla="*/ 434 w 10000"/>
              <a:gd name="connsiteY3" fmla="*/ 4954 h 10000"/>
              <a:gd name="connsiteX4" fmla="*/ 0 w 10000"/>
              <a:gd name="connsiteY4" fmla="*/ 0 h 10000"/>
              <a:gd name="connsiteX5" fmla="*/ 4788 w 10000"/>
              <a:gd name="connsiteY5" fmla="*/ 0 h 10000"/>
              <a:gd name="connsiteX6" fmla="*/ 8990 w 10000"/>
              <a:gd name="connsiteY6" fmla="*/ 0 h 10000"/>
              <a:gd name="connsiteX7" fmla="*/ 10000 w 10000"/>
              <a:gd name="connsiteY7" fmla="*/ 4954 h 10000"/>
              <a:gd name="connsiteX8" fmla="*/ 9566 w 10000"/>
              <a:gd name="connsiteY8" fmla="*/ 10000 h 10000"/>
              <a:gd name="connsiteX0-1" fmla="*/ 8960 w 10000"/>
              <a:gd name="connsiteY0-2" fmla="*/ 10000 h 10000"/>
              <a:gd name="connsiteX1-3" fmla="*/ 4788 w 10000"/>
              <a:gd name="connsiteY1-4" fmla="*/ 10000 h 10000"/>
              <a:gd name="connsiteX2-5" fmla="*/ 0 w 10000"/>
              <a:gd name="connsiteY2-6" fmla="*/ 10000 h 10000"/>
              <a:gd name="connsiteX3-7" fmla="*/ 434 w 10000"/>
              <a:gd name="connsiteY3-8" fmla="*/ 4954 h 10000"/>
              <a:gd name="connsiteX4-9" fmla="*/ 0 w 10000"/>
              <a:gd name="connsiteY4-10" fmla="*/ 0 h 10000"/>
              <a:gd name="connsiteX5-11" fmla="*/ 4788 w 10000"/>
              <a:gd name="connsiteY5-12" fmla="*/ 0 h 10000"/>
              <a:gd name="connsiteX6-13" fmla="*/ 8990 w 10000"/>
              <a:gd name="connsiteY6-14" fmla="*/ 0 h 10000"/>
              <a:gd name="connsiteX7-15" fmla="*/ 10000 w 10000"/>
              <a:gd name="connsiteY7-16" fmla="*/ 4954 h 10000"/>
              <a:gd name="connsiteX8-17" fmla="*/ 8960 w 10000"/>
              <a:gd name="connsiteY8-18" fmla="*/ 10000 h 10000"/>
              <a:gd name="connsiteX0-19" fmla="*/ 8960 w 10000"/>
              <a:gd name="connsiteY0-20" fmla="*/ 10000 h 10000"/>
              <a:gd name="connsiteX1-21" fmla="*/ 4788 w 10000"/>
              <a:gd name="connsiteY1-22" fmla="*/ 10000 h 10000"/>
              <a:gd name="connsiteX2-23" fmla="*/ 0 w 10000"/>
              <a:gd name="connsiteY2-24" fmla="*/ 10000 h 10000"/>
              <a:gd name="connsiteX3-25" fmla="*/ 434 w 10000"/>
              <a:gd name="connsiteY3-26" fmla="*/ 4954 h 10000"/>
              <a:gd name="connsiteX4-27" fmla="*/ 0 w 10000"/>
              <a:gd name="connsiteY4-28" fmla="*/ 0 h 10000"/>
              <a:gd name="connsiteX5-29" fmla="*/ 4788 w 10000"/>
              <a:gd name="connsiteY5-30" fmla="*/ 0 h 10000"/>
              <a:gd name="connsiteX6-31" fmla="*/ 8990 w 10000"/>
              <a:gd name="connsiteY6-32" fmla="*/ 0 h 10000"/>
              <a:gd name="connsiteX7-33" fmla="*/ 10000 w 10000"/>
              <a:gd name="connsiteY7-34" fmla="*/ 4954 h 10000"/>
              <a:gd name="connsiteX8-35" fmla="*/ 8960 w 10000"/>
              <a:gd name="connsiteY8-36" fmla="*/ 10000 h 10000"/>
              <a:gd name="connsiteX0-37" fmla="*/ 8960 w 10000"/>
              <a:gd name="connsiteY0-38" fmla="*/ 10000 h 10000"/>
              <a:gd name="connsiteX1-39" fmla="*/ 4788 w 10000"/>
              <a:gd name="connsiteY1-40" fmla="*/ 10000 h 10000"/>
              <a:gd name="connsiteX2-41" fmla="*/ 0 w 10000"/>
              <a:gd name="connsiteY2-42" fmla="*/ 10000 h 10000"/>
              <a:gd name="connsiteX3-43" fmla="*/ 434 w 10000"/>
              <a:gd name="connsiteY3-44" fmla="*/ 4954 h 10000"/>
              <a:gd name="connsiteX4-45" fmla="*/ 0 w 10000"/>
              <a:gd name="connsiteY4-46" fmla="*/ 0 h 10000"/>
              <a:gd name="connsiteX5-47" fmla="*/ 4788 w 10000"/>
              <a:gd name="connsiteY5-48" fmla="*/ 0 h 10000"/>
              <a:gd name="connsiteX6-49" fmla="*/ 8990 w 10000"/>
              <a:gd name="connsiteY6-50" fmla="*/ 0 h 10000"/>
              <a:gd name="connsiteX7-51" fmla="*/ 10000 w 10000"/>
              <a:gd name="connsiteY7-52" fmla="*/ 4954 h 10000"/>
              <a:gd name="connsiteX8-53" fmla="*/ 8960 w 10000"/>
              <a:gd name="connsiteY8-54" fmla="*/ 10000 h 10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10000" h="10000">
                <a:moveTo>
                  <a:pt x="8960" y="10000"/>
                </a:moveTo>
                <a:lnTo>
                  <a:pt x="4788" y="10000"/>
                </a:lnTo>
                <a:lnTo>
                  <a:pt x="0" y="10000"/>
                </a:lnTo>
                <a:cubicBezTo>
                  <a:pt x="145" y="8318"/>
                  <a:pt x="289" y="6636"/>
                  <a:pt x="434" y="4954"/>
                </a:cubicBezTo>
                <a:cubicBezTo>
                  <a:pt x="289" y="3303"/>
                  <a:pt x="145" y="1651"/>
                  <a:pt x="0" y="0"/>
                </a:cubicBezTo>
                <a:lnTo>
                  <a:pt x="4788" y="0"/>
                </a:lnTo>
                <a:lnTo>
                  <a:pt x="8990" y="0"/>
                </a:lnTo>
                <a:lnTo>
                  <a:pt x="10000" y="4954"/>
                </a:lnTo>
                <a:cubicBezTo>
                  <a:pt x="9643" y="6636"/>
                  <a:pt x="9135" y="9010"/>
                  <a:pt x="8960" y="10000"/>
                </a:cubicBezTo>
                <a:close/>
              </a:path>
            </a:pathLst>
          </a:custGeom>
          <a:solidFill>
            <a:schemeClr val="accent6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Freeform 790"/>
          <p:cNvSpPr/>
          <p:nvPr/>
        </p:nvSpPr>
        <p:spPr bwMode="auto">
          <a:xfrm>
            <a:off x="467401" y="1819641"/>
            <a:ext cx="2373003" cy="596529"/>
          </a:xfrm>
          <a:custGeom>
            <a:avLst/>
            <a:gdLst>
              <a:gd name="connsiteX0" fmla="*/ 9568 w 10000"/>
              <a:gd name="connsiteY0" fmla="*/ 10000 h 10000"/>
              <a:gd name="connsiteX1" fmla="*/ 4793 w 10000"/>
              <a:gd name="connsiteY1" fmla="*/ 10000 h 10000"/>
              <a:gd name="connsiteX2" fmla="*/ 0 w 10000"/>
              <a:gd name="connsiteY2" fmla="*/ 10000 h 10000"/>
              <a:gd name="connsiteX3" fmla="*/ 1362 w 10000"/>
              <a:gd name="connsiteY3" fmla="*/ 4954 h 10000"/>
              <a:gd name="connsiteX4" fmla="*/ 0 w 10000"/>
              <a:gd name="connsiteY4" fmla="*/ 0 h 10000"/>
              <a:gd name="connsiteX5" fmla="*/ 4793 w 10000"/>
              <a:gd name="connsiteY5" fmla="*/ 0 h 10000"/>
              <a:gd name="connsiteX6" fmla="*/ 9568 w 10000"/>
              <a:gd name="connsiteY6" fmla="*/ 0 h 10000"/>
              <a:gd name="connsiteX7" fmla="*/ 10000 w 10000"/>
              <a:gd name="connsiteY7" fmla="*/ 4954 h 10000"/>
              <a:gd name="connsiteX8" fmla="*/ 9568 w 10000"/>
              <a:gd name="connsiteY8" fmla="*/ 100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000" h="10000">
                <a:moveTo>
                  <a:pt x="9568" y="10000"/>
                </a:moveTo>
                <a:lnTo>
                  <a:pt x="4793" y="10000"/>
                </a:lnTo>
                <a:lnTo>
                  <a:pt x="0" y="10000"/>
                </a:lnTo>
                <a:lnTo>
                  <a:pt x="1362" y="4954"/>
                </a:lnTo>
                <a:lnTo>
                  <a:pt x="0" y="0"/>
                </a:lnTo>
                <a:lnTo>
                  <a:pt x="4793" y="0"/>
                </a:lnTo>
                <a:lnTo>
                  <a:pt x="9568" y="0"/>
                </a:lnTo>
                <a:lnTo>
                  <a:pt x="10000" y="4954"/>
                </a:lnTo>
                <a:lnTo>
                  <a:pt x="9568" y="10000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Freeform 791"/>
          <p:cNvSpPr/>
          <p:nvPr/>
        </p:nvSpPr>
        <p:spPr bwMode="auto">
          <a:xfrm>
            <a:off x="2692901" y="1819641"/>
            <a:ext cx="2384821" cy="596529"/>
          </a:xfrm>
          <a:custGeom>
            <a:avLst/>
            <a:gdLst/>
            <a:ahLst/>
            <a:cxnLst>
              <a:cxn ang="0">
                <a:pos x="996" y="109"/>
              </a:cxn>
              <a:cxn ang="0">
                <a:pos x="499" y="109"/>
              </a:cxn>
              <a:cxn ang="0">
                <a:pos x="0" y="109"/>
              </a:cxn>
              <a:cxn ang="0">
                <a:pos x="45" y="54"/>
              </a:cxn>
              <a:cxn ang="0">
                <a:pos x="0" y="0"/>
              </a:cxn>
              <a:cxn ang="0">
                <a:pos x="499" y="0"/>
              </a:cxn>
              <a:cxn ang="0">
                <a:pos x="996" y="0"/>
              </a:cxn>
              <a:cxn ang="0">
                <a:pos x="1041" y="54"/>
              </a:cxn>
              <a:cxn ang="0">
                <a:pos x="996" y="109"/>
              </a:cxn>
            </a:cxnLst>
            <a:rect l="0" t="0" r="r" b="b"/>
            <a:pathLst>
              <a:path w="1041" h="109">
                <a:moveTo>
                  <a:pt x="996" y="109"/>
                </a:moveTo>
                <a:lnTo>
                  <a:pt x="499" y="109"/>
                </a:lnTo>
                <a:lnTo>
                  <a:pt x="0" y="109"/>
                </a:lnTo>
                <a:lnTo>
                  <a:pt x="45" y="54"/>
                </a:lnTo>
                <a:lnTo>
                  <a:pt x="0" y="0"/>
                </a:lnTo>
                <a:lnTo>
                  <a:pt x="499" y="0"/>
                </a:lnTo>
                <a:lnTo>
                  <a:pt x="996" y="0"/>
                </a:lnTo>
                <a:lnTo>
                  <a:pt x="1041" y="54"/>
                </a:lnTo>
                <a:lnTo>
                  <a:pt x="996" y="109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Freeform 792"/>
          <p:cNvSpPr/>
          <p:nvPr/>
        </p:nvSpPr>
        <p:spPr bwMode="auto">
          <a:xfrm>
            <a:off x="4928101" y="1819641"/>
            <a:ext cx="2384821" cy="596529"/>
          </a:xfrm>
          <a:custGeom>
            <a:avLst/>
            <a:gdLst/>
            <a:ahLst/>
            <a:cxnLst>
              <a:cxn ang="0">
                <a:pos x="996" y="109"/>
              </a:cxn>
              <a:cxn ang="0">
                <a:pos x="497" y="109"/>
              </a:cxn>
              <a:cxn ang="0">
                <a:pos x="0" y="109"/>
              </a:cxn>
              <a:cxn ang="0">
                <a:pos x="45" y="54"/>
              </a:cxn>
              <a:cxn ang="0">
                <a:pos x="0" y="0"/>
              </a:cxn>
              <a:cxn ang="0">
                <a:pos x="497" y="0"/>
              </a:cxn>
              <a:cxn ang="0">
                <a:pos x="996" y="0"/>
              </a:cxn>
              <a:cxn ang="0">
                <a:pos x="1041" y="54"/>
              </a:cxn>
              <a:cxn ang="0">
                <a:pos x="996" y="109"/>
              </a:cxn>
            </a:cxnLst>
            <a:rect l="0" t="0" r="r" b="b"/>
            <a:pathLst>
              <a:path w="1041" h="109">
                <a:moveTo>
                  <a:pt x="996" y="109"/>
                </a:moveTo>
                <a:lnTo>
                  <a:pt x="497" y="109"/>
                </a:lnTo>
                <a:lnTo>
                  <a:pt x="0" y="109"/>
                </a:lnTo>
                <a:lnTo>
                  <a:pt x="45" y="54"/>
                </a:lnTo>
                <a:lnTo>
                  <a:pt x="0" y="0"/>
                </a:lnTo>
                <a:lnTo>
                  <a:pt x="497" y="0"/>
                </a:lnTo>
                <a:lnTo>
                  <a:pt x="996" y="0"/>
                </a:lnTo>
                <a:lnTo>
                  <a:pt x="1041" y="54"/>
                </a:lnTo>
                <a:lnTo>
                  <a:pt x="996" y="109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Freeform 793"/>
          <p:cNvSpPr/>
          <p:nvPr/>
        </p:nvSpPr>
        <p:spPr bwMode="auto">
          <a:xfrm>
            <a:off x="7165415" y="1819641"/>
            <a:ext cx="2377947" cy="596529"/>
          </a:xfrm>
          <a:custGeom>
            <a:avLst/>
            <a:gdLst/>
            <a:ahLst/>
            <a:cxnLst>
              <a:cxn ang="0">
                <a:pos x="993" y="109"/>
              </a:cxn>
              <a:cxn ang="0">
                <a:pos x="497" y="109"/>
              </a:cxn>
              <a:cxn ang="0">
                <a:pos x="0" y="109"/>
              </a:cxn>
              <a:cxn ang="0">
                <a:pos x="45" y="54"/>
              </a:cxn>
              <a:cxn ang="0">
                <a:pos x="0" y="0"/>
              </a:cxn>
              <a:cxn ang="0">
                <a:pos x="497" y="0"/>
              </a:cxn>
              <a:cxn ang="0">
                <a:pos x="993" y="0"/>
              </a:cxn>
              <a:cxn ang="0">
                <a:pos x="1038" y="54"/>
              </a:cxn>
              <a:cxn ang="0">
                <a:pos x="993" y="109"/>
              </a:cxn>
            </a:cxnLst>
            <a:rect l="0" t="0" r="r" b="b"/>
            <a:pathLst>
              <a:path w="1038" h="109">
                <a:moveTo>
                  <a:pt x="993" y="109"/>
                </a:moveTo>
                <a:lnTo>
                  <a:pt x="497" y="109"/>
                </a:lnTo>
                <a:lnTo>
                  <a:pt x="0" y="109"/>
                </a:lnTo>
                <a:lnTo>
                  <a:pt x="45" y="54"/>
                </a:lnTo>
                <a:lnTo>
                  <a:pt x="0" y="0"/>
                </a:lnTo>
                <a:lnTo>
                  <a:pt x="497" y="0"/>
                </a:lnTo>
                <a:lnTo>
                  <a:pt x="993" y="0"/>
                </a:lnTo>
                <a:lnTo>
                  <a:pt x="1038" y="54"/>
                </a:lnTo>
                <a:lnTo>
                  <a:pt x="993" y="109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Content Placeholder 2"/>
          <p:cNvSpPr txBox="1"/>
          <p:nvPr/>
        </p:nvSpPr>
        <p:spPr>
          <a:xfrm>
            <a:off x="541448" y="3971968"/>
            <a:ext cx="2055002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回写</a:t>
            </a:r>
          </a:p>
        </p:txBody>
      </p:sp>
      <p:cxnSp>
        <p:nvCxnSpPr>
          <p:cNvPr id="75" name="Straight Connector 9"/>
          <p:cNvCxnSpPr/>
          <p:nvPr/>
        </p:nvCxnSpPr>
        <p:spPr>
          <a:xfrm>
            <a:off x="1568949" y="2547557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10"/>
          <p:cNvCxnSpPr/>
          <p:nvPr/>
        </p:nvCxnSpPr>
        <p:spPr>
          <a:xfrm>
            <a:off x="3723427" y="2547557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11"/>
          <p:cNvCxnSpPr/>
          <p:nvPr/>
        </p:nvCxnSpPr>
        <p:spPr>
          <a:xfrm>
            <a:off x="5989926" y="2547557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12"/>
          <p:cNvCxnSpPr/>
          <p:nvPr/>
        </p:nvCxnSpPr>
        <p:spPr>
          <a:xfrm>
            <a:off x="8213484" y="2547557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13"/>
          <p:cNvCxnSpPr/>
          <p:nvPr/>
        </p:nvCxnSpPr>
        <p:spPr>
          <a:xfrm>
            <a:off x="10532917" y="2547557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Oval 14"/>
          <p:cNvSpPr/>
          <p:nvPr/>
        </p:nvSpPr>
        <p:spPr>
          <a:xfrm>
            <a:off x="1157469" y="3078316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Arc 15"/>
          <p:cNvSpPr/>
          <p:nvPr/>
        </p:nvSpPr>
        <p:spPr>
          <a:xfrm>
            <a:off x="1157469" y="3078316"/>
            <a:ext cx="822960" cy="822960"/>
          </a:xfrm>
          <a:prstGeom prst="arc">
            <a:avLst>
              <a:gd name="adj1" fmla="val 13167232"/>
              <a:gd name="adj2" fmla="val 16466928"/>
            </a:avLst>
          </a:prstGeom>
          <a:ln w="79375">
            <a:solidFill>
              <a:schemeClr val="accent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Oval 16"/>
          <p:cNvSpPr/>
          <p:nvPr/>
        </p:nvSpPr>
        <p:spPr>
          <a:xfrm>
            <a:off x="3311947" y="3078316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Arc 17"/>
          <p:cNvSpPr/>
          <p:nvPr/>
        </p:nvSpPr>
        <p:spPr>
          <a:xfrm>
            <a:off x="3311947" y="3078316"/>
            <a:ext cx="822960" cy="822960"/>
          </a:xfrm>
          <a:prstGeom prst="arc">
            <a:avLst>
              <a:gd name="adj1" fmla="val 9206565"/>
              <a:gd name="adj2" fmla="val 16045990"/>
            </a:avLst>
          </a:prstGeom>
          <a:ln w="79375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Oval 18"/>
          <p:cNvSpPr/>
          <p:nvPr/>
        </p:nvSpPr>
        <p:spPr>
          <a:xfrm>
            <a:off x="5578446" y="3078316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Arc 19"/>
          <p:cNvSpPr/>
          <p:nvPr/>
        </p:nvSpPr>
        <p:spPr>
          <a:xfrm>
            <a:off x="5578446" y="3078316"/>
            <a:ext cx="822960" cy="822960"/>
          </a:xfrm>
          <a:prstGeom prst="arc">
            <a:avLst>
              <a:gd name="adj1" fmla="val 5584046"/>
              <a:gd name="adj2" fmla="val 16355650"/>
            </a:avLst>
          </a:prstGeom>
          <a:ln w="79375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6" name="Oval 20"/>
          <p:cNvSpPr/>
          <p:nvPr/>
        </p:nvSpPr>
        <p:spPr>
          <a:xfrm>
            <a:off x="7792823" y="3052141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Arc 21"/>
          <p:cNvSpPr/>
          <p:nvPr/>
        </p:nvSpPr>
        <p:spPr>
          <a:xfrm>
            <a:off x="7787743" y="3052141"/>
            <a:ext cx="822960" cy="822960"/>
          </a:xfrm>
          <a:prstGeom prst="arc">
            <a:avLst>
              <a:gd name="adj1" fmla="val 867854"/>
              <a:gd name="adj2" fmla="val 16404494"/>
            </a:avLst>
          </a:prstGeom>
          <a:ln w="79375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88" name="Group 22"/>
          <p:cNvGrpSpPr/>
          <p:nvPr/>
        </p:nvGrpSpPr>
        <p:grpSpPr>
          <a:xfrm>
            <a:off x="10121437" y="3052141"/>
            <a:ext cx="822960" cy="822960"/>
            <a:chOff x="10157621" y="3837155"/>
            <a:chExt cx="822960" cy="822960"/>
          </a:xfrm>
        </p:grpSpPr>
        <p:sp>
          <p:nvSpPr>
            <p:cNvPr id="110" name="Oval 23"/>
            <p:cNvSpPr/>
            <p:nvPr/>
          </p:nvSpPr>
          <p:spPr>
            <a:xfrm>
              <a:off x="10157621" y="3837155"/>
              <a:ext cx="822960" cy="822960"/>
            </a:xfrm>
            <a:prstGeom prst="ellipse">
              <a:avLst/>
            </a:prstGeom>
            <a:noFill/>
            <a:ln w="793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0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1" name="Arc 24"/>
            <p:cNvSpPr/>
            <p:nvPr/>
          </p:nvSpPr>
          <p:spPr>
            <a:xfrm>
              <a:off x="10157621" y="3837155"/>
              <a:ext cx="822960" cy="822960"/>
            </a:xfrm>
            <a:prstGeom prst="arc">
              <a:avLst>
                <a:gd name="adj1" fmla="val 19532749"/>
                <a:gd name="adj2" fmla="val 16375526"/>
              </a:avLst>
            </a:prstGeom>
            <a:ln w="79375">
              <a:solidFill>
                <a:schemeClr val="accent6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vi-VN" sz="20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91" name="TextBox 27"/>
          <p:cNvSpPr txBox="1"/>
          <p:nvPr/>
        </p:nvSpPr>
        <p:spPr>
          <a:xfrm>
            <a:off x="467401" y="1918604"/>
            <a:ext cx="2373003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需求</a:t>
            </a:r>
          </a:p>
        </p:txBody>
      </p:sp>
      <p:sp>
        <p:nvSpPr>
          <p:cNvPr id="92" name="TextBox 28"/>
          <p:cNvSpPr txBox="1"/>
          <p:nvPr/>
        </p:nvSpPr>
        <p:spPr>
          <a:xfrm>
            <a:off x="2688456" y="1918604"/>
            <a:ext cx="2299833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设计</a:t>
            </a:r>
          </a:p>
        </p:txBody>
      </p:sp>
      <p:sp>
        <p:nvSpPr>
          <p:cNvPr id="93" name="TextBox 29"/>
          <p:cNvSpPr txBox="1"/>
          <p:nvPr/>
        </p:nvSpPr>
        <p:spPr>
          <a:xfrm>
            <a:off x="4902062" y="1919239"/>
            <a:ext cx="2290137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实现</a:t>
            </a:r>
          </a:p>
        </p:txBody>
      </p:sp>
      <p:sp>
        <p:nvSpPr>
          <p:cNvPr id="94" name="TextBox 30"/>
          <p:cNvSpPr txBox="1"/>
          <p:nvPr/>
        </p:nvSpPr>
        <p:spPr>
          <a:xfrm>
            <a:off x="7152717" y="1919239"/>
            <a:ext cx="2273302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验证</a:t>
            </a:r>
            <a:endParaRPr lang="en-US" sz="2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5" name="TextBox 31"/>
          <p:cNvSpPr txBox="1"/>
          <p:nvPr/>
        </p:nvSpPr>
        <p:spPr>
          <a:xfrm>
            <a:off x="9396173" y="1919239"/>
            <a:ext cx="2125794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7" name="Content Placeholder 2"/>
          <p:cNvSpPr txBox="1"/>
          <p:nvPr/>
        </p:nvSpPr>
        <p:spPr>
          <a:xfrm>
            <a:off x="3042961" y="3971969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</a:p>
        </p:txBody>
      </p:sp>
      <p:sp>
        <p:nvSpPr>
          <p:cNvPr id="99" name="Content Placeholder 2"/>
          <p:cNvSpPr txBox="1"/>
          <p:nvPr/>
        </p:nvSpPr>
        <p:spPr>
          <a:xfrm>
            <a:off x="5281155" y="3971970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</a:t>
            </a:r>
          </a:p>
        </p:txBody>
      </p:sp>
      <p:sp>
        <p:nvSpPr>
          <p:cNvPr id="101" name="Content Placeholder 2"/>
          <p:cNvSpPr txBox="1"/>
          <p:nvPr/>
        </p:nvSpPr>
        <p:spPr>
          <a:xfrm>
            <a:off x="7514664" y="3971970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验证</a:t>
            </a:r>
            <a:endParaRPr lang="en-US" sz="2000" b="1" dirty="0">
              <a:solidFill>
                <a:schemeClr val="accent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3" name="Content Placeholder 2"/>
          <p:cNvSpPr txBox="1"/>
          <p:nvPr/>
        </p:nvSpPr>
        <p:spPr>
          <a:xfrm>
            <a:off x="9862365" y="3971970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/>
          </a:p>
        </p:txBody>
      </p:sp>
      <p:sp>
        <p:nvSpPr>
          <p:cNvPr id="105" name="Freeform 6"/>
          <p:cNvSpPr>
            <a:spLocks noChangeArrowheads="1"/>
          </p:cNvSpPr>
          <p:nvPr/>
        </p:nvSpPr>
        <p:spPr bwMode="auto">
          <a:xfrm>
            <a:off x="5780732" y="3333003"/>
            <a:ext cx="365760" cy="365760"/>
          </a:xfrm>
          <a:custGeom>
            <a:avLst/>
            <a:gdLst>
              <a:gd name="T0" fmla="*/ 425 w 444"/>
              <a:gd name="T1" fmla="*/ 17 h 435"/>
              <a:gd name="T2" fmla="*/ 425 w 444"/>
              <a:gd name="T3" fmla="*/ 17 h 435"/>
              <a:gd name="T4" fmla="*/ 345 w 444"/>
              <a:gd name="T5" fmla="*/ 35 h 435"/>
              <a:gd name="T6" fmla="*/ 0 w 444"/>
              <a:gd name="T7" fmla="*/ 222 h 435"/>
              <a:gd name="T8" fmla="*/ 195 w 444"/>
              <a:gd name="T9" fmla="*/ 248 h 435"/>
              <a:gd name="T10" fmla="*/ 221 w 444"/>
              <a:gd name="T11" fmla="*/ 434 h 435"/>
              <a:gd name="T12" fmla="*/ 399 w 444"/>
              <a:gd name="T13" fmla="*/ 89 h 435"/>
              <a:gd name="T14" fmla="*/ 425 w 444"/>
              <a:gd name="T15" fmla="*/ 17 h 435"/>
              <a:gd name="T16" fmla="*/ 381 w 444"/>
              <a:gd name="T17" fmla="*/ 62 h 435"/>
              <a:gd name="T18" fmla="*/ 381 w 444"/>
              <a:gd name="T19" fmla="*/ 62 h 435"/>
              <a:gd name="T20" fmla="*/ 239 w 444"/>
              <a:gd name="T21" fmla="*/ 319 h 435"/>
              <a:gd name="T22" fmla="*/ 230 w 444"/>
              <a:gd name="T23" fmla="*/ 204 h 435"/>
              <a:gd name="T24" fmla="*/ 381 w 444"/>
              <a:gd name="T25" fmla="*/ 62 h 4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444" h="435">
                <a:moveTo>
                  <a:pt x="425" y="17"/>
                </a:moveTo>
                <a:lnTo>
                  <a:pt x="425" y="17"/>
                </a:lnTo>
                <a:cubicBezTo>
                  <a:pt x="408" y="0"/>
                  <a:pt x="399" y="17"/>
                  <a:pt x="345" y="35"/>
                </a:cubicBezTo>
                <a:cubicBezTo>
                  <a:pt x="221" y="97"/>
                  <a:pt x="0" y="222"/>
                  <a:pt x="0" y="222"/>
                </a:cubicBezTo>
                <a:cubicBezTo>
                  <a:pt x="195" y="248"/>
                  <a:pt x="195" y="248"/>
                  <a:pt x="195" y="248"/>
                </a:cubicBezTo>
                <a:cubicBezTo>
                  <a:pt x="221" y="434"/>
                  <a:pt x="221" y="434"/>
                  <a:pt x="221" y="434"/>
                </a:cubicBezTo>
                <a:cubicBezTo>
                  <a:pt x="221" y="434"/>
                  <a:pt x="345" y="222"/>
                  <a:pt x="399" y="89"/>
                </a:cubicBezTo>
                <a:cubicBezTo>
                  <a:pt x="425" y="44"/>
                  <a:pt x="443" y="26"/>
                  <a:pt x="425" y="17"/>
                </a:cubicBezTo>
                <a:close/>
                <a:moveTo>
                  <a:pt x="381" y="62"/>
                </a:moveTo>
                <a:lnTo>
                  <a:pt x="381" y="62"/>
                </a:lnTo>
                <a:cubicBezTo>
                  <a:pt x="239" y="319"/>
                  <a:pt x="239" y="319"/>
                  <a:pt x="239" y="319"/>
                </a:cubicBezTo>
                <a:cubicBezTo>
                  <a:pt x="230" y="204"/>
                  <a:pt x="230" y="204"/>
                  <a:pt x="230" y="204"/>
                </a:cubicBezTo>
                <a:lnTo>
                  <a:pt x="381" y="62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Freeform 25"/>
          <p:cNvSpPr>
            <a:spLocks noChangeArrowheads="1"/>
          </p:cNvSpPr>
          <p:nvPr/>
        </p:nvSpPr>
        <p:spPr bwMode="auto">
          <a:xfrm>
            <a:off x="8025193" y="3255723"/>
            <a:ext cx="365760" cy="365760"/>
          </a:xfrm>
          <a:custGeom>
            <a:avLst/>
            <a:gdLst>
              <a:gd name="T0" fmla="*/ 195 w 346"/>
              <a:gd name="T1" fmla="*/ 0 h 479"/>
              <a:gd name="T2" fmla="*/ 195 w 346"/>
              <a:gd name="T3" fmla="*/ 0 h 479"/>
              <a:gd name="T4" fmla="*/ 160 w 346"/>
              <a:gd name="T5" fmla="*/ 0 h 479"/>
              <a:gd name="T6" fmla="*/ 160 w 346"/>
              <a:gd name="T7" fmla="*/ 328 h 479"/>
              <a:gd name="T8" fmla="*/ 80 w 346"/>
              <a:gd name="T9" fmla="*/ 328 h 479"/>
              <a:gd name="T10" fmla="*/ 10 w 346"/>
              <a:gd name="T11" fmla="*/ 425 h 479"/>
              <a:gd name="T12" fmla="*/ 124 w 346"/>
              <a:gd name="T13" fmla="*/ 461 h 479"/>
              <a:gd name="T14" fmla="*/ 195 w 346"/>
              <a:gd name="T15" fmla="*/ 372 h 479"/>
              <a:gd name="T16" fmla="*/ 195 w 346"/>
              <a:gd name="T17" fmla="*/ 106 h 479"/>
              <a:gd name="T18" fmla="*/ 257 w 346"/>
              <a:gd name="T19" fmla="*/ 230 h 479"/>
              <a:gd name="T20" fmla="*/ 275 w 346"/>
              <a:gd name="T21" fmla="*/ 230 h 479"/>
              <a:gd name="T22" fmla="*/ 195 w 346"/>
              <a:gd name="T23" fmla="*/ 0 h 4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346" h="479">
                <a:moveTo>
                  <a:pt x="195" y="0"/>
                </a:moveTo>
                <a:lnTo>
                  <a:pt x="195" y="0"/>
                </a:lnTo>
                <a:cubicBezTo>
                  <a:pt x="160" y="0"/>
                  <a:pt x="160" y="0"/>
                  <a:pt x="160" y="0"/>
                </a:cubicBezTo>
                <a:cubicBezTo>
                  <a:pt x="160" y="328"/>
                  <a:pt x="160" y="328"/>
                  <a:pt x="160" y="328"/>
                </a:cubicBezTo>
                <a:cubicBezTo>
                  <a:pt x="133" y="319"/>
                  <a:pt x="107" y="319"/>
                  <a:pt x="80" y="328"/>
                </a:cubicBezTo>
                <a:cubicBezTo>
                  <a:pt x="26" y="346"/>
                  <a:pt x="0" y="390"/>
                  <a:pt x="10" y="425"/>
                </a:cubicBezTo>
                <a:cubicBezTo>
                  <a:pt x="26" y="461"/>
                  <a:pt x="71" y="478"/>
                  <a:pt x="124" y="461"/>
                </a:cubicBezTo>
                <a:cubicBezTo>
                  <a:pt x="169" y="443"/>
                  <a:pt x="195" y="408"/>
                  <a:pt x="195" y="372"/>
                </a:cubicBezTo>
                <a:cubicBezTo>
                  <a:pt x="195" y="106"/>
                  <a:pt x="195" y="106"/>
                  <a:pt x="195" y="106"/>
                </a:cubicBezTo>
                <a:cubicBezTo>
                  <a:pt x="266" y="124"/>
                  <a:pt x="266" y="212"/>
                  <a:pt x="257" y="230"/>
                </a:cubicBezTo>
                <a:cubicBezTo>
                  <a:pt x="257" y="239"/>
                  <a:pt x="266" y="248"/>
                  <a:pt x="275" y="230"/>
                </a:cubicBezTo>
                <a:cubicBezTo>
                  <a:pt x="345" y="115"/>
                  <a:pt x="195" y="62"/>
                  <a:pt x="195" y="0"/>
                </a:cubicBezTo>
              </a:path>
            </a:pathLst>
          </a:cu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Freeform 28"/>
          <p:cNvSpPr>
            <a:spLocks noChangeArrowheads="1"/>
          </p:cNvSpPr>
          <p:nvPr/>
        </p:nvSpPr>
        <p:spPr bwMode="auto">
          <a:xfrm>
            <a:off x="10363892" y="3281027"/>
            <a:ext cx="365760" cy="365760"/>
          </a:xfrm>
          <a:custGeom>
            <a:avLst/>
            <a:gdLst>
              <a:gd name="T0" fmla="*/ 124 w 498"/>
              <a:gd name="T1" fmla="*/ 81 h 418"/>
              <a:gd name="T2" fmla="*/ 124 w 498"/>
              <a:gd name="T3" fmla="*/ 81 h 418"/>
              <a:gd name="T4" fmla="*/ 36 w 498"/>
              <a:gd name="T5" fmla="*/ 258 h 418"/>
              <a:gd name="T6" fmla="*/ 346 w 498"/>
              <a:gd name="T7" fmla="*/ 116 h 418"/>
              <a:gd name="T8" fmla="*/ 9 w 498"/>
              <a:gd name="T9" fmla="*/ 382 h 418"/>
              <a:gd name="T10" fmla="*/ 44 w 498"/>
              <a:gd name="T11" fmla="*/ 400 h 418"/>
              <a:gd name="T12" fmla="*/ 97 w 498"/>
              <a:gd name="T13" fmla="*/ 311 h 418"/>
              <a:gd name="T14" fmla="*/ 293 w 498"/>
              <a:gd name="T15" fmla="*/ 311 h 418"/>
              <a:gd name="T16" fmla="*/ 469 w 498"/>
              <a:gd name="T17" fmla="*/ 72 h 418"/>
              <a:gd name="T18" fmla="*/ 124 w 498"/>
              <a:gd name="T19" fmla="*/ 81 h 4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498" h="418">
                <a:moveTo>
                  <a:pt x="124" y="81"/>
                </a:moveTo>
                <a:lnTo>
                  <a:pt x="124" y="81"/>
                </a:lnTo>
                <a:cubicBezTo>
                  <a:pt x="27" y="134"/>
                  <a:pt x="36" y="222"/>
                  <a:pt x="36" y="258"/>
                </a:cubicBezTo>
                <a:cubicBezTo>
                  <a:pt x="159" y="107"/>
                  <a:pt x="346" y="116"/>
                  <a:pt x="346" y="116"/>
                </a:cubicBezTo>
                <a:cubicBezTo>
                  <a:pt x="346" y="116"/>
                  <a:pt x="80" y="204"/>
                  <a:pt x="9" y="382"/>
                </a:cubicBezTo>
                <a:cubicBezTo>
                  <a:pt x="0" y="400"/>
                  <a:pt x="36" y="417"/>
                  <a:pt x="44" y="400"/>
                </a:cubicBezTo>
                <a:cubicBezTo>
                  <a:pt x="62" y="355"/>
                  <a:pt x="97" y="311"/>
                  <a:pt x="97" y="311"/>
                </a:cubicBezTo>
                <a:cubicBezTo>
                  <a:pt x="151" y="329"/>
                  <a:pt x="230" y="355"/>
                  <a:pt x="293" y="311"/>
                </a:cubicBezTo>
                <a:cubicBezTo>
                  <a:pt x="363" y="258"/>
                  <a:pt x="363" y="134"/>
                  <a:pt x="469" y="72"/>
                </a:cubicBezTo>
                <a:cubicBezTo>
                  <a:pt x="497" y="63"/>
                  <a:pt x="249" y="0"/>
                  <a:pt x="124" y="81"/>
                </a:cubicBezTo>
              </a:path>
            </a:pathLst>
          </a:custGeom>
          <a:solidFill>
            <a:schemeClr val="accent6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Freeform 106"/>
          <p:cNvSpPr>
            <a:spLocks noChangeArrowheads="1"/>
          </p:cNvSpPr>
          <p:nvPr/>
        </p:nvSpPr>
        <p:spPr bwMode="auto">
          <a:xfrm>
            <a:off x="3575051" y="3311976"/>
            <a:ext cx="365760" cy="365760"/>
          </a:xfrm>
          <a:custGeom>
            <a:avLst/>
            <a:gdLst>
              <a:gd name="T0" fmla="*/ 35 w 355"/>
              <a:gd name="T1" fmla="*/ 497 h 506"/>
              <a:gd name="T2" fmla="*/ 35 w 355"/>
              <a:gd name="T3" fmla="*/ 497 h 506"/>
              <a:gd name="T4" fmla="*/ 70 w 355"/>
              <a:gd name="T5" fmla="*/ 381 h 506"/>
              <a:gd name="T6" fmla="*/ 203 w 355"/>
              <a:gd name="T7" fmla="*/ 310 h 506"/>
              <a:gd name="T8" fmla="*/ 132 w 355"/>
              <a:gd name="T9" fmla="*/ 284 h 506"/>
              <a:gd name="T10" fmla="*/ 292 w 355"/>
              <a:gd name="T11" fmla="*/ 194 h 506"/>
              <a:gd name="T12" fmla="*/ 194 w 355"/>
              <a:gd name="T13" fmla="*/ 168 h 506"/>
              <a:gd name="T14" fmla="*/ 327 w 355"/>
              <a:gd name="T15" fmla="*/ 133 h 506"/>
              <a:gd name="T16" fmla="*/ 345 w 355"/>
              <a:gd name="T17" fmla="*/ 44 h 506"/>
              <a:gd name="T18" fmla="*/ 248 w 355"/>
              <a:gd name="T19" fmla="*/ 0 h 506"/>
              <a:gd name="T20" fmla="*/ 159 w 355"/>
              <a:gd name="T21" fmla="*/ 124 h 506"/>
              <a:gd name="T22" fmla="*/ 168 w 355"/>
              <a:gd name="T23" fmla="*/ 18 h 506"/>
              <a:gd name="T24" fmla="*/ 70 w 355"/>
              <a:gd name="T25" fmla="*/ 106 h 506"/>
              <a:gd name="T26" fmla="*/ 61 w 355"/>
              <a:gd name="T27" fmla="*/ 301 h 506"/>
              <a:gd name="T28" fmla="*/ 8 w 355"/>
              <a:gd name="T29" fmla="*/ 213 h 506"/>
              <a:gd name="T30" fmla="*/ 35 w 355"/>
              <a:gd name="T31" fmla="*/ 363 h 506"/>
              <a:gd name="T32" fmla="*/ 8 w 355"/>
              <a:gd name="T33" fmla="*/ 478 h 506"/>
              <a:gd name="T34" fmla="*/ 35 w 355"/>
              <a:gd name="T35" fmla="*/ 497 h 5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355" h="506">
                <a:moveTo>
                  <a:pt x="35" y="497"/>
                </a:moveTo>
                <a:lnTo>
                  <a:pt x="35" y="497"/>
                </a:lnTo>
                <a:cubicBezTo>
                  <a:pt x="44" y="469"/>
                  <a:pt x="53" y="434"/>
                  <a:pt x="70" y="381"/>
                </a:cubicBezTo>
                <a:cubicBezTo>
                  <a:pt x="132" y="372"/>
                  <a:pt x="168" y="390"/>
                  <a:pt x="203" y="310"/>
                </a:cubicBezTo>
                <a:cubicBezTo>
                  <a:pt x="168" y="328"/>
                  <a:pt x="132" y="292"/>
                  <a:pt x="132" y="284"/>
                </a:cubicBezTo>
                <a:cubicBezTo>
                  <a:pt x="132" y="266"/>
                  <a:pt x="229" y="292"/>
                  <a:pt x="292" y="194"/>
                </a:cubicBezTo>
                <a:cubicBezTo>
                  <a:pt x="212" y="213"/>
                  <a:pt x="185" y="178"/>
                  <a:pt x="194" y="168"/>
                </a:cubicBezTo>
                <a:cubicBezTo>
                  <a:pt x="221" y="159"/>
                  <a:pt x="292" y="168"/>
                  <a:pt x="327" y="133"/>
                </a:cubicBezTo>
                <a:cubicBezTo>
                  <a:pt x="345" y="115"/>
                  <a:pt x="354" y="62"/>
                  <a:pt x="345" y="44"/>
                </a:cubicBezTo>
                <a:cubicBezTo>
                  <a:pt x="336" y="27"/>
                  <a:pt x="283" y="0"/>
                  <a:pt x="248" y="0"/>
                </a:cubicBezTo>
                <a:cubicBezTo>
                  <a:pt x="221" y="9"/>
                  <a:pt x="168" y="124"/>
                  <a:pt x="159" y="124"/>
                </a:cubicBezTo>
                <a:cubicBezTo>
                  <a:pt x="141" y="124"/>
                  <a:pt x="141" y="71"/>
                  <a:pt x="168" y="18"/>
                </a:cubicBezTo>
                <a:cubicBezTo>
                  <a:pt x="132" y="35"/>
                  <a:pt x="88" y="71"/>
                  <a:pt x="70" y="106"/>
                </a:cubicBezTo>
                <a:cubicBezTo>
                  <a:pt x="44" y="159"/>
                  <a:pt x="79" y="301"/>
                  <a:pt x="61" y="301"/>
                </a:cubicBezTo>
                <a:cubicBezTo>
                  <a:pt x="53" y="310"/>
                  <a:pt x="17" y="239"/>
                  <a:pt x="8" y="213"/>
                </a:cubicBezTo>
                <a:cubicBezTo>
                  <a:pt x="0" y="257"/>
                  <a:pt x="0" y="301"/>
                  <a:pt x="35" y="363"/>
                </a:cubicBezTo>
                <a:cubicBezTo>
                  <a:pt x="26" y="407"/>
                  <a:pt x="17" y="452"/>
                  <a:pt x="8" y="478"/>
                </a:cubicBezTo>
                <a:cubicBezTo>
                  <a:pt x="8" y="497"/>
                  <a:pt x="35" y="505"/>
                  <a:pt x="35" y="497"/>
                </a:cubicBez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9" name="Freeform 115"/>
          <p:cNvSpPr>
            <a:spLocks noChangeArrowheads="1"/>
          </p:cNvSpPr>
          <p:nvPr/>
        </p:nvSpPr>
        <p:spPr bwMode="auto">
          <a:xfrm>
            <a:off x="1395169" y="3273339"/>
            <a:ext cx="365760" cy="432913"/>
          </a:xfrm>
          <a:custGeom>
            <a:avLst/>
            <a:gdLst>
              <a:gd name="T0" fmla="*/ 381 w 400"/>
              <a:gd name="T1" fmla="*/ 124 h 498"/>
              <a:gd name="T2" fmla="*/ 381 w 400"/>
              <a:gd name="T3" fmla="*/ 124 h 498"/>
              <a:gd name="T4" fmla="*/ 231 w 400"/>
              <a:gd name="T5" fmla="*/ 9 h 498"/>
              <a:gd name="T6" fmla="*/ 115 w 400"/>
              <a:gd name="T7" fmla="*/ 151 h 498"/>
              <a:gd name="T8" fmla="*/ 133 w 400"/>
              <a:gd name="T9" fmla="*/ 213 h 498"/>
              <a:gd name="T10" fmla="*/ 9 w 400"/>
              <a:gd name="T11" fmla="*/ 407 h 498"/>
              <a:gd name="T12" fmla="*/ 0 w 400"/>
              <a:gd name="T13" fmla="*/ 434 h 498"/>
              <a:gd name="T14" fmla="*/ 9 w 400"/>
              <a:gd name="T15" fmla="*/ 478 h 498"/>
              <a:gd name="T16" fmla="*/ 27 w 400"/>
              <a:gd name="T17" fmla="*/ 497 h 498"/>
              <a:gd name="T18" fmla="*/ 62 w 400"/>
              <a:gd name="T19" fmla="*/ 487 h 498"/>
              <a:gd name="T20" fmla="*/ 89 w 400"/>
              <a:gd name="T21" fmla="*/ 470 h 498"/>
              <a:gd name="T22" fmla="*/ 142 w 400"/>
              <a:gd name="T23" fmla="*/ 390 h 498"/>
              <a:gd name="T24" fmla="*/ 142 w 400"/>
              <a:gd name="T25" fmla="*/ 390 h 498"/>
              <a:gd name="T26" fmla="*/ 177 w 400"/>
              <a:gd name="T27" fmla="*/ 381 h 498"/>
              <a:gd name="T28" fmla="*/ 231 w 400"/>
              <a:gd name="T29" fmla="*/ 284 h 498"/>
              <a:gd name="T30" fmla="*/ 293 w 400"/>
              <a:gd name="T31" fmla="*/ 284 h 498"/>
              <a:gd name="T32" fmla="*/ 381 w 400"/>
              <a:gd name="T33" fmla="*/ 124 h 498"/>
              <a:gd name="T34" fmla="*/ 319 w 400"/>
              <a:gd name="T35" fmla="*/ 159 h 498"/>
              <a:gd name="T36" fmla="*/ 319 w 400"/>
              <a:gd name="T37" fmla="*/ 159 h 498"/>
              <a:gd name="T38" fmla="*/ 256 w 400"/>
              <a:gd name="T39" fmla="*/ 142 h 498"/>
              <a:gd name="T40" fmla="*/ 221 w 400"/>
              <a:gd name="T41" fmla="*/ 80 h 498"/>
              <a:gd name="T42" fmla="*/ 310 w 400"/>
              <a:gd name="T43" fmla="*/ 71 h 498"/>
              <a:gd name="T44" fmla="*/ 319 w 400"/>
              <a:gd name="T45" fmla="*/ 159 h 4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00" h="498">
                <a:moveTo>
                  <a:pt x="381" y="124"/>
                </a:moveTo>
                <a:lnTo>
                  <a:pt x="381" y="124"/>
                </a:lnTo>
                <a:cubicBezTo>
                  <a:pt x="372" y="44"/>
                  <a:pt x="301" y="0"/>
                  <a:pt x="231" y="9"/>
                </a:cubicBezTo>
                <a:cubicBezTo>
                  <a:pt x="159" y="27"/>
                  <a:pt x="106" y="80"/>
                  <a:pt x="115" y="151"/>
                </a:cubicBezTo>
                <a:cubicBezTo>
                  <a:pt x="115" y="168"/>
                  <a:pt x="124" y="195"/>
                  <a:pt x="133" y="213"/>
                </a:cubicBezTo>
                <a:cubicBezTo>
                  <a:pt x="9" y="407"/>
                  <a:pt x="9" y="407"/>
                  <a:pt x="9" y="407"/>
                </a:cubicBezTo>
                <a:cubicBezTo>
                  <a:pt x="0" y="407"/>
                  <a:pt x="0" y="425"/>
                  <a:pt x="0" y="434"/>
                </a:cubicBezTo>
                <a:cubicBezTo>
                  <a:pt x="9" y="478"/>
                  <a:pt x="9" y="478"/>
                  <a:pt x="9" y="478"/>
                </a:cubicBezTo>
                <a:cubicBezTo>
                  <a:pt x="9" y="487"/>
                  <a:pt x="18" y="497"/>
                  <a:pt x="27" y="497"/>
                </a:cubicBezTo>
                <a:cubicBezTo>
                  <a:pt x="62" y="487"/>
                  <a:pt x="62" y="487"/>
                  <a:pt x="62" y="487"/>
                </a:cubicBezTo>
                <a:cubicBezTo>
                  <a:pt x="71" y="487"/>
                  <a:pt x="80" y="478"/>
                  <a:pt x="89" y="470"/>
                </a:cubicBezTo>
                <a:cubicBezTo>
                  <a:pt x="142" y="390"/>
                  <a:pt x="142" y="390"/>
                  <a:pt x="142" y="390"/>
                </a:cubicBezTo>
                <a:lnTo>
                  <a:pt x="142" y="390"/>
                </a:lnTo>
                <a:cubicBezTo>
                  <a:pt x="177" y="381"/>
                  <a:pt x="177" y="381"/>
                  <a:pt x="177" y="381"/>
                </a:cubicBezTo>
                <a:cubicBezTo>
                  <a:pt x="231" y="284"/>
                  <a:pt x="231" y="284"/>
                  <a:pt x="231" y="284"/>
                </a:cubicBezTo>
                <a:cubicBezTo>
                  <a:pt x="248" y="293"/>
                  <a:pt x="284" y="284"/>
                  <a:pt x="293" y="284"/>
                </a:cubicBezTo>
                <a:cubicBezTo>
                  <a:pt x="363" y="275"/>
                  <a:pt x="399" y="195"/>
                  <a:pt x="381" y="124"/>
                </a:cubicBezTo>
                <a:close/>
                <a:moveTo>
                  <a:pt x="319" y="159"/>
                </a:moveTo>
                <a:lnTo>
                  <a:pt x="319" y="159"/>
                </a:lnTo>
                <a:cubicBezTo>
                  <a:pt x="301" y="187"/>
                  <a:pt x="284" y="168"/>
                  <a:pt x="256" y="142"/>
                </a:cubicBezTo>
                <a:cubicBezTo>
                  <a:pt x="231" y="124"/>
                  <a:pt x="203" y="115"/>
                  <a:pt x="221" y="80"/>
                </a:cubicBezTo>
                <a:cubicBezTo>
                  <a:pt x="240" y="53"/>
                  <a:pt x="284" y="44"/>
                  <a:pt x="310" y="71"/>
                </a:cubicBezTo>
                <a:cubicBezTo>
                  <a:pt x="337" y="89"/>
                  <a:pt x="346" y="133"/>
                  <a:pt x="319" y="15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467995" y="4430395"/>
            <a:ext cx="222567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Linux 语义</a:t>
            </a:r>
            <a:endParaRPr lang="zh-CN" altLang="en-US" sz="18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性能目标
真实负载</a:t>
            </a:r>
          </a:p>
        </p:txBody>
      </p:sp>
      <p:sp>
        <p:nvSpPr>
          <p:cNvPr id="113" name="文本框 112"/>
          <p:cNvSpPr txBox="1"/>
          <p:nvPr/>
        </p:nvSpPr>
        <p:spPr>
          <a:xfrm>
            <a:off x="2688590" y="4430395"/>
            <a:ext cx="223901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边界与 owner</a:t>
            </a:r>
            <a:endParaRPr lang="en-US" altLang="zh-CN" sz="1800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ABI / contract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验证计划</a:t>
            </a:r>
            <a:endParaRPr lang="en-US" altLang="zh-CN" sz="1800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sz="1800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4" name="Content Placeholder 2"/>
          <p:cNvSpPr txBox="1"/>
          <p:nvPr/>
        </p:nvSpPr>
        <p:spPr>
          <a:xfrm>
            <a:off x="4928869" y="4421505"/>
            <a:ext cx="2350029" cy="120032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最小闭环实现</a:t>
            </a: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代码审查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阶段化合入</a:t>
            </a: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Content Placeholder 2"/>
          <p:cNvSpPr txBox="1"/>
          <p:nvPr/>
        </p:nvSpPr>
        <p:spPr>
          <a:xfrm>
            <a:off x="7165975" y="4421506"/>
            <a:ext cx="2530918" cy="10093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构建 / 日志 / 测例</a:t>
            </a:r>
            <a:endParaRPr lang="en-US" altLang="zh-CN" dirty="0">
              <a:solidFill>
                <a:schemeClr val="accent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失败归因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双架构验证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000" dirty="0">
              <a:solidFill>
                <a:schemeClr val="accent4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000" dirty="0">
              <a:solidFill>
                <a:schemeClr val="accent4"/>
              </a:solidFill>
            </a:endParaRPr>
          </a:p>
        </p:txBody>
      </p:sp>
      <p:sp>
        <p:nvSpPr>
          <p:cNvPr id="2" name="Content Placeholder 2"/>
          <p:cNvSpPr txBox="1"/>
          <p:nvPr/>
        </p:nvSpPr>
        <p:spPr>
          <a:xfrm>
            <a:off x="9748173" y="4125310"/>
            <a:ext cx="1982470" cy="2154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 dirty="0">
              <a:solidFill>
                <a:schemeClr val="accent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/>
            <a:r>
              <a:rPr lang="zh-CN" altLang="en-US" dirty="0">
                <a:solidFill>
                  <a:schemeClr val="accent6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回写证据、限制与下一轮目标</a:t>
            </a:r>
            <a:endParaRPr lang="en-US" altLang="zh-CN" dirty="0">
              <a:solidFill>
                <a:schemeClr val="accent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dirty="0">
              <a:solidFill>
                <a:schemeClr val="accent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000" dirty="0">
              <a:solidFill>
                <a:schemeClr val="accent6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000" dirty="0">
              <a:solidFill>
                <a:schemeClr val="accent6"/>
              </a:solidFill>
            </a:endParaRPr>
          </a:p>
        </p:txBody>
      </p:sp>
      <p:sp>
        <p:nvSpPr>
          <p:cNvPr id="116" name="NavActive 比赛总结"/>
          <p:cNvSpPr/>
          <p:nvPr/>
        </p:nvSpPr>
        <p:spPr>
          <a:xfrm>
            <a:off x="10263016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117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123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124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125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126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127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17292" y="1016779"/>
            <a:ext cx="4899025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从测例通过到完整系统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588010" y="1871980"/>
            <a:ext cx="29337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全部通过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1066800" y="2440940"/>
            <a:ext cx="8641080" cy="1069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r>
              <a:rPr lang="zh-CN" sz="20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Anemone 已通过所有决赛测例</a:t>
            </a:r>
            <a:endParaRPr lang="zh-CN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endParaRPr lang="zh-CN" sz="20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88010" y="4027805"/>
            <a:ext cx="29337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完整系统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1066799" y="4596765"/>
            <a:ext cx="8936449" cy="1069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r>
              <a:rPr lang="zh-CN" sz="20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RISC-V64 / LoongArch64 双架构</a:t>
            </a:r>
          </a:p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endParaRPr lang="zh-CN" sz="2000" b="1" dirty="0">
              <a:solidFill>
                <a:schemeClr val="accent6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3" name="NavActive 比赛总结"/>
          <p:cNvSpPr/>
          <p:nvPr/>
        </p:nvSpPr>
        <p:spPr>
          <a:xfrm>
            <a:off x="10263016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5" grpId="0"/>
      <p:bldP spid="5" grpId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MH_Other_8"/>
          <p:cNvPicPr/>
          <p:nvPr>
            <p:custDataLst>
              <p:tags r:id="rId1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887"/>
          <a:stretch>
            <a:fillRect/>
          </a:stretch>
        </p:blipFill>
        <p:spPr bwMode="auto">
          <a:xfrm rot="5400000" flipH="1">
            <a:off x="6024000" y="-3032194"/>
            <a:ext cx="144000" cy="104502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MH_Other_8"/>
          <p:cNvPicPr/>
          <p:nvPr>
            <p:custDataLst>
              <p:tags r:id="rId2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887"/>
          <a:stretch>
            <a:fillRect/>
          </a:stretch>
        </p:blipFill>
        <p:spPr bwMode="auto">
          <a:xfrm rot="16200000" flipH="1" flipV="1">
            <a:off x="6024001" y="-127232"/>
            <a:ext cx="144000" cy="104502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 7"/>
          <p:cNvSpPr/>
          <p:nvPr/>
        </p:nvSpPr>
        <p:spPr>
          <a:xfrm>
            <a:off x="0" y="2204967"/>
            <a:ext cx="12192000" cy="286136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664708" y="3127835"/>
            <a:ext cx="10862821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0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感谢聆听</a:t>
            </a:r>
            <a:endParaRPr lang="en-US" sz="3600" b="1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 descr="hitsz-logo"/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89555" y="603250"/>
            <a:ext cx="6612255" cy="121856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51121191650"/>
  <p:tag name="MH_LIBRARY" val="GRAPHIC"/>
  <p:tag name="MH_TYPE" val="Other"/>
  <p:tag name="MH_ORDER" val="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51121191650"/>
  <p:tag name="MH_LIBRARY" val="GRAPHIC"/>
  <p:tag name="MH_TYPE" val="Other"/>
  <p:tag name="MH_ORDER" val="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51121191650"/>
  <p:tag name="MH_LIBRARY" val="GRAPHIC"/>
  <p:tag name="MH_TYPE" val="Other"/>
  <p:tag name="MH_ORDER" val="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51121191650"/>
  <p:tag name="MH_LIBRARY" val="GRAPHIC"/>
  <p:tag name="MH_TYPE" val="Other"/>
  <p:tag name="MH_ORDER" val="8"/>
</p:tagLst>
</file>

<file path=ppt/theme/theme1.xml><?xml version="1.0" encoding="utf-8"?>
<a:theme xmlns:a="http://schemas.openxmlformats.org/drawingml/2006/main" name="Office 主题​​">
  <a:themeElements>
    <a:clrScheme name="蓝绿色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1103</TotalTime>
  <Words>4954</Words>
  <Application>Microsoft Office PowerPoint</Application>
  <PresentationFormat>宽屏</PresentationFormat>
  <Paragraphs>451</Paragraphs>
  <Slides>35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43" baseType="lpstr">
      <vt:lpstr>quote-cjk-patch</vt:lpstr>
      <vt:lpstr>等线</vt:lpstr>
      <vt:lpstr>等线 Light</vt:lpstr>
      <vt:lpstr>微软雅黑</vt:lpstr>
      <vt:lpstr>Arial</vt:lpstr>
      <vt:lpstr>Calibri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答辩-19</dc:title>
  <dc:creator>LP</dc:creator>
  <cp:lastModifiedBy>Doruche 朵露切</cp:lastModifiedBy>
  <cp:revision>718</cp:revision>
  <dcterms:created xsi:type="dcterms:W3CDTF">2024-08-16T10:33:47Z</dcterms:created>
  <dcterms:modified xsi:type="dcterms:W3CDTF">2026-08-12T15:29:31Z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2052-11.1.0.11723</vt:lpwstr>
  </property>
  <property fmtid="{D5CDD505-2E9C-101B-9397-08002B2CF9AE}" pid="3" name="ICV">
    <vt:lpwstr/>
  </property>
</Properties>
</file>